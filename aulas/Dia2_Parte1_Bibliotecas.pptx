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6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304" r:id="rId9"/>
    <p:sldId id="266" r:id="rId10"/>
    <p:sldId id="267" r:id="rId11"/>
    <p:sldId id="268" r:id="rId12"/>
    <p:sldId id="269" r:id="rId13"/>
    <p:sldId id="270" r:id="rId14"/>
    <p:sldId id="276" r:id="rId15"/>
    <p:sldId id="271" r:id="rId16"/>
    <p:sldId id="272" r:id="rId17"/>
    <p:sldId id="273" r:id="rId18"/>
    <p:sldId id="274" r:id="rId19"/>
    <p:sldId id="303" r:id="rId20"/>
    <p:sldId id="277" r:id="rId21"/>
    <p:sldId id="279" r:id="rId22"/>
    <p:sldId id="280" r:id="rId23"/>
    <p:sldId id="281" r:id="rId24"/>
    <p:sldId id="282" r:id="rId25"/>
    <p:sldId id="283" r:id="rId26"/>
    <p:sldId id="302" r:id="rId27"/>
    <p:sldId id="284" r:id="rId28"/>
    <p:sldId id="285" r:id="rId29"/>
    <p:sldId id="286" r:id="rId30"/>
    <p:sldId id="305" r:id="rId31"/>
    <p:sldId id="287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88" r:id="rId42"/>
    <p:sldId id="298" r:id="rId43"/>
    <p:sldId id="299" r:id="rId44"/>
    <p:sldId id="300" r:id="rId4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040"/>
    <p:restoredTop sz="94712"/>
  </p:normalViewPr>
  <p:slideViewPr>
    <p:cSldViewPr snapToGrid="0" snapToObjects="1" showGuides="1">
      <p:cViewPr varScale="1">
        <p:scale>
          <a:sx n="92" d="100"/>
          <a:sy n="92" d="100"/>
        </p:scale>
        <p:origin x="1229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8FA249-C722-6240-8312-276869DF1519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A2FBFF-DD45-7446-BE18-523F4C2843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314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77600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61551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CD502F47-6453-4337-AA0D-B2A6598F0E33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3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2704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0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CD502F47-6453-4337-AA0D-B2A6598F0E33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4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6740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08F44B50-AD2F-42DB-A4DC-A7BC3AA3AB55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5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377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0E7994B6-86B0-48A8-94D1-1DC605E56BCE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6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99614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427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892A446D-8842-420E-93FA-707A49801CE4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7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0820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B684CE4C-3372-4884-91F2-2A120136D3EC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9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30107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939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D89DD115-1A21-451B-88C1-92F58A99AC35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10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50112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9297BCAA-7C50-4AFD-8FFD-8D1E6527AE0E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11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3557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87142464-D7C1-4000-8A06-D4F4D64EFC5B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12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4426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DA5F70EE-B02B-496F-92C4-1D2C17D9FE9B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13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443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D52A532F-135B-41E4-8895-44570F1476BC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15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847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46EB5D44-99F3-4491-B360-EF390924AD22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16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2005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06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28C5BDE1-6238-4188-9D5D-4EE3F04A5E31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17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7549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716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CD7802E8-438F-490A-A1E9-D91753135ECE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18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55783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pt-BR" altLang="pt-BR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/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fld id="{D52A532F-135B-41E4-8895-44570F1476BC}" type="slidenum">
              <a:rPr lang="fr-FR" altLang="pt-BR" smtClean="0">
                <a:solidFill>
                  <a:prstClr val="black"/>
                </a:solidFill>
              </a:rPr>
              <a:pPr>
                <a:defRPr/>
              </a:pPr>
              <a:t>19</a:t>
            </a:fld>
            <a:endParaRPr lang="fr-FR" altLang="pt-B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65743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90087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192963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171538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951711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46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595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12237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56816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9781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984552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72514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42644479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39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6751069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30D813F-9062-4F28-AB4C-5B019DADAE23}" type="slidenum">
              <a:rPr lang="fr-FR" smtClean="0"/>
              <a:pPr/>
              <a:t>40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320337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433540-6586-714B-B22A-38B46E31F52F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39F592-28C0-7947-8FF1-6A354DEBB1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2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gi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6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image" Target="../media/image61.emf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PJywvJ-9xpI" TargetMode="External"/><Relationship Id="rId2" Type="http://schemas.openxmlformats.org/officeDocument/2006/relationships/hyperlink" Target="https://www.youtube.com/watch?v=kUdDY3kvWpc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217471" y="0"/>
            <a:ext cx="2107057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2290636"/>
            <a:ext cx="7524328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pt-BR" sz="3400" b="1" dirty="0">
                <a:latin typeface="Arial" pitchFamily="34" charset="0"/>
                <a:cs typeface="Arial" pitchFamily="34" charset="0"/>
              </a:rPr>
              <a:t>As bibliotecas de fragmentos</a:t>
            </a:r>
          </a:p>
        </p:txBody>
      </p:sp>
    </p:spTree>
    <p:extLst>
      <p:ext uri="{BB962C8B-B14F-4D97-AF65-F5344CB8AC3E}">
        <p14:creationId xmlns:p14="http://schemas.microsoft.com/office/powerpoint/2010/main" val="7297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75029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Generalidades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908720"/>
            <a:ext cx="8892480" cy="5932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Extração de DNA e preparação da biblioteca são as únicas etapas de bancadas realizadas pelo pesquisador</a:t>
            </a:r>
          </a:p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Cada plataforma e aplicação = reagentes diferentes mas as etapas principais são as mesmas:</a:t>
            </a:r>
          </a:p>
          <a:p>
            <a:pPr marL="1371600" lvl="2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extração do DNA e fragmentação</a:t>
            </a:r>
          </a:p>
          <a:p>
            <a:pPr marL="1371600" lvl="2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preparação da biblioteca</a:t>
            </a:r>
          </a:p>
          <a:p>
            <a:pPr marL="1371600" lvl="2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quantificação da biblioteca (faixa de tamanho, concentração)</a:t>
            </a:r>
          </a:p>
          <a:p>
            <a:pPr marL="1371600" lvl="2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  <a:sym typeface="Wingdings"/>
              </a:rPr>
              <a:t>dilução</a:t>
            </a: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e etapa de enriquecimento e/ou multiplex 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6312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1295400" y="1863396"/>
            <a:ext cx="6553199" cy="2160505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pt-BR" sz="4300" dirty="0">
                <a:solidFill>
                  <a:prstClr val="black"/>
                </a:solidFill>
                <a:cs typeface="Arial" charset="0"/>
              </a:rPr>
              <a:t>Coleta de amostra e extração de DNA</a:t>
            </a:r>
          </a:p>
        </p:txBody>
      </p:sp>
      <p:pic>
        <p:nvPicPr>
          <p:cNvPr id="3" name="Image 10" descr="DNA.jpe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 rot="16200000">
            <a:off x="3214220" y="809682"/>
            <a:ext cx="2851031" cy="92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608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 dirty="0">
                <a:solidFill>
                  <a:prstClr val="black"/>
                </a:solidFill>
                <a:cs typeface="Arial" charset="0"/>
              </a:rPr>
              <a:t>Como e o que </a:t>
            </a:r>
            <a:r>
              <a:rPr lang="fr-FR" sz="4300" dirty="0" err="1">
                <a:solidFill>
                  <a:prstClr val="black"/>
                </a:solidFill>
                <a:cs typeface="Arial" charset="0"/>
              </a:rPr>
              <a:t>coletar</a:t>
            </a:r>
            <a:r>
              <a:rPr lang="fr-FR" sz="4300" dirty="0">
                <a:solidFill>
                  <a:prstClr val="black"/>
                </a:solidFill>
                <a:cs typeface="Arial" charset="0"/>
              </a:rPr>
              <a:t> ?</a:t>
            </a:r>
          </a:p>
        </p:txBody>
      </p:sp>
      <p:sp>
        <p:nvSpPr>
          <p:cNvPr id="14339" name="Rectangle 4"/>
          <p:cNvSpPr>
            <a:spLocks noChangeArrowheads="1"/>
          </p:cNvSpPr>
          <p:nvPr/>
        </p:nvSpPr>
        <p:spPr bwMode="auto">
          <a:xfrm>
            <a:off x="0" y="1679113"/>
            <a:ext cx="9180513" cy="58477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Escolher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um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indivíduo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com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morfologia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típica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de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um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habitat normal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Esquema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de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amostragem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(1 ou +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indivíduos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por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população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/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espécie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)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depende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do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objetivo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.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Se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estudo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populacional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: a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seleção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dos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pontos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de coleta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deve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representar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a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variabilidade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morfológica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e de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toda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sua </a:t>
            </a:r>
            <a:r>
              <a:rPr lang="fr-F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distribuição</a:t>
            </a: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Com m</a:t>
            </a:r>
            <a:r>
              <a:rPr lang="pt-BR" altLang="pt-BR" sz="2200" dirty="0" err="1">
                <a:solidFill>
                  <a:prstClr val="black"/>
                </a:solidFill>
                <a:latin typeface="Arial" charset="0"/>
                <a:cs typeface="Arial" charset="0"/>
              </a:rPr>
              <a:t>étodos</a:t>
            </a:r>
            <a:r>
              <a:rPr lang="pt-B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 de segunda geração, amostras de tecido coletadas de materiais preservados (por exemplo, exsicatas em herbários) também são uma ótima opção!</a:t>
            </a: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5818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>
                <a:solidFill>
                  <a:prstClr val="black"/>
                </a:solidFill>
                <a:cs typeface="Arial" charset="0"/>
              </a:rPr>
              <a:t>Como e o que coletar ?</a:t>
            </a:r>
          </a:p>
        </p:txBody>
      </p:sp>
      <p:sp>
        <p:nvSpPr>
          <p:cNvPr id="15363" name="Rectangle 4"/>
          <p:cNvSpPr>
            <a:spLocks noChangeArrowheads="1"/>
          </p:cNvSpPr>
          <p:nvPr/>
        </p:nvSpPr>
        <p:spPr bwMode="auto">
          <a:xfrm>
            <a:off x="0" y="1196975"/>
            <a:ext cx="9180513" cy="6186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Espécime Voucher (espécime de herbário)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Com número de coletor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Depositado num herbário público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Espécime florido (identificação)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Amostra de tecido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</a:t>
            </a: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Tecidos foliares jovens, frescos e sem doenças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Armazenada em saco de chá ou tubo com sílica-gel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Rotulado pelo número do coletor e o nome da espécie também</a:t>
            </a: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5 -10 cm</a:t>
            </a:r>
            <a:r>
              <a:rPr lang="fr-FR" altLang="pt-BR" sz="2200" baseline="30000">
                <a:solidFill>
                  <a:prstClr val="black"/>
                </a:solidFill>
                <a:latin typeface="Arial" charset="0"/>
                <a:cs typeface="Arial" charset="0"/>
              </a:rPr>
              <a:t>2 </a:t>
            </a: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de tecido foliar = 0.1 g de tecido seco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15364" name="Picture 2" descr="http://www.cpbr.gov.au/cpbr/herbarium/specimen/specimen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888" y="1341438"/>
            <a:ext cx="2032000" cy="3167062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6446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1125538"/>
            <a:ext cx="3924300" cy="3265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>
                <a:solidFill>
                  <a:prstClr val="black"/>
                </a:solidFill>
                <a:cs typeface="Arial" charset="0"/>
              </a:rPr>
              <a:t>Como e o que coletar ?</a:t>
            </a:r>
          </a:p>
        </p:txBody>
      </p:sp>
      <p:pic>
        <p:nvPicPr>
          <p:cNvPr id="16388" name="Picture 2" descr="File:Schematic silica gel surfac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3284538"/>
            <a:ext cx="5616575" cy="1419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9" name="Picture 4" descr="File:SilicaGel.jp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9338" y="1412875"/>
            <a:ext cx="3097212" cy="1443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0" name="Rectangle 7"/>
          <p:cNvSpPr>
            <a:spLocks noChangeArrowheads="1"/>
          </p:cNvSpPr>
          <p:nvPr/>
        </p:nvSpPr>
        <p:spPr bwMode="auto">
          <a:xfrm>
            <a:off x="539750" y="5411788"/>
            <a:ext cx="7848600" cy="1446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Alternativas ao sílica-gel: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	- solução CTAB-NaCl (Rogstad 1992)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	- sal (Carrio &amp; Rossello 2013)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	 </a:t>
            </a:r>
          </a:p>
        </p:txBody>
      </p:sp>
    </p:spTree>
    <p:extLst>
      <p:ext uri="{BB962C8B-B14F-4D97-AF65-F5344CB8AC3E}">
        <p14:creationId xmlns:p14="http://schemas.microsoft.com/office/powerpoint/2010/main" val="184366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>
                <a:solidFill>
                  <a:prstClr val="black"/>
                </a:solidFill>
                <a:cs typeface="Arial" charset="0"/>
              </a:rPr>
              <a:t>Como e o que coletar ?</a:t>
            </a:r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539750" y="1125538"/>
            <a:ext cx="7848600" cy="110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Folhas frescas; congeladas em nitrôgenio líquido ou em gelo seco; secas com papel mata-borrão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srgbClr val="000000"/>
                </a:solidFill>
                <a:latin typeface="Arial" charset="0"/>
                <a:cs typeface="Arial" charset="0"/>
              </a:rPr>
              <a:t>	 </a:t>
            </a:r>
          </a:p>
        </p:txBody>
      </p:sp>
      <p:pic>
        <p:nvPicPr>
          <p:cNvPr id="17412" name="Picture 2" descr="http://i.ytimg.com/vi/xlrwef2Y3f0/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513" y="1916113"/>
            <a:ext cx="4679951" cy="351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3" name="Picture 4" descr="http://4.bp.blogspot.com/-6aFlAu3EN8A/ULT5XGv3nnI/AAAAAAAAB3M/4YBbRp_2_iQ/s1600/Photo+1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0563" y="1916113"/>
            <a:ext cx="4643437" cy="353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4" name="Picture 6" descr="http://www.dryiceindianapolis.com/images/featured/Dry-Ice-Pellets-Indianapolis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23850" y="4556125"/>
            <a:ext cx="4679950" cy="230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415" name="Picture 8" descr="http://phneutro.pt/Papel%20mata%20borr%C3%A3o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638" y="4551363"/>
            <a:ext cx="4932362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14127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B97A0B-F54A-BF25-4706-2A61C43699F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0"/>
          <a:stretch>
            <a:fillRect/>
          </a:stretch>
        </p:blipFill>
        <p:spPr>
          <a:xfrm>
            <a:off x="0" y="0"/>
            <a:ext cx="5775321" cy="35786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CAA500-6CAE-5E88-196D-954B78154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46" y="3545701"/>
            <a:ext cx="8918308" cy="331229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9D5D1A-746A-D34D-12B2-FBC38DBE6F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5321" y="116378"/>
            <a:ext cx="3283390" cy="3674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949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3"/>
          <p:cNvSpPr>
            <a:spLocks noChangeArrowheads="1"/>
          </p:cNvSpPr>
          <p:nvPr/>
        </p:nvSpPr>
        <p:spPr bwMode="auto">
          <a:xfrm>
            <a:off x="0" y="1196975"/>
            <a:ext cx="9180513" cy="212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1) Quebrar (por meio de moagem) as paredes e mebranas celulares de modo a liberar o conteúdo 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>
                <a:solidFill>
                  <a:prstClr val="black"/>
                </a:solidFill>
                <a:cs typeface="Arial" charset="0"/>
              </a:rPr>
              <a:t>As etapas da extração de DNA</a:t>
            </a:r>
          </a:p>
        </p:txBody>
      </p:sp>
      <p:pic>
        <p:nvPicPr>
          <p:cNvPr id="21508" name="Picture 2" descr="http://www.mobio.com/blog/wp-content/uploads/2010/06/05_grind_spinach_PB202304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708275"/>
            <a:ext cx="26876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ZoneTexte 6"/>
          <p:cNvSpPr txBox="1">
            <a:spLocks noChangeArrowheads="1"/>
          </p:cNvSpPr>
          <p:nvPr/>
        </p:nvSpPr>
        <p:spPr bwMode="auto">
          <a:xfrm>
            <a:off x="900113" y="4941888"/>
            <a:ext cx="3600450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2000">
                <a:solidFill>
                  <a:prstClr val="black"/>
                </a:solidFill>
              </a:rPr>
              <a:t>Com nitrôgenio líquido ou sílica em pó</a:t>
            </a:r>
          </a:p>
        </p:txBody>
      </p:sp>
      <p:pic>
        <p:nvPicPr>
          <p:cNvPr id="21510" name="Picture 4" descr="http://www.foodrepublic.com/sites/default/files/zoom_0_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7313" y="2708275"/>
            <a:ext cx="3005137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1" name="Picture 6" descr="http://images1.hellotrade.com/data2/YB/CO/HELLOTD-1711569/2518_250x25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500" y="2708275"/>
            <a:ext cx="3492500" cy="2278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1512" name="Picture 8" descr="http://www.roche-biochem.jp/img/products/genomics/magna_lyser/img05.jp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5463" y="5305425"/>
            <a:ext cx="1584325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13" name="ZoneTexte 10"/>
          <p:cNvSpPr txBox="1">
            <a:spLocks noChangeArrowheads="1"/>
          </p:cNvSpPr>
          <p:nvPr/>
        </p:nvSpPr>
        <p:spPr bwMode="auto">
          <a:xfrm>
            <a:off x="5543550" y="4941888"/>
            <a:ext cx="36004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2000">
                <a:solidFill>
                  <a:prstClr val="black"/>
                </a:solidFill>
              </a:rPr>
              <a:t>Rompimento celular mecânico</a:t>
            </a:r>
          </a:p>
        </p:txBody>
      </p:sp>
    </p:spTree>
    <p:extLst>
      <p:ext uri="{BB962C8B-B14F-4D97-AF65-F5344CB8AC3E}">
        <p14:creationId xmlns:p14="http://schemas.microsoft.com/office/powerpoint/2010/main" val="1309011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3"/>
          <p:cNvSpPr>
            <a:spLocks noChangeArrowheads="1"/>
          </p:cNvSpPr>
          <p:nvPr/>
        </p:nvSpPr>
        <p:spPr bwMode="auto">
          <a:xfrm>
            <a:off x="0" y="1196975"/>
            <a:ext cx="918051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2) Lipídeos</a:t>
            </a: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 da membrana são removidas usando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detergentes, tais como dodecil sulfato de sódio (SDS), o brometo de  cetiltrimetilamônio (CTAB), ou o brometo misto de alquiltrimetilamônio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 (MATAB).</a:t>
            </a: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 dirty="0">
                <a:solidFill>
                  <a:prstClr val="black"/>
                </a:solidFill>
                <a:cs typeface="Arial" charset="0"/>
              </a:rPr>
              <a:t>As </a:t>
            </a:r>
            <a:r>
              <a:rPr lang="fr-FR" sz="4300" dirty="0" err="1">
                <a:solidFill>
                  <a:prstClr val="black"/>
                </a:solidFill>
                <a:cs typeface="Arial" charset="0"/>
              </a:rPr>
              <a:t>etapas</a:t>
            </a:r>
            <a:r>
              <a:rPr lang="fr-FR" sz="4300" dirty="0">
                <a:solidFill>
                  <a:prstClr val="black"/>
                </a:solidFill>
                <a:cs typeface="Arial" charset="0"/>
              </a:rPr>
              <a:t> da </a:t>
            </a:r>
            <a:r>
              <a:rPr lang="fr-FR" sz="4300" dirty="0" err="1">
                <a:solidFill>
                  <a:prstClr val="black"/>
                </a:solidFill>
                <a:cs typeface="Arial" charset="0"/>
              </a:rPr>
              <a:t>extração</a:t>
            </a:r>
            <a:r>
              <a:rPr lang="fr-FR" sz="4300" dirty="0">
                <a:solidFill>
                  <a:prstClr val="black"/>
                </a:solidFill>
                <a:cs typeface="Arial" charset="0"/>
              </a:rPr>
              <a:t> de DNA</a:t>
            </a:r>
          </a:p>
        </p:txBody>
      </p:sp>
      <p:pic>
        <p:nvPicPr>
          <p:cNvPr id="22532" name="Picture 2" descr="Ficheiro:Dodecylsulfate-3D-vd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84538"/>
            <a:ext cx="3563938" cy="1131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ZoneTexte 11"/>
          <p:cNvSpPr txBox="1">
            <a:spLocks noChangeArrowheads="1"/>
          </p:cNvSpPr>
          <p:nvPr/>
        </p:nvSpPr>
        <p:spPr bwMode="auto">
          <a:xfrm>
            <a:off x="395288" y="4437063"/>
            <a:ext cx="19796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2000">
                <a:solidFill>
                  <a:prstClr val="black"/>
                </a:solidFill>
              </a:rPr>
              <a:t>SDS</a:t>
            </a:r>
          </a:p>
        </p:txBody>
      </p:sp>
      <p:sp>
        <p:nvSpPr>
          <p:cNvPr id="22534" name="ZoneTexte 12"/>
          <p:cNvSpPr txBox="1">
            <a:spLocks noChangeArrowheads="1"/>
          </p:cNvSpPr>
          <p:nvPr/>
        </p:nvSpPr>
        <p:spPr bwMode="auto">
          <a:xfrm>
            <a:off x="5508625" y="5805488"/>
            <a:ext cx="1979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2000">
                <a:solidFill>
                  <a:prstClr val="black"/>
                </a:solidFill>
              </a:rPr>
              <a:t>CTAB</a:t>
            </a:r>
          </a:p>
        </p:txBody>
      </p:sp>
      <p:pic>
        <p:nvPicPr>
          <p:cNvPr id="22535" name="Picture 2" descr="File:Cetyltrimethyl ammonium bromide.sv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4797425"/>
            <a:ext cx="6365875" cy="123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0181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3"/>
          <p:cNvSpPr>
            <a:spLocks noChangeArrowheads="1"/>
          </p:cNvSpPr>
          <p:nvPr/>
        </p:nvSpPr>
        <p:spPr bwMode="auto">
          <a:xfrm>
            <a:off x="0" y="1196975"/>
            <a:ext cx="9180513" cy="6524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O DNA liberado deve ser protegido das nucleases endógenas. O EDTA (ácido etilenodiamino tetra-acético) vai quelar os íons de magnésio (cofator necessário das nucleases)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As proteínas são degradadas pela proteinase K 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 Os polissacarídeos são retirados usando NaCl e CTAB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0" y="44450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>
                <a:solidFill>
                  <a:prstClr val="black"/>
                </a:solidFill>
                <a:cs typeface="Arial" charset="0"/>
              </a:rPr>
              <a:t>As etapas da extração de DNA</a:t>
            </a:r>
          </a:p>
        </p:txBody>
      </p:sp>
      <p:pic>
        <p:nvPicPr>
          <p:cNvPr id="23556" name="Picture 2" descr="Ficheiro:Medt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2373313"/>
            <a:ext cx="2520950" cy="3503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557" name="Picture 4" descr="http://www.worthington-biochem.com/PROK/images/reactio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763" y="3644900"/>
            <a:ext cx="6024562" cy="217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051461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578" name="Groupe 15"/>
          <p:cNvGrpSpPr>
            <a:grpSpLocks/>
          </p:cNvGrpSpPr>
          <p:nvPr/>
        </p:nvGrpSpPr>
        <p:grpSpPr bwMode="auto">
          <a:xfrm>
            <a:off x="1042987" y="1339849"/>
            <a:ext cx="7058025" cy="4897438"/>
            <a:chOff x="395536" y="851075"/>
            <a:chExt cx="8280920" cy="5674269"/>
          </a:xfrm>
        </p:grpSpPr>
        <p:pic>
          <p:nvPicPr>
            <p:cNvPr id="24581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03648" y="851075"/>
              <a:ext cx="5621238" cy="5674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582" name="ZoneTexte 4"/>
            <p:cNvSpPr txBox="1">
              <a:spLocks noChangeArrowheads="1"/>
            </p:cNvSpPr>
            <p:nvPr/>
          </p:nvSpPr>
          <p:spPr bwMode="auto">
            <a:xfrm>
              <a:off x="395536" y="3284984"/>
              <a:ext cx="2016224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Lisado de células</a:t>
              </a:r>
            </a:p>
          </p:txBody>
        </p:sp>
        <p:sp>
          <p:nvSpPr>
            <p:cNvPr id="24583" name="ZoneTexte 5"/>
            <p:cNvSpPr txBox="1">
              <a:spLocks noChangeArrowheads="1"/>
            </p:cNvSpPr>
            <p:nvPr/>
          </p:nvSpPr>
          <p:spPr bwMode="auto">
            <a:xfrm>
              <a:off x="2771800" y="1556792"/>
              <a:ext cx="86409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CTAB</a:t>
              </a:r>
            </a:p>
          </p:txBody>
        </p:sp>
        <p:sp>
          <p:nvSpPr>
            <p:cNvPr id="24584" name="ZoneTexte 6"/>
            <p:cNvSpPr txBox="1">
              <a:spLocks noChangeArrowheads="1"/>
            </p:cNvSpPr>
            <p:nvPr/>
          </p:nvSpPr>
          <p:spPr bwMode="auto">
            <a:xfrm>
              <a:off x="2627784" y="3356992"/>
              <a:ext cx="2016224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Precipitado complexo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DNA-CTAB</a:t>
              </a:r>
            </a:p>
          </p:txBody>
        </p:sp>
        <p:sp>
          <p:nvSpPr>
            <p:cNvPr id="24585" name="ZoneTexte 7"/>
            <p:cNvSpPr txBox="1">
              <a:spLocks noChangeArrowheads="1"/>
            </p:cNvSpPr>
            <p:nvPr/>
          </p:nvSpPr>
          <p:spPr bwMode="auto">
            <a:xfrm rot="-2582340">
              <a:off x="4162047" y="1288897"/>
              <a:ext cx="1902743" cy="392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Centrifugar</a:t>
              </a:r>
            </a:p>
          </p:txBody>
        </p:sp>
        <p:sp>
          <p:nvSpPr>
            <p:cNvPr id="24586" name="ZoneTexte 10"/>
            <p:cNvSpPr txBox="1">
              <a:spLocks noChangeArrowheads="1"/>
            </p:cNvSpPr>
            <p:nvPr/>
          </p:nvSpPr>
          <p:spPr bwMode="auto">
            <a:xfrm>
              <a:off x="6372200" y="2874422"/>
              <a:ext cx="2304256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Pellet DNA-CTAB</a:t>
              </a:r>
            </a:p>
          </p:txBody>
        </p:sp>
        <p:sp>
          <p:nvSpPr>
            <p:cNvPr id="24587" name="ZoneTexte 11"/>
            <p:cNvSpPr txBox="1">
              <a:spLocks noChangeArrowheads="1"/>
            </p:cNvSpPr>
            <p:nvPr/>
          </p:nvSpPr>
          <p:spPr bwMode="auto">
            <a:xfrm>
              <a:off x="4366998" y="3284984"/>
              <a:ext cx="1861186" cy="6776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Descartar sobrenadante</a:t>
              </a:r>
            </a:p>
          </p:txBody>
        </p:sp>
        <p:sp>
          <p:nvSpPr>
            <p:cNvPr id="24588" name="ZoneTexte 12"/>
            <p:cNvSpPr txBox="1">
              <a:spLocks noChangeArrowheads="1"/>
            </p:cNvSpPr>
            <p:nvPr/>
          </p:nvSpPr>
          <p:spPr bwMode="auto">
            <a:xfrm>
              <a:off x="6012160" y="3564305"/>
              <a:ext cx="2088232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Ressuspender pellet em NaCl 1 M</a:t>
              </a:r>
            </a:p>
          </p:txBody>
        </p:sp>
        <p:sp>
          <p:nvSpPr>
            <p:cNvPr id="24589" name="ZoneTexte 13"/>
            <p:cNvSpPr txBox="1">
              <a:spLocks noChangeArrowheads="1"/>
            </p:cNvSpPr>
            <p:nvPr/>
          </p:nvSpPr>
          <p:spPr bwMode="auto">
            <a:xfrm>
              <a:off x="2555776" y="4728046"/>
              <a:ext cx="1728192" cy="10772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Precipitação em etanol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Tratamento c/ ribonuclease</a:t>
              </a:r>
            </a:p>
          </p:txBody>
        </p:sp>
        <p:sp>
          <p:nvSpPr>
            <p:cNvPr id="24590" name="ZoneTexte 14"/>
            <p:cNvSpPr txBox="1">
              <a:spLocks noChangeArrowheads="1"/>
            </p:cNvSpPr>
            <p:nvPr/>
          </p:nvSpPr>
          <p:spPr bwMode="auto">
            <a:xfrm>
              <a:off x="827584" y="5034662"/>
              <a:ext cx="1728192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DNA </a:t>
              </a:r>
            </a:p>
          </p:txBody>
        </p:sp>
      </p:grpSp>
      <p:pic>
        <p:nvPicPr>
          <p:cNvPr id="24579" name="Picture 4" descr="http://www.chem.ufl.edu/~itl/4411L_f98/micelle/micelle_2.gif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25" y="188913"/>
            <a:ext cx="2419350" cy="230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re 1"/>
          <p:cNvSpPr txBox="1">
            <a:spLocks/>
          </p:cNvSpPr>
          <p:nvPr/>
        </p:nvSpPr>
        <p:spPr>
          <a:xfrm>
            <a:off x="-3205163" y="620713"/>
            <a:ext cx="9144001" cy="1871662"/>
          </a:xfrm>
          <a:prstGeom prst="rect">
            <a:avLst/>
          </a:prstGeom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r>
              <a:rPr lang="pt-BR" sz="2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Método CTAB</a:t>
            </a:r>
            <a:br>
              <a:rPr lang="pt-BR" sz="25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br>
              <a:rPr lang="pt-BR" sz="2500" cap="all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fr-F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899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 txBox="1">
            <a:spLocks/>
          </p:cNvSpPr>
          <p:nvPr/>
        </p:nvSpPr>
        <p:spPr>
          <a:xfrm>
            <a:off x="-1908175" y="620713"/>
            <a:ext cx="9144000" cy="1871662"/>
          </a:xfrm>
          <a:prstGeom prst="rect">
            <a:avLst/>
          </a:prstGeom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r>
              <a:rPr lang="pt-BR" sz="2800" b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Extração com kits comerciais</a:t>
            </a:r>
            <a:br>
              <a:rPr lang="pt-BR" sz="25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br>
              <a:rPr lang="pt-BR" sz="2500" cap="all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fr-F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5603" name="Groupe 13"/>
          <p:cNvGrpSpPr>
            <a:grpSpLocks/>
          </p:cNvGrpSpPr>
          <p:nvPr/>
        </p:nvGrpSpPr>
        <p:grpSpPr bwMode="auto">
          <a:xfrm>
            <a:off x="-36513" y="1054100"/>
            <a:ext cx="6902451" cy="5830888"/>
            <a:chOff x="1053627" y="1053430"/>
            <a:chExt cx="6902749" cy="5831954"/>
          </a:xfrm>
        </p:grpSpPr>
        <p:pic>
          <p:nvPicPr>
            <p:cNvPr id="25605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35156" y="1053430"/>
              <a:ext cx="5313108" cy="58045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5606" name="ZoneTexte 7"/>
            <p:cNvSpPr txBox="1">
              <a:spLocks noChangeArrowheads="1"/>
            </p:cNvSpPr>
            <p:nvPr/>
          </p:nvSpPr>
          <p:spPr bwMode="auto">
            <a:xfrm>
              <a:off x="3357883" y="2924944"/>
              <a:ext cx="1718173" cy="2921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Lisado de células</a:t>
              </a:r>
            </a:p>
          </p:txBody>
        </p:sp>
        <p:sp>
          <p:nvSpPr>
            <p:cNvPr id="25607" name="ZoneTexte 8"/>
            <p:cNvSpPr txBox="1">
              <a:spLocks noChangeArrowheads="1"/>
            </p:cNvSpPr>
            <p:nvPr/>
          </p:nvSpPr>
          <p:spPr bwMode="auto">
            <a:xfrm>
              <a:off x="1053627" y="4185084"/>
              <a:ext cx="215022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Ligação DNA numa resina</a:t>
              </a:r>
            </a:p>
          </p:txBody>
        </p:sp>
        <p:sp>
          <p:nvSpPr>
            <p:cNvPr id="25608" name="ZoneTexte 9"/>
            <p:cNvSpPr txBox="1">
              <a:spLocks noChangeArrowheads="1"/>
            </p:cNvSpPr>
            <p:nvPr/>
          </p:nvSpPr>
          <p:spPr bwMode="auto">
            <a:xfrm>
              <a:off x="5806155" y="4185084"/>
              <a:ext cx="2150221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Ligação DNA num filtro</a:t>
              </a:r>
            </a:p>
          </p:txBody>
        </p:sp>
        <p:sp>
          <p:nvSpPr>
            <p:cNvPr id="25609" name="ZoneTexte 10"/>
            <p:cNvSpPr txBox="1">
              <a:spLocks noChangeArrowheads="1"/>
            </p:cNvSpPr>
            <p:nvPr/>
          </p:nvSpPr>
          <p:spPr bwMode="auto">
            <a:xfrm>
              <a:off x="3213867" y="6300609"/>
              <a:ext cx="1718173" cy="584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DNA </a:t>
              </a:r>
            </a:p>
            <a:p>
              <a:pPr algn="ctr" eaLnBrk="1" fontAlgn="base" hangingPunct="1">
                <a:spcBef>
                  <a:spcPct val="0"/>
                </a:spcBef>
                <a:spcAft>
                  <a:spcPct val="0"/>
                </a:spcAft>
              </a:pPr>
              <a:r>
                <a:rPr lang="fr-FR" altLang="pt-BR" sz="1600" b="1">
                  <a:solidFill>
                    <a:prstClr val="black"/>
                  </a:solidFill>
                </a:rPr>
                <a:t>purificado</a:t>
              </a:r>
            </a:p>
          </p:txBody>
        </p:sp>
      </p:grpSp>
      <p:pic>
        <p:nvPicPr>
          <p:cNvPr id="25604" name="Picture 8" descr="http://www.qiagen.com/images/catalog/main1000202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7875" y="1412875"/>
            <a:ext cx="3538538" cy="234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9814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65997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019" y="688438"/>
            <a:ext cx="2197886" cy="21978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0500" y="2184399"/>
            <a:ext cx="740409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Amostra de DNA</a:t>
            </a:r>
          </a:p>
          <a:p>
            <a:r>
              <a:rPr lang="pt-BR" sz="2800" dirty="0"/>
              <a:t>Padrão-ouro </a:t>
            </a:r>
            <a:r>
              <a:rPr lang="pt-BR" sz="2800" dirty="0" err="1"/>
              <a:t>p</a:t>
            </a:r>
            <a:r>
              <a:rPr lang="pt-BR" sz="2800" dirty="0"/>
              <a:t>/ </a:t>
            </a:r>
            <a:r>
              <a:rPr lang="pt-BR" sz="2800" dirty="0" err="1"/>
              <a:t>Illumina</a:t>
            </a:r>
            <a:r>
              <a:rPr lang="pt-BR" sz="2800" dirty="0"/>
              <a:t>: 1 </a:t>
            </a:r>
            <a:r>
              <a:rPr lang="pt-BR" sz="2800" dirty="0" err="1"/>
              <a:t>mcg</a:t>
            </a:r>
            <a:r>
              <a:rPr lang="pt-BR" sz="2800" dirty="0"/>
              <a:t> de DNA inicial</a:t>
            </a:r>
          </a:p>
          <a:p>
            <a:endParaRPr lang="pt-BR" sz="2800" dirty="0"/>
          </a:p>
          <a:p>
            <a:r>
              <a:rPr lang="pt-BR" sz="2800" dirty="0"/>
              <a:t>(na verdade o protocolo é efetivo com muito menos DNA inicial)</a:t>
            </a:r>
          </a:p>
          <a:p>
            <a:r>
              <a:rPr lang="pt-BR" sz="2800" dirty="0"/>
              <a:t>	</a:t>
            </a:r>
          </a:p>
          <a:p>
            <a:r>
              <a:rPr lang="pt-BR" sz="2800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2096062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 txBox="1">
            <a:spLocks/>
          </p:cNvSpPr>
          <p:nvPr/>
        </p:nvSpPr>
        <p:spPr>
          <a:xfrm>
            <a:off x="-1908175" y="620713"/>
            <a:ext cx="9144000" cy="1871662"/>
          </a:xfrm>
          <a:prstGeom prst="rect">
            <a:avLst/>
          </a:prstGeom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br>
              <a:rPr lang="pt-BR" sz="25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br>
              <a:rPr lang="pt-BR" sz="2500" cap="all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fr-F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9543" y="1466850"/>
            <a:ext cx="3744913" cy="331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50" name="ZoneTexte 13"/>
          <p:cNvSpPr txBox="1">
            <a:spLocks noChangeArrowheads="1"/>
          </p:cNvSpPr>
          <p:nvPr/>
        </p:nvSpPr>
        <p:spPr bwMode="auto">
          <a:xfrm>
            <a:off x="2483643" y="4929188"/>
            <a:ext cx="3960813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1600" b="1">
                <a:solidFill>
                  <a:prstClr val="black"/>
                </a:solidFill>
              </a:rPr>
              <a:t>Quantificação via 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1600" b="1">
                <a:solidFill>
                  <a:prstClr val="black"/>
                </a:solidFill>
              </a:rPr>
              <a:t>espectrofotometria (nanodrop)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1600" b="1">
                <a:solidFill>
                  <a:prstClr val="black"/>
                </a:solidFill>
              </a:rPr>
              <a:t>ou fluorometria (Qubit)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altLang="pt-BR" sz="1600" b="1">
              <a:solidFill>
                <a:prstClr val="black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BF875FA-E724-2F4C-A05C-B8DE48BE5A1B}"/>
              </a:ext>
            </a:extLst>
          </p:cNvPr>
          <p:cNvSpPr txBox="1">
            <a:spLocks/>
          </p:cNvSpPr>
          <p:nvPr/>
        </p:nvSpPr>
        <p:spPr>
          <a:xfrm>
            <a:off x="-275600" y="-246856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 dirty="0" err="1">
                <a:solidFill>
                  <a:prstClr val="black"/>
                </a:solidFill>
                <a:cs typeface="Arial" charset="0"/>
              </a:rPr>
              <a:t>Quantificação</a:t>
            </a:r>
            <a:r>
              <a:rPr lang="fr-FR" sz="4300" dirty="0">
                <a:solidFill>
                  <a:prstClr val="black"/>
                </a:solidFill>
                <a:cs typeface="Arial" charset="0"/>
              </a:rPr>
              <a:t> do DNA</a:t>
            </a:r>
          </a:p>
        </p:txBody>
      </p:sp>
    </p:spTree>
    <p:extLst>
      <p:ext uri="{BB962C8B-B14F-4D97-AF65-F5344CB8AC3E}">
        <p14:creationId xmlns:p14="http://schemas.microsoft.com/office/powerpoint/2010/main" val="17701290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File:Spektrofotometr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981075"/>
            <a:ext cx="29495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1" name="Rectangle 4"/>
          <p:cNvSpPr>
            <a:spLocks noChangeArrowheads="1"/>
          </p:cNvSpPr>
          <p:nvPr/>
        </p:nvSpPr>
        <p:spPr bwMode="auto">
          <a:xfrm>
            <a:off x="0" y="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3500">
                <a:solidFill>
                  <a:prstClr val="black"/>
                </a:solidFill>
                <a:cs typeface="Arial" charset="0"/>
              </a:rPr>
              <a:t>Quantificação via espectrofotometria </a:t>
            </a:r>
          </a:p>
        </p:txBody>
      </p:sp>
      <p:sp>
        <p:nvSpPr>
          <p:cNvPr id="32772" name="Rectangle 5"/>
          <p:cNvSpPr>
            <a:spLocks noChangeArrowheads="1"/>
          </p:cNvSpPr>
          <p:nvPr/>
        </p:nvSpPr>
        <p:spPr bwMode="auto">
          <a:xfrm>
            <a:off x="0" y="865188"/>
            <a:ext cx="6227763" cy="258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400">
                <a:solidFill>
                  <a:prstClr val="black"/>
                </a:solidFill>
                <a:latin typeface="Arial" charset="0"/>
                <a:cs typeface="Arial" charset="0"/>
              </a:rPr>
              <a:t>Determina concentração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4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400">
                <a:solidFill>
                  <a:prstClr val="black"/>
                </a:solidFill>
                <a:latin typeface="Arial" charset="0"/>
                <a:cs typeface="Arial" charset="0"/>
              </a:rPr>
              <a:t>Absorvância a 260 nm é proporcional a quantidade de ácidos nucleicos 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3277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36900"/>
            <a:ext cx="6048375" cy="288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4" name="Picture 2" descr="http://www.labtech.co.uk/system/files/product/NanoDrop2000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933825"/>
            <a:ext cx="2076450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599263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2" descr="File:Spektrofotometri.jp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4425" y="981075"/>
            <a:ext cx="2949575" cy="216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5" name="Rectangle 4"/>
          <p:cNvSpPr>
            <a:spLocks noChangeArrowheads="1"/>
          </p:cNvSpPr>
          <p:nvPr/>
        </p:nvSpPr>
        <p:spPr bwMode="auto">
          <a:xfrm>
            <a:off x="0" y="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3500">
                <a:solidFill>
                  <a:prstClr val="black"/>
                </a:solidFill>
                <a:cs typeface="Arial" charset="0"/>
              </a:rPr>
              <a:t>Quantificação via espectrofotometria </a:t>
            </a:r>
          </a:p>
        </p:txBody>
      </p:sp>
      <p:sp>
        <p:nvSpPr>
          <p:cNvPr id="33796" name="Rectangle 5"/>
          <p:cNvSpPr>
            <a:spLocks noChangeArrowheads="1"/>
          </p:cNvSpPr>
          <p:nvPr/>
        </p:nvSpPr>
        <p:spPr bwMode="auto">
          <a:xfrm>
            <a:off x="0" y="890588"/>
            <a:ext cx="6659563" cy="455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2400">
                <a:solidFill>
                  <a:prstClr val="black"/>
                </a:solidFill>
                <a:latin typeface="Arial" charset="0"/>
                <a:cs typeface="Arial" charset="0"/>
              </a:rPr>
              <a:t>Determina o grau de pureza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4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Leitura da absorvância a 280nm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proporcional à quantidade de proteínas e fenol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Leitura a 325nm que é proporcional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à quantidade de partículas em suspensão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A relação A</a:t>
            </a:r>
            <a:r>
              <a:rPr lang="pt-BR" altLang="pt-BR" sz="2200" baseline="-25000">
                <a:solidFill>
                  <a:prstClr val="black"/>
                </a:solidFill>
                <a:latin typeface="Arial" charset="0"/>
                <a:cs typeface="Arial" charset="0"/>
              </a:rPr>
              <a:t>260</a:t>
            </a: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/A</a:t>
            </a:r>
            <a:r>
              <a:rPr lang="pt-BR" altLang="pt-BR" sz="2200" baseline="-25000">
                <a:solidFill>
                  <a:prstClr val="black"/>
                </a:solidFill>
                <a:latin typeface="Arial" charset="0"/>
                <a:cs typeface="Arial" charset="0"/>
              </a:rPr>
              <a:t>280</a:t>
            </a: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 deve ser entre 1.8 e 2.0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Abaixo de 1.8 = contaminação com proteína e fenol</a:t>
            </a:r>
            <a:r>
              <a:rPr lang="fr-FR" altLang="pt-BR" sz="2200">
                <a:solidFill>
                  <a:prstClr val="black"/>
                </a:solidFill>
                <a:latin typeface="Arial" charset="0"/>
                <a:cs typeface="Arial" charset="0"/>
              </a:rPr>
              <a:t>	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  <p:pic>
        <p:nvPicPr>
          <p:cNvPr id="33797" name="Picture 2" descr="http://www.labtech.co.uk/system/files/product/NanoDrop2000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025" y="3933825"/>
            <a:ext cx="2076450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8" name="Rectangle 6"/>
          <p:cNvSpPr>
            <a:spLocks noChangeArrowheads="1"/>
          </p:cNvSpPr>
          <p:nvPr/>
        </p:nvSpPr>
        <p:spPr bwMode="auto">
          <a:xfrm>
            <a:off x="107950" y="5200650"/>
            <a:ext cx="6335713" cy="1108075"/>
          </a:xfrm>
          <a:prstGeom prst="rect">
            <a:avLst/>
          </a:prstGeom>
          <a:solidFill>
            <a:schemeClr val="bg1"/>
          </a:solidFill>
          <a:ln w="63500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 u="sng">
                <a:solidFill>
                  <a:prstClr val="black"/>
                </a:solidFill>
                <a:latin typeface="Arial" charset="0"/>
                <a:cs typeface="Arial" charset="0"/>
                <a:sym typeface="Wingdings" pitchFamily="2" charset="2"/>
              </a:rPr>
              <a:t>Limitações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  <a:sym typeface="Wingdings" pitchFamily="2" charset="2"/>
              </a:rPr>
              <a:t>Muitas outras moléculas absorvem a 260 nm</a:t>
            </a:r>
          </a:p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>
                <a:solidFill>
                  <a:prstClr val="black"/>
                </a:solidFill>
                <a:latin typeface="Arial" charset="0"/>
                <a:cs typeface="Arial" charset="0"/>
                <a:sym typeface="Wingdings" pitchFamily="2" charset="2"/>
              </a:rPr>
              <a:t>Não pode distinguir DNA, RNA ou nucleotídeos</a:t>
            </a:r>
            <a:endParaRPr lang="fr-FR" altLang="pt-BR" sz="2200">
              <a:solidFill>
                <a:prstClr val="black"/>
              </a:solidFill>
              <a:latin typeface="Arial" charset="0"/>
              <a:cs typeface="Arial" charset="0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363284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4"/>
          <p:cNvSpPr>
            <a:spLocks noChangeArrowheads="1"/>
          </p:cNvSpPr>
          <p:nvPr/>
        </p:nvSpPr>
        <p:spPr bwMode="auto">
          <a:xfrm>
            <a:off x="0" y="0"/>
            <a:ext cx="9144000" cy="63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fr-FR" altLang="pt-BR" sz="3500">
                <a:solidFill>
                  <a:prstClr val="black"/>
                </a:solidFill>
                <a:cs typeface="Arial" charset="0"/>
              </a:rPr>
              <a:t>Quantificação via fluorimetria</a:t>
            </a:r>
          </a:p>
        </p:txBody>
      </p:sp>
      <p:pic>
        <p:nvPicPr>
          <p:cNvPr id="34819" name="Picture 2" descr="File:S002844 scree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697413"/>
            <a:ext cx="3240088" cy="2160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4" descr="File:S003771 NoSkin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7400" y="4213225"/>
            <a:ext cx="1763713" cy="264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4821" name="Rectangle 5"/>
          <p:cNvSpPr>
            <a:spLocks noChangeArrowheads="1"/>
          </p:cNvSpPr>
          <p:nvPr/>
        </p:nvSpPr>
        <p:spPr bwMode="auto">
          <a:xfrm>
            <a:off x="0" y="890588"/>
            <a:ext cx="9144000" cy="38164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Cada corante é específico para um tipo de molécula: DNA, RNA ou proteína.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Corantes com fluorescência extremamente baixa até que eles se liguem aos seus alvos (DNA, RNA ou proteína). 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Após a ligação, tornam-se intensamente fluorescentes.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pt-B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pt-B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Uso de padrões de DNA para estabelecer a relação entre a concentração de DNA e a fluorescência.</a:t>
            </a:r>
            <a:r>
              <a:rPr lang="fr-FR" altLang="pt-BR" sz="2200" dirty="0">
                <a:solidFill>
                  <a:prstClr val="black"/>
                </a:solidFill>
                <a:latin typeface="Arial" charset="0"/>
                <a:cs typeface="Arial" charset="0"/>
              </a:rPr>
              <a:t>		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fr-FR" altLang="pt-BR" sz="2200" dirty="0">
              <a:solidFill>
                <a:prstClr val="black"/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2048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 txBox="1">
            <a:spLocks/>
          </p:cNvSpPr>
          <p:nvPr/>
        </p:nvSpPr>
        <p:spPr>
          <a:xfrm>
            <a:off x="-1908175" y="620713"/>
            <a:ext cx="9144000" cy="1871662"/>
          </a:xfrm>
          <a:prstGeom prst="rect">
            <a:avLst/>
          </a:prstGeom>
        </p:spPr>
        <p:txBody>
          <a:bodyPr anchor="ctr"/>
          <a:lstStyle/>
          <a:p>
            <a:pPr algn="ctr">
              <a:spcBef>
                <a:spcPct val="0"/>
              </a:spcBef>
              <a:defRPr/>
            </a:pPr>
            <a:br>
              <a:rPr lang="pt-BR" sz="250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endParaRPr lang="pt-B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 algn="ctr">
              <a:spcBef>
                <a:spcPct val="0"/>
              </a:spcBef>
              <a:defRPr/>
            </a:pPr>
            <a:br>
              <a:rPr lang="pt-BR" sz="2500" cap="all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endParaRPr lang="fr-FR" sz="250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17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2" y="1050132"/>
            <a:ext cx="4894735" cy="374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ZoneTexte 12"/>
          <p:cNvSpPr txBox="1">
            <a:spLocks noChangeArrowheads="1"/>
          </p:cNvSpPr>
          <p:nvPr/>
        </p:nvSpPr>
        <p:spPr bwMode="auto">
          <a:xfrm>
            <a:off x="1978025" y="5221288"/>
            <a:ext cx="4894735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1600" b="1" dirty="0" err="1">
                <a:solidFill>
                  <a:prstClr val="black"/>
                </a:solidFill>
              </a:rPr>
              <a:t>Eletroforese</a:t>
            </a:r>
            <a:r>
              <a:rPr lang="fr-FR" altLang="pt-BR" sz="1600" b="1" dirty="0">
                <a:solidFill>
                  <a:prstClr val="black"/>
                </a:solidFill>
              </a:rPr>
              <a:t> </a:t>
            </a:r>
            <a:r>
              <a:rPr lang="fr-FR" altLang="pt-BR" sz="1600" b="1" dirty="0" err="1">
                <a:solidFill>
                  <a:prstClr val="black"/>
                </a:solidFill>
              </a:rPr>
              <a:t>em</a:t>
            </a:r>
            <a:r>
              <a:rPr lang="fr-FR" altLang="pt-BR" sz="1600" b="1" dirty="0">
                <a:solidFill>
                  <a:prstClr val="black"/>
                </a:solidFill>
              </a:rPr>
              <a:t> gel de agarose</a:t>
            </a: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fr-FR" altLang="pt-BR" sz="1600" b="1" dirty="0">
                <a:solidFill>
                  <a:prstClr val="black"/>
                </a:solidFill>
              </a:rPr>
              <a:t>→ </a:t>
            </a:r>
            <a:r>
              <a:rPr lang="fr-FR" altLang="pt-BR" sz="1600" b="1" dirty="0" err="1">
                <a:solidFill>
                  <a:prstClr val="black"/>
                </a:solidFill>
              </a:rPr>
              <a:t>fragmentação</a:t>
            </a:r>
            <a:endParaRPr lang="fr-FR" altLang="pt-BR" sz="1600" b="1" dirty="0">
              <a:solidFill>
                <a:prstClr val="black"/>
              </a:solidFill>
            </a:endParaRPr>
          </a:p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</a:pPr>
            <a:endParaRPr lang="fr-FR" altLang="pt-BR" sz="1600" b="1" dirty="0">
              <a:solidFill>
                <a:prstClr val="black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BF875FA-E724-2F4C-A05C-B8DE48BE5A1B}"/>
              </a:ext>
            </a:extLst>
          </p:cNvPr>
          <p:cNvSpPr txBox="1">
            <a:spLocks/>
          </p:cNvSpPr>
          <p:nvPr/>
        </p:nvSpPr>
        <p:spPr>
          <a:xfrm>
            <a:off x="-275600" y="-246856"/>
            <a:ext cx="9180513" cy="1296988"/>
          </a:xfrm>
          <a:prstGeom prst="rect">
            <a:avLst/>
          </a:prstGeom>
        </p:spPr>
        <p:txBody>
          <a:bodyPr anchor="ctr">
            <a:normAutofit fontScale="97500"/>
          </a:bodyPr>
          <a:lstStyle/>
          <a:p>
            <a:pPr algn="ctr">
              <a:spcBef>
                <a:spcPct val="0"/>
              </a:spcBef>
              <a:defRPr/>
            </a:pPr>
            <a:r>
              <a:rPr lang="fr-FR" sz="4300" dirty="0" err="1">
                <a:solidFill>
                  <a:prstClr val="black"/>
                </a:solidFill>
                <a:cs typeface="Arial" charset="0"/>
              </a:rPr>
              <a:t>Fragmentação</a:t>
            </a:r>
            <a:r>
              <a:rPr lang="fr-FR" sz="4300" dirty="0">
                <a:solidFill>
                  <a:prstClr val="black"/>
                </a:solidFill>
                <a:cs typeface="Arial" charset="0"/>
              </a:rPr>
              <a:t> do DNA</a:t>
            </a:r>
          </a:p>
        </p:txBody>
      </p:sp>
    </p:spTree>
    <p:extLst>
      <p:ext uri="{BB962C8B-B14F-4D97-AF65-F5344CB8AC3E}">
        <p14:creationId xmlns:p14="http://schemas.microsoft.com/office/powerpoint/2010/main" val="35471813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216024" y="908720"/>
            <a:ext cx="8892480" cy="37430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</a:rPr>
              <a:t> Fragmentar o DNA em pedaços (50-450 </a:t>
            </a:r>
            <a:r>
              <a:rPr lang="pt-BR" sz="2300" dirty="0" err="1">
                <a:latin typeface="Arial" pitchFamily="34" charset="0"/>
                <a:cs typeface="Arial" pitchFamily="34" charset="0"/>
              </a:rPr>
              <a:t>pb</a:t>
            </a:r>
            <a:r>
              <a:rPr lang="pt-BR" sz="2300" dirty="0">
                <a:latin typeface="Arial" pitchFamily="34" charset="0"/>
                <a:cs typeface="Arial" pitchFamily="34" charset="0"/>
              </a:rPr>
              <a:t>) um pouco mais compridos do que necessário para a plataforma escolhida</a:t>
            </a:r>
          </a:p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  <a:p>
            <a:pPr marL="457200" lvl="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2 opções:</a:t>
            </a:r>
          </a:p>
          <a:p>
            <a:pPr marL="914400" lvl="1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Enzima de restrição</a:t>
            </a:r>
          </a:p>
          <a:p>
            <a:pPr marL="914400" lvl="1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r>
              <a:rPr lang="pt-BR" sz="2300" dirty="0">
                <a:latin typeface="Arial" pitchFamily="34" charset="0"/>
                <a:cs typeface="Arial" pitchFamily="34" charset="0"/>
                <a:sym typeface="Wingdings"/>
              </a:rPr>
              <a:t> </a:t>
            </a:r>
            <a:r>
              <a:rPr lang="pt-BR" sz="2300" dirty="0" err="1">
                <a:latin typeface="Arial" pitchFamily="34" charset="0"/>
                <a:cs typeface="Arial" pitchFamily="34" charset="0"/>
                <a:sym typeface="Wingdings"/>
              </a:rPr>
              <a:t>Sonicação</a:t>
            </a:r>
            <a:endParaRPr lang="pt-BR" sz="2300" dirty="0">
              <a:latin typeface="Arial" pitchFamily="34" charset="0"/>
              <a:cs typeface="Arial" pitchFamily="34" charset="0"/>
              <a:sym typeface="Wingdings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26308" name="Picture 4" descr="http://thetruthwins.com/wp-content/uploads/2013/07/DNA-Fragmentatio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95936" y="2519381"/>
            <a:ext cx="5148064" cy="342989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1298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216024" y="476672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500" b="1">
                <a:latin typeface="Arial" pitchFamily="34" charset="0"/>
                <a:cs typeface="Arial" pitchFamily="34" charset="0"/>
              </a:rPr>
              <a:t>Enzima de restrição</a:t>
            </a:r>
            <a:endParaRPr lang="pt-BR" sz="2500" b="1">
              <a:latin typeface="Arial" pitchFamily="34" charset="0"/>
              <a:cs typeface="Arial" pitchFamily="34" charset="0"/>
              <a:sym typeface="Wingdings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324544" y="1951672"/>
            <a:ext cx="42484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Usando mix de enzimas p/ obter o tamanho de fragmento desejado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47664" y="4457343"/>
            <a:ext cx="5355704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2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Problemas</a:t>
            </a:r>
            <a:endParaRPr lang="pt-BR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pPr marL="457200" algn="ctr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Viés devido a sítio de clivagem e atividade enzimática</a:t>
            </a:r>
          </a:p>
          <a:p>
            <a:pPr marL="457200" algn="ctr">
              <a:lnSpc>
                <a:spcPct val="150000"/>
              </a:lnSpc>
              <a:spcBef>
                <a:spcPct val="0"/>
              </a:spcBef>
              <a:defRPr/>
            </a:pPr>
            <a:endParaRPr lang="pt-BR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31428" name="Picture 4" descr="http://www.sobiologia.com.br/figuras/Genetica/restricao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7904" y="1268760"/>
            <a:ext cx="5076747" cy="30963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906736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-72008" y="500479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500" b="1">
                <a:latin typeface="Arial" pitchFamily="34" charset="0"/>
                <a:cs typeface="Arial" pitchFamily="34" charset="0"/>
                <a:sym typeface="Wingdings"/>
              </a:rPr>
              <a:t>Sonicação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-252536" y="1303600"/>
            <a:ext cx="4248472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Usa ondas sonoras para fragmentar o DNA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Tamanho obtido depende da frequência da onda e do tempo aplicado</a:t>
            </a:r>
          </a:p>
        </p:txBody>
      </p:sp>
      <p:pic>
        <p:nvPicPr>
          <p:cNvPr id="9" name="Picture 2" descr="http://covarisinc.com/wp-content/uploads/2012/04/m220-graph-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3840479"/>
            <a:ext cx="4572000" cy="3017521"/>
          </a:xfrm>
          <a:prstGeom prst="rect">
            <a:avLst/>
          </a:prstGeom>
          <a:noFill/>
        </p:spPr>
      </p:pic>
      <p:sp>
        <p:nvSpPr>
          <p:cNvPr id="20" name="Rectangle 19"/>
          <p:cNvSpPr/>
          <p:nvPr/>
        </p:nvSpPr>
        <p:spPr>
          <a:xfrm>
            <a:off x="4067944" y="1303600"/>
            <a:ext cx="42484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>
                <a:latin typeface="Arial" pitchFamily="34" charset="0"/>
                <a:cs typeface="Arial" pitchFamily="34" charset="0"/>
              </a:rPr>
              <a:t>Importante manter temperatura baixa para evitar viés c/ regiões ricas em AT</a:t>
            </a:r>
          </a:p>
        </p:txBody>
      </p:sp>
      <p:pic>
        <p:nvPicPr>
          <p:cNvPr id="21" name="Picture 3" descr="http://www.cosmobio.co.jp/export_e/cata_inst/img/jpeg/20041124_bioruptor_04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96544" y="2996952"/>
            <a:ext cx="3923928" cy="3170535"/>
          </a:xfrm>
          <a:prstGeom prst="rect">
            <a:avLst/>
          </a:prstGeom>
          <a:noFill/>
        </p:spPr>
      </p:pic>
      <p:sp>
        <p:nvSpPr>
          <p:cNvPr id="22" name="ZoneTexte 21"/>
          <p:cNvSpPr txBox="1"/>
          <p:nvPr/>
        </p:nvSpPr>
        <p:spPr>
          <a:xfrm>
            <a:off x="4860032" y="6192306"/>
            <a:ext cx="4032448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500" b="1">
                <a:latin typeface="Arial" pitchFamily="34" charset="0"/>
                <a:cs typeface="Arial" pitchFamily="34" charset="0"/>
              </a:rPr>
              <a:t>Diagenode Bioruptor</a:t>
            </a:r>
          </a:p>
        </p:txBody>
      </p:sp>
    </p:spTree>
    <p:extLst>
      <p:ext uri="{BB962C8B-B14F-4D97-AF65-F5344CB8AC3E}">
        <p14:creationId xmlns:p14="http://schemas.microsoft.com/office/powerpoint/2010/main" val="166555846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27" name="Picture 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148064" y="1943612"/>
            <a:ext cx="2881114" cy="4547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21" name="Groupe 20"/>
          <p:cNvGrpSpPr/>
          <p:nvPr/>
        </p:nvGrpSpPr>
        <p:grpSpPr>
          <a:xfrm>
            <a:off x="35496" y="2750393"/>
            <a:ext cx="4248472" cy="3990975"/>
            <a:chOff x="4427984" y="1844824"/>
            <a:chExt cx="4248472" cy="3990975"/>
          </a:xfrm>
        </p:grpSpPr>
        <p:pic>
          <p:nvPicPr>
            <p:cNvPr id="22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644008" y="1844824"/>
              <a:ext cx="3419475" cy="3990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23" name="ZoneTexte 22"/>
            <p:cNvSpPr txBox="1"/>
            <p:nvPr/>
          </p:nvSpPr>
          <p:spPr>
            <a:xfrm>
              <a:off x="6516216" y="4068361"/>
              <a:ext cx="172819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Banho </a:t>
              </a:r>
            </a:p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maria</a:t>
              </a:r>
            </a:p>
            <a:p>
              <a:pPr algn="ctr"/>
              <a:endParaRPr lang="fr-FR" sz="1600" b="1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ZoneTexte 23"/>
            <p:cNvSpPr txBox="1"/>
            <p:nvPr/>
          </p:nvSpPr>
          <p:spPr>
            <a:xfrm>
              <a:off x="6380584" y="3140968"/>
              <a:ext cx="229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Zona focal</a:t>
              </a:r>
            </a:p>
          </p:txBody>
        </p:sp>
        <p:sp>
          <p:nvSpPr>
            <p:cNvPr id="25" name="ZoneTexte 24"/>
            <p:cNvSpPr txBox="1"/>
            <p:nvPr/>
          </p:nvSpPr>
          <p:spPr>
            <a:xfrm>
              <a:off x="4427984" y="5250686"/>
              <a:ext cx="22958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Transdutor</a:t>
              </a:r>
            </a:p>
          </p:txBody>
        </p:sp>
        <p:sp>
          <p:nvSpPr>
            <p:cNvPr id="26" name="ZoneTexte 25"/>
            <p:cNvSpPr txBox="1"/>
            <p:nvPr/>
          </p:nvSpPr>
          <p:spPr>
            <a:xfrm>
              <a:off x="5228456" y="2196153"/>
              <a:ext cx="2295872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Recipiente c/ amostra DNA</a:t>
              </a:r>
            </a:p>
          </p:txBody>
        </p:sp>
      </p:grpSp>
      <p:sp>
        <p:nvSpPr>
          <p:cNvPr id="27" name="Rectangle 26"/>
          <p:cNvSpPr/>
          <p:nvPr/>
        </p:nvSpPr>
        <p:spPr>
          <a:xfrm>
            <a:off x="107504" y="575682"/>
            <a:ext cx="5853782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Adaptive Focused Acoustic (Covaris)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-252536" y="1303600"/>
            <a:ext cx="741682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Frequência 100-1000 x maior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Comprimento de onda 100-1000 x menor (</a:t>
            </a:r>
            <a:r>
              <a:rPr lang="pt-BR" sz="2000" dirty="0" err="1">
                <a:latin typeface="Arial" pitchFamily="34" charset="0"/>
                <a:cs typeface="Arial" pitchFamily="34" charset="0"/>
              </a:rPr>
              <a:t>ultra-som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)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000" dirty="0">
                <a:latin typeface="Arial" pitchFamily="34" charset="0"/>
                <a:cs typeface="Arial" pitchFamily="34" charset="0"/>
              </a:rPr>
              <a:t>Fragmentação DNA via efeito de cavitação 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6804248" y="1919734"/>
            <a:ext cx="24482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Bolha de cavitação cresce em pressão negativa</a:t>
            </a:r>
          </a:p>
          <a:p>
            <a:pPr algn="ctr"/>
            <a:endParaRPr lang="fr-FR" sz="1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ZoneTexte 29"/>
          <p:cNvSpPr txBox="1"/>
          <p:nvPr/>
        </p:nvSpPr>
        <p:spPr>
          <a:xfrm>
            <a:off x="7236296" y="2924944"/>
            <a:ext cx="20162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Tamanho máximo da bolha </a:t>
            </a:r>
          </a:p>
          <a:p>
            <a:pPr algn="ctr"/>
            <a:endParaRPr lang="fr-FR" sz="1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ZoneTexte 30"/>
          <p:cNvSpPr txBox="1"/>
          <p:nvPr/>
        </p:nvSpPr>
        <p:spPr>
          <a:xfrm>
            <a:off x="7524328" y="4869160"/>
            <a:ext cx="17281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" pitchFamily="34" charset="0"/>
                <a:cs typeface="Arial" pitchFamily="34" charset="0"/>
              </a:rPr>
              <a:t>Bolha entra em colapso sob compressão</a:t>
            </a:r>
            <a:endParaRPr lang="fr-FR" sz="1600" b="1"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ZoneTexte 32"/>
          <p:cNvSpPr txBox="1"/>
          <p:nvPr/>
        </p:nvSpPr>
        <p:spPr>
          <a:xfrm>
            <a:off x="3923928" y="4437112"/>
            <a:ext cx="17281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>
                <a:latin typeface="Arial" pitchFamily="34" charset="0"/>
                <a:cs typeface="Arial" pitchFamily="34" charset="0"/>
              </a:rPr>
              <a:t>Colapso da bolha  e o ciclo começa novamente</a:t>
            </a:r>
            <a:endParaRPr lang="fr-FR" sz="16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11396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2375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955" y="1198959"/>
            <a:ext cx="8772525" cy="5686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Rectangle 26"/>
          <p:cNvSpPr/>
          <p:nvPr/>
        </p:nvSpPr>
        <p:spPr>
          <a:xfrm>
            <a:off x="107504" y="575682"/>
            <a:ext cx="5853782" cy="86177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Adaptive Focused Acoustic (Covaris)</a:t>
            </a:r>
          </a:p>
          <a:p>
            <a:endParaRPr lang="fr-FR" sz="2500" b="1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1406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78" t="10617" r="20186" b="22222"/>
          <a:stretch/>
        </p:blipFill>
        <p:spPr>
          <a:xfrm>
            <a:off x="1748366" y="985207"/>
            <a:ext cx="5647267" cy="5466395"/>
          </a:xfrm>
          <a:prstGeom prst="rect">
            <a:avLst/>
          </a:prstGeom>
        </p:spPr>
      </p:pic>
      <p:cxnSp>
        <p:nvCxnSpPr>
          <p:cNvPr id="5" name="Straight Connector 4"/>
          <p:cNvCxnSpPr/>
          <p:nvPr/>
        </p:nvCxnSpPr>
        <p:spPr>
          <a:xfrm>
            <a:off x="1117600" y="4385729"/>
            <a:ext cx="670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1117603" y="3539069"/>
            <a:ext cx="6705600" cy="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42041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fragmentação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4DE0775-927F-4740-B347-A50389638E0B}"/>
              </a:ext>
            </a:extLst>
          </p:cNvPr>
          <p:cNvSpPr/>
          <p:nvPr/>
        </p:nvSpPr>
        <p:spPr>
          <a:xfrm>
            <a:off x="0" y="803605"/>
            <a:ext cx="50419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Por que é importante verificar o grau de fragmentação do DNA?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000" b="1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	-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Fragmentos muito longos ou muito curtos </a:t>
            </a:r>
            <a:r>
              <a:rPr lang="pt-BR" sz="2000" b="1" dirty="0">
                <a:latin typeface="Arial" pitchFamily="34" charset="0"/>
                <a:cs typeface="Arial" pitchFamily="34" charset="0"/>
              </a:rPr>
              <a:t>serão eliminados </a:t>
            </a:r>
            <a:r>
              <a:rPr lang="pt-BR" sz="2000" dirty="0">
                <a:latin typeface="Arial" pitchFamily="34" charset="0"/>
                <a:cs typeface="Arial" pitchFamily="34" charset="0"/>
              </a:rPr>
              <a:t>na preparação das bibliotecas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000" b="1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000" b="1" dirty="0">
                <a:latin typeface="Arial" pitchFamily="34" charset="0"/>
                <a:cs typeface="Arial" pitchFamily="34" charset="0"/>
              </a:rPr>
              <a:t>	- Se o seu DNA já estiver fragmentado após a extração (ex. amostras velhas ou retiradas de materiais de museu), a fragmentação adicional NÃO é indicada! 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0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21E121-3977-274C-845D-27F739E56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081" y="1358918"/>
            <a:ext cx="4209260" cy="396019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4532E3-DED7-4245-95C1-75CC06EA3BF2}"/>
              </a:ext>
            </a:extLst>
          </p:cNvPr>
          <p:cNvSpPr txBox="1"/>
          <p:nvPr/>
        </p:nvSpPr>
        <p:spPr>
          <a:xfrm>
            <a:off x="0" y="5747423"/>
            <a:ext cx="89863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latin typeface="Arial" pitchFamily="34" charset="0"/>
                <a:cs typeface="Arial" pitchFamily="34" charset="0"/>
              </a:rPr>
              <a:t>Sempre corra um gel do DNA total extraído antes da preparação das bibliotecas para adaptar seu protocolo às suas necessidades.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7977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120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preparação da biblioteca</a:t>
            </a:r>
          </a:p>
        </p:txBody>
      </p:sp>
      <p:sp>
        <p:nvSpPr>
          <p:cNvPr id="7" name="Rectangle 6"/>
          <p:cNvSpPr/>
          <p:nvPr/>
        </p:nvSpPr>
        <p:spPr>
          <a:xfrm>
            <a:off x="304800" y="1507066"/>
            <a:ext cx="838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Diversos kits comerciais disponíveis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NEB Next Ultra II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 err="1">
                <a:latin typeface="Arial" pitchFamily="34" charset="0"/>
                <a:cs typeface="Arial" pitchFamily="34" charset="0"/>
              </a:rPr>
              <a:t>Nexter</a:t>
            </a: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 err="1">
                <a:latin typeface="Arial" pitchFamily="34" charset="0"/>
                <a:cs typeface="Arial" pitchFamily="34" charset="0"/>
              </a:rPr>
              <a:t>TruSeq</a:t>
            </a: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KAPA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-&gt;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homemade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: muitos reagentes são comuns e permitem que sejam combinados de diversas formas 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		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Primers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, índices,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barcodes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podem ser sintetizados, 	sequências estão disponíveis</a:t>
            </a:r>
          </a:p>
          <a:p>
            <a:pPr marL="457200" indent="-457200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66897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120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preparação da biblioteca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067" y="461665"/>
            <a:ext cx="7603067" cy="63330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52400" y="2400300"/>
            <a:ext cx="1390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~1 hora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3742" y="5219700"/>
            <a:ext cx="16965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~ 30 </a:t>
            </a:r>
            <a:r>
              <a:rPr lang="en-US" dirty="0" err="1"/>
              <a:t>minutos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8189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120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preparação da biblioteca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26" t="6732" r="15403" b="65926"/>
          <a:stretch/>
        </p:blipFill>
        <p:spPr>
          <a:xfrm>
            <a:off x="487386" y="643466"/>
            <a:ext cx="8169227" cy="38608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87387" y="4978400"/>
            <a:ext cx="830101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Seleção dos fragmentos do tamanho certo usando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micro-esferas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magnéticas que se ligam ao DNA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	~ 1 hora</a:t>
            </a:r>
          </a:p>
        </p:txBody>
      </p:sp>
    </p:spTree>
    <p:extLst>
      <p:ext uri="{BB962C8B-B14F-4D97-AF65-F5344CB8AC3E}">
        <p14:creationId xmlns:p14="http://schemas.microsoft.com/office/powerpoint/2010/main" val="5756527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2F2331-54A4-A569-442B-26CF7961A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64815"/>
            <a:ext cx="9144000" cy="27688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4FEB2C9-F983-837A-089D-1CF00279D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911" y="264392"/>
            <a:ext cx="4323275" cy="31646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6D4C2B-39AB-7994-3F89-D2F19A4727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0447" y="3072556"/>
            <a:ext cx="5409642" cy="830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48391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1208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preparação da biblioteca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3" y="700616"/>
            <a:ext cx="3987800" cy="60924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1999" y="965200"/>
            <a:ext cx="4131733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5875" indent="-15875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Enriquecimento com PCR para aumentar a representatividade dos fragmentos do tamanho certo na reação de sequenciamento</a:t>
            </a:r>
          </a:p>
          <a:p>
            <a:pPr marL="15875" indent="-15875"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ct val="0"/>
              </a:spcBef>
              <a:buFontTx/>
              <a:buChar char="-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curto, ~ 15 ciclos</a:t>
            </a:r>
          </a:p>
          <a:p>
            <a:pPr marL="342900" indent="-342900">
              <a:spcBef>
                <a:spcPct val="0"/>
              </a:spcBef>
              <a:buFontTx/>
              <a:buChar char="-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Adição dos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barcodes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para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multiplexing</a:t>
            </a:r>
            <a:endParaRPr lang="pt-BR" sz="2400" i="1" dirty="0">
              <a:latin typeface="Arial" pitchFamily="34" charset="0"/>
              <a:cs typeface="Arial" pitchFamily="34" charset="0"/>
            </a:endParaRPr>
          </a:p>
          <a:p>
            <a:pPr marL="342900" indent="-342900">
              <a:spcBef>
                <a:spcPct val="0"/>
              </a:spcBef>
              <a:buFontTx/>
              <a:buChar char="-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~ 1 hora</a:t>
            </a:r>
          </a:p>
        </p:txBody>
      </p:sp>
    </p:spTree>
    <p:extLst>
      <p:ext uri="{BB962C8B-B14F-4D97-AF65-F5344CB8AC3E}">
        <p14:creationId xmlns:p14="http://schemas.microsoft.com/office/powerpoint/2010/main" val="581620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9616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multiplex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14" name="Groupe 13"/>
          <p:cNvGrpSpPr/>
          <p:nvPr/>
        </p:nvGrpSpPr>
        <p:grpSpPr>
          <a:xfrm>
            <a:off x="395535" y="4365104"/>
            <a:ext cx="8184909" cy="1728192"/>
            <a:chOff x="395535" y="3068960"/>
            <a:chExt cx="8184909" cy="1728192"/>
          </a:xfrm>
        </p:grpSpPr>
        <p:pic>
          <p:nvPicPr>
            <p:cNvPr id="2052" name="Picture 4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95535" y="3501008"/>
              <a:ext cx="8184909" cy="792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ZoneTexte 7"/>
            <p:cNvSpPr txBox="1"/>
            <p:nvPr/>
          </p:nvSpPr>
          <p:spPr>
            <a:xfrm>
              <a:off x="611560" y="3315181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P5</a:t>
              </a:r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7812360" y="3315181"/>
              <a:ext cx="64807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P7</a:t>
              </a: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1115616" y="3068960"/>
              <a:ext cx="18722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Primer sequenciamento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588224" y="4212377"/>
              <a:ext cx="187220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Primer sequenciamento</a:t>
              </a:r>
            </a:p>
          </p:txBody>
        </p:sp>
        <p:sp>
          <p:nvSpPr>
            <p:cNvPr id="12" name="ZoneTexte 11"/>
            <p:cNvSpPr txBox="1"/>
            <p:nvPr/>
          </p:nvSpPr>
          <p:spPr>
            <a:xfrm>
              <a:off x="5868144" y="3068960"/>
              <a:ext cx="144016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Índice amostra</a:t>
              </a:r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3563888" y="3315181"/>
              <a:ext cx="18722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Fragmento DNA</a:t>
              </a:r>
            </a:p>
          </p:txBody>
        </p:sp>
      </p:grpSp>
      <p:sp>
        <p:nvSpPr>
          <p:cNvPr id="15" name="Rectangle 14"/>
          <p:cNvSpPr/>
          <p:nvPr/>
        </p:nvSpPr>
        <p:spPr>
          <a:xfrm>
            <a:off x="-324544" y="620689"/>
            <a:ext cx="9468544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Objetivo: Sequenciar várias bibliotecas ao mesmo tempo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Por quê?: Diminuir custo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 err="1">
                <a:latin typeface="Arial" pitchFamily="34" charset="0"/>
                <a:cs typeface="Arial" pitchFamily="34" charset="0"/>
              </a:rPr>
              <a:t>Illumina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: até 384 amostras / canaleta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Cuidado: n° de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produzidos é dividido pelo n° de amostras 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7" name="Flèche vers le bas 16"/>
          <p:cNvSpPr/>
          <p:nvPr/>
        </p:nvSpPr>
        <p:spPr>
          <a:xfrm rot="1792364">
            <a:off x="6923792" y="3768426"/>
            <a:ext cx="360040" cy="576064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0663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49616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multiplex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549" y="679450"/>
            <a:ext cx="6663447" cy="43497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490" y="5087962"/>
            <a:ext cx="8353019" cy="1658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3148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253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Paired-end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grpSp>
        <p:nvGrpSpPr>
          <p:cNvPr id="12" name="Groupe 11"/>
          <p:cNvGrpSpPr/>
          <p:nvPr/>
        </p:nvGrpSpPr>
        <p:grpSpPr>
          <a:xfrm>
            <a:off x="323528" y="3174454"/>
            <a:ext cx="7632848" cy="3278882"/>
            <a:chOff x="683568" y="2636912"/>
            <a:chExt cx="7632848" cy="3278882"/>
          </a:xfrm>
        </p:grpSpPr>
        <p:pic>
          <p:nvPicPr>
            <p:cNvPr id="253955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562709" y="2636912"/>
              <a:ext cx="5753707" cy="32788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8" name="ZoneTexte 7"/>
            <p:cNvSpPr txBox="1"/>
            <p:nvPr/>
          </p:nvSpPr>
          <p:spPr>
            <a:xfrm>
              <a:off x="971600" y="3140968"/>
              <a:ext cx="18722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DNA genômico</a:t>
              </a:r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5508104" y="2658398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Regiões repetidas</a:t>
              </a:r>
            </a:p>
          </p:txBody>
        </p:sp>
        <p:sp>
          <p:nvSpPr>
            <p:cNvPr id="10" name="ZoneTexte 9"/>
            <p:cNvSpPr txBox="1"/>
            <p:nvPr/>
          </p:nvSpPr>
          <p:spPr>
            <a:xfrm>
              <a:off x="2051720" y="4221088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Paired-end Reads</a:t>
              </a:r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683568" y="5394702"/>
              <a:ext cx="223224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fr-FR" sz="1600" b="1">
                  <a:latin typeface="Arial" pitchFamily="34" charset="0"/>
                  <a:cs typeface="Arial" pitchFamily="34" charset="0"/>
                </a:rPr>
                <a:t>Alinhamento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-324544" y="610810"/>
            <a:ext cx="9468544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Objetivo: Facilitar a montagem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Por quê?: Dificuldade para alinhar (regiões repetidas) e baixa qualidade no fim dos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Cuidado: n° de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produzidos é dividido por 2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381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2533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Paired-end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pic>
        <p:nvPicPr>
          <p:cNvPr id="2549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9592" y="620688"/>
            <a:ext cx="3746754" cy="4981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5497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652120" y="725947"/>
            <a:ext cx="3349371" cy="615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4" name="Rectangle 13"/>
          <p:cNvSpPr/>
          <p:nvPr/>
        </p:nvSpPr>
        <p:spPr>
          <a:xfrm>
            <a:off x="-468560" y="428471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500" b="1">
                <a:latin typeface="Arial" pitchFamily="34" charset="0"/>
                <a:cs typeface="Arial" pitchFamily="34" charset="0"/>
                <a:sym typeface="Wingdings"/>
              </a:rPr>
              <a:t>Single-end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904656" y="-3577"/>
            <a:ext cx="889248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500" b="1">
                <a:latin typeface="Arial" pitchFamily="34" charset="0"/>
                <a:cs typeface="Arial" pitchFamily="34" charset="0"/>
                <a:sym typeface="Wingdings"/>
              </a:rPr>
              <a:t>Paired-end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buFontTx/>
              <a:buChar char="-"/>
              <a:defRPr/>
            </a:pPr>
            <a:endParaRPr lang="pt-BR" sz="2300">
              <a:latin typeface="Arial" pitchFamily="34" charset="0"/>
              <a:cs typeface="Arial" pitchFamily="34" charset="0"/>
            </a:endParaRPr>
          </a:p>
        </p:txBody>
      </p:sp>
      <p:sp>
        <p:nvSpPr>
          <p:cNvPr id="16" name="ZoneTexte 15"/>
          <p:cNvSpPr txBox="1"/>
          <p:nvPr/>
        </p:nvSpPr>
        <p:spPr>
          <a:xfrm>
            <a:off x="4139952" y="692696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DNA genômico</a:t>
            </a:r>
          </a:p>
        </p:txBody>
      </p:sp>
      <p:sp>
        <p:nvSpPr>
          <p:cNvPr id="17" name="ZoneTexte 16"/>
          <p:cNvSpPr txBox="1"/>
          <p:nvPr/>
        </p:nvSpPr>
        <p:spPr>
          <a:xfrm>
            <a:off x="4139952" y="1290246"/>
            <a:ext cx="18722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Fragmentação</a:t>
            </a:r>
          </a:p>
        </p:txBody>
      </p:sp>
      <p:sp>
        <p:nvSpPr>
          <p:cNvPr id="18" name="ZoneTexte 17"/>
          <p:cNvSpPr txBox="1"/>
          <p:nvPr/>
        </p:nvSpPr>
        <p:spPr>
          <a:xfrm>
            <a:off x="3923928" y="2276872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Adição adaptadores</a:t>
            </a:r>
          </a:p>
        </p:txBody>
      </p:sp>
      <p:sp>
        <p:nvSpPr>
          <p:cNvPr id="19" name="ZoneTexte 18"/>
          <p:cNvSpPr txBox="1"/>
          <p:nvPr/>
        </p:nvSpPr>
        <p:spPr>
          <a:xfrm>
            <a:off x="3995936" y="3212976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Geração dos clusters</a:t>
            </a:r>
          </a:p>
        </p:txBody>
      </p:sp>
      <p:sp>
        <p:nvSpPr>
          <p:cNvPr id="20" name="ZoneTexte 19"/>
          <p:cNvSpPr txBox="1"/>
          <p:nvPr/>
        </p:nvSpPr>
        <p:spPr>
          <a:xfrm>
            <a:off x="539552" y="4530606"/>
            <a:ext cx="230425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>
                <a:latin typeface="Arial" pitchFamily="34" charset="0"/>
                <a:cs typeface="Arial" pitchFamily="34" charset="0"/>
              </a:rPr>
              <a:t>Sequenciamento</a:t>
            </a:r>
          </a:p>
        </p:txBody>
      </p:sp>
      <p:sp>
        <p:nvSpPr>
          <p:cNvPr id="21" name="ZoneTexte 20"/>
          <p:cNvSpPr txBox="1"/>
          <p:nvPr/>
        </p:nvSpPr>
        <p:spPr>
          <a:xfrm>
            <a:off x="5364088" y="4602614"/>
            <a:ext cx="37444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Sequenciamento 1ª extremidade</a:t>
            </a:r>
          </a:p>
        </p:txBody>
      </p:sp>
      <p:sp>
        <p:nvSpPr>
          <p:cNvPr id="22" name="ZoneTexte 21"/>
          <p:cNvSpPr txBox="1"/>
          <p:nvPr/>
        </p:nvSpPr>
        <p:spPr>
          <a:xfrm>
            <a:off x="5508104" y="5589240"/>
            <a:ext cx="3744416" cy="61555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Nova Geração dos clusters</a:t>
            </a:r>
          </a:p>
          <a:p>
            <a:pPr algn="ctr"/>
            <a:r>
              <a:rPr lang="fr-FR" sz="1600" b="1" dirty="0">
                <a:latin typeface="Arial" pitchFamily="34" charset="0"/>
                <a:cs typeface="Arial" pitchFamily="34" charset="0"/>
              </a:rPr>
              <a:t>Sequenciamento 2</a:t>
            </a:r>
            <a:r>
              <a:rPr lang="fr-FR" b="1" dirty="0">
                <a:latin typeface="Arial" pitchFamily="34" charset="0"/>
                <a:cs typeface="Arial" pitchFamily="34" charset="0"/>
              </a:rPr>
              <a:t>ª</a:t>
            </a:r>
            <a:r>
              <a:rPr lang="fr-FR" sz="1600" b="1" dirty="0">
                <a:latin typeface="Arial" pitchFamily="34" charset="0"/>
                <a:cs typeface="Arial" pitchFamily="34" charset="0"/>
              </a:rPr>
              <a:t> extremidade</a:t>
            </a:r>
          </a:p>
        </p:txBody>
      </p:sp>
    </p:spTree>
    <p:extLst>
      <p:ext uri="{BB962C8B-B14F-4D97-AF65-F5344CB8AC3E}">
        <p14:creationId xmlns:p14="http://schemas.microsoft.com/office/powerpoint/2010/main" val="3829610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Quantificação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-396552" y="610810"/>
            <a:ext cx="9793088" cy="5563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Por quê? </a:t>
            </a:r>
          </a:p>
          <a:p>
            <a:pPr marL="914400" lvl="1">
              <a:lnSpc>
                <a:spcPct val="150000"/>
              </a:lnSpc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Para obter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de boa qualidade e geração dos </a:t>
            </a:r>
            <a:r>
              <a:rPr lang="pt-BR" sz="2400" i="1" dirty="0" err="1">
                <a:latin typeface="Arial" pitchFamily="34" charset="0"/>
                <a:cs typeface="Arial" pitchFamily="34" charset="0"/>
              </a:rPr>
              <a:t>reads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eficiente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Como?</a:t>
            </a:r>
          </a:p>
          <a:p>
            <a:pPr marL="914400" lvl="1">
              <a:lnSpc>
                <a:spcPct val="150000"/>
              </a:lnSpc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BioAnalyzer</a:t>
            </a: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914400" lvl="1">
              <a:lnSpc>
                <a:spcPct val="150000"/>
              </a:lnSpc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Qubit</a:t>
            </a: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914400" lvl="1">
              <a:lnSpc>
                <a:spcPct val="150000"/>
              </a:lnSpc>
              <a:spcBef>
                <a:spcPct val="0"/>
              </a:spcBef>
              <a:buFont typeface="Arial" pitchFamily="34" charset="0"/>
              <a:buChar char="•"/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  <a:r>
              <a:rPr lang="pt-BR" sz="2400" dirty="0" err="1">
                <a:latin typeface="Arial" pitchFamily="34" charset="0"/>
                <a:cs typeface="Arial" pitchFamily="34" charset="0"/>
              </a:rPr>
              <a:t>qPCR</a:t>
            </a:r>
            <a:r>
              <a:rPr lang="pt-BR" sz="2400" dirty="0">
                <a:latin typeface="Arial" pitchFamily="34" charset="0"/>
                <a:cs typeface="Arial" pitchFamily="34" charset="0"/>
              </a:rPr>
              <a:t> </a:t>
            </a: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  <a:p>
            <a:pPr marL="457200">
              <a:lnSpc>
                <a:spcPct val="150000"/>
              </a:lnSpc>
              <a:spcBef>
                <a:spcPct val="0"/>
              </a:spcBef>
              <a:defRPr/>
            </a:pPr>
            <a:endParaRPr lang="pt-BR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94719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Quantificação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647690"/>
            <a:ext cx="203613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BioAnalyzer</a:t>
            </a:r>
          </a:p>
        </p:txBody>
      </p:sp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930674"/>
            <a:ext cx="7543340" cy="3927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026" name="Picture 2" descr="http://ccamp.res.in/sites/default/files/BioAnalyzer_210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96119" y="1193672"/>
            <a:ext cx="5547881" cy="3099424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79512" y="1340768"/>
            <a:ext cx="4824536" cy="12464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500" dirty="0">
                <a:latin typeface="Arial" pitchFamily="34" charset="0"/>
                <a:cs typeface="Arial" pitchFamily="34" charset="0"/>
              </a:rPr>
              <a:t>Detecção precisa e sensível de todos os fragmentos (com ou sem adaptadores)</a:t>
            </a:r>
          </a:p>
        </p:txBody>
      </p:sp>
    </p:spTree>
    <p:extLst>
      <p:ext uri="{BB962C8B-B14F-4D97-AF65-F5344CB8AC3E}">
        <p14:creationId xmlns:p14="http://schemas.microsoft.com/office/powerpoint/2010/main" val="18381245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Quantificação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647690"/>
            <a:ext cx="2036135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BioAnalyzer</a:t>
            </a:r>
          </a:p>
        </p:txBody>
      </p:sp>
      <p:pic>
        <p:nvPicPr>
          <p:cNvPr id="257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930674"/>
            <a:ext cx="7543340" cy="3927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7026" name="Picture 2" descr="http://ccamp.res.in/sites/default/files/BioAnalyzer_2100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96119" y="1193672"/>
            <a:ext cx="5547881" cy="3099424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179512" y="1340768"/>
            <a:ext cx="4824536" cy="124649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r>
              <a:rPr lang="pt-BR" sz="2500" b="1" dirty="0">
                <a:latin typeface="Arial" pitchFamily="34" charset="0"/>
                <a:cs typeface="Arial" pitchFamily="34" charset="0"/>
              </a:rPr>
              <a:t>Todas as amostras enviadas para sequenciamento tem que passar por essa análise antes. </a:t>
            </a:r>
          </a:p>
        </p:txBody>
      </p:sp>
    </p:spTree>
    <p:extLst>
      <p:ext uri="{BB962C8B-B14F-4D97-AF65-F5344CB8AC3E}">
        <p14:creationId xmlns:p14="http://schemas.microsoft.com/office/powerpoint/2010/main" val="46623210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Quantificação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529159"/>
            <a:ext cx="102303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Qubit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512" y="1107982"/>
            <a:ext cx="5472608" cy="20159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500" dirty="0">
                <a:latin typeface="Arial" pitchFamily="34" charset="0"/>
                <a:cs typeface="Arial" pitchFamily="34" charset="0"/>
              </a:rPr>
              <a:t>Baseado em fluorometria</a:t>
            </a:r>
          </a:p>
          <a:p>
            <a:r>
              <a:rPr lang="fr-FR" sz="2500" dirty="0">
                <a:latin typeface="Arial" pitchFamily="34" charset="0"/>
                <a:cs typeface="Arial" pitchFamily="34" charset="0"/>
              </a:rPr>
              <a:t>Detecção de todos os fragmentos (todos os tamanhos, com ou sem </a:t>
            </a:r>
            <a:r>
              <a:rPr lang="fr-FR" sz="2500" dirty="0" err="1">
                <a:latin typeface="Arial" pitchFamily="34" charset="0"/>
                <a:cs typeface="Arial" pitchFamily="34" charset="0"/>
              </a:rPr>
              <a:t>adaptadores</a:t>
            </a:r>
            <a:r>
              <a:rPr lang="fr-FR" sz="2500" dirty="0">
                <a:latin typeface="Arial" pitchFamily="34" charset="0"/>
                <a:cs typeface="Arial" pitchFamily="34" charset="0"/>
              </a:rPr>
              <a:t>)</a:t>
            </a:r>
          </a:p>
          <a:p>
            <a:r>
              <a:rPr lang="fr-FR" sz="2500" b="1" dirty="0" err="1">
                <a:latin typeface="Arial" pitchFamily="34" charset="0"/>
                <a:cs typeface="Arial" pitchFamily="34" charset="0"/>
              </a:rPr>
              <a:t>Método</a:t>
            </a:r>
            <a:r>
              <a:rPr lang="fr-FR" sz="2500" b="1" dirty="0">
                <a:latin typeface="Arial" pitchFamily="34" charset="0"/>
                <a:cs typeface="Arial" pitchFamily="34" charset="0"/>
              </a:rPr>
              <a:t> mais </a:t>
            </a:r>
            <a:r>
              <a:rPr lang="fr-FR" sz="2500" b="1" dirty="0" err="1">
                <a:latin typeface="Arial" pitchFamily="34" charset="0"/>
                <a:cs typeface="Arial" pitchFamily="34" charset="0"/>
              </a:rPr>
              <a:t>usado</a:t>
            </a:r>
            <a:endParaRPr lang="fr-FR" sz="25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63172" name="Picture 4" descr="http://mbcf.dfci.harvard.edu/MiSeq/qubit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508104" y="1686405"/>
            <a:ext cx="3312368" cy="3974843"/>
          </a:xfrm>
          <a:prstGeom prst="rect">
            <a:avLst/>
          </a:prstGeom>
          <a:noFill/>
        </p:spPr>
      </p:pic>
      <p:pic>
        <p:nvPicPr>
          <p:cNvPr id="26317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584" y="3297641"/>
            <a:ext cx="3768987" cy="3356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8318732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56284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>
                <a:latin typeface="Arial" pitchFamily="34" charset="0"/>
                <a:cs typeface="Arial" pitchFamily="34" charset="0"/>
              </a:rPr>
              <a:t>Biblioteca de fragmentos: Quantificação</a:t>
            </a:r>
          </a:p>
        </p:txBody>
      </p:sp>
      <p:sp>
        <p:nvSpPr>
          <p:cNvPr id="7" name="Titre 1"/>
          <p:cNvSpPr txBox="1">
            <a:spLocks/>
          </p:cNvSpPr>
          <p:nvPr/>
        </p:nvSpPr>
        <p:spPr>
          <a:xfrm>
            <a:off x="-1907704" y="620688"/>
            <a:ext cx="9144000" cy="187220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Bef>
                <a:spcPct val="0"/>
              </a:spcBef>
              <a:defRPr/>
            </a:pPr>
            <a:br>
              <a:rPr kumimoji="0" lang="pt-BR" sz="2500" i="0" u="none" strike="noStrike" kern="1200" spc="0" normalizeH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lang="pt-BR" sz="2500">
              <a:latin typeface="Arial" pitchFamily="34" charset="0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2500" i="0" u="none" strike="noStrike" kern="1200" spc="0" normalizeH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pt-BR" sz="2500" i="0" u="none" strike="noStrike" kern="1200" cap="all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</a:br>
            <a:endParaRPr kumimoji="0" lang="fr-FR" sz="250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ea typeface="+mj-ea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7504" y="647690"/>
            <a:ext cx="5032147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2500" b="1">
                <a:latin typeface="Arial" pitchFamily="34" charset="0"/>
                <a:cs typeface="Arial" pitchFamily="34" charset="0"/>
              </a:rPr>
              <a:t>PCR quantitativo em tempo real</a:t>
            </a:r>
          </a:p>
        </p:txBody>
      </p:sp>
      <p:sp>
        <p:nvSpPr>
          <p:cNvPr id="8" name="Rectangle 7"/>
          <p:cNvSpPr/>
          <p:nvPr/>
        </p:nvSpPr>
        <p:spPr>
          <a:xfrm>
            <a:off x="179512" y="1340768"/>
            <a:ext cx="77048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500" dirty="0">
                <a:latin typeface="Arial" pitchFamily="34" charset="0"/>
                <a:cs typeface="Arial" pitchFamily="34" charset="0"/>
              </a:rPr>
              <a:t>PCR convencional com um mecanismo de detecção e quantificação por fluorescência</a:t>
            </a:r>
          </a:p>
          <a:p>
            <a:endParaRPr lang="pt-BR" sz="2500" dirty="0">
              <a:latin typeface="Arial" pitchFamily="34" charset="0"/>
              <a:cs typeface="Arial" pitchFamily="34" charset="0"/>
            </a:endParaRPr>
          </a:p>
          <a:p>
            <a:r>
              <a:rPr lang="pt-BR" sz="2500" dirty="0">
                <a:latin typeface="Arial" pitchFamily="34" charset="0"/>
                <a:cs typeface="Arial" pitchFamily="34" charset="0"/>
              </a:rPr>
              <a:t>Vantagem: detecção dos fragmentos c/ adaptadores</a:t>
            </a:r>
            <a:endParaRPr lang="fr-FR" sz="25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65218" name="Picture 2" descr="http://depts.washington.edu/genomelb/RTPCR%20graphSml.gi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88024" y="3356992"/>
            <a:ext cx="4176464" cy="3480387"/>
          </a:xfrm>
          <a:prstGeom prst="rect">
            <a:avLst/>
          </a:prstGeom>
          <a:noFill/>
        </p:spPr>
      </p:pic>
      <p:pic>
        <p:nvPicPr>
          <p:cNvPr id="265220" name="Picture 4" descr="http://www.gene-quantification.de/iq5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6069" y="3284984"/>
            <a:ext cx="3135811" cy="357301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990039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534" y="520242"/>
            <a:ext cx="6299200" cy="6223911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766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tempo de preparo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2" y="526773"/>
            <a:ext cx="4849586" cy="230832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pt-PT" sz="2400" dirty="0" err="1"/>
              <a:t>Sonicação</a:t>
            </a:r>
            <a:r>
              <a:rPr lang="pt-PT" sz="2400" dirty="0"/>
              <a:t>: minutos</a:t>
            </a:r>
          </a:p>
          <a:p>
            <a:r>
              <a:rPr lang="pt-PT" sz="2400" i="1" dirty="0" err="1"/>
              <a:t>Library</a:t>
            </a:r>
            <a:r>
              <a:rPr lang="pt-PT" sz="2400" i="1" dirty="0"/>
              <a:t> </a:t>
            </a:r>
            <a:r>
              <a:rPr lang="pt-PT" sz="2400" i="1" dirty="0" err="1"/>
              <a:t>prep</a:t>
            </a:r>
            <a:r>
              <a:rPr lang="pt-PT" sz="2400" dirty="0"/>
              <a:t>: 3 a 4 horas</a:t>
            </a:r>
          </a:p>
          <a:p>
            <a:r>
              <a:rPr lang="pt-PT" sz="2400" dirty="0"/>
              <a:t>Eletroforese + quantificação: 2 horas</a:t>
            </a:r>
          </a:p>
          <a:p>
            <a:endParaRPr lang="pt-PT" sz="2400" dirty="0"/>
          </a:p>
          <a:p>
            <a:r>
              <a:rPr lang="pt-PT" sz="2400" dirty="0"/>
              <a:t>Tudo isso depende do número de amostras!</a:t>
            </a:r>
          </a:p>
        </p:txBody>
      </p:sp>
    </p:spTree>
    <p:extLst>
      <p:ext uri="{BB962C8B-B14F-4D97-AF65-F5344CB8AC3E}">
        <p14:creationId xmlns:p14="http://schemas.microsoft.com/office/powerpoint/2010/main" val="209232137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400" y="246841"/>
            <a:ext cx="4292600" cy="318215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457201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Biblioteca pronta e quantificada!</a:t>
            </a:r>
          </a:p>
          <a:p>
            <a:endParaRPr lang="pt-BR" sz="2400" dirty="0"/>
          </a:p>
          <a:p>
            <a:r>
              <a:rPr lang="pt-BR" sz="2400" dirty="0"/>
              <a:t>E agora?</a:t>
            </a:r>
          </a:p>
        </p:txBody>
      </p:sp>
    </p:spTree>
    <p:extLst>
      <p:ext uri="{BB962C8B-B14F-4D97-AF65-F5344CB8AC3E}">
        <p14:creationId xmlns:p14="http://schemas.microsoft.com/office/powerpoint/2010/main" val="75340766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14" y="165198"/>
            <a:ext cx="3228029" cy="23929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0" y="457201"/>
            <a:ext cx="4343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Biblioteca pronta e quantificada!</a:t>
            </a:r>
          </a:p>
          <a:p>
            <a:endParaRPr lang="pt-BR" sz="2400" dirty="0"/>
          </a:p>
          <a:p>
            <a:r>
              <a:rPr lang="pt-BR" sz="2400" dirty="0"/>
              <a:t>E agora?</a:t>
            </a:r>
          </a:p>
        </p:txBody>
      </p:sp>
      <p:sp>
        <p:nvSpPr>
          <p:cNvPr id="4" name="Down Arrow 3"/>
          <p:cNvSpPr/>
          <p:nvPr/>
        </p:nvSpPr>
        <p:spPr>
          <a:xfrm rot="18376723">
            <a:off x="5449426" y="1598080"/>
            <a:ext cx="653142" cy="21065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7" descr="Illumina HiSeq 200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8260" y="3940199"/>
            <a:ext cx="3263838" cy="3572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143734" y="3537849"/>
            <a:ext cx="2528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Sequenciamento</a:t>
            </a:r>
          </a:p>
        </p:txBody>
      </p:sp>
      <p:sp>
        <p:nvSpPr>
          <p:cNvPr id="8" name="Down Arrow 7"/>
          <p:cNvSpPr/>
          <p:nvPr/>
        </p:nvSpPr>
        <p:spPr>
          <a:xfrm rot="2296504">
            <a:off x="3805143" y="2173393"/>
            <a:ext cx="653142" cy="210654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49584" y="4282540"/>
            <a:ext cx="430408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Preparação adicional para outras aplicações</a:t>
            </a:r>
          </a:p>
          <a:p>
            <a:r>
              <a:rPr lang="pt-BR" sz="2400" dirty="0"/>
              <a:t>	- </a:t>
            </a:r>
            <a:r>
              <a:rPr lang="pt-BR" sz="2400" dirty="0" err="1"/>
              <a:t>target</a:t>
            </a:r>
            <a:r>
              <a:rPr lang="pt-BR" sz="2400" dirty="0"/>
              <a:t> capture</a:t>
            </a:r>
          </a:p>
          <a:p>
            <a:r>
              <a:rPr lang="pt-BR" sz="2400" dirty="0"/>
              <a:t>	- </a:t>
            </a:r>
            <a:r>
              <a:rPr lang="pt-BR" sz="2400" dirty="0" err="1"/>
              <a:t>RadSeq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59059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26756" y="1235676"/>
            <a:ext cx="9682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Ion Chef</a:t>
            </a:r>
            <a:endParaRPr lang="en-US" dirty="0"/>
          </a:p>
          <a:p>
            <a:endParaRPr lang="en-US" dirty="0"/>
          </a:p>
          <a:p>
            <a:r>
              <a:rPr lang="en-US" dirty="0">
                <a:hlinkClick r:id="rId3"/>
              </a:rPr>
              <a:t>SPRI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76542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>
              <a:spcBef>
                <a:spcPct val="0"/>
              </a:spcBef>
              <a:defRPr/>
            </a:pPr>
            <a:r>
              <a:rPr lang="pt-BR" sz="2400" dirty="0">
                <a:latin typeface="Arial" pitchFamily="34" charset="0"/>
                <a:cs typeface="Arial" pitchFamily="34" charset="0"/>
              </a:rPr>
              <a:t>Biblioteca de fragmentos: Automatização</a:t>
            </a:r>
          </a:p>
        </p:txBody>
      </p:sp>
    </p:spTree>
    <p:extLst>
      <p:ext uri="{BB962C8B-B14F-4D97-AF65-F5344CB8AC3E}">
        <p14:creationId xmlns:p14="http://schemas.microsoft.com/office/powerpoint/2010/main" val="2052447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1790</TotalTime>
  <Words>1474</Words>
  <Application>Microsoft Office PowerPoint</Application>
  <PresentationFormat>On-screen Show (4:3)</PresentationFormat>
  <Paragraphs>365</Paragraphs>
  <Slides>44</Slides>
  <Notes>31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Carolina Siniscalchi</dc:creator>
  <cp:lastModifiedBy>reviewer</cp:lastModifiedBy>
  <cp:revision>11</cp:revision>
  <dcterms:created xsi:type="dcterms:W3CDTF">2018-08-12T18:39:20Z</dcterms:created>
  <dcterms:modified xsi:type="dcterms:W3CDTF">2026-10-20T16:06:48Z</dcterms:modified>
</cp:coreProperties>
</file>