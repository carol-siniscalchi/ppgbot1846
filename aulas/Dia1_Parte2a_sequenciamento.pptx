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6"/>
  </p:notesMasterIdLst>
  <p:sldIdLst>
    <p:sldId id="256" r:id="rId3"/>
    <p:sldId id="260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378" r:id="rId13"/>
    <p:sldId id="436" r:id="rId14"/>
    <p:sldId id="472" r:id="rId15"/>
    <p:sldId id="473" r:id="rId16"/>
    <p:sldId id="474" r:id="rId17"/>
    <p:sldId id="437" r:id="rId18"/>
    <p:sldId id="438" r:id="rId19"/>
    <p:sldId id="380" r:id="rId20"/>
    <p:sldId id="381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2" r:id="rId32"/>
    <p:sldId id="393" r:id="rId33"/>
    <p:sldId id="394" r:id="rId34"/>
    <p:sldId id="440" r:id="rId35"/>
    <p:sldId id="441" r:id="rId36"/>
    <p:sldId id="443" r:id="rId37"/>
    <p:sldId id="448" r:id="rId38"/>
    <p:sldId id="395" r:id="rId39"/>
    <p:sldId id="396" r:id="rId40"/>
    <p:sldId id="397" r:id="rId41"/>
    <p:sldId id="398" r:id="rId42"/>
    <p:sldId id="399" r:id="rId43"/>
    <p:sldId id="434" r:id="rId44"/>
    <p:sldId id="456" r:id="rId45"/>
    <p:sldId id="457" r:id="rId46"/>
    <p:sldId id="459" r:id="rId47"/>
    <p:sldId id="460" r:id="rId48"/>
    <p:sldId id="461" r:id="rId49"/>
    <p:sldId id="462" r:id="rId50"/>
    <p:sldId id="458" r:id="rId51"/>
    <p:sldId id="463" r:id="rId52"/>
    <p:sldId id="464" r:id="rId53"/>
    <p:sldId id="465" r:id="rId54"/>
    <p:sldId id="265" r:id="rId55"/>
    <p:sldId id="445" r:id="rId56"/>
    <p:sldId id="446" r:id="rId57"/>
    <p:sldId id="453" r:id="rId58"/>
    <p:sldId id="454" r:id="rId59"/>
    <p:sldId id="479" r:id="rId60"/>
    <p:sldId id="447" r:id="rId61"/>
    <p:sldId id="449" r:id="rId62"/>
    <p:sldId id="450" r:id="rId63"/>
    <p:sldId id="451" r:id="rId64"/>
    <p:sldId id="452" r:id="rId65"/>
    <p:sldId id="475" r:id="rId66"/>
    <p:sldId id="476" r:id="rId67"/>
    <p:sldId id="477" r:id="rId68"/>
    <p:sldId id="455" r:id="rId69"/>
    <p:sldId id="478" r:id="rId70"/>
    <p:sldId id="469" r:id="rId71"/>
    <p:sldId id="480" r:id="rId72"/>
    <p:sldId id="466" r:id="rId73"/>
    <p:sldId id="467" r:id="rId74"/>
    <p:sldId id="468" r:id="rId7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UARIO" initials="U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2" autoAdjust="0"/>
    <p:restoredTop sz="94624" autoAdjust="0"/>
  </p:normalViewPr>
  <p:slideViewPr>
    <p:cSldViewPr>
      <p:cViewPr varScale="1">
        <p:scale>
          <a:sx n="92" d="100"/>
          <a:sy n="92" d="100"/>
        </p:scale>
        <p:origin x="106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commentAuthors" Target="commentAuthor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CAA2EC-90B2-FF4B-97D2-F6C266AE22B3}" type="doc">
      <dgm:prSet loTypeId="urn:microsoft.com/office/officeart/2005/8/layout/chevron1" loCatId="" qsTypeId="urn:microsoft.com/office/officeart/2005/8/quickstyle/simple4" qsCatId="simple" csTypeId="urn:microsoft.com/office/officeart/2005/8/colors/colorful3" csCatId="colorful" phldr="1"/>
      <dgm:spPr/>
    </dgm:pt>
    <dgm:pt modelId="{9CE20080-DDF3-6640-88EE-240E61B59F29}">
      <dgm:prSet phldrT="[Text]"/>
      <dgm:spPr/>
      <dgm:t>
        <a:bodyPr/>
        <a:lstStyle/>
        <a:p>
          <a:r>
            <a:rPr lang="pt-BR" noProof="0" dirty="0"/>
            <a:t>Estrutura molecular do DNA</a:t>
          </a:r>
        </a:p>
      </dgm:t>
    </dgm:pt>
    <dgm:pt modelId="{7FA3B3DD-C218-044C-A3D7-B3A01991EBB0}" type="par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D50D10DC-6F32-2E46-94CA-221D1C9D4503}" type="sib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514EC7D7-C0D9-6A4A-95AB-0F91557CF989}">
      <dgm:prSet phldrT="[Text]"/>
      <dgm:spPr/>
      <dgm:t>
        <a:bodyPr/>
        <a:lstStyle/>
        <a:p>
          <a:r>
            <a:rPr lang="pt-BR" noProof="0" dirty="0"/>
            <a:t>Identificação da DNA polimerase</a:t>
          </a:r>
        </a:p>
      </dgm:t>
    </dgm:pt>
    <dgm:pt modelId="{B69747EB-72D6-3B4F-A77C-BABB2E53F4DC}" type="par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15DD4DFA-71F8-5E43-BB27-481C231CA09F}" type="sib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4181A6B5-81D6-6649-A20F-FD91B03A160B}">
      <dgm:prSet phldrT="[Text]"/>
      <dgm:spPr/>
      <dgm:t>
        <a:bodyPr/>
        <a:lstStyle/>
        <a:p>
          <a:r>
            <a:rPr lang="pt-BR" noProof="0" dirty="0"/>
            <a:t>Elucidação do código genético</a:t>
          </a:r>
        </a:p>
      </dgm:t>
    </dgm:pt>
    <dgm:pt modelId="{E3725E00-41A7-FB4F-8F9A-ACAFB28CE12E}" type="par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AF52840A-1C69-E342-99D9-D6058EB04388}" type="sib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FBB2F098-4FC6-B547-B893-1FCA92D08C32}">
      <dgm:prSet/>
      <dgm:spPr/>
      <dgm:t>
        <a:bodyPr/>
        <a:lstStyle/>
        <a:p>
          <a:r>
            <a:rPr lang="pt-BR" noProof="0" dirty="0"/>
            <a:t>Isolamento da </a:t>
          </a:r>
          <a:r>
            <a:rPr lang="pt-BR" noProof="0" dirty="0" err="1"/>
            <a:t>Taq</a:t>
          </a:r>
          <a:r>
            <a:rPr lang="pt-BR" noProof="0" dirty="0"/>
            <a:t> polimerase</a:t>
          </a:r>
        </a:p>
      </dgm:t>
    </dgm:pt>
    <dgm:pt modelId="{EC4E2080-38E5-3043-B64C-2EB64DA42865}" type="par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D8887235-9F30-3F4D-9523-F03933D4887F}" type="sib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EFA320B9-69A0-704B-8EA4-F71D13DE93B6}" type="pres">
      <dgm:prSet presAssocID="{E7CAA2EC-90B2-FF4B-97D2-F6C266AE22B3}" presName="Name0" presStyleCnt="0">
        <dgm:presLayoutVars>
          <dgm:dir/>
          <dgm:animLvl val="lvl"/>
          <dgm:resizeHandles val="exact"/>
        </dgm:presLayoutVars>
      </dgm:prSet>
      <dgm:spPr/>
    </dgm:pt>
    <dgm:pt modelId="{DC3BC5DE-679B-0F48-8B6D-4AD11564DD72}" type="pres">
      <dgm:prSet presAssocID="{9CE20080-DDF3-6640-88EE-240E61B59F29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CF145A-9D31-D144-B7F0-D6A80D2D3419}" type="pres">
      <dgm:prSet presAssocID="{D50D10DC-6F32-2E46-94CA-221D1C9D4503}" presName="parTxOnlySpace" presStyleCnt="0"/>
      <dgm:spPr/>
    </dgm:pt>
    <dgm:pt modelId="{5E79C387-6ECF-8640-AD06-B939C81263E9}" type="pres">
      <dgm:prSet presAssocID="{514EC7D7-C0D9-6A4A-95AB-0F91557CF98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AF2D95-DEF6-8B46-964D-69A33E2061B2}" type="pres">
      <dgm:prSet presAssocID="{15DD4DFA-71F8-5E43-BB27-481C231CA09F}" presName="parTxOnlySpace" presStyleCnt="0"/>
      <dgm:spPr/>
    </dgm:pt>
    <dgm:pt modelId="{D8BE46E2-EBA6-EC49-84F9-7C41B19A380C}" type="pres">
      <dgm:prSet presAssocID="{4181A6B5-81D6-6649-A20F-FD91B03A160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5DA5161-1362-F34B-951A-226DAA7A111A}" type="pres">
      <dgm:prSet presAssocID="{AF52840A-1C69-E342-99D9-D6058EB04388}" presName="parTxOnlySpace" presStyleCnt="0"/>
      <dgm:spPr/>
    </dgm:pt>
    <dgm:pt modelId="{47A47808-D542-574B-8CB4-6D5110C30EC6}" type="pres">
      <dgm:prSet presAssocID="{FBB2F098-4FC6-B547-B893-1FCA92D08C3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3D57A0D-6777-4740-B926-8197B8AFB6F2}" srcId="{E7CAA2EC-90B2-FF4B-97D2-F6C266AE22B3}" destId="{9CE20080-DDF3-6640-88EE-240E61B59F29}" srcOrd="0" destOrd="0" parTransId="{7FA3B3DD-C218-044C-A3D7-B3A01991EBB0}" sibTransId="{D50D10DC-6F32-2E46-94CA-221D1C9D4503}"/>
    <dgm:cxn modelId="{1EB98D25-83F2-DD4D-B99B-8D11C4D597A4}" srcId="{E7CAA2EC-90B2-FF4B-97D2-F6C266AE22B3}" destId="{4181A6B5-81D6-6649-A20F-FD91B03A160B}" srcOrd="2" destOrd="0" parTransId="{E3725E00-41A7-FB4F-8F9A-ACAFB28CE12E}" sibTransId="{AF52840A-1C69-E342-99D9-D6058EB04388}"/>
    <dgm:cxn modelId="{10F45D3F-4630-B947-B21F-4B9A04403464}" type="presOf" srcId="{FBB2F098-4FC6-B547-B893-1FCA92D08C32}" destId="{47A47808-D542-574B-8CB4-6D5110C30EC6}" srcOrd="0" destOrd="0" presId="urn:microsoft.com/office/officeart/2005/8/layout/chevron1"/>
    <dgm:cxn modelId="{3ADB8B53-A00B-8648-BF4F-750CA11C4705}" type="presOf" srcId="{E7CAA2EC-90B2-FF4B-97D2-F6C266AE22B3}" destId="{EFA320B9-69A0-704B-8EA4-F71D13DE93B6}" srcOrd="0" destOrd="0" presId="urn:microsoft.com/office/officeart/2005/8/layout/chevron1"/>
    <dgm:cxn modelId="{FD18C156-3C26-CC4A-961A-CBF3B1470DA9}" type="presOf" srcId="{514EC7D7-C0D9-6A4A-95AB-0F91557CF989}" destId="{5E79C387-6ECF-8640-AD06-B939C81263E9}" srcOrd="0" destOrd="0" presId="urn:microsoft.com/office/officeart/2005/8/layout/chevron1"/>
    <dgm:cxn modelId="{D26A2E7D-8B29-3A4F-B0C2-AA29020081D8}" type="presOf" srcId="{9CE20080-DDF3-6640-88EE-240E61B59F29}" destId="{DC3BC5DE-679B-0F48-8B6D-4AD11564DD72}" srcOrd="0" destOrd="0" presId="urn:microsoft.com/office/officeart/2005/8/layout/chevron1"/>
    <dgm:cxn modelId="{7CA35299-8EA2-AA43-B667-D395089B6974}" srcId="{E7CAA2EC-90B2-FF4B-97D2-F6C266AE22B3}" destId="{FBB2F098-4FC6-B547-B893-1FCA92D08C32}" srcOrd="3" destOrd="0" parTransId="{EC4E2080-38E5-3043-B64C-2EB64DA42865}" sibTransId="{D8887235-9F30-3F4D-9523-F03933D4887F}"/>
    <dgm:cxn modelId="{E4F73FBA-3B35-3745-847B-96E920891EA9}" type="presOf" srcId="{4181A6B5-81D6-6649-A20F-FD91B03A160B}" destId="{D8BE46E2-EBA6-EC49-84F9-7C41B19A380C}" srcOrd="0" destOrd="0" presId="urn:microsoft.com/office/officeart/2005/8/layout/chevron1"/>
    <dgm:cxn modelId="{7E83F4D5-FA2D-CA49-945A-475CDC75743B}" srcId="{E7CAA2EC-90B2-FF4B-97D2-F6C266AE22B3}" destId="{514EC7D7-C0D9-6A4A-95AB-0F91557CF989}" srcOrd="1" destOrd="0" parTransId="{B69747EB-72D6-3B4F-A77C-BABB2E53F4DC}" sibTransId="{15DD4DFA-71F8-5E43-BB27-481C231CA09F}"/>
    <dgm:cxn modelId="{AE9158F7-06EF-204C-A696-AD9C93945BC1}" type="presParOf" srcId="{EFA320B9-69A0-704B-8EA4-F71D13DE93B6}" destId="{DC3BC5DE-679B-0F48-8B6D-4AD11564DD72}" srcOrd="0" destOrd="0" presId="urn:microsoft.com/office/officeart/2005/8/layout/chevron1"/>
    <dgm:cxn modelId="{5682070A-7B59-7C40-BE1A-D9A66BEF9543}" type="presParOf" srcId="{EFA320B9-69A0-704B-8EA4-F71D13DE93B6}" destId="{04CF145A-9D31-D144-B7F0-D6A80D2D3419}" srcOrd="1" destOrd="0" presId="urn:microsoft.com/office/officeart/2005/8/layout/chevron1"/>
    <dgm:cxn modelId="{107A9B10-715C-9548-AB6A-FC6C56DED329}" type="presParOf" srcId="{EFA320B9-69A0-704B-8EA4-F71D13DE93B6}" destId="{5E79C387-6ECF-8640-AD06-B939C81263E9}" srcOrd="2" destOrd="0" presId="urn:microsoft.com/office/officeart/2005/8/layout/chevron1"/>
    <dgm:cxn modelId="{4570D405-DE9D-EA4B-B8B4-B0A8C6447A71}" type="presParOf" srcId="{EFA320B9-69A0-704B-8EA4-F71D13DE93B6}" destId="{F8AF2D95-DEF6-8B46-964D-69A33E2061B2}" srcOrd="3" destOrd="0" presId="urn:microsoft.com/office/officeart/2005/8/layout/chevron1"/>
    <dgm:cxn modelId="{A608A64E-D2E7-4145-94F6-858A203697C2}" type="presParOf" srcId="{EFA320B9-69A0-704B-8EA4-F71D13DE93B6}" destId="{D8BE46E2-EBA6-EC49-84F9-7C41B19A380C}" srcOrd="4" destOrd="0" presId="urn:microsoft.com/office/officeart/2005/8/layout/chevron1"/>
    <dgm:cxn modelId="{93CAD4E3-283E-2B4E-BAA5-98D642CBC8E4}" type="presParOf" srcId="{EFA320B9-69A0-704B-8EA4-F71D13DE93B6}" destId="{35DA5161-1362-F34B-951A-226DAA7A111A}" srcOrd="5" destOrd="0" presId="urn:microsoft.com/office/officeart/2005/8/layout/chevron1"/>
    <dgm:cxn modelId="{0187E2FA-F533-1F49-AF58-1D284391D170}" type="presParOf" srcId="{EFA320B9-69A0-704B-8EA4-F71D13DE93B6}" destId="{47A47808-D542-574B-8CB4-6D5110C30EC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CAA2EC-90B2-FF4B-97D2-F6C266AE22B3}" type="doc">
      <dgm:prSet loTypeId="urn:microsoft.com/office/officeart/2005/8/layout/chevron1" loCatId="" qsTypeId="urn:microsoft.com/office/officeart/2005/8/quickstyle/simple4" qsCatId="simple" csTypeId="urn:microsoft.com/office/officeart/2005/8/colors/colorful3" csCatId="colorful" phldr="1"/>
      <dgm:spPr/>
    </dgm:pt>
    <dgm:pt modelId="{9CE20080-DDF3-6640-88EE-240E61B59F29}">
      <dgm:prSet phldrT="[Text]"/>
      <dgm:spPr/>
      <dgm:t>
        <a:bodyPr/>
        <a:lstStyle/>
        <a:p>
          <a:r>
            <a:rPr lang="pt-BR" noProof="0" dirty="0"/>
            <a:t>Estrutura molecular do DNA</a:t>
          </a:r>
        </a:p>
      </dgm:t>
    </dgm:pt>
    <dgm:pt modelId="{7FA3B3DD-C218-044C-A3D7-B3A01991EBB0}" type="par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D50D10DC-6F32-2E46-94CA-221D1C9D4503}" type="sib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514EC7D7-C0D9-6A4A-95AB-0F91557CF989}">
      <dgm:prSet phldrT="[Text]"/>
      <dgm:spPr/>
      <dgm:t>
        <a:bodyPr/>
        <a:lstStyle/>
        <a:p>
          <a:r>
            <a:rPr lang="pt-BR" noProof="0" dirty="0"/>
            <a:t>Identificação da DNA polimerase</a:t>
          </a:r>
        </a:p>
      </dgm:t>
    </dgm:pt>
    <dgm:pt modelId="{B69747EB-72D6-3B4F-A77C-BABB2E53F4DC}" type="par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15DD4DFA-71F8-5E43-BB27-481C231CA09F}" type="sib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4181A6B5-81D6-6649-A20F-FD91B03A160B}">
      <dgm:prSet phldrT="[Text]"/>
      <dgm:spPr/>
      <dgm:t>
        <a:bodyPr/>
        <a:lstStyle/>
        <a:p>
          <a:r>
            <a:rPr lang="pt-BR" noProof="0" dirty="0"/>
            <a:t>Elucidação do código genético</a:t>
          </a:r>
        </a:p>
      </dgm:t>
    </dgm:pt>
    <dgm:pt modelId="{E3725E00-41A7-FB4F-8F9A-ACAFB28CE12E}" type="par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AF52840A-1C69-E342-99D9-D6058EB04388}" type="sib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FBB2F098-4FC6-B547-B893-1FCA92D08C32}">
      <dgm:prSet/>
      <dgm:spPr/>
      <dgm:t>
        <a:bodyPr/>
        <a:lstStyle/>
        <a:p>
          <a:r>
            <a:rPr lang="pt-BR" noProof="0" dirty="0"/>
            <a:t>Isolamento da </a:t>
          </a:r>
          <a:r>
            <a:rPr lang="pt-BR" noProof="0" dirty="0" err="1"/>
            <a:t>Taq</a:t>
          </a:r>
          <a:r>
            <a:rPr lang="pt-BR" noProof="0" dirty="0"/>
            <a:t> polimerase</a:t>
          </a:r>
        </a:p>
      </dgm:t>
    </dgm:pt>
    <dgm:pt modelId="{EC4E2080-38E5-3043-B64C-2EB64DA42865}" type="par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D8887235-9F30-3F4D-9523-F03933D4887F}" type="sib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EFA320B9-69A0-704B-8EA4-F71D13DE93B6}" type="pres">
      <dgm:prSet presAssocID="{E7CAA2EC-90B2-FF4B-97D2-F6C266AE22B3}" presName="Name0" presStyleCnt="0">
        <dgm:presLayoutVars>
          <dgm:dir/>
          <dgm:animLvl val="lvl"/>
          <dgm:resizeHandles val="exact"/>
        </dgm:presLayoutVars>
      </dgm:prSet>
      <dgm:spPr/>
    </dgm:pt>
    <dgm:pt modelId="{DC3BC5DE-679B-0F48-8B6D-4AD11564DD72}" type="pres">
      <dgm:prSet presAssocID="{9CE20080-DDF3-6640-88EE-240E61B59F29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CF145A-9D31-D144-B7F0-D6A80D2D3419}" type="pres">
      <dgm:prSet presAssocID="{D50D10DC-6F32-2E46-94CA-221D1C9D4503}" presName="parTxOnlySpace" presStyleCnt="0"/>
      <dgm:spPr/>
    </dgm:pt>
    <dgm:pt modelId="{5E79C387-6ECF-8640-AD06-B939C81263E9}" type="pres">
      <dgm:prSet presAssocID="{514EC7D7-C0D9-6A4A-95AB-0F91557CF98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AF2D95-DEF6-8B46-964D-69A33E2061B2}" type="pres">
      <dgm:prSet presAssocID="{15DD4DFA-71F8-5E43-BB27-481C231CA09F}" presName="parTxOnlySpace" presStyleCnt="0"/>
      <dgm:spPr/>
    </dgm:pt>
    <dgm:pt modelId="{D8BE46E2-EBA6-EC49-84F9-7C41B19A380C}" type="pres">
      <dgm:prSet presAssocID="{4181A6B5-81D6-6649-A20F-FD91B03A160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5DA5161-1362-F34B-951A-226DAA7A111A}" type="pres">
      <dgm:prSet presAssocID="{AF52840A-1C69-E342-99D9-D6058EB04388}" presName="parTxOnlySpace" presStyleCnt="0"/>
      <dgm:spPr/>
    </dgm:pt>
    <dgm:pt modelId="{47A47808-D542-574B-8CB4-6D5110C30EC6}" type="pres">
      <dgm:prSet presAssocID="{FBB2F098-4FC6-B547-B893-1FCA92D08C3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3D57A0D-6777-4740-B926-8197B8AFB6F2}" srcId="{E7CAA2EC-90B2-FF4B-97D2-F6C266AE22B3}" destId="{9CE20080-DDF3-6640-88EE-240E61B59F29}" srcOrd="0" destOrd="0" parTransId="{7FA3B3DD-C218-044C-A3D7-B3A01991EBB0}" sibTransId="{D50D10DC-6F32-2E46-94CA-221D1C9D4503}"/>
    <dgm:cxn modelId="{4A6D791C-DA6F-774F-8BFD-CA6A284D4AD6}" type="presOf" srcId="{4181A6B5-81D6-6649-A20F-FD91B03A160B}" destId="{D8BE46E2-EBA6-EC49-84F9-7C41B19A380C}" srcOrd="0" destOrd="0" presId="urn:microsoft.com/office/officeart/2005/8/layout/chevron1"/>
    <dgm:cxn modelId="{1EB98D25-83F2-DD4D-B99B-8D11C4D597A4}" srcId="{E7CAA2EC-90B2-FF4B-97D2-F6C266AE22B3}" destId="{4181A6B5-81D6-6649-A20F-FD91B03A160B}" srcOrd="2" destOrd="0" parTransId="{E3725E00-41A7-FB4F-8F9A-ACAFB28CE12E}" sibTransId="{AF52840A-1C69-E342-99D9-D6058EB04388}"/>
    <dgm:cxn modelId="{43796039-901E-E244-BBEF-E8445935F6E6}" type="presOf" srcId="{E7CAA2EC-90B2-FF4B-97D2-F6C266AE22B3}" destId="{EFA320B9-69A0-704B-8EA4-F71D13DE93B6}" srcOrd="0" destOrd="0" presId="urn:microsoft.com/office/officeart/2005/8/layout/chevron1"/>
    <dgm:cxn modelId="{7CA35299-8EA2-AA43-B667-D395089B6974}" srcId="{E7CAA2EC-90B2-FF4B-97D2-F6C266AE22B3}" destId="{FBB2F098-4FC6-B547-B893-1FCA92D08C32}" srcOrd="3" destOrd="0" parTransId="{EC4E2080-38E5-3043-B64C-2EB64DA42865}" sibTransId="{D8887235-9F30-3F4D-9523-F03933D4887F}"/>
    <dgm:cxn modelId="{7A7395C9-1A22-2F42-AB4D-318EBA97704A}" type="presOf" srcId="{9CE20080-DDF3-6640-88EE-240E61B59F29}" destId="{DC3BC5DE-679B-0F48-8B6D-4AD11564DD72}" srcOrd="0" destOrd="0" presId="urn:microsoft.com/office/officeart/2005/8/layout/chevron1"/>
    <dgm:cxn modelId="{7E83F4D5-FA2D-CA49-945A-475CDC75743B}" srcId="{E7CAA2EC-90B2-FF4B-97D2-F6C266AE22B3}" destId="{514EC7D7-C0D9-6A4A-95AB-0F91557CF989}" srcOrd="1" destOrd="0" parTransId="{B69747EB-72D6-3B4F-A77C-BABB2E53F4DC}" sibTransId="{15DD4DFA-71F8-5E43-BB27-481C231CA09F}"/>
    <dgm:cxn modelId="{64C25BD8-0643-1E4D-9BBB-379BAAA431C3}" type="presOf" srcId="{514EC7D7-C0D9-6A4A-95AB-0F91557CF989}" destId="{5E79C387-6ECF-8640-AD06-B939C81263E9}" srcOrd="0" destOrd="0" presId="urn:microsoft.com/office/officeart/2005/8/layout/chevron1"/>
    <dgm:cxn modelId="{F2C195D9-CBC9-6C47-A966-4FEF7C06BE0F}" type="presOf" srcId="{FBB2F098-4FC6-B547-B893-1FCA92D08C32}" destId="{47A47808-D542-574B-8CB4-6D5110C30EC6}" srcOrd="0" destOrd="0" presId="urn:microsoft.com/office/officeart/2005/8/layout/chevron1"/>
    <dgm:cxn modelId="{CC648D03-DE0C-7444-BCB2-278E01B5676A}" type="presParOf" srcId="{EFA320B9-69A0-704B-8EA4-F71D13DE93B6}" destId="{DC3BC5DE-679B-0F48-8B6D-4AD11564DD72}" srcOrd="0" destOrd="0" presId="urn:microsoft.com/office/officeart/2005/8/layout/chevron1"/>
    <dgm:cxn modelId="{580D691B-0B30-D24A-8072-B6A058D8A57A}" type="presParOf" srcId="{EFA320B9-69A0-704B-8EA4-F71D13DE93B6}" destId="{04CF145A-9D31-D144-B7F0-D6A80D2D3419}" srcOrd="1" destOrd="0" presId="urn:microsoft.com/office/officeart/2005/8/layout/chevron1"/>
    <dgm:cxn modelId="{407C24B3-BFD1-0D49-9592-A5D9DD97835B}" type="presParOf" srcId="{EFA320B9-69A0-704B-8EA4-F71D13DE93B6}" destId="{5E79C387-6ECF-8640-AD06-B939C81263E9}" srcOrd="2" destOrd="0" presId="urn:microsoft.com/office/officeart/2005/8/layout/chevron1"/>
    <dgm:cxn modelId="{6AC009A7-44BB-4B40-9E3E-16D0AC90D098}" type="presParOf" srcId="{EFA320B9-69A0-704B-8EA4-F71D13DE93B6}" destId="{F8AF2D95-DEF6-8B46-964D-69A33E2061B2}" srcOrd="3" destOrd="0" presId="urn:microsoft.com/office/officeart/2005/8/layout/chevron1"/>
    <dgm:cxn modelId="{D3F4AB5E-3EA2-C246-9EFA-6E9574054F0D}" type="presParOf" srcId="{EFA320B9-69A0-704B-8EA4-F71D13DE93B6}" destId="{D8BE46E2-EBA6-EC49-84F9-7C41B19A380C}" srcOrd="4" destOrd="0" presId="urn:microsoft.com/office/officeart/2005/8/layout/chevron1"/>
    <dgm:cxn modelId="{5A2E3539-A7BB-4B47-9C42-76879632FFCB}" type="presParOf" srcId="{EFA320B9-69A0-704B-8EA4-F71D13DE93B6}" destId="{35DA5161-1362-F34B-951A-226DAA7A111A}" srcOrd="5" destOrd="0" presId="urn:microsoft.com/office/officeart/2005/8/layout/chevron1"/>
    <dgm:cxn modelId="{EAD1ECAA-F181-9548-8176-5AC4E346FA85}" type="presParOf" srcId="{EFA320B9-69A0-704B-8EA4-F71D13DE93B6}" destId="{47A47808-D542-574B-8CB4-6D5110C30EC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CAA2EC-90B2-FF4B-97D2-F6C266AE22B3}" type="doc">
      <dgm:prSet loTypeId="urn:microsoft.com/office/officeart/2005/8/layout/chevron1" loCatId="" qsTypeId="urn:microsoft.com/office/officeart/2005/8/quickstyle/simple4" qsCatId="simple" csTypeId="urn:microsoft.com/office/officeart/2005/8/colors/colorful3" csCatId="colorful" phldr="1"/>
      <dgm:spPr/>
    </dgm:pt>
    <dgm:pt modelId="{9CE20080-DDF3-6640-88EE-240E61B59F29}">
      <dgm:prSet phldrT="[Text]"/>
      <dgm:spPr/>
      <dgm:t>
        <a:bodyPr/>
        <a:lstStyle/>
        <a:p>
          <a:r>
            <a:rPr lang="pt-BR" noProof="0" dirty="0"/>
            <a:t>Estrutura molecular do DNA</a:t>
          </a:r>
        </a:p>
      </dgm:t>
    </dgm:pt>
    <dgm:pt modelId="{7FA3B3DD-C218-044C-A3D7-B3A01991EBB0}" type="par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D50D10DC-6F32-2E46-94CA-221D1C9D4503}" type="sib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514EC7D7-C0D9-6A4A-95AB-0F91557CF989}">
      <dgm:prSet phldrT="[Text]"/>
      <dgm:spPr/>
      <dgm:t>
        <a:bodyPr/>
        <a:lstStyle/>
        <a:p>
          <a:r>
            <a:rPr lang="pt-BR" noProof="0" dirty="0"/>
            <a:t>Identificação da DNA polimerase</a:t>
          </a:r>
        </a:p>
      </dgm:t>
    </dgm:pt>
    <dgm:pt modelId="{B69747EB-72D6-3B4F-A77C-BABB2E53F4DC}" type="par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15DD4DFA-71F8-5E43-BB27-481C231CA09F}" type="sib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4181A6B5-81D6-6649-A20F-FD91B03A160B}">
      <dgm:prSet phldrT="[Text]"/>
      <dgm:spPr/>
      <dgm:t>
        <a:bodyPr/>
        <a:lstStyle/>
        <a:p>
          <a:r>
            <a:rPr lang="pt-BR" noProof="0" dirty="0"/>
            <a:t>Elucidação do código genético</a:t>
          </a:r>
        </a:p>
      </dgm:t>
    </dgm:pt>
    <dgm:pt modelId="{E3725E00-41A7-FB4F-8F9A-ACAFB28CE12E}" type="par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AF52840A-1C69-E342-99D9-D6058EB04388}" type="sib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FBB2F098-4FC6-B547-B893-1FCA92D08C32}">
      <dgm:prSet/>
      <dgm:spPr/>
      <dgm:t>
        <a:bodyPr/>
        <a:lstStyle/>
        <a:p>
          <a:r>
            <a:rPr lang="pt-BR" noProof="0" dirty="0"/>
            <a:t>Isolamento da </a:t>
          </a:r>
          <a:r>
            <a:rPr lang="pt-BR" noProof="0" dirty="0" err="1"/>
            <a:t>Taq</a:t>
          </a:r>
          <a:r>
            <a:rPr lang="pt-BR" noProof="0" dirty="0"/>
            <a:t> polimerase</a:t>
          </a:r>
        </a:p>
      </dgm:t>
    </dgm:pt>
    <dgm:pt modelId="{EC4E2080-38E5-3043-B64C-2EB64DA42865}" type="par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D8887235-9F30-3F4D-9523-F03933D4887F}" type="sib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EFA320B9-69A0-704B-8EA4-F71D13DE93B6}" type="pres">
      <dgm:prSet presAssocID="{E7CAA2EC-90B2-FF4B-97D2-F6C266AE22B3}" presName="Name0" presStyleCnt="0">
        <dgm:presLayoutVars>
          <dgm:dir/>
          <dgm:animLvl val="lvl"/>
          <dgm:resizeHandles val="exact"/>
        </dgm:presLayoutVars>
      </dgm:prSet>
      <dgm:spPr/>
    </dgm:pt>
    <dgm:pt modelId="{DC3BC5DE-679B-0F48-8B6D-4AD11564DD72}" type="pres">
      <dgm:prSet presAssocID="{9CE20080-DDF3-6640-88EE-240E61B59F29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CF145A-9D31-D144-B7F0-D6A80D2D3419}" type="pres">
      <dgm:prSet presAssocID="{D50D10DC-6F32-2E46-94CA-221D1C9D4503}" presName="parTxOnlySpace" presStyleCnt="0"/>
      <dgm:spPr/>
    </dgm:pt>
    <dgm:pt modelId="{5E79C387-6ECF-8640-AD06-B939C81263E9}" type="pres">
      <dgm:prSet presAssocID="{514EC7D7-C0D9-6A4A-95AB-0F91557CF98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AF2D95-DEF6-8B46-964D-69A33E2061B2}" type="pres">
      <dgm:prSet presAssocID="{15DD4DFA-71F8-5E43-BB27-481C231CA09F}" presName="parTxOnlySpace" presStyleCnt="0"/>
      <dgm:spPr/>
    </dgm:pt>
    <dgm:pt modelId="{D8BE46E2-EBA6-EC49-84F9-7C41B19A380C}" type="pres">
      <dgm:prSet presAssocID="{4181A6B5-81D6-6649-A20F-FD91B03A160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5DA5161-1362-F34B-951A-226DAA7A111A}" type="pres">
      <dgm:prSet presAssocID="{AF52840A-1C69-E342-99D9-D6058EB04388}" presName="parTxOnlySpace" presStyleCnt="0"/>
      <dgm:spPr/>
    </dgm:pt>
    <dgm:pt modelId="{47A47808-D542-574B-8CB4-6D5110C30EC6}" type="pres">
      <dgm:prSet presAssocID="{FBB2F098-4FC6-B547-B893-1FCA92D08C3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3D57A0D-6777-4740-B926-8197B8AFB6F2}" srcId="{E7CAA2EC-90B2-FF4B-97D2-F6C266AE22B3}" destId="{9CE20080-DDF3-6640-88EE-240E61B59F29}" srcOrd="0" destOrd="0" parTransId="{7FA3B3DD-C218-044C-A3D7-B3A01991EBB0}" sibTransId="{D50D10DC-6F32-2E46-94CA-221D1C9D4503}"/>
    <dgm:cxn modelId="{1EB98D25-83F2-DD4D-B99B-8D11C4D597A4}" srcId="{E7CAA2EC-90B2-FF4B-97D2-F6C266AE22B3}" destId="{4181A6B5-81D6-6649-A20F-FD91B03A160B}" srcOrd="2" destOrd="0" parTransId="{E3725E00-41A7-FB4F-8F9A-ACAFB28CE12E}" sibTransId="{AF52840A-1C69-E342-99D9-D6058EB04388}"/>
    <dgm:cxn modelId="{2CF95B35-7EA1-AA42-BB72-3204345659EC}" type="presOf" srcId="{9CE20080-DDF3-6640-88EE-240E61B59F29}" destId="{DC3BC5DE-679B-0F48-8B6D-4AD11564DD72}" srcOrd="0" destOrd="0" presId="urn:microsoft.com/office/officeart/2005/8/layout/chevron1"/>
    <dgm:cxn modelId="{CF16943C-2517-DD43-B6BC-65C3A3FC3B8C}" type="presOf" srcId="{4181A6B5-81D6-6649-A20F-FD91B03A160B}" destId="{D8BE46E2-EBA6-EC49-84F9-7C41B19A380C}" srcOrd="0" destOrd="0" presId="urn:microsoft.com/office/officeart/2005/8/layout/chevron1"/>
    <dgm:cxn modelId="{75C97257-BA10-8849-A347-20FC9A8F1105}" type="presOf" srcId="{514EC7D7-C0D9-6A4A-95AB-0F91557CF989}" destId="{5E79C387-6ECF-8640-AD06-B939C81263E9}" srcOrd="0" destOrd="0" presId="urn:microsoft.com/office/officeart/2005/8/layout/chevron1"/>
    <dgm:cxn modelId="{7CA35299-8EA2-AA43-B667-D395089B6974}" srcId="{E7CAA2EC-90B2-FF4B-97D2-F6C266AE22B3}" destId="{FBB2F098-4FC6-B547-B893-1FCA92D08C32}" srcOrd="3" destOrd="0" parTransId="{EC4E2080-38E5-3043-B64C-2EB64DA42865}" sibTransId="{D8887235-9F30-3F4D-9523-F03933D4887F}"/>
    <dgm:cxn modelId="{C67D5F9B-90BF-9C43-94B1-5DFE974A37CD}" type="presOf" srcId="{FBB2F098-4FC6-B547-B893-1FCA92D08C32}" destId="{47A47808-D542-574B-8CB4-6D5110C30EC6}" srcOrd="0" destOrd="0" presId="urn:microsoft.com/office/officeart/2005/8/layout/chevron1"/>
    <dgm:cxn modelId="{7E83F4D5-FA2D-CA49-945A-475CDC75743B}" srcId="{E7CAA2EC-90B2-FF4B-97D2-F6C266AE22B3}" destId="{514EC7D7-C0D9-6A4A-95AB-0F91557CF989}" srcOrd="1" destOrd="0" parTransId="{B69747EB-72D6-3B4F-A77C-BABB2E53F4DC}" sibTransId="{15DD4DFA-71F8-5E43-BB27-481C231CA09F}"/>
    <dgm:cxn modelId="{458216DF-C1DF-D848-AF46-5CF25C8FAA0E}" type="presOf" srcId="{E7CAA2EC-90B2-FF4B-97D2-F6C266AE22B3}" destId="{EFA320B9-69A0-704B-8EA4-F71D13DE93B6}" srcOrd="0" destOrd="0" presId="urn:microsoft.com/office/officeart/2005/8/layout/chevron1"/>
    <dgm:cxn modelId="{1A59B1B7-601E-E243-AC15-2D5438617F1C}" type="presParOf" srcId="{EFA320B9-69A0-704B-8EA4-F71D13DE93B6}" destId="{DC3BC5DE-679B-0F48-8B6D-4AD11564DD72}" srcOrd="0" destOrd="0" presId="urn:microsoft.com/office/officeart/2005/8/layout/chevron1"/>
    <dgm:cxn modelId="{5225F178-434A-6241-9550-8620E3671DC3}" type="presParOf" srcId="{EFA320B9-69A0-704B-8EA4-F71D13DE93B6}" destId="{04CF145A-9D31-D144-B7F0-D6A80D2D3419}" srcOrd="1" destOrd="0" presId="urn:microsoft.com/office/officeart/2005/8/layout/chevron1"/>
    <dgm:cxn modelId="{CCDDB4D5-67EB-A543-AB73-278FFE8A07AB}" type="presParOf" srcId="{EFA320B9-69A0-704B-8EA4-F71D13DE93B6}" destId="{5E79C387-6ECF-8640-AD06-B939C81263E9}" srcOrd="2" destOrd="0" presId="urn:microsoft.com/office/officeart/2005/8/layout/chevron1"/>
    <dgm:cxn modelId="{68AFE299-E378-6049-90F6-40E3D67740FF}" type="presParOf" srcId="{EFA320B9-69A0-704B-8EA4-F71D13DE93B6}" destId="{F8AF2D95-DEF6-8B46-964D-69A33E2061B2}" srcOrd="3" destOrd="0" presId="urn:microsoft.com/office/officeart/2005/8/layout/chevron1"/>
    <dgm:cxn modelId="{D4C6412E-6564-0941-802C-E08F17B9E132}" type="presParOf" srcId="{EFA320B9-69A0-704B-8EA4-F71D13DE93B6}" destId="{D8BE46E2-EBA6-EC49-84F9-7C41B19A380C}" srcOrd="4" destOrd="0" presId="urn:microsoft.com/office/officeart/2005/8/layout/chevron1"/>
    <dgm:cxn modelId="{BC997767-50BE-E649-976B-0C0902FBAA7E}" type="presParOf" srcId="{EFA320B9-69A0-704B-8EA4-F71D13DE93B6}" destId="{35DA5161-1362-F34B-951A-226DAA7A111A}" srcOrd="5" destOrd="0" presId="urn:microsoft.com/office/officeart/2005/8/layout/chevron1"/>
    <dgm:cxn modelId="{0F885F37-537B-984D-BD6F-E36FBDE19687}" type="presParOf" srcId="{EFA320B9-69A0-704B-8EA4-F71D13DE93B6}" destId="{47A47808-D542-574B-8CB4-6D5110C30EC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CAA2EC-90B2-FF4B-97D2-F6C266AE22B3}" type="doc">
      <dgm:prSet loTypeId="urn:microsoft.com/office/officeart/2005/8/layout/chevron1" loCatId="" qsTypeId="urn:microsoft.com/office/officeart/2005/8/quickstyle/simple4" qsCatId="simple" csTypeId="urn:microsoft.com/office/officeart/2005/8/colors/colorful3" csCatId="colorful" phldr="1"/>
      <dgm:spPr/>
    </dgm:pt>
    <dgm:pt modelId="{9CE20080-DDF3-6640-88EE-240E61B59F29}">
      <dgm:prSet phldrT="[Text]"/>
      <dgm:spPr/>
      <dgm:t>
        <a:bodyPr/>
        <a:lstStyle/>
        <a:p>
          <a:r>
            <a:rPr lang="pt-BR" noProof="0" dirty="0"/>
            <a:t>Estrutura molecular do DNA</a:t>
          </a:r>
        </a:p>
      </dgm:t>
    </dgm:pt>
    <dgm:pt modelId="{7FA3B3DD-C218-044C-A3D7-B3A01991EBB0}" type="par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D50D10DC-6F32-2E46-94CA-221D1C9D4503}" type="sib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514EC7D7-C0D9-6A4A-95AB-0F91557CF989}">
      <dgm:prSet phldrT="[Text]"/>
      <dgm:spPr/>
      <dgm:t>
        <a:bodyPr/>
        <a:lstStyle/>
        <a:p>
          <a:r>
            <a:rPr lang="pt-BR" noProof="0" dirty="0"/>
            <a:t>Identificação da DNA polimerase</a:t>
          </a:r>
        </a:p>
      </dgm:t>
    </dgm:pt>
    <dgm:pt modelId="{B69747EB-72D6-3B4F-A77C-BABB2E53F4DC}" type="par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15DD4DFA-71F8-5E43-BB27-481C231CA09F}" type="sib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4181A6B5-81D6-6649-A20F-FD91B03A160B}">
      <dgm:prSet phldrT="[Text]"/>
      <dgm:spPr/>
      <dgm:t>
        <a:bodyPr/>
        <a:lstStyle/>
        <a:p>
          <a:r>
            <a:rPr lang="pt-BR" noProof="0" dirty="0"/>
            <a:t>Elucidação do código genético</a:t>
          </a:r>
        </a:p>
      </dgm:t>
    </dgm:pt>
    <dgm:pt modelId="{E3725E00-41A7-FB4F-8F9A-ACAFB28CE12E}" type="par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AF52840A-1C69-E342-99D9-D6058EB04388}" type="sib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FBB2F098-4FC6-B547-B893-1FCA92D08C32}">
      <dgm:prSet/>
      <dgm:spPr/>
      <dgm:t>
        <a:bodyPr/>
        <a:lstStyle/>
        <a:p>
          <a:r>
            <a:rPr lang="pt-BR" noProof="0" dirty="0"/>
            <a:t>Isolamento da </a:t>
          </a:r>
          <a:r>
            <a:rPr lang="pt-BR" noProof="0" dirty="0" err="1"/>
            <a:t>Taq</a:t>
          </a:r>
          <a:r>
            <a:rPr lang="pt-BR" noProof="0" dirty="0"/>
            <a:t> polimerase</a:t>
          </a:r>
        </a:p>
      </dgm:t>
    </dgm:pt>
    <dgm:pt modelId="{EC4E2080-38E5-3043-B64C-2EB64DA42865}" type="par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D8887235-9F30-3F4D-9523-F03933D4887F}" type="sib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EFA320B9-69A0-704B-8EA4-F71D13DE93B6}" type="pres">
      <dgm:prSet presAssocID="{E7CAA2EC-90B2-FF4B-97D2-F6C266AE22B3}" presName="Name0" presStyleCnt="0">
        <dgm:presLayoutVars>
          <dgm:dir/>
          <dgm:animLvl val="lvl"/>
          <dgm:resizeHandles val="exact"/>
        </dgm:presLayoutVars>
      </dgm:prSet>
      <dgm:spPr/>
    </dgm:pt>
    <dgm:pt modelId="{DC3BC5DE-679B-0F48-8B6D-4AD11564DD72}" type="pres">
      <dgm:prSet presAssocID="{9CE20080-DDF3-6640-88EE-240E61B59F29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CF145A-9D31-D144-B7F0-D6A80D2D3419}" type="pres">
      <dgm:prSet presAssocID="{D50D10DC-6F32-2E46-94CA-221D1C9D4503}" presName="parTxOnlySpace" presStyleCnt="0"/>
      <dgm:spPr/>
    </dgm:pt>
    <dgm:pt modelId="{5E79C387-6ECF-8640-AD06-B939C81263E9}" type="pres">
      <dgm:prSet presAssocID="{514EC7D7-C0D9-6A4A-95AB-0F91557CF98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AF2D95-DEF6-8B46-964D-69A33E2061B2}" type="pres">
      <dgm:prSet presAssocID="{15DD4DFA-71F8-5E43-BB27-481C231CA09F}" presName="parTxOnlySpace" presStyleCnt="0"/>
      <dgm:spPr/>
    </dgm:pt>
    <dgm:pt modelId="{D8BE46E2-EBA6-EC49-84F9-7C41B19A380C}" type="pres">
      <dgm:prSet presAssocID="{4181A6B5-81D6-6649-A20F-FD91B03A160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5DA5161-1362-F34B-951A-226DAA7A111A}" type="pres">
      <dgm:prSet presAssocID="{AF52840A-1C69-E342-99D9-D6058EB04388}" presName="parTxOnlySpace" presStyleCnt="0"/>
      <dgm:spPr/>
    </dgm:pt>
    <dgm:pt modelId="{47A47808-D542-574B-8CB4-6D5110C30EC6}" type="pres">
      <dgm:prSet presAssocID="{FBB2F098-4FC6-B547-B893-1FCA92D08C3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3D57A0D-6777-4740-B926-8197B8AFB6F2}" srcId="{E7CAA2EC-90B2-FF4B-97D2-F6C266AE22B3}" destId="{9CE20080-DDF3-6640-88EE-240E61B59F29}" srcOrd="0" destOrd="0" parTransId="{7FA3B3DD-C218-044C-A3D7-B3A01991EBB0}" sibTransId="{D50D10DC-6F32-2E46-94CA-221D1C9D4503}"/>
    <dgm:cxn modelId="{1EB98D25-83F2-DD4D-B99B-8D11C4D597A4}" srcId="{E7CAA2EC-90B2-FF4B-97D2-F6C266AE22B3}" destId="{4181A6B5-81D6-6649-A20F-FD91B03A160B}" srcOrd="2" destOrd="0" parTransId="{E3725E00-41A7-FB4F-8F9A-ACAFB28CE12E}" sibTransId="{AF52840A-1C69-E342-99D9-D6058EB04388}"/>
    <dgm:cxn modelId="{265C815B-2218-454B-A3BC-E0E8EC802F2A}" type="presOf" srcId="{E7CAA2EC-90B2-FF4B-97D2-F6C266AE22B3}" destId="{EFA320B9-69A0-704B-8EA4-F71D13DE93B6}" srcOrd="0" destOrd="0" presId="urn:microsoft.com/office/officeart/2005/8/layout/chevron1"/>
    <dgm:cxn modelId="{EBDFBE58-C609-274F-86B0-BC00A7FB21CB}" type="presOf" srcId="{FBB2F098-4FC6-B547-B893-1FCA92D08C32}" destId="{47A47808-D542-574B-8CB4-6D5110C30EC6}" srcOrd="0" destOrd="0" presId="urn:microsoft.com/office/officeart/2005/8/layout/chevron1"/>
    <dgm:cxn modelId="{3517337E-1AD2-E345-9E5E-2DEA611FC0E7}" type="presOf" srcId="{514EC7D7-C0D9-6A4A-95AB-0F91557CF989}" destId="{5E79C387-6ECF-8640-AD06-B939C81263E9}" srcOrd="0" destOrd="0" presId="urn:microsoft.com/office/officeart/2005/8/layout/chevron1"/>
    <dgm:cxn modelId="{7CA35299-8EA2-AA43-B667-D395089B6974}" srcId="{E7CAA2EC-90B2-FF4B-97D2-F6C266AE22B3}" destId="{FBB2F098-4FC6-B547-B893-1FCA92D08C32}" srcOrd="3" destOrd="0" parTransId="{EC4E2080-38E5-3043-B64C-2EB64DA42865}" sibTransId="{D8887235-9F30-3F4D-9523-F03933D4887F}"/>
    <dgm:cxn modelId="{1E6A1FB4-1C38-A94B-B674-82AC6D0AF2F8}" type="presOf" srcId="{9CE20080-DDF3-6640-88EE-240E61B59F29}" destId="{DC3BC5DE-679B-0F48-8B6D-4AD11564DD72}" srcOrd="0" destOrd="0" presId="urn:microsoft.com/office/officeart/2005/8/layout/chevron1"/>
    <dgm:cxn modelId="{7E83F4D5-FA2D-CA49-945A-475CDC75743B}" srcId="{E7CAA2EC-90B2-FF4B-97D2-F6C266AE22B3}" destId="{514EC7D7-C0D9-6A4A-95AB-0F91557CF989}" srcOrd="1" destOrd="0" parTransId="{B69747EB-72D6-3B4F-A77C-BABB2E53F4DC}" sibTransId="{15DD4DFA-71F8-5E43-BB27-481C231CA09F}"/>
    <dgm:cxn modelId="{8A6600FC-F5AE-4947-B5D0-EDE8110DE1DD}" type="presOf" srcId="{4181A6B5-81D6-6649-A20F-FD91B03A160B}" destId="{D8BE46E2-EBA6-EC49-84F9-7C41B19A380C}" srcOrd="0" destOrd="0" presId="urn:microsoft.com/office/officeart/2005/8/layout/chevron1"/>
    <dgm:cxn modelId="{BF878EA7-4232-444C-AB5F-9454807F598E}" type="presParOf" srcId="{EFA320B9-69A0-704B-8EA4-F71D13DE93B6}" destId="{DC3BC5DE-679B-0F48-8B6D-4AD11564DD72}" srcOrd="0" destOrd="0" presId="urn:microsoft.com/office/officeart/2005/8/layout/chevron1"/>
    <dgm:cxn modelId="{56BC7C85-FDB5-0042-A0DE-94926EA03EB1}" type="presParOf" srcId="{EFA320B9-69A0-704B-8EA4-F71D13DE93B6}" destId="{04CF145A-9D31-D144-B7F0-D6A80D2D3419}" srcOrd="1" destOrd="0" presId="urn:microsoft.com/office/officeart/2005/8/layout/chevron1"/>
    <dgm:cxn modelId="{938F97B0-1F82-6146-980D-211C3E8A63C4}" type="presParOf" srcId="{EFA320B9-69A0-704B-8EA4-F71D13DE93B6}" destId="{5E79C387-6ECF-8640-AD06-B939C81263E9}" srcOrd="2" destOrd="0" presId="urn:microsoft.com/office/officeart/2005/8/layout/chevron1"/>
    <dgm:cxn modelId="{11FA1DA8-ABA8-134F-9672-4D9B277FE893}" type="presParOf" srcId="{EFA320B9-69A0-704B-8EA4-F71D13DE93B6}" destId="{F8AF2D95-DEF6-8B46-964D-69A33E2061B2}" srcOrd="3" destOrd="0" presId="urn:microsoft.com/office/officeart/2005/8/layout/chevron1"/>
    <dgm:cxn modelId="{CB9A31E9-600C-E341-9C65-016FA5CCF87E}" type="presParOf" srcId="{EFA320B9-69A0-704B-8EA4-F71D13DE93B6}" destId="{D8BE46E2-EBA6-EC49-84F9-7C41B19A380C}" srcOrd="4" destOrd="0" presId="urn:microsoft.com/office/officeart/2005/8/layout/chevron1"/>
    <dgm:cxn modelId="{E86E9A19-5371-AB44-9923-40C9745801AB}" type="presParOf" srcId="{EFA320B9-69A0-704B-8EA4-F71D13DE93B6}" destId="{35DA5161-1362-F34B-951A-226DAA7A111A}" srcOrd="5" destOrd="0" presId="urn:microsoft.com/office/officeart/2005/8/layout/chevron1"/>
    <dgm:cxn modelId="{74D210C2-17CC-E04F-8178-1994DFF06A61}" type="presParOf" srcId="{EFA320B9-69A0-704B-8EA4-F71D13DE93B6}" destId="{47A47808-D542-574B-8CB4-6D5110C30EC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CAA2EC-90B2-FF4B-97D2-F6C266AE22B3}" type="doc">
      <dgm:prSet loTypeId="urn:microsoft.com/office/officeart/2005/8/layout/chevron1" loCatId="" qsTypeId="urn:microsoft.com/office/officeart/2005/8/quickstyle/simple4" qsCatId="simple" csTypeId="urn:microsoft.com/office/officeart/2005/8/colors/colorful3" csCatId="colorful" phldr="1"/>
      <dgm:spPr/>
    </dgm:pt>
    <dgm:pt modelId="{9CE20080-DDF3-6640-88EE-240E61B59F29}">
      <dgm:prSet phldrT="[Text]"/>
      <dgm:spPr/>
      <dgm:t>
        <a:bodyPr/>
        <a:lstStyle/>
        <a:p>
          <a:r>
            <a:rPr lang="pt-BR" noProof="0" dirty="0"/>
            <a:t>Estrutura molecular do DNA</a:t>
          </a:r>
        </a:p>
      </dgm:t>
    </dgm:pt>
    <dgm:pt modelId="{7FA3B3DD-C218-044C-A3D7-B3A01991EBB0}" type="par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D50D10DC-6F32-2E46-94CA-221D1C9D4503}" type="sib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514EC7D7-C0D9-6A4A-95AB-0F91557CF989}">
      <dgm:prSet phldrT="[Text]"/>
      <dgm:spPr/>
      <dgm:t>
        <a:bodyPr/>
        <a:lstStyle/>
        <a:p>
          <a:r>
            <a:rPr lang="pt-BR" noProof="0" dirty="0"/>
            <a:t>Identificação da DNA polimerase</a:t>
          </a:r>
        </a:p>
      </dgm:t>
    </dgm:pt>
    <dgm:pt modelId="{B69747EB-72D6-3B4F-A77C-BABB2E53F4DC}" type="par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15DD4DFA-71F8-5E43-BB27-481C231CA09F}" type="sib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4181A6B5-81D6-6649-A20F-FD91B03A160B}">
      <dgm:prSet phldrT="[Text]"/>
      <dgm:spPr/>
      <dgm:t>
        <a:bodyPr/>
        <a:lstStyle/>
        <a:p>
          <a:r>
            <a:rPr lang="pt-BR" noProof="0" dirty="0"/>
            <a:t>Elucidação do código genético</a:t>
          </a:r>
        </a:p>
      </dgm:t>
    </dgm:pt>
    <dgm:pt modelId="{E3725E00-41A7-FB4F-8F9A-ACAFB28CE12E}" type="par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AF52840A-1C69-E342-99D9-D6058EB04388}" type="sib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FBB2F098-4FC6-B547-B893-1FCA92D08C32}">
      <dgm:prSet/>
      <dgm:spPr/>
      <dgm:t>
        <a:bodyPr/>
        <a:lstStyle/>
        <a:p>
          <a:r>
            <a:rPr lang="pt-BR" noProof="0" dirty="0"/>
            <a:t>Isolamento da </a:t>
          </a:r>
          <a:r>
            <a:rPr lang="pt-BR" noProof="0" dirty="0" err="1"/>
            <a:t>Taq</a:t>
          </a:r>
          <a:r>
            <a:rPr lang="pt-BR" noProof="0" dirty="0"/>
            <a:t> polimerase</a:t>
          </a:r>
        </a:p>
      </dgm:t>
    </dgm:pt>
    <dgm:pt modelId="{EC4E2080-38E5-3043-B64C-2EB64DA42865}" type="par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D8887235-9F30-3F4D-9523-F03933D4887F}" type="sib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EFA320B9-69A0-704B-8EA4-F71D13DE93B6}" type="pres">
      <dgm:prSet presAssocID="{E7CAA2EC-90B2-FF4B-97D2-F6C266AE22B3}" presName="Name0" presStyleCnt="0">
        <dgm:presLayoutVars>
          <dgm:dir/>
          <dgm:animLvl val="lvl"/>
          <dgm:resizeHandles val="exact"/>
        </dgm:presLayoutVars>
      </dgm:prSet>
      <dgm:spPr/>
    </dgm:pt>
    <dgm:pt modelId="{DC3BC5DE-679B-0F48-8B6D-4AD11564DD72}" type="pres">
      <dgm:prSet presAssocID="{9CE20080-DDF3-6640-88EE-240E61B59F29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CF145A-9D31-D144-B7F0-D6A80D2D3419}" type="pres">
      <dgm:prSet presAssocID="{D50D10DC-6F32-2E46-94CA-221D1C9D4503}" presName="parTxOnlySpace" presStyleCnt="0"/>
      <dgm:spPr/>
    </dgm:pt>
    <dgm:pt modelId="{5E79C387-6ECF-8640-AD06-B939C81263E9}" type="pres">
      <dgm:prSet presAssocID="{514EC7D7-C0D9-6A4A-95AB-0F91557CF98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AF2D95-DEF6-8B46-964D-69A33E2061B2}" type="pres">
      <dgm:prSet presAssocID="{15DD4DFA-71F8-5E43-BB27-481C231CA09F}" presName="parTxOnlySpace" presStyleCnt="0"/>
      <dgm:spPr/>
    </dgm:pt>
    <dgm:pt modelId="{D8BE46E2-EBA6-EC49-84F9-7C41B19A380C}" type="pres">
      <dgm:prSet presAssocID="{4181A6B5-81D6-6649-A20F-FD91B03A160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5DA5161-1362-F34B-951A-226DAA7A111A}" type="pres">
      <dgm:prSet presAssocID="{AF52840A-1C69-E342-99D9-D6058EB04388}" presName="parTxOnlySpace" presStyleCnt="0"/>
      <dgm:spPr/>
    </dgm:pt>
    <dgm:pt modelId="{47A47808-D542-574B-8CB4-6D5110C30EC6}" type="pres">
      <dgm:prSet presAssocID="{FBB2F098-4FC6-B547-B893-1FCA92D08C3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A99100D-C397-0843-A9AF-635FF553105D}" type="presOf" srcId="{E7CAA2EC-90B2-FF4B-97D2-F6C266AE22B3}" destId="{EFA320B9-69A0-704B-8EA4-F71D13DE93B6}" srcOrd="0" destOrd="0" presId="urn:microsoft.com/office/officeart/2005/8/layout/chevron1"/>
    <dgm:cxn modelId="{B3D57A0D-6777-4740-B926-8197B8AFB6F2}" srcId="{E7CAA2EC-90B2-FF4B-97D2-F6C266AE22B3}" destId="{9CE20080-DDF3-6640-88EE-240E61B59F29}" srcOrd="0" destOrd="0" parTransId="{7FA3B3DD-C218-044C-A3D7-B3A01991EBB0}" sibTransId="{D50D10DC-6F32-2E46-94CA-221D1C9D4503}"/>
    <dgm:cxn modelId="{5B1BC30D-5469-5C46-A0D2-B36F1E3A68F2}" type="presOf" srcId="{4181A6B5-81D6-6649-A20F-FD91B03A160B}" destId="{D8BE46E2-EBA6-EC49-84F9-7C41B19A380C}" srcOrd="0" destOrd="0" presId="urn:microsoft.com/office/officeart/2005/8/layout/chevron1"/>
    <dgm:cxn modelId="{1EB98D25-83F2-DD4D-B99B-8D11C4D597A4}" srcId="{E7CAA2EC-90B2-FF4B-97D2-F6C266AE22B3}" destId="{4181A6B5-81D6-6649-A20F-FD91B03A160B}" srcOrd="2" destOrd="0" parTransId="{E3725E00-41A7-FB4F-8F9A-ACAFB28CE12E}" sibTransId="{AF52840A-1C69-E342-99D9-D6058EB04388}"/>
    <dgm:cxn modelId="{DC1FDF3E-613A-2246-9E56-2C8BCEA9EF43}" type="presOf" srcId="{514EC7D7-C0D9-6A4A-95AB-0F91557CF989}" destId="{5E79C387-6ECF-8640-AD06-B939C81263E9}" srcOrd="0" destOrd="0" presId="urn:microsoft.com/office/officeart/2005/8/layout/chevron1"/>
    <dgm:cxn modelId="{73014E5C-B81E-7941-86CE-2944E89B7CC0}" type="presOf" srcId="{9CE20080-DDF3-6640-88EE-240E61B59F29}" destId="{DC3BC5DE-679B-0F48-8B6D-4AD11564DD72}" srcOrd="0" destOrd="0" presId="urn:microsoft.com/office/officeart/2005/8/layout/chevron1"/>
    <dgm:cxn modelId="{7CA35299-8EA2-AA43-B667-D395089B6974}" srcId="{E7CAA2EC-90B2-FF4B-97D2-F6C266AE22B3}" destId="{FBB2F098-4FC6-B547-B893-1FCA92D08C32}" srcOrd="3" destOrd="0" parTransId="{EC4E2080-38E5-3043-B64C-2EB64DA42865}" sibTransId="{D8887235-9F30-3F4D-9523-F03933D4887F}"/>
    <dgm:cxn modelId="{5E68BCBF-FB24-154D-8FF5-4364EED0C457}" type="presOf" srcId="{FBB2F098-4FC6-B547-B893-1FCA92D08C32}" destId="{47A47808-D542-574B-8CB4-6D5110C30EC6}" srcOrd="0" destOrd="0" presId="urn:microsoft.com/office/officeart/2005/8/layout/chevron1"/>
    <dgm:cxn modelId="{7E83F4D5-FA2D-CA49-945A-475CDC75743B}" srcId="{E7CAA2EC-90B2-FF4B-97D2-F6C266AE22B3}" destId="{514EC7D7-C0D9-6A4A-95AB-0F91557CF989}" srcOrd="1" destOrd="0" parTransId="{B69747EB-72D6-3B4F-A77C-BABB2E53F4DC}" sibTransId="{15DD4DFA-71F8-5E43-BB27-481C231CA09F}"/>
    <dgm:cxn modelId="{D37A7EA9-7A72-D145-B388-EDF53EAAB864}" type="presParOf" srcId="{EFA320B9-69A0-704B-8EA4-F71D13DE93B6}" destId="{DC3BC5DE-679B-0F48-8B6D-4AD11564DD72}" srcOrd="0" destOrd="0" presId="urn:microsoft.com/office/officeart/2005/8/layout/chevron1"/>
    <dgm:cxn modelId="{28D237A5-F323-9149-866B-61554D0A1B69}" type="presParOf" srcId="{EFA320B9-69A0-704B-8EA4-F71D13DE93B6}" destId="{04CF145A-9D31-D144-B7F0-D6A80D2D3419}" srcOrd="1" destOrd="0" presId="urn:microsoft.com/office/officeart/2005/8/layout/chevron1"/>
    <dgm:cxn modelId="{26D410B2-9ACD-1144-89C4-EC6E5764EA00}" type="presParOf" srcId="{EFA320B9-69A0-704B-8EA4-F71D13DE93B6}" destId="{5E79C387-6ECF-8640-AD06-B939C81263E9}" srcOrd="2" destOrd="0" presId="urn:microsoft.com/office/officeart/2005/8/layout/chevron1"/>
    <dgm:cxn modelId="{745744D1-9A79-B34D-A20D-29E8EB4F181A}" type="presParOf" srcId="{EFA320B9-69A0-704B-8EA4-F71D13DE93B6}" destId="{F8AF2D95-DEF6-8B46-964D-69A33E2061B2}" srcOrd="3" destOrd="0" presId="urn:microsoft.com/office/officeart/2005/8/layout/chevron1"/>
    <dgm:cxn modelId="{B8B0D74D-D88A-034E-8F4B-221AD02273FD}" type="presParOf" srcId="{EFA320B9-69A0-704B-8EA4-F71D13DE93B6}" destId="{D8BE46E2-EBA6-EC49-84F9-7C41B19A380C}" srcOrd="4" destOrd="0" presId="urn:microsoft.com/office/officeart/2005/8/layout/chevron1"/>
    <dgm:cxn modelId="{B727E6A0-C830-3F43-AAF8-09397095D443}" type="presParOf" srcId="{EFA320B9-69A0-704B-8EA4-F71D13DE93B6}" destId="{35DA5161-1362-F34B-951A-226DAA7A111A}" srcOrd="5" destOrd="0" presId="urn:microsoft.com/office/officeart/2005/8/layout/chevron1"/>
    <dgm:cxn modelId="{15F392FB-3B34-F242-A3F2-CF322084D142}" type="presParOf" srcId="{EFA320B9-69A0-704B-8EA4-F71D13DE93B6}" destId="{47A47808-D542-574B-8CB4-6D5110C30EC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A444CED-FDCA-404A-BCB8-380AAD83F19F}" type="doc">
      <dgm:prSet loTypeId="urn:microsoft.com/office/officeart/2005/8/layout/chevron1" loCatId="" qsTypeId="urn:microsoft.com/office/officeart/2005/8/quickstyle/simple4" qsCatId="simple" csTypeId="urn:microsoft.com/office/officeart/2005/8/colors/colorful3" csCatId="colorful" phldr="1"/>
      <dgm:spPr/>
    </dgm:pt>
    <dgm:pt modelId="{7C21C974-CBEA-FE40-87D6-6FC922584800}">
      <dgm:prSet phldrT="[Text]"/>
      <dgm:spPr>
        <a:gradFill rotWithShape="0">
          <a:gsLst>
            <a:gs pos="0">
              <a:schemeClr val="accent4">
                <a:lumMod val="50000"/>
              </a:schemeClr>
            </a:gs>
            <a:gs pos="80000">
              <a:schemeClr val="accent4">
                <a:lumMod val="60000"/>
                <a:lumOff val="4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</a:gradFill>
      </dgm:spPr>
      <dgm:t>
        <a:bodyPr/>
        <a:lstStyle/>
        <a:p>
          <a:r>
            <a:rPr lang="en-US" dirty="0"/>
            <a:t>SEQUENCIAMENTO DE DNA</a:t>
          </a:r>
        </a:p>
      </dgm:t>
    </dgm:pt>
    <dgm:pt modelId="{15B61F6B-B7DC-D043-BA5A-080A01E83C7F}" type="parTrans" cxnId="{5BE76440-A8F6-8A4E-8012-7A59A7ECECFD}">
      <dgm:prSet/>
      <dgm:spPr/>
      <dgm:t>
        <a:bodyPr/>
        <a:lstStyle/>
        <a:p>
          <a:endParaRPr lang="en-US"/>
        </a:p>
      </dgm:t>
    </dgm:pt>
    <dgm:pt modelId="{A98AACB1-3040-A547-9106-289483EAAE90}" type="sibTrans" cxnId="{5BE76440-A8F6-8A4E-8012-7A59A7ECECFD}">
      <dgm:prSet/>
      <dgm:spPr/>
      <dgm:t>
        <a:bodyPr/>
        <a:lstStyle/>
        <a:p>
          <a:endParaRPr lang="en-US"/>
        </a:p>
      </dgm:t>
    </dgm:pt>
    <dgm:pt modelId="{7723ADF7-1C20-E444-B5DB-2FA03C9C4A9F}" type="pres">
      <dgm:prSet presAssocID="{CA444CED-FDCA-404A-BCB8-380AAD83F19F}" presName="Name0" presStyleCnt="0">
        <dgm:presLayoutVars>
          <dgm:dir/>
          <dgm:animLvl val="lvl"/>
          <dgm:resizeHandles val="exact"/>
        </dgm:presLayoutVars>
      </dgm:prSet>
      <dgm:spPr/>
    </dgm:pt>
    <dgm:pt modelId="{DC096FC5-DE91-6B45-BF96-D0D68A848639}" type="pres">
      <dgm:prSet presAssocID="{7C21C974-CBEA-FE40-87D6-6FC922584800}" presName="parTxOnly" presStyleLbl="node1" presStyleIdx="0" presStyleCnt="1">
        <dgm:presLayoutVars>
          <dgm:chMax val="0"/>
          <dgm:chPref val="0"/>
          <dgm:bulletEnabled val="1"/>
        </dgm:presLayoutVars>
      </dgm:prSet>
      <dgm:spPr/>
    </dgm:pt>
  </dgm:ptLst>
  <dgm:cxnLst>
    <dgm:cxn modelId="{5BE76440-A8F6-8A4E-8012-7A59A7ECECFD}" srcId="{CA444CED-FDCA-404A-BCB8-380AAD83F19F}" destId="{7C21C974-CBEA-FE40-87D6-6FC922584800}" srcOrd="0" destOrd="0" parTransId="{15B61F6B-B7DC-D043-BA5A-080A01E83C7F}" sibTransId="{A98AACB1-3040-A547-9106-289483EAAE90}"/>
    <dgm:cxn modelId="{052F614F-F122-1647-B3A8-153CE8472D96}" type="presOf" srcId="{7C21C974-CBEA-FE40-87D6-6FC922584800}" destId="{DC096FC5-DE91-6B45-BF96-D0D68A848639}" srcOrd="0" destOrd="0" presId="urn:microsoft.com/office/officeart/2005/8/layout/chevron1"/>
    <dgm:cxn modelId="{63B7C6EB-074C-FD4D-BC21-BD6AE3AC412B}" type="presOf" srcId="{CA444CED-FDCA-404A-BCB8-380AAD83F19F}" destId="{7723ADF7-1C20-E444-B5DB-2FA03C9C4A9F}" srcOrd="0" destOrd="0" presId="urn:microsoft.com/office/officeart/2005/8/layout/chevron1"/>
    <dgm:cxn modelId="{BC40D439-FF95-DA4A-B2CE-885270712009}" type="presParOf" srcId="{7723ADF7-1C20-E444-B5DB-2FA03C9C4A9F}" destId="{DC096FC5-DE91-6B45-BF96-D0D68A848639}" srcOrd="0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7CAA2EC-90B2-FF4B-97D2-F6C266AE22B3}" type="doc">
      <dgm:prSet loTypeId="urn:microsoft.com/office/officeart/2005/8/layout/chevron1" loCatId="" qsTypeId="urn:microsoft.com/office/officeart/2005/8/quickstyle/simple4" qsCatId="simple" csTypeId="urn:microsoft.com/office/officeart/2005/8/colors/colorful3" csCatId="colorful" phldr="1"/>
      <dgm:spPr/>
    </dgm:pt>
    <dgm:pt modelId="{9CE20080-DDF3-6640-88EE-240E61B59F29}">
      <dgm:prSet phldrT="[Text]"/>
      <dgm:spPr/>
      <dgm:t>
        <a:bodyPr/>
        <a:lstStyle/>
        <a:p>
          <a:r>
            <a:rPr lang="pt-BR" noProof="0" dirty="0"/>
            <a:t>Estrutura molecular do DNA</a:t>
          </a:r>
        </a:p>
      </dgm:t>
    </dgm:pt>
    <dgm:pt modelId="{7FA3B3DD-C218-044C-A3D7-B3A01991EBB0}" type="par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D50D10DC-6F32-2E46-94CA-221D1C9D4503}" type="sib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514EC7D7-C0D9-6A4A-95AB-0F91557CF989}">
      <dgm:prSet phldrT="[Text]"/>
      <dgm:spPr/>
      <dgm:t>
        <a:bodyPr/>
        <a:lstStyle/>
        <a:p>
          <a:r>
            <a:rPr lang="pt-BR" noProof="0" dirty="0"/>
            <a:t>Identificação da DNA polimerase</a:t>
          </a:r>
        </a:p>
      </dgm:t>
    </dgm:pt>
    <dgm:pt modelId="{B69747EB-72D6-3B4F-A77C-BABB2E53F4DC}" type="par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15DD4DFA-71F8-5E43-BB27-481C231CA09F}" type="sib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4181A6B5-81D6-6649-A20F-FD91B03A160B}">
      <dgm:prSet phldrT="[Text]"/>
      <dgm:spPr/>
      <dgm:t>
        <a:bodyPr/>
        <a:lstStyle/>
        <a:p>
          <a:r>
            <a:rPr lang="pt-BR" noProof="0" dirty="0"/>
            <a:t>Elucidação do código genético</a:t>
          </a:r>
        </a:p>
      </dgm:t>
    </dgm:pt>
    <dgm:pt modelId="{E3725E00-41A7-FB4F-8F9A-ACAFB28CE12E}" type="par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AF52840A-1C69-E342-99D9-D6058EB04388}" type="sib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FBB2F098-4FC6-B547-B893-1FCA92D08C32}">
      <dgm:prSet/>
      <dgm:spPr/>
      <dgm:t>
        <a:bodyPr/>
        <a:lstStyle/>
        <a:p>
          <a:r>
            <a:rPr lang="pt-BR" noProof="0" dirty="0"/>
            <a:t>Isolamento da </a:t>
          </a:r>
          <a:r>
            <a:rPr lang="pt-BR" noProof="0" dirty="0" err="1"/>
            <a:t>Taq</a:t>
          </a:r>
          <a:r>
            <a:rPr lang="pt-BR" noProof="0" dirty="0"/>
            <a:t> polimerase</a:t>
          </a:r>
        </a:p>
      </dgm:t>
    </dgm:pt>
    <dgm:pt modelId="{EC4E2080-38E5-3043-B64C-2EB64DA42865}" type="par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D8887235-9F30-3F4D-9523-F03933D4887F}" type="sib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EFA320B9-69A0-704B-8EA4-F71D13DE93B6}" type="pres">
      <dgm:prSet presAssocID="{E7CAA2EC-90B2-FF4B-97D2-F6C266AE22B3}" presName="Name0" presStyleCnt="0">
        <dgm:presLayoutVars>
          <dgm:dir/>
          <dgm:animLvl val="lvl"/>
          <dgm:resizeHandles val="exact"/>
        </dgm:presLayoutVars>
      </dgm:prSet>
      <dgm:spPr/>
    </dgm:pt>
    <dgm:pt modelId="{DC3BC5DE-679B-0F48-8B6D-4AD11564DD72}" type="pres">
      <dgm:prSet presAssocID="{9CE20080-DDF3-6640-88EE-240E61B59F29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CF145A-9D31-D144-B7F0-D6A80D2D3419}" type="pres">
      <dgm:prSet presAssocID="{D50D10DC-6F32-2E46-94CA-221D1C9D4503}" presName="parTxOnlySpace" presStyleCnt="0"/>
      <dgm:spPr/>
    </dgm:pt>
    <dgm:pt modelId="{5E79C387-6ECF-8640-AD06-B939C81263E9}" type="pres">
      <dgm:prSet presAssocID="{514EC7D7-C0D9-6A4A-95AB-0F91557CF98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AF2D95-DEF6-8B46-964D-69A33E2061B2}" type="pres">
      <dgm:prSet presAssocID="{15DD4DFA-71F8-5E43-BB27-481C231CA09F}" presName="parTxOnlySpace" presStyleCnt="0"/>
      <dgm:spPr/>
    </dgm:pt>
    <dgm:pt modelId="{D8BE46E2-EBA6-EC49-84F9-7C41B19A380C}" type="pres">
      <dgm:prSet presAssocID="{4181A6B5-81D6-6649-A20F-FD91B03A160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5DA5161-1362-F34B-951A-226DAA7A111A}" type="pres">
      <dgm:prSet presAssocID="{AF52840A-1C69-E342-99D9-D6058EB04388}" presName="parTxOnlySpace" presStyleCnt="0"/>
      <dgm:spPr/>
    </dgm:pt>
    <dgm:pt modelId="{47A47808-D542-574B-8CB4-6D5110C30EC6}" type="pres">
      <dgm:prSet presAssocID="{FBB2F098-4FC6-B547-B893-1FCA92D08C3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5BAE709-CE7F-7749-97D7-220232161099}" type="presOf" srcId="{FBB2F098-4FC6-B547-B893-1FCA92D08C32}" destId="{47A47808-D542-574B-8CB4-6D5110C30EC6}" srcOrd="0" destOrd="0" presId="urn:microsoft.com/office/officeart/2005/8/layout/chevron1"/>
    <dgm:cxn modelId="{B3D57A0D-6777-4740-B926-8197B8AFB6F2}" srcId="{E7CAA2EC-90B2-FF4B-97D2-F6C266AE22B3}" destId="{9CE20080-DDF3-6640-88EE-240E61B59F29}" srcOrd="0" destOrd="0" parTransId="{7FA3B3DD-C218-044C-A3D7-B3A01991EBB0}" sibTransId="{D50D10DC-6F32-2E46-94CA-221D1C9D4503}"/>
    <dgm:cxn modelId="{7B86F821-CB03-314D-B7A2-466ED2E8C14E}" type="presOf" srcId="{9CE20080-DDF3-6640-88EE-240E61B59F29}" destId="{DC3BC5DE-679B-0F48-8B6D-4AD11564DD72}" srcOrd="0" destOrd="0" presId="urn:microsoft.com/office/officeart/2005/8/layout/chevron1"/>
    <dgm:cxn modelId="{1EB98D25-83F2-DD4D-B99B-8D11C4D597A4}" srcId="{E7CAA2EC-90B2-FF4B-97D2-F6C266AE22B3}" destId="{4181A6B5-81D6-6649-A20F-FD91B03A160B}" srcOrd="2" destOrd="0" parTransId="{E3725E00-41A7-FB4F-8F9A-ACAFB28CE12E}" sibTransId="{AF52840A-1C69-E342-99D9-D6058EB04388}"/>
    <dgm:cxn modelId="{EE919A84-DCE6-2245-A540-18C97FDB6666}" type="presOf" srcId="{4181A6B5-81D6-6649-A20F-FD91B03A160B}" destId="{D8BE46E2-EBA6-EC49-84F9-7C41B19A380C}" srcOrd="0" destOrd="0" presId="urn:microsoft.com/office/officeart/2005/8/layout/chevron1"/>
    <dgm:cxn modelId="{7CA35299-8EA2-AA43-B667-D395089B6974}" srcId="{E7CAA2EC-90B2-FF4B-97D2-F6C266AE22B3}" destId="{FBB2F098-4FC6-B547-B893-1FCA92D08C32}" srcOrd="3" destOrd="0" parTransId="{EC4E2080-38E5-3043-B64C-2EB64DA42865}" sibTransId="{D8887235-9F30-3F4D-9523-F03933D4887F}"/>
    <dgm:cxn modelId="{7E83F4D5-FA2D-CA49-945A-475CDC75743B}" srcId="{E7CAA2EC-90B2-FF4B-97D2-F6C266AE22B3}" destId="{514EC7D7-C0D9-6A4A-95AB-0F91557CF989}" srcOrd="1" destOrd="0" parTransId="{B69747EB-72D6-3B4F-A77C-BABB2E53F4DC}" sibTransId="{15DD4DFA-71F8-5E43-BB27-481C231CA09F}"/>
    <dgm:cxn modelId="{1BD714EB-B957-7E4F-8E28-A90EFD18CE61}" type="presOf" srcId="{E7CAA2EC-90B2-FF4B-97D2-F6C266AE22B3}" destId="{EFA320B9-69A0-704B-8EA4-F71D13DE93B6}" srcOrd="0" destOrd="0" presId="urn:microsoft.com/office/officeart/2005/8/layout/chevron1"/>
    <dgm:cxn modelId="{920AB2F3-EDBA-BA47-B461-31AFD7AF6C98}" type="presOf" srcId="{514EC7D7-C0D9-6A4A-95AB-0F91557CF989}" destId="{5E79C387-6ECF-8640-AD06-B939C81263E9}" srcOrd="0" destOrd="0" presId="urn:microsoft.com/office/officeart/2005/8/layout/chevron1"/>
    <dgm:cxn modelId="{D8C3C4AA-7522-FE42-AED9-2ABEFEAD477C}" type="presParOf" srcId="{EFA320B9-69A0-704B-8EA4-F71D13DE93B6}" destId="{DC3BC5DE-679B-0F48-8B6D-4AD11564DD72}" srcOrd="0" destOrd="0" presId="urn:microsoft.com/office/officeart/2005/8/layout/chevron1"/>
    <dgm:cxn modelId="{211FFD38-E6CE-D045-B06B-DD972802D183}" type="presParOf" srcId="{EFA320B9-69A0-704B-8EA4-F71D13DE93B6}" destId="{04CF145A-9D31-D144-B7F0-D6A80D2D3419}" srcOrd="1" destOrd="0" presId="urn:microsoft.com/office/officeart/2005/8/layout/chevron1"/>
    <dgm:cxn modelId="{0A0ED92B-4153-9045-A5FD-07D2EF73F75F}" type="presParOf" srcId="{EFA320B9-69A0-704B-8EA4-F71D13DE93B6}" destId="{5E79C387-6ECF-8640-AD06-B939C81263E9}" srcOrd="2" destOrd="0" presId="urn:microsoft.com/office/officeart/2005/8/layout/chevron1"/>
    <dgm:cxn modelId="{35C63C91-BF0C-5641-A45F-189950A45A26}" type="presParOf" srcId="{EFA320B9-69A0-704B-8EA4-F71D13DE93B6}" destId="{F8AF2D95-DEF6-8B46-964D-69A33E2061B2}" srcOrd="3" destOrd="0" presId="urn:microsoft.com/office/officeart/2005/8/layout/chevron1"/>
    <dgm:cxn modelId="{65E4CB5F-8FFA-8547-95E0-0F0D44773659}" type="presParOf" srcId="{EFA320B9-69A0-704B-8EA4-F71D13DE93B6}" destId="{D8BE46E2-EBA6-EC49-84F9-7C41B19A380C}" srcOrd="4" destOrd="0" presId="urn:microsoft.com/office/officeart/2005/8/layout/chevron1"/>
    <dgm:cxn modelId="{1D3ED5DE-E8FA-0949-B014-D7D3828CBED8}" type="presParOf" srcId="{EFA320B9-69A0-704B-8EA4-F71D13DE93B6}" destId="{35DA5161-1362-F34B-951A-226DAA7A111A}" srcOrd="5" destOrd="0" presId="urn:microsoft.com/office/officeart/2005/8/layout/chevron1"/>
    <dgm:cxn modelId="{606C6C4E-E601-5D4D-914C-7E47AA71A4CF}" type="presParOf" srcId="{EFA320B9-69A0-704B-8EA4-F71D13DE93B6}" destId="{47A47808-D542-574B-8CB4-6D5110C30EC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A444CED-FDCA-404A-BCB8-380AAD83F19F}" type="doc">
      <dgm:prSet loTypeId="urn:microsoft.com/office/officeart/2005/8/layout/chevron1" loCatId="" qsTypeId="urn:microsoft.com/office/officeart/2005/8/quickstyle/simple4" qsCatId="simple" csTypeId="urn:microsoft.com/office/officeart/2005/8/colors/colorful3" csCatId="colorful" phldr="1"/>
      <dgm:spPr/>
    </dgm:pt>
    <dgm:pt modelId="{7C21C974-CBEA-FE40-87D6-6FC922584800}">
      <dgm:prSet phldrT="[Text]"/>
      <dgm:spPr>
        <a:gradFill rotWithShape="0">
          <a:gsLst>
            <a:gs pos="0">
              <a:schemeClr val="accent4">
                <a:lumMod val="50000"/>
              </a:schemeClr>
            </a:gs>
            <a:gs pos="80000">
              <a:schemeClr val="accent4">
                <a:lumMod val="60000"/>
                <a:lumOff val="4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</a:gradFill>
      </dgm:spPr>
      <dgm:t>
        <a:bodyPr/>
        <a:lstStyle/>
        <a:p>
          <a:r>
            <a:rPr lang="en-US" dirty="0"/>
            <a:t>SEQUENCIAMENTO DE DNA</a:t>
          </a:r>
        </a:p>
      </dgm:t>
    </dgm:pt>
    <dgm:pt modelId="{15B61F6B-B7DC-D043-BA5A-080A01E83C7F}" type="parTrans" cxnId="{5BE76440-A8F6-8A4E-8012-7A59A7ECECFD}">
      <dgm:prSet/>
      <dgm:spPr/>
      <dgm:t>
        <a:bodyPr/>
        <a:lstStyle/>
        <a:p>
          <a:endParaRPr lang="en-US"/>
        </a:p>
      </dgm:t>
    </dgm:pt>
    <dgm:pt modelId="{A98AACB1-3040-A547-9106-289483EAAE90}" type="sibTrans" cxnId="{5BE76440-A8F6-8A4E-8012-7A59A7ECECFD}">
      <dgm:prSet/>
      <dgm:spPr/>
      <dgm:t>
        <a:bodyPr/>
        <a:lstStyle/>
        <a:p>
          <a:endParaRPr lang="en-US"/>
        </a:p>
      </dgm:t>
    </dgm:pt>
    <dgm:pt modelId="{7723ADF7-1C20-E444-B5DB-2FA03C9C4A9F}" type="pres">
      <dgm:prSet presAssocID="{CA444CED-FDCA-404A-BCB8-380AAD83F19F}" presName="Name0" presStyleCnt="0">
        <dgm:presLayoutVars>
          <dgm:dir/>
          <dgm:animLvl val="lvl"/>
          <dgm:resizeHandles val="exact"/>
        </dgm:presLayoutVars>
      </dgm:prSet>
      <dgm:spPr/>
    </dgm:pt>
    <dgm:pt modelId="{DC096FC5-DE91-6B45-BF96-D0D68A848639}" type="pres">
      <dgm:prSet presAssocID="{7C21C974-CBEA-FE40-87D6-6FC922584800}" presName="parTxOnly" presStyleLbl="node1" presStyleIdx="0" presStyleCnt="1">
        <dgm:presLayoutVars>
          <dgm:chMax val="0"/>
          <dgm:chPref val="0"/>
          <dgm:bulletEnabled val="1"/>
        </dgm:presLayoutVars>
      </dgm:prSet>
      <dgm:spPr/>
    </dgm:pt>
  </dgm:ptLst>
  <dgm:cxnLst>
    <dgm:cxn modelId="{434FEC1D-BC8F-BC4C-9866-F6A1C79CAD7D}" type="presOf" srcId="{7C21C974-CBEA-FE40-87D6-6FC922584800}" destId="{DC096FC5-DE91-6B45-BF96-D0D68A848639}" srcOrd="0" destOrd="0" presId="urn:microsoft.com/office/officeart/2005/8/layout/chevron1"/>
    <dgm:cxn modelId="{5BE76440-A8F6-8A4E-8012-7A59A7ECECFD}" srcId="{CA444CED-FDCA-404A-BCB8-380AAD83F19F}" destId="{7C21C974-CBEA-FE40-87D6-6FC922584800}" srcOrd="0" destOrd="0" parTransId="{15B61F6B-B7DC-D043-BA5A-080A01E83C7F}" sibTransId="{A98AACB1-3040-A547-9106-289483EAAE90}"/>
    <dgm:cxn modelId="{F456AEE2-98D0-CB4F-8206-EC7132D1A462}" type="presOf" srcId="{CA444CED-FDCA-404A-BCB8-380AAD83F19F}" destId="{7723ADF7-1C20-E444-B5DB-2FA03C9C4A9F}" srcOrd="0" destOrd="0" presId="urn:microsoft.com/office/officeart/2005/8/layout/chevron1"/>
    <dgm:cxn modelId="{4F96845E-3E20-284C-BEF0-9573EB3EDB1B}" type="presParOf" srcId="{7723ADF7-1C20-E444-B5DB-2FA03C9C4A9F}" destId="{DC096FC5-DE91-6B45-BF96-D0D68A848639}" srcOrd="0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7CAA2EC-90B2-FF4B-97D2-F6C266AE22B3}" type="doc">
      <dgm:prSet loTypeId="urn:microsoft.com/office/officeart/2005/8/layout/chevron1" loCatId="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CE20080-DDF3-6640-88EE-240E61B59F29}">
      <dgm:prSet phldrT="[Text]"/>
      <dgm:spPr/>
      <dgm:t>
        <a:bodyPr/>
        <a:lstStyle/>
        <a:p>
          <a:r>
            <a:rPr lang="pt-BR" noProof="0" dirty="0"/>
            <a:t>Estrutura molecular do DNA</a:t>
          </a:r>
        </a:p>
      </dgm:t>
    </dgm:pt>
    <dgm:pt modelId="{7FA3B3DD-C218-044C-A3D7-B3A01991EBB0}" type="par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D50D10DC-6F32-2E46-94CA-221D1C9D4503}" type="sibTrans" cxnId="{B3D57A0D-6777-4740-B926-8197B8AFB6F2}">
      <dgm:prSet/>
      <dgm:spPr/>
      <dgm:t>
        <a:bodyPr/>
        <a:lstStyle/>
        <a:p>
          <a:endParaRPr lang="pt-BR" noProof="0" dirty="0"/>
        </a:p>
      </dgm:t>
    </dgm:pt>
    <dgm:pt modelId="{514EC7D7-C0D9-6A4A-95AB-0F91557CF989}">
      <dgm:prSet phldrT="[Text]"/>
      <dgm:spPr/>
      <dgm:t>
        <a:bodyPr/>
        <a:lstStyle/>
        <a:p>
          <a:r>
            <a:rPr lang="pt-BR" noProof="0" dirty="0"/>
            <a:t>Identificação da DNA polimerase</a:t>
          </a:r>
        </a:p>
      </dgm:t>
    </dgm:pt>
    <dgm:pt modelId="{B69747EB-72D6-3B4F-A77C-BABB2E53F4DC}" type="par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15DD4DFA-71F8-5E43-BB27-481C231CA09F}" type="sibTrans" cxnId="{7E83F4D5-FA2D-CA49-945A-475CDC75743B}">
      <dgm:prSet/>
      <dgm:spPr/>
      <dgm:t>
        <a:bodyPr/>
        <a:lstStyle/>
        <a:p>
          <a:endParaRPr lang="pt-BR" noProof="0" dirty="0"/>
        </a:p>
      </dgm:t>
    </dgm:pt>
    <dgm:pt modelId="{4181A6B5-81D6-6649-A20F-FD91B03A160B}">
      <dgm:prSet phldrT="[Text]"/>
      <dgm:spPr/>
      <dgm:t>
        <a:bodyPr/>
        <a:lstStyle/>
        <a:p>
          <a:r>
            <a:rPr lang="pt-BR" noProof="0" dirty="0"/>
            <a:t>Elucidação do código genético</a:t>
          </a:r>
        </a:p>
      </dgm:t>
    </dgm:pt>
    <dgm:pt modelId="{E3725E00-41A7-FB4F-8F9A-ACAFB28CE12E}" type="par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AF52840A-1C69-E342-99D9-D6058EB04388}" type="sibTrans" cxnId="{1EB98D25-83F2-DD4D-B99B-8D11C4D597A4}">
      <dgm:prSet/>
      <dgm:spPr/>
      <dgm:t>
        <a:bodyPr/>
        <a:lstStyle/>
        <a:p>
          <a:endParaRPr lang="pt-BR" noProof="0" dirty="0"/>
        </a:p>
      </dgm:t>
    </dgm:pt>
    <dgm:pt modelId="{FBB2F098-4FC6-B547-B893-1FCA92D08C32}">
      <dgm:prSet/>
      <dgm:spPr/>
      <dgm:t>
        <a:bodyPr/>
        <a:lstStyle/>
        <a:p>
          <a:r>
            <a:rPr lang="pt-BR" noProof="0" dirty="0"/>
            <a:t>Isolamento da </a:t>
          </a:r>
          <a:r>
            <a:rPr lang="pt-BR" noProof="0" dirty="0" err="1"/>
            <a:t>Taq</a:t>
          </a:r>
          <a:r>
            <a:rPr lang="pt-BR" noProof="0" dirty="0"/>
            <a:t> polimerase</a:t>
          </a:r>
        </a:p>
      </dgm:t>
    </dgm:pt>
    <dgm:pt modelId="{EC4E2080-38E5-3043-B64C-2EB64DA42865}" type="par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D8887235-9F30-3F4D-9523-F03933D4887F}" type="sibTrans" cxnId="{7CA35299-8EA2-AA43-B667-D395089B6974}">
      <dgm:prSet/>
      <dgm:spPr/>
      <dgm:t>
        <a:bodyPr/>
        <a:lstStyle/>
        <a:p>
          <a:endParaRPr lang="pt-BR" noProof="0" dirty="0"/>
        </a:p>
      </dgm:t>
    </dgm:pt>
    <dgm:pt modelId="{A7D7A12E-FE43-A34C-8CB0-E2EAE9C8BD24}">
      <dgm:prSet/>
      <dgm:spPr/>
      <dgm:t>
        <a:bodyPr/>
        <a:lstStyle/>
        <a:p>
          <a:r>
            <a:rPr lang="en-US" dirty="0" err="1"/>
            <a:t>Sequenciamento</a:t>
          </a:r>
          <a:r>
            <a:rPr lang="en-US" dirty="0"/>
            <a:t> de DNA</a:t>
          </a:r>
        </a:p>
      </dgm:t>
    </dgm:pt>
    <dgm:pt modelId="{65FD03FB-379A-474D-9E63-6D493D07D7B9}" type="parTrans" cxnId="{0709EC34-9178-9740-872C-AADE3D917359}">
      <dgm:prSet/>
      <dgm:spPr/>
      <dgm:t>
        <a:bodyPr/>
        <a:lstStyle/>
        <a:p>
          <a:endParaRPr lang="en-US"/>
        </a:p>
      </dgm:t>
    </dgm:pt>
    <dgm:pt modelId="{595FF921-4BE9-1D41-924C-48CD2412694F}" type="sibTrans" cxnId="{0709EC34-9178-9740-872C-AADE3D917359}">
      <dgm:prSet/>
      <dgm:spPr/>
      <dgm:t>
        <a:bodyPr/>
        <a:lstStyle/>
        <a:p>
          <a:endParaRPr lang="en-US"/>
        </a:p>
      </dgm:t>
    </dgm:pt>
    <dgm:pt modelId="{EFA320B9-69A0-704B-8EA4-F71D13DE93B6}" type="pres">
      <dgm:prSet presAssocID="{E7CAA2EC-90B2-FF4B-97D2-F6C266AE22B3}" presName="Name0" presStyleCnt="0">
        <dgm:presLayoutVars>
          <dgm:dir/>
          <dgm:animLvl val="lvl"/>
          <dgm:resizeHandles val="exact"/>
        </dgm:presLayoutVars>
      </dgm:prSet>
      <dgm:spPr/>
    </dgm:pt>
    <dgm:pt modelId="{DC3BC5DE-679B-0F48-8B6D-4AD11564DD72}" type="pres">
      <dgm:prSet presAssocID="{9CE20080-DDF3-6640-88EE-240E61B59F29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4CF145A-9D31-D144-B7F0-D6A80D2D3419}" type="pres">
      <dgm:prSet presAssocID="{D50D10DC-6F32-2E46-94CA-221D1C9D4503}" presName="parTxOnlySpace" presStyleCnt="0"/>
      <dgm:spPr/>
    </dgm:pt>
    <dgm:pt modelId="{5E79C387-6ECF-8640-AD06-B939C81263E9}" type="pres">
      <dgm:prSet presAssocID="{514EC7D7-C0D9-6A4A-95AB-0F91557CF98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F8AF2D95-DEF6-8B46-964D-69A33E2061B2}" type="pres">
      <dgm:prSet presAssocID="{15DD4DFA-71F8-5E43-BB27-481C231CA09F}" presName="parTxOnlySpace" presStyleCnt="0"/>
      <dgm:spPr/>
    </dgm:pt>
    <dgm:pt modelId="{D8BE46E2-EBA6-EC49-84F9-7C41B19A380C}" type="pres">
      <dgm:prSet presAssocID="{4181A6B5-81D6-6649-A20F-FD91B03A160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5DA5161-1362-F34B-951A-226DAA7A111A}" type="pres">
      <dgm:prSet presAssocID="{AF52840A-1C69-E342-99D9-D6058EB04388}" presName="parTxOnlySpace" presStyleCnt="0"/>
      <dgm:spPr/>
    </dgm:pt>
    <dgm:pt modelId="{47A47808-D542-574B-8CB4-6D5110C30EC6}" type="pres">
      <dgm:prSet presAssocID="{FBB2F098-4FC6-B547-B893-1FCA92D08C32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A0473E5-146A-B542-A3A1-7E6AAD845F69}" type="pres">
      <dgm:prSet presAssocID="{D8887235-9F30-3F4D-9523-F03933D4887F}" presName="parTxOnlySpace" presStyleCnt="0"/>
      <dgm:spPr/>
    </dgm:pt>
    <dgm:pt modelId="{E4AD0754-929A-C043-8D33-FF6C22DA0440}" type="pres">
      <dgm:prSet presAssocID="{A7D7A12E-FE43-A34C-8CB0-E2EAE9C8BD24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1F1C540C-5A03-E84C-920F-91C0EA4C3E74}" type="presOf" srcId="{E7CAA2EC-90B2-FF4B-97D2-F6C266AE22B3}" destId="{EFA320B9-69A0-704B-8EA4-F71D13DE93B6}" srcOrd="0" destOrd="0" presId="urn:microsoft.com/office/officeart/2005/8/layout/chevron1"/>
    <dgm:cxn modelId="{B3D57A0D-6777-4740-B926-8197B8AFB6F2}" srcId="{E7CAA2EC-90B2-FF4B-97D2-F6C266AE22B3}" destId="{9CE20080-DDF3-6640-88EE-240E61B59F29}" srcOrd="0" destOrd="0" parTransId="{7FA3B3DD-C218-044C-A3D7-B3A01991EBB0}" sibTransId="{D50D10DC-6F32-2E46-94CA-221D1C9D4503}"/>
    <dgm:cxn modelId="{1EB98D25-83F2-DD4D-B99B-8D11C4D597A4}" srcId="{E7CAA2EC-90B2-FF4B-97D2-F6C266AE22B3}" destId="{4181A6B5-81D6-6649-A20F-FD91B03A160B}" srcOrd="2" destOrd="0" parTransId="{E3725E00-41A7-FB4F-8F9A-ACAFB28CE12E}" sibTransId="{AF52840A-1C69-E342-99D9-D6058EB04388}"/>
    <dgm:cxn modelId="{0709EC34-9178-9740-872C-AADE3D917359}" srcId="{E7CAA2EC-90B2-FF4B-97D2-F6C266AE22B3}" destId="{A7D7A12E-FE43-A34C-8CB0-E2EAE9C8BD24}" srcOrd="4" destOrd="0" parTransId="{65FD03FB-379A-474D-9E63-6D493D07D7B9}" sibTransId="{595FF921-4BE9-1D41-924C-48CD2412694F}"/>
    <dgm:cxn modelId="{17F93746-AD7B-F54F-9CFE-D2EEC63E6042}" type="presOf" srcId="{4181A6B5-81D6-6649-A20F-FD91B03A160B}" destId="{D8BE46E2-EBA6-EC49-84F9-7C41B19A380C}" srcOrd="0" destOrd="0" presId="urn:microsoft.com/office/officeart/2005/8/layout/chevron1"/>
    <dgm:cxn modelId="{7DF7B34B-85D9-5B49-AE0E-11F0E7258367}" type="presOf" srcId="{A7D7A12E-FE43-A34C-8CB0-E2EAE9C8BD24}" destId="{E4AD0754-929A-C043-8D33-FF6C22DA0440}" srcOrd="0" destOrd="0" presId="urn:microsoft.com/office/officeart/2005/8/layout/chevron1"/>
    <dgm:cxn modelId="{39A5C57A-F8C9-BF4B-AF3C-27D095B043FD}" type="presOf" srcId="{514EC7D7-C0D9-6A4A-95AB-0F91557CF989}" destId="{5E79C387-6ECF-8640-AD06-B939C81263E9}" srcOrd="0" destOrd="0" presId="urn:microsoft.com/office/officeart/2005/8/layout/chevron1"/>
    <dgm:cxn modelId="{9C5B458A-2985-B445-99EB-9E191C2AB975}" type="presOf" srcId="{FBB2F098-4FC6-B547-B893-1FCA92D08C32}" destId="{47A47808-D542-574B-8CB4-6D5110C30EC6}" srcOrd="0" destOrd="0" presId="urn:microsoft.com/office/officeart/2005/8/layout/chevron1"/>
    <dgm:cxn modelId="{7CA35299-8EA2-AA43-B667-D395089B6974}" srcId="{E7CAA2EC-90B2-FF4B-97D2-F6C266AE22B3}" destId="{FBB2F098-4FC6-B547-B893-1FCA92D08C32}" srcOrd="3" destOrd="0" parTransId="{EC4E2080-38E5-3043-B64C-2EB64DA42865}" sibTransId="{D8887235-9F30-3F4D-9523-F03933D4887F}"/>
    <dgm:cxn modelId="{C36BA2C7-2B8B-434E-A790-F7E08A35A6C7}" type="presOf" srcId="{9CE20080-DDF3-6640-88EE-240E61B59F29}" destId="{DC3BC5DE-679B-0F48-8B6D-4AD11564DD72}" srcOrd="0" destOrd="0" presId="urn:microsoft.com/office/officeart/2005/8/layout/chevron1"/>
    <dgm:cxn modelId="{7E83F4D5-FA2D-CA49-945A-475CDC75743B}" srcId="{E7CAA2EC-90B2-FF4B-97D2-F6C266AE22B3}" destId="{514EC7D7-C0D9-6A4A-95AB-0F91557CF989}" srcOrd="1" destOrd="0" parTransId="{B69747EB-72D6-3B4F-A77C-BABB2E53F4DC}" sibTransId="{15DD4DFA-71F8-5E43-BB27-481C231CA09F}"/>
    <dgm:cxn modelId="{2EDE178F-A0B8-A34E-9446-62620950EB6C}" type="presParOf" srcId="{EFA320B9-69A0-704B-8EA4-F71D13DE93B6}" destId="{DC3BC5DE-679B-0F48-8B6D-4AD11564DD72}" srcOrd="0" destOrd="0" presId="urn:microsoft.com/office/officeart/2005/8/layout/chevron1"/>
    <dgm:cxn modelId="{E67FC36C-686C-0C47-8F26-B2D04E6E001B}" type="presParOf" srcId="{EFA320B9-69A0-704B-8EA4-F71D13DE93B6}" destId="{04CF145A-9D31-D144-B7F0-D6A80D2D3419}" srcOrd="1" destOrd="0" presId="urn:microsoft.com/office/officeart/2005/8/layout/chevron1"/>
    <dgm:cxn modelId="{81A3943B-15FC-5C45-B608-E63BAF3E3365}" type="presParOf" srcId="{EFA320B9-69A0-704B-8EA4-F71D13DE93B6}" destId="{5E79C387-6ECF-8640-AD06-B939C81263E9}" srcOrd="2" destOrd="0" presId="urn:microsoft.com/office/officeart/2005/8/layout/chevron1"/>
    <dgm:cxn modelId="{1A2D8DCD-94B8-7946-9CFC-DDD1F1DFFFBF}" type="presParOf" srcId="{EFA320B9-69A0-704B-8EA4-F71D13DE93B6}" destId="{F8AF2D95-DEF6-8B46-964D-69A33E2061B2}" srcOrd="3" destOrd="0" presId="urn:microsoft.com/office/officeart/2005/8/layout/chevron1"/>
    <dgm:cxn modelId="{DE4EAE9E-1067-304D-921E-3AB9012DA7B9}" type="presParOf" srcId="{EFA320B9-69A0-704B-8EA4-F71D13DE93B6}" destId="{D8BE46E2-EBA6-EC49-84F9-7C41B19A380C}" srcOrd="4" destOrd="0" presId="urn:microsoft.com/office/officeart/2005/8/layout/chevron1"/>
    <dgm:cxn modelId="{DA71C3B3-AD90-BB40-809F-BD896036C6F1}" type="presParOf" srcId="{EFA320B9-69A0-704B-8EA4-F71D13DE93B6}" destId="{35DA5161-1362-F34B-951A-226DAA7A111A}" srcOrd="5" destOrd="0" presId="urn:microsoft.com/office/officeart/2005/8/layout/chevron1"/>
    <dgm:cxn modelId="{7F32B507-6622-5240-A6F4-E3D414F0F7E2}" type="presParOf" srcId="{EFA320B9-69A0-704B-8EA4-F71D13DE93B6}" destId="{47A47808-D542-574B-8CB4-6D5110C30EC6}" srcOrd="6" destOrd="0" presId="urn:microsoft.com/office/officeart/2005/8/layout/chevron1"/>
    <dgm:cxn modelId="{03E9428C-F2BC-E44D-B351-BF8059D17D4E}" type="presParOf" srcId="{EFA320B9-69A0-704B-8EA4-F71D13DE93B6}" destId="{FA0473E5-146A-B542-A3A1-7E6AAD845F69}" srcOrd="7" destOrd="0" presId="urn:microsoft.com/office/officeart/2005/8/layout/chevron1"/>
    <dgm:cxn modelId="{A7B71AF8-DB59-AF40-9EB7-B39FCC670E0D}" type="presParOf" srcId="{EFA320B9-69A0-704B-8EA4-F71D13DE93B6}" destId="{E4AD0754-929A-C043-8D33-FF6C22DA044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487D7F4-E809-EC42-B47F-0045016FCB76}" type="doc">
      <dgm:prSet loTypeId="urn:microsoft.com/office/officeart/2005/8/layout/chevron1" loCatId="" qsTypeId="urn:microsoft.com/office/officeart/2005/8/quickstyle/simple4" qsCatId="simple" csTypeId="urn:microsoft.com/office/officeart/2005/8/colors/colorful3" csCatId="colorful" phldr="1"/>
      <dgm:spPr/>
    </dgm:pt>
    <dgm:pt modelId="{46477B37-EB31-EC46-94F4-AD63EEC9EC6B}">
      <dgm:prSet phldrT="[Text]"/>
      <dgm:spPr/>
      <dgm:t>
        <a:bodyPr/>
        <a:lstStyle/>
        <a:p>
          <a:r>
            <a:rPr lang="en-US" dirty="0" err="1"/>
            <a:t>Invenção</a:t>
          </a:r>
          <a:r>
            <a:rPr lang="en-US" dirty="0"/>
            <a:t> da PCR</a:t>
          </a:r>
        </a:p>
      </dgm:t>
    </dgm:pt>
    <dgm:pt modelId="{C6DBE83D-045A-F644-858E-3FD7C01D3B21}" type="parTrans" cxnId="{15717EE3-1562-1C4A-B97B-A8D763A7D71C}">
      <dgm:prSet/>
      <dgm:spPr/>
      <dgm:t>
        <a:bodyPr/>
        <a:lstStyle/>
        <a:p>
          <a:endParaRPr lang="en-US"/>
        </a:p>
      </dgm:t>
    </dgm:pt>
    <dgm:pt modelId="{301A3FC7-7C41-0C47-AE1A-6B0AEB687D5A}" type="sibTrans" cxnId="{15717EE3-1562-1C4A-B97B-A8D763A7D71C}">
      <dgm:prSet/>
      <dgm:spPr/>
      <dgm:t>
        <a:bodyPr/>
        <a:lstStyle/>
        <a:p>
          <a:endParaRPr lang="en-US"/>
        </a:p>
      </dgm:t>
    </dgm:pt>
    <dgm:pt modelId="{997AF162-81E8-4743-A8F0-D045F2AD4E08}">
      <dgm:prSet phldrT="[Text]"/>
      <dgm:spPr/>
      <dgm:t>
        <a:bodyPr/>
        <a:lstStyle/>
        <a:p>
          <a:r>
            <a:rPr lang="en-US" dirty="0" err="1"/>
            <a:t>Adição</a:t>
          </a:r>
          <a:r>
            <a:rPr lang="en-US" dirty="0"/>
            <a:t> da </a:t>
          </a:r>
          <a:r>
            <a:rPr lang="en-US" dirty="0" err="1"/>
            <a:t>Taq</a:t>
          </a:r>
          <a:r>
            <a:rPr lang="en-US" dirty="0"/>
            <a:t> </a:t>
          </a:r>
          <a:r>
            <a:rPr lang="en-US" dirty="0" err="1"/>
            <a:t>Polimerase</a:t>
          </a:r>
          <a:endParaRPr lang="en-US" dirty="0"/>
        </a:p>
      </dgm:t>
    </dgm:pt>
    <dgm:pt modelId="{6F2E3471-D2FB-6F48-9124-1883C6023DCE}" type="parTrans" cxnId="{AB166953-F3B9-9441-BA12-BF7A17CCBAA0}">
      <dgm:prSet/>
      <dgm:spPr/>
      <dgm:t>
        <a:bodyPr/>
        <a:lstStyle/>
        <a:p>
          <a:endParaRPr lang="en-US"/>
        </a:p>
      </dgm:t>
    </dgm:pt>
    <dgm:pt modelId="{74836EDA-2621-4D4E-9BA7-5FAEDB956CA5}" type="sibTrans" cxnId="{AB166953-F3B9-9441-BA12-BF7A17CCBAA0}">
      <dgm:prSet/>
      <dgm:spPr/>
      <dgm:t>
        <a:bodyPr/>
        <a:lstStyle/>
        <a:p>
          <a:endParaRPr lang="en-US"/>
        </a:p>
      </dgm:t>
    </dgm:pt>
    <dgm:pt modelId="{ED84A129-486B-FD44-92B6-2A329C21A212}" type="pres">
      <dgm:prSet presAssocID="{E487D7F4-E809-EC42-B47F-0045016FCB76}" presName="Name0" presStyleCnt="0">
        <dgm:presLayoutVars>
          <dgm:dir/>
          <dgm:animLvl val="lvl"/>
          <dgm:resizeHandles val="exact"/>
        </dgm:presLayoutVars>
      </dgm:prSet>
      <dgm:spPr/>
    </dgm:pt>
    <dgm:pt modelId="{1DCFF43B-F2FB-C54F-9201-1C268762C6DD}" type="pres">
      <dgm:prSet presAssocID="{46477B37-EB31-EC46-94F4-AD63EEC9EC6B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4AE017D9-38CE-694E-BDB9-8596DCC38E88}" type="pres">
      <dgm:prSet presAssocID="{301A3FC7-7C41-0C47-AE1A-6B0AEB687D5A}" presName="parTxOnlySpace" presStyleCnt="0"/>
      <dgm:spPr/>
    </dgm:pt>
    <dgm:pt modelId="{9E5066D0-40BC-2C44-9722-19AB4996DB11}" type="pres">
      <dgm:prSet presAssocID="{997AF162-81E8-4743-A8F0-D045F2AD4E08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F42FD44F-0279-3244-A9CD-1D5658B280CB}" type="presOf" srcId="{997AF162-81E8-4743-A8F0-D045F2AD4E08}" destId="{9E5066D0-40BC-2C44-9722-19AB4996DB11}" srcOrd="0" destOrd="0" presId="urn:microsoft.com/office/officeart/2005/8/layout/chevron1"/>
    <dgm:cxn modelId="{AB166953-F3B9-9441-BA12-BF7A17CCBAA0}" srcId="{E487D7F4-E809-EC42-B47F-0045016FCB76}" destId="{997AF162-81E8-4743-A8F0-D045F2AD4E08}" srcOrd="1" destOrd="0" parTransId="{6F2E3471-D2FB-6F48-9124-1883C6023DCE}" sibTransId="{74836EDA-2621-4D4E-9BA7-5FAEDB956CA5}"/>
    <dgm:cxn modelId="{74144694-74B2-E34B-8370-53068627E54E}" type="presOf" srcId="{46477B37-EB31-EC46-94F4-AD63EEC9EC6B}" destId="{1DCFF43B-F2FB-C54F-9201-1C268762C6DD}" srcOrd="0" destOrd="0" presId="urn:microsoft.com/office/officeart/2005/8/layout/chevron1"/>
    <dgm:cxn modelId="{48B17AA0-CD5A-CA4E-8EAC-CDABF1A4C0F9}" type="presOf" srcId="{E487D7F4-E809-EC42-B47F-0045016FCB76}" destId="{ED84A129-486B-FD44-92B6-2A329C21A212}" srcOrd="0" destOrd="0" presId="urn:microsoft.com/office/officeart/2005/8/layout/chevron1"/>
    <dgm:cxn modelId="{15717EE3-1562-1C4A-B97B-A8D763A7D71C}" srcId="{E487D7F4-E809-EC42-B47F-0045016FCB76}" destId="{46477B37-EB31-EC46-94F4-AD63EEC9EC6B}" srcOrd="0" destOrd="0" parTransId="{C6DBE83D-045A-F644-858E-3FD7C01D3B21}" sibTransId="{301A3FC7-7C41-0C47-AE1A-6B0AEB687D5A}"/>
    <dgm:cxn modelId="{9BDF5AEB-83CF-2542-AFC0-AA3B4420BD9B}" type="presParOf" srcId="{ED84A129-486B-FD44-92B6-2A329C21A212}" destId="{1DCFF43B-F2FB-C54F-9201-1C268762C6DD}" srcOrd="0" destOrd="0" presId="urn:microsoft.com/office/officeart/2005/8/layout/chevron1"/>
    <dgm:cxn modelId="{4A74725E-203A-3E44-8BB5-C4FDF463B3AA}" type="presParOf" srcId="{ED84A129-486B-FD44-92B6-2A329C21A212}" destId="{4AE017D9-38CE-694E-BDB9-8596DCC38E88}" srcOrd="1" destOrd="0" presId="urn:microsoft.com/office/officeart/2005/8/layout/chevron1"/>
    <dgm:cxn modelId="{A7080F90-E4AF-3849-BAA2-9FFFBE43B1D0}" type="presParOf" srcId="{ED84A129-486B-FD44-92B6-2A329C21A212}" destId="{9E5066D0-40BC-2C44-9722-19AB4996DB11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BC5DE-679B-0F48-8B6D-4AD11564DD72}">
      <dsp:nvSpPr>
        <dsp:cNvPr id="0" name=""/>
        <dsp:cNvSpPr/>
      </dsp:nvSpPr>
      <dsp:spPr>
        <a:xfrm>
          <a:off x="4158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Estrutura molecular do DNA</a:t>
          </a:r>
        </a:p>
      </dsp:txBody>
      <dsp:txXfrm>
        <a:off x="488275" y="1964154"/>
        <a:ext cx="1452352" cy="968234"/>
      </dsp:txXfrm>
    </dsp:sp>
    <dsp:sp modelId="{5E79C387-6ECF-8640-AD06-B939C81263E9}">
      <dsp:nvSpPr>
        <dsp:cNvPr id="0" name=""/>
        <dsp:cNvSpPr/>
      </dsp:nvSpPr>
      <dsp:spPr>
        <a:xfrm>
          <a:off x="2182686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Identificação da DNA polimerase</a:t>
          </a:r>
        </a:p>
      </dsp:txBody>
      <dsp:txXfrm>
        <a:off x="2666803" y="1964154"/>
        <a:ext cx="1452352" cy="968234"/>
      </dsp:txXfrm>
    </dsp:sp>
    <dsp:sp modelId="{D8BE46E2-EBA6-EC49-84F9-7C41B19A380C}">
      <dsp:nvSpPr>
        <dsp:cNvPr id="0" name=""/>
        <dsp:cNvSpPr/>
      </dsp:nvSpPr>
      <dsp:spPr>
        <a:xfrm>
          <a:off x="4361214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Elucidação do código genético</a:t>
          </a:r>
        </a:p>
      </dsp:txBody>
      <dsp:txXfrm>
        <a:off x="4845331" y="1964154"/>
        <a:ext cx="1452352" cy="968234"/>
      </dsp:txXfrm>
    </dsp:sp>
    <dsp:sp modelId="{47A47808-D542-574B-8CB4-6D5110C30EC6}">
      <dsp:nvSpPr>
        <dsp:cNvPr id="0" name=""/>
        <dsp:cNvSpPr/>
      </dsp:nvSpPr>
      <dsp:spPr>
        <a:xfrm>
          <a:off x="6539742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Isolamento da </a:t>
          </a:r>
          <a:r>
            <a:rPr lang="pt-BR" sz="2000" kern="1200" noProof="0" dirty="0" err="1"/>
            <a:t>Taq</a:t>
          </a:r>
          <a:r>
            <a:rPr lang="pt-BR" sz="2000" kern="1200" noProof="0" dirty="0"/>
            <a:t> polimerase</a:t>
          </a:r>
        </a:p>
      </dsp:txBody>
      <dsp:txXfrm>
        <a:off x="7023859" y="1964154"/>
        <a:ext cx="1452352" cy="9682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BC5DE-679B-0F48-8B6D-4AD11564DD72}">
      <dsp:nvSpPr>
        <dsp:cNvPr id="0" name=""/>
        <dsp:cNvSpPr/>
      </dsp:nvSpPr>
      <dsp:spPr>
        <a:xfrm>
          <a:off x="4158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Estrutura molecular do DNA</a:t>
          </a:r>
        </a:p>
      </dsp:txBody>
      <dsp:txXfrm>
        <a:off x="488275" y="1964154"/>
        <a:ext cx="1452352" cy="968234"/>
      </dsp:txXfrm>
    </dsp:sp>
    <dsp:sp modelId="{5E79C387-6ECF-8640-AD06-B939C81263E9}">
      <dsp:nvSpPr>
        <dsp:cNvPr id="0" name=""/>
        <dsp:cNvSpPr/>
      </dsp:nvSpPr>
      <dsp:spPr>
        <a:xfrm>
          <a:off x="2182686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Identificação da DNA polimerase</a:t>
          </a:r>
        </a:p>
      </dsp:txBody>
      <dsp:txXfrm>
        <a:off x="2666803" y="1964154"/>
        <a:ext cx="1452352" cy="968234"/>
      </dsp:txXfrm>
    </dsp:sp>
    <dsp:sp modelId="{D8BE46E2-EBA6-EC49-84F9-7C41B19A380C}">
      <dsp:nvSpPr>
        <dsp:cNvPr id="0" name=""/>
        <dsp:cNvSpPr/>
      </dsp:nvSpPr>
      <dsp:spPr>
        <a:xfrm>
          <a:off x="4361214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Elucidação do código genético</a:t>
          </a:r>
        </a:p>
      </dsp:txBody>
      <dsp:txXfrm>
        <a:off x="4845331" y="1964154"/>
        <a:ext cx="1452352" cy="968234"/>
      </dsp:txXfrm>
    </dsp:sp>
    <dsp:sp modelId="{47A47808-D542-574B-8CB4-6D5110C30EC6}">
      <dsp:nvSpPr>
        <dsp:cNvPr id="0" name=""/>
        <dsp:cNvSpPr/>
      </dsp:nvSpPr>
      <dsp:spPr>
        <a:xfrm>
          <a:off x="6539742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Isolamento da </a:t>
          </a:r>
          <a:r>
            <a:rPr lang="pt-BR" sz="2000" kern="1200" noProof="0" dirty="0" err="1"/>
            <a:t>Taq</a:t>
          </a:r>
          <a:r>
            <a:rPr lang="pt-BR" sz="2000" kern="1200" noProof="0" dirty="0"/>
            <a:t> polimerase</a:t>
          </a:r>
        </a:p>
      </dsp:txBody>
      <dsp:txXfrm>
        <a:off x="7023859" y="1964154"/>
        <a:ext cx="1452352" cy="9682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BC5DE-679B-0F48-8B6D-4AD11564DD72}">
      <dsp:nvSpPr>
        <dsp:cNvPr id="0" name=""/>
        <dsp:cNvSpPr/>
      </dsp:nvSpPr>
      <dsp:spPr>
        <a:xfrm>
          <a:off x="4158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Estrutura molecular do DNA</a:t>
          </a:r>
        </a:p>
      </dsp:txBody>
      <dsp:txXfrm>
        <a:off x="488275" y="1964154"/>
        <a:ext cx="1452352" cy="968234"/>
      </dsp:txXfrm>
    </dsp:sp>
    <dsp:sp modelId="{5E79C387-6ECF-8640-AD06-B939C81263E9}">
      <dsp:nvSpPr>
        <dsp:cNvPr id="0" name=""/>
        <dsp:cNvSpPr/>
      </dsp:nvSpPr>
      <dsp:spPr>
        <a:xfrm>
          <a:off x="2182686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Identificação da DNA polimerase</a:t>
          </a:r>
        </a:p>
      </dsp:txBody>
      <dsp:txXfrm>
        <a:off x="2666803" y="1964154"/>
        <a:ext cx="1452352" cy="968234"/>
      </dsp:txXfrm>
    </dsp:sp>
    <dsp:sp modelId="{D8BE46E2-EBA6-EC49-84F9-7C41B19A380C}">
      <dsp:nvSpPr>
        <dsp:cNvPr id="0" name=""/>
        <dsp:cNvSpPr/>
      </dsp:nvSpPr>
      <dsp:spPr>
        <a:xfrm>
          <a:off x="4361214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Elucidação do código genético</a:t>
          </a:r>
        </a:p>
      </dsp:txBody>
      <dsp:txXfrm>
        <a:off x="4845331" y="1964154"/>
        <a:ext cx="1452352" cy="968234"/>
      </dsp:txXfrm>
    </dsp:sp>
    <dsp:sp modelId="{47A47808-D542-574B-8CB4-6D5110C30EC6}">
      <dsp:nvSpPr>
        <dsp:cNvPr id="0" name=""/>
        <dsp:cNvSpPr/>
      </dsp:nvSpPr>
      <dsp:spPr>
        <a:xfrm>
          <a:off x="6539742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Isolamento da </a:t>
          </a:r>
          <a:r>
            <a:rPr lang="pt-BR" sz="2000" kern="1200" noProof="0" dirty="0" err="1"/>
            <a:t>Taq</a:t>
          </a:r>
          <a:r>
            <a:rPr lang="pt-BR" sz="2000" kern="1200" noProof="0" dirty="0"/>
            <a:t> polimerase</a:t>
          </a:r>
        </a:p>
      </dsp:txBody>
      <dsp:txXfrm>
        <a:off x="7023859" y="1964154"/>
        <a:ext cx="1452352" cy="9682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BC5DE-679B-0F48-8B6D-4AD11564DD72}">
      <dsp:nvSpPr>
        <dsp:cNvPr id="0" name=""/>
        <dsp:cNvSpPr/>
      </dsp:nvSpPr>
      <dsp:spPr>
        <a:xfrm>
          <a:off x="4158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Estrutura molecular do DNA</a:t>
          </a:r>
        </a:p>
      </dsp:txBody>
      <dsp:txXfrm>
        <a:off x="488275" y="1964154"/>
        <a:ext cx="1452352" cy="968234"/>
      </dsp:txXfrm>
    </dsp:sp>
    <dsp:sp modelId="{5E79C387-6ECF-8640-AD06-B939C81263E9}">
      <dsp:nvSpPr>
        <dsp:cNvPr id="0" name=""/>
        <dsp:cNvSpPr/>
      </dsp:nvSpPr>
      <dsp:spPr>
        <a:xfrm>
          <a:off x="2182686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Identificação da DNA polimerase</a:t>
          </a:r>
        </a:p>
      </dsp:txBody>
      <dsp:txXfrm>
        <a:off x="2666803" y="1964154"/>
        <a:ext cx="1452352" cy="968234"/>
      </dsp:txXfrm>
    </dsp:sp>
    <dsp:sp modelId="{D8BE46E2-EBA6-EC49-84F9-7C41B19A380C}">
      <dsp:nvSpPr>
        <dsp:cNvPr id="0" name=""/>
        <dsp:cNvSpPr/>
      </dsp:nvSpPr>
      <dsp:spPr>
        <a:xfrm>
          <a:off x="4361214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Elucidação do código genético</a:t>
          </a:r>
        </a:p>
      </dsp:txBody>
      <dsp:txXfrm>
        <a:off x="4845331" y="1964154"/>
        <a:ext cx="1452352" cy="968234"/>
      </dsp:txXfrm>
    </dsp:sp>
    <dsp:sp modelId="{47A47808-D542-574B-8CB4-6D5110C30EC6}">
      <dsp:nvSpPr>
        <dsp:cNvPr id="0" name=""/>
        <dsp:cNvSpPr/>
      </dsp:nvSpPr>
      <dsp:spPr>
        <a:xfrm>
          <a:off x="6539742" y="1964154"/>
          <a:ext cx="2420586" cy="968234"/>
        </a:xfrm>
        <a:prstGeom prst="chevron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Isolamento da </a:t>
          </a:r>
          <a:r>
            <a:rPr lang="pt-BR" sz="2000" kern="1200" noProof="0" dirty="0" err="1"/>
            <a:t>Taq</a:t>
          </a:r>
          <a:r>
            <a:rPr lang="pt-BR" sz="2000" kern="1200" noProof="0" dirty="0"/>
            <a:t> polimerase</a:t>
          </a:r>
        </a:p>
      </dsp:txBody>
      <dsp:txXfrm>
        <a:off x="7023859" y="1964154"/>
        <a:ext cx="1452352" cy="9682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BC5DE-679B-0F48-8B6D-4AD11564DD72}">
      <dsp:nvSpPr>
        <dsp:cNvPr id="0" name=""/>
        <dsp:cNvSpPr/>
      </dsp:nvSpPr>
      <dsp:spPr>
        <a:xfrm>
          <a:off x="2772" y="1513440"/>
          <a:ext cx="1613816" cy="64552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Estrutura molecular do DNA</a:t>
          </a:r>
        </a:p>
      </dsp:txBody>
      <dsp:txXfrm>
        <a:off x="325535" y="1513440"/>
        <a:ext cx="968290" cy="645526"/>
      </dsp:txXfrm>
    </dsp:sp>
    <dsp:sp modelId="{5E79C387-6ECF-8640-AD06-B939C81263E9}">
      <dsp:nvSpPr>
        <dsp:cNvPr id="0" name=""/>
        <dsp:cNvSpPr/>
      </dsp:nvSpPr>
      <dsp:spPr>
        <a:xfrm>
          <a:off x="1455206" y="1513440"/>
          <a:ext cx="1613816" cy="645526"/>
        </a:xfrm>
        <a:prstGeom prst="chevron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Identificação da DNA polimerase</a:t>
          </a:r>
        </a:p>
      </dsp:txBody>
      <dsp:txXfrm>
        <a:off x="1777969" y="1513440"/>
        <a:ext cx="968290" cy="645526"/>
      </dsp:txXfrm>
    </dsp:sp>
    <dsp:sp modelId="{D8BE46E2-EBA6-EC49-84F9-7C41B19A380C}">
      <dsp:nvSpPr>
        <dsp:cNvPr id="0" name=""/>
        <dsp:cNvSpPr/>
      </dsp:nvSpPr>
      <dsp:spPr>
        <a:xfrm>
          <a:off x="2907641" y="1513440"/>
          <a:ext cx="1613816" cy="645526"/>
        </a:xfrm>
        <a:prstGeom prst="chevron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Elucidação do código genético</a:t>
          </a:r>
        </a:p>
      </dsp:txBody>
      <dsp:txXfrm>
        <a:off x="3230404" y="1513440"/>
        <a:ext cx="968290" cy="645526"/>
      </dsp:txXfrm>
    </dsp:sp>
    <dsp:sp modelId="{47A47808-D542-574B-8CB4-6D5110C30EC6}">
      <dsp:nvSpPr>
        <dsp:cNvPr id="0" name=""/>
        <dsp:cNvSpPr/>
      </dsp:nvSpPr>
      <dsp:spPr>
        <a:xfrm>
          <a:off x="4360075" y="1513440"/>
          <a:ext cx="1613816" cy="645526"/>
        </a:xfrm>
        <a:prstGeom prst="chevron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Isolamento da </a:t>
          </a:r>
          <a:r>
            <a:rPr lang="pt-BR" sz="1300" kern="1200" noProof="0" dirty="0" err="1"/>
            <a:t>Taq</a:t>
          </a:r>
          <a:r>
            <a:rPr lang="pt-BR" sz="1300" kern="1200" noProof="0" dirty="0"/>
            <a:t> polimerase</a:t>
          </a:r>
        </a:p>
      </dsp:txBody>
      <dsp:txXfrm>
        <a:off x="4682838" y="1513440"/>
        <a:ext cx="968290" cy="6455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96FC5-DE91-6B45-BF96-D0D68A848639}">
      <dsp:nvSpPr>
        <dsp:cNvPr id="0" name=""/>
        <dsp:cNvSpPr/>
      </dsp:nvSpPr>
      <dsp:spPr>
        <a:xfrm>
          <a:off x="0" y="635424"/>
          <a:ext cx="2890921" cy="1156368"/>
        </a:xfrm>
        <a:prstGeom prst="chevron">
          <a:avLst/>
        </a:prstGeom>
        <a:gradFill rotWithShape="0">
          <a:gsLst>
            <a:gs pos="0">
              <a:schemeClr val="accent4">
                <a:lumMod val="50000"/>
              </a:schemeClr>
            </a:gs>
            <a:gs pos="80000">
              <a:schemeClr val="accent4">
                <a:lumMod val="60000"/>
                <a:lumOff val="4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SEQUENCIAMENTO DE DNA</a:t>
          </a:r>
        </a:p>
      </dsp:txBody>
      <dsp:txXfrm>
        <a:off x="578184" y="635424"/>
        <a:ext cx="1734553" cy="11563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BC5DE-679B-0F48-8B6D-4AD11564DD72}">
      <dsp:nvSpPr>
        <dsp:cNvPr id="0" name=""/>
        <dsp:cNvSpPr/>
      </dsp:nvSpPr>
      <dsp:spPr>
        <a:xfrm>
          <a:off x="2855" y="1467742"/>
          <a:ext cx="1662287" cy="664915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Estrutura molecular do DNA</a:t>
          </a:r>
        </a:p>
      </dsp:txBody>
      <dsp:txXfrm>
        <a:off x="335313" y="1467742"/>
        <a:ext cx="997372" cy="664915"/>
      </dsp:txXfrm>
    </dsp:sp>
    <dsp:sp modelId="{5E79C387-6ECF-8640-AD06-B939C81263E9}">
      <dsp:nvSpPr>
        <dsp:cNvPr id="0" name=""/>
        <dsp:cNvSpPr/>
      </dsp:nvSpPr>
      <dsp:spPr>
        <a:xfrm>
          <a:off x="1498914" y="1467742"/>
          <a:ext cx="1662287" cy="664915"/>
        </a:xfrm>
        <a:prstGeom prst="chevron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Identificação da DNA polimerase</a:t>
          </a:r>
        </a:p>
      </dsp:txBody>
      <dsp:txXfrm>
        <a:off x="1831372" y="1467742"/>
        <a:ext cx="997372" cy="664915"/>
      </dsp:txXfrm>
    </dsp:sp>
    <dsp:sp modelId="{D8BE46E2-EBA6-EC49-84F9-7C41B19A380C}">
      <dsp:nvSpPr>
        <dsp:cNvPr id="0" name=""/>
        <dsp:cNvSpPr/>
      </dsp:nvSpPr>
      <dsp:spPr>
        <a:xfrm>
          <a:off x="2994973" y="1467742"/>
          <a:ext cx="1662287" cy="664915"/>
        </a:xfrm>
        <a:prstGeom prst="chevron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Elucidação do código genético</a:t>
          </a:r>
        </a:p>
      </dsp:txBody>
      <dsp:txXfrm>
        <a:off x="3327431" y="1467742"/>
        <a:ext cx="997372" cy="664915"/>
      </dsp:txXfrm>
    </dsp:sp>
    <dsp:sp modelId="{47A47808-D542-574B-8CB4-6D5110C30EC6}">
      <dsp:nvSpPr>
        <dsp:cNvPr id="0" name=""/>
        <dsp:cNvSpPr/>
      </dsp:nvSpPr>
      <dsp:spPr>
        <a:xfrm>
          <a:off x="4491032" y="1467742"/>
          <a:ext cx="1662287" cy="664915"/>
        </a:xfrm>
        <a:prstGeom prst="chevron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Isolamento da </a:t>
          </a:r>
          <a:r>
            <a:rPr lang="pt-BR" sz="1300" kern="1200" noProof="0" dirty="0" err="1"/>
            <a:t>Taq</a:t>
          </a:r>
          <a:r>
            <a:rPr lang="pt-BR" sz="1300" kern="1200" noProof="0" dirty="0"/>
            <a:t> polimerase</a:t>
          </a:r>
        </a:p>
      </dsp:txBody>
      <dsp:txXfrm>
        <a:off x="4823490" y="1467742"/>
        <a:ext cx="997372" cy="6649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96FC5-DE91-6B45-BF96-D0D68A848639}">
      <dsp:nvSpPr>
        <dsp:cNvPr id="0" name=""/>
        <dsp:cNvSpPr/>
      </dsp:nvSpPr>
      <dsp:spPr>
        <a:xfrm>
          <a:off x="0" y="718531"/>
          <a:ext cx="3195464" cy="1278185"/>
        </a:xfrm>
        <a:prstGeom prst="chevron">
          <a:avLst/>
        </a:prstGeom>
        <a:gradFill rotWithShape="0">
          <a:gsLst>
            <a:gs pos="0">
              <a:schemeClr val="accent4">
                <a:lumMod val="50000"/>
              </a:schemeClr>
            </a:gs>
            <a:gs pos="80000">
              <a:schemeClr val="accent4">
                <a:lumMod val="60000"/>
                <a:lumOff val="4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SEQUENCIAMENTO DE DNA</a:t>
          </a:r>
        </a:p>
      </dsp:txBody>
      <dsp:txXfrm>
        <a:off x="639093" y="718531"/>
        <a:ext cx="1917279" cy="127818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BC5DE-679B-0F48-8B6D-4AD11564DD72}">
      <dsp:nvSpPr>
        <dsp:cNvPr id="0" name=""/>
        <dsp:cNvSpPr/>
      </dsp:nvSpPr>
      <dsp:spPr>
        <a:xfrm>
          <a:off x="2144" y="1598451"/>
          <a:ext cx="1908844" cy="763537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noProof="0" dirty="0"/>
            <a:t>Estrutura molecular do DNA</a:t>
          </a:r>
        </a:p>
      </dsp:txBody>
      <dsp:txXfrm>
        <a:off x="383913" y="1598451"/>
        <a:ext cx="1145307" cy="763537"/>
      </dsp:txXfrm>
    </dsp:sp>
    <dsp:sp modelId="{5E79C387-6ECF-8640-AD06-B939C81263E9}">
      <dsp:nvSpPr>
        <dsp:cNvPr id="0" name=""/>
        <dsp:cNvSpPr/>
      </dsp:nvSpPr>
      <dsp:spPr>
        <a:xfrm>
          <a:off x="1720105" y="1598451"/>
          <a:ext cx="1908844" cy="763537"/>
        </a:xfrm>
        <a:prstGeom prst="chevron">
          <a:avLst/>
        </a:prstGeom>
        <a:gradFill rotWithShape="0">
          <a:gsLst>
            <a:gs pos="0">
              <a:schemeClr val="accent3">
                <a:hueOff val="2812566"/>
                <a:satOff val="-4220"/>
                <a:lumOff val="-686"/>
                <a:alphaOff val="0"/>
                <a:shade val="51000"/>
                <a:satMod val="130000"/>
              </a:schemeClr>
            </a:gs>
            <a:gs pos="80000">
              <a:schemeClr val="accent3">
                <a:hueOff val="2812566"/>
                <a:satOff val="-4220"/>
                <a:lumOff val="-686"/>
                <a:alphaOff val="0"/>
                <a:shade val="93000"/>
                <a:satMod val="130000"/>
              </a:schemeClr>
            </a:gs>
            <a:gs pos="100000">
              <a:schemeClr val="accent3">
                <a:hueOff val="2812566"/>
                <a:satOff val="-4220"/>
                <a:lumOff val="-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noProof="0" dirty="0"/>
            <a:t>Identificação da DNA polimerase</a:t>
          </a:r>
        </a:p>
      </dsp:txBody>
      <dsp:txXfrm>
        <a:off x="2101874" y="1598451"/>
        <a:ext cx="1145307" cy="763537"/>
      </dsp:txXfrm>
    </dsp:sp>
    <dsp:sp modelId="{D8BE46E2-EBA6-EC49-84F9-7C41B19A380C}">
      <dsp:nvSpPr>
        <dsp:cNvPr id="0" name=""/>
        <dsp:cNvSpPr/>
      </dsp:nvSpPr>
      <dsp:spPr>
        <a:xfrm>
          <a:off x="3438065" y="1598451"/>
          <a:ext cx="1908844" cy="763537"/>
        </a:xfrm>
        <a:prstGeom prst="chevron">
          <a:avLst/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noProof="0" dirty="0"/>
            <a:t>Elucidação do código genético</a:t>
          </a:r>
        </a:p>
      </dsp:txBody>
      <dsp:txXfrm>
        <a:off x="3819834" y="1598451"/>
        <a:ext cx="1145307" cy="763537"/>
      </dsp:txXfrm>
    </dsp:sp>
    <dsp:sp modelId="{47A47808-D542-574B-8CB4-6D5110C30EC6}">
      <dsp:nvSpPr>
        <dsp:cNvPr id="0" name=""/>
        <dsp:cNvSpPr/>
      </dsp:nvSpPr>
      <dsp:spPr>
        <a:xfrm>
          <a:off x="5156025" y="1598451"/>
          <a:ext cx="1908844" cy="763537"/>
        </a:xfrm>
        <a:prstGeom prst="chevron">
          <a:avLst/>
        </a:prstGeom>
        <a:gradFill rotWithShape="0">
          <a:gsLst>
            <a:gs pos="0">
              <a:schemeClr val="accent3">
                <a:hueOff val="8437698"/>
                <a:satOff val="-12660"/>
                <a:lumOff val="-2059"/>
                <a:alphaOff val="0"/>
                <a:shade val="51000"/>
                <a:satMod val="130000"/>
              </a:schemeClr>
            </a:gs>
            <a:gs pos="80000">
              <a:schemeClr val="accent3">
                <a:hueOff val="8437698"/>
                <a:satOff val="-12660"/>
                <a:lumOff val="-2059"/>
                <a:alphaOff val="0"/>
                <a:shade val="93000"/>
                <a:satMod val="130000"/>
              </a:schemeClr>
            </a:gs>
            <a:gs pos="100000">
              <a:schemeClr val="accent3">
                <a:hueOff val="8437698"/>
                <a:satOff val="-12660"/>
                <a:lumOff val="-20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noProof="0" dirty="0"/>
            <a:t>Isolamento da </a:t>
          </a:r>
          <a:r>
            <a:rPr lang="pt-BR" sz="1200" kern="1200" noProof="0" dirty="0" err="1"/>
            <a:t>Taq</a:t>
          </a:r>
          <a:r>
            <a:rPr lang="pt-BR" sz="1200" kern="1200" noProof="0" dirty="0"/>
            <a:t> polimerase</a:t>
          </a:r>
        </a:p>
      </dsp:txBody>
      <dsp:txXfrm>
        <a:off x="5537794" y="1598451"/>
        <a:ext cx="1145307" cy="763537"/>
      </dsp:txXfrm>
    </dsp:sp>
    <dsp:sp modelId="{E4AD0754-929A-C043-8D33-FF6C22DA0440}">
      <dsp:nvSpPr>
        <dsp:cNvPr id="0" name=""/>
        <dsp:cNvSpPr/>
      </dsp:nvSpPr>
      <dsp:spPr>
        <a:xfrm>
          <a:off x="6873986" y="1598451"/>
          <a:ext cx="1908844" cy="763537"/>
        </a:xfrm>
        <a:prstGeom prst="chevron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Sequenciamento</a:t>
          </a:r>
          <a:r>
            <a:rPr lang="en-US" sz="1200" kern="1200" dirty="0"/>
            <a:t> de DNA</a:t>
          </a:r>
        </a:p>
      </dsp:txBody>
      <dsp:txXfrm>
        <a:off x="7255755" y="1598451"/>
        <a:ext cx="1145307" cy="76353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CFF43B-F2FB-C54F-9201-1C268762C6DD}">
      <dsp:nvSpPr>
        <dsp:cNvPr id="0" name=""/>
        <dsp:cNvSpPr/>
      </dsp:nvSpPr>
      <dsp:spPr>
        <a:xfrm>
          <a:off x="5357" y="1391443"/>
          <a:ext cx="3202781" cy="128111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Invenção</a:t>
          </a:r>
          <a:r>
            <a:rPr lang="en-US" sz="2800" kern="1200" dirty="0"/>
            <a:t> da PCR</a:t>
          </a:r>
        </a:p>
      </dsp:txBody>
      <dsp:txXfrm>
        <a:off x="645913" y="1391443"/>
        <a:ext cx="1921669" cy="1281112"/>
      </dsp:txXfrm>
    </dsp:sp>
    <dsp:sp modelId="{9E5066D0-40BC-2C44-9722-19AB4996DB11}">
      <dsp:nvSpPr>
        <dsp:cNvPr id="0" name=""/>
        <dsp:cNvSpPr/>
      </dsp:nvSpPr>
      <dsp:spPr>
        <a:xfrm>
          <a:off x="2887860" y="1391443"/>
          <a:ext cx="3202781" cy="1281112"/>
        </a:xfrm>
        <a:prstGeom prst="chevron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Adição</a:t>
          </a:r>
          <a:r>
            <a:rPr lang="en-US" sz="2800" kern="1200" dirty="0"/>
            <a:t> da </a:t>
          </a:r>
          <a:r>
            <a:rPr lang="en-US" sz="2800" kern="1200" dirty="0" err="1"/>
            <a:t>Taq</a:t>
          </a:r>
          <a:r>
            <a:rPr lang="en-US" sz="2800" kern="1200" dirty="0"/>
            <a:t> </a:t>
          </a:r>
          <a:r>
            <a:rPr lang="en-US" sz="2800" kern="1200" dirty="0" err="1"/>
            <a:t>Polimerase</a:t>
          </a:r>
          <a:endParaRPr lang="en-US" sz="2800" kern="1200" dirty="0"/>
        </a:p>
      </dsp:txBody>
      <dsp:txXfrm>
        <a:off x="3528416" y="1391443"/>
        <a:ext cx="1921669" cy="12811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EA81C-B764-4002-8778-E4F26E52EF56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D813F-9062-4F28-AB4C-5B019DADAE2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13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20</a:t>
            </a:fld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22</a:t>
            </a:fld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23</a:t>
            </a:fld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24</a:t>
            </a:fld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25</a:t>
            </a:fld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26</a:t>
            </a:fld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27</a:t>
            </a:fld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28</a:t>
            </a:fld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29</a:t>
            </a:fld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30</a:t>
            </a:fld>
            <a:endParaRPr 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31</a:t>
            </a:fld>
            <a:endParaRPr 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32</a:t>
            </a:fld>
            <a:endParaRPr lang="fr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37</a:t>
            </a:fld>
            <a:endParaRPr 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38</a:t>
            </a:fld>
            <a:endParaRPr 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39</a:t>
            </a:fld>
            <a:endParaRPr 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40</a:t>
            </a:fld>
            <a:endParaRPr 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41</a:t>
            </a:fld>
            <a:endParaRPr lang="fr-F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53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78EEC-A2C4-4DFF-BE47-A4E2002BB5C7}" type="datetimeFigureOut">
              <a:rPr lang="fr-FR" smtClean="0"/>
              <a:pPr/>
              <a:t>18/10/2026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12814-CF4C-4345-978C-16FE2A8DE39B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D9C6C-F8A8-4AF4-9A57-803E06E7AE8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18/10/2026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15128-8AE7-4C9F-BEFD-72129056AAED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27.jp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27.jp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27.jp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image" Target="../media/image27.jp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gi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12" Type="http://schemas.openxmlformats.org/officeDocument/2006/relationships/image" Target="../media/image48.jp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59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6.jpeg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0.png"/><Relationship Id="rId4" Type="http://schemas.openxmlformats.org/officeDocument/2006/relationships/hyperlink" Target="https://youtu.be/Uma54mKcR40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4.JPG"/><Relationship Id="rId4" Type="http://schemas.openxmlformats.org/officeDocument/2006/relationships/image" Target="../media/image52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5.jpg"/><Relationship Id="rId5" Type="http://schemas.openxmlformats.org/officeDocument/2006/relationships/image" Target="../media/image74.JPG"/><Relationship Id="rId4" Type="http://schemas.openxmlformats.org/officeDocument/2006/relationships/image" Target="../media/image52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6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7.jpg"/><Relationship Id="rId4" Type="http://schemas.openxmlformats.org/officeDocument/2006/relationships/image" Target="../media/image76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9.png"/><Relationship Id="rId4" Type="http://schemas.openxmlformats.org/officeDocument/2006/relationships/hyperlink" Target="https://www.youtube.com/watch?v=AhsIF-cmoQQ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2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5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genengnews.com/Media/images/Article/U_USERSRob06_15_10_June15PhotosSteinNextGenSequencingFotolia_13691276_M4318212825.jpg"/>
          <p:cNvPicPr>
            <a:picLocks noChangeAspect="1" noChangeArrowheads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auto">
          <a:xfrm>
            <a:off x="0" y="4607614"/>
            <a:ext cx="9144000" cy="6094194"/>
          </a:xfrm>
          <a:prstGeom prst="rect">
            <a:avLst/>
          </a:prstGeom>
        </p:spPr>
      </p:pic>
      <p:grpSp>
        <p:nvGrpSpPr>
          <p:cNvPr id="11" name="Groupe 10"/>
          <p:cNvGrpSpPr/>
          <p:nvPr/>
        </p:nvGrpSpPr>
        <p:grpSpPr>
          <a:xfrm>
            <a:off x="-36512" y="-73912"/>
            <a:ext cx="9199946" cy="2494800"/>
            <a:chOff x="-36512" y="-27385"/>
            <a:chExt cx="9199946" cy="2494800"/>
          </a:xfrm>
        </p:grpSpPr>
        <p:pic>
          <p:nvPicPr>
            <p:cNvPr id="3080" name="Picture 8" descr="http://graphics8.nytimes.com/images/2009/02/09/science/10tree-600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-36512" y="-27384"/>
              <a:ext cx="6830302" cy="2492896"/>
            </a:xfrm>
            <a:prstGeom prst="rect">
              <a:avLst/>
            </a:prstGeom>
            <a:noFill/>
          </p:spPr>
        </p:pic>
        <p:pic>
          <p:nvPicPr>
            <p:cNvPr id="9" name="Image 8" descr="phylogeography.jpe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93788" y="-27385"/>
              <a:ext cx="2369646" cy="2494800"/>
            </a:xfrm>
            <a:prstGeom prst="rect">
              <a:avLst/>
            </a:prstGeom>
          </p:spPr>
        </p:pic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C564B56C-E994-3548-8E91-EF7DCB6C51A3}"/>
              </a:ext>
            </a:extLst>
          </p:cNvPr>
          <p:cNvSpPr txBox="1">
            <a:spLocks/>
          </p:cNvSpPr>
          <p:nvPr/>
        </p:nvSpPr>
        <p:spPr>
          <a:xfrm>
            <a:off x="19434" y="2204864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/>
              <a:t>Filogenômica: Conceitos metodológicos e análises bioinformáticas</a:t>
            </a:r>
            <a:endParaRPr lang="fr-FR" sz="3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D9E9D01-221A-1E24-5C3F-3B51FF431A0F}"/>
              </a:ext>
            </a:extLst>
          </p:cNvPr>
          <p:cNvSpPr txBox="1">
            <a:spLocks/>
          </p:cNvSpPr>
          <p:nvPr/>
        </p:nvSpPr>
        <p:spPr>
          <a:xfrm>
            <a:off x="-36512" y="3356993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Carolina Siniscalchi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b="1" dirty="0">
                <a:latin typeface="Arial" pitchFamily="34" charset="0"/>
                <a:ea typeface="+mj-ea"/>
                <a:cs typeface="Arial" pitchFamily="34" charset="0"/>
              </a:rPr>
              <a:t>Outubro 2026</a:t>
            </a:r>
            <a:endParaRPr kumimoji="0" lang="fr-FR" sz="1600" b="1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8431"/>
            <a:ext cx="7524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600" b="1">
                <a:latin typeface="Arial" pitchFamily="34" charset="0"/>
                <a:cs typeface="Arial" pitchFamily="34" charset="0"/>
              </a:rPr>
              <a:t>Histórico das técnicas de sequenciamento de DNA </a:t>
            </a: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79512" y="2336570"/>
            <a:ext cx="7524328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pt-BR" sz="28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pt-BR" sz="28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pt-BR" sz="28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Natureza química do DNA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pt-BR" sz="28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Estrutura do DNA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pt-BR" sz="2800" noProof="0" dirty="0">
              <a:latin typeface="Arial" pitchFamily="34" charset="0"/>
              <a:cs typeface="Arial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Propriedades químicas do DNA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Sequenciamento de </a:t>
            </a:r>
            <a:r>
              <a:rPr lang="pt-BR" sz="2800" dirty="0" err="1">
                <a:latin typeface="Arial" pitchFamily="34" charset="0"/>
                <a:cs typeface="Arial" pitchFamily="34" charset="0"/>
              </a:rPr>
              <a:t>Maxam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-Gilbert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Introdução ao sequenciamento de nova geração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pt-BR" sz="28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pt-BR" sz="28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pt-BR" sz="2800" dirty="0"/>
          </a:p>
          <a:p>
            <a:pPr algn="ctr"/>
            <a:endParaRPr lang="pt-BR" sz="2800" dirty="0"/>
          </a:p>
          <a:p>
            <a:endParaRPr lang="fr-FR" sz="2800" dirty="0"/>
          </a:p>
          <a:p>
            <a:pPr algn="ctr">
              <a:spcBef>
                <a:spcPct val="0"/>
              </a:spcBef>
            </a:pPr>
            <a:endParaRPr lang="pt-BR" sz="2800" dirty="0"/>
          </a:p>
          <a:p>
            <a:pPr algn="ctr">
              <a:spcBef>
                <a:spcPct val="0"/>
              </a:spcBef>
            </a:pPr>
            <a:br>
              <a:rPr lang="pt-BR" sz="25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1" name="Image 10" descr="DNA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464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200">
                <a:latin typeface="Arial" pitchFamily="34" charset="0"/>
                <a:cs typeface="Arial" pitchFamily="34" charset="0"/>
              </a:rPr>
              <a:t>Natureza química do DNA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9503" y="1052736"/>
            <a:ext cx="6852857" cy="1812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1691680" y="3080987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>
                <a:latin typeface="Arial" pitchFamily="34" charset="0"/>
                <a:cs typeface="Arial" pitchFamily="34" charset="0"/>
              </a:rPr>
              <a:t>Purina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734276" y="3080987"/>
            <a:ext cx="1197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>
                <a:latin typeface="Arial" pitchFamily="34" charset="0"/>
                <a:cs typeface="Arial" pitchFamily="34" charset="0"/>
              </a:rPr>
              <a:t>Adenina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6109319" y="308098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>
                <a:latin typeface="Arial" pitchFamily="34" charset="0"/>
                <a:cs typeface="Arial" pitchFamily="34" charset="0"/>
              </a:rPr>
              <a:t>Guanina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517064" y="548680"/>
            <a:ext cx="2622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>
                <a:latin typeface="Arial" pitchFamily="34" charset="0"/>
                <a:cs typeface="Arial" pitchFamily="34" charset="0"/>
              </a:rPr>
              <a:t>Bases </a:t>
            </a:r>
            <a:r>
              <a:rPr lang="fr-FR" sz="2000" b="1" u="sng" dirty="0" err="1">
                <a:latin typeface="Arial" pitchFamily="34" charset="0"/>
                <a:cs typeface="Arial" pitchFamily="34" charset="0"/>
              </a:rPr>
              <a:t>nitrogenadas</a:t>
            </a:r>
            <a:endParaRPr lang="fr-FR" sz="2000" b="1" u="sng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8" name="Groupe 17"/>
          <p:cNvGrpSpPr/>
          <p:nvPr/>
        </p:nvGrpSpPr>
        <p:grpSpPr>
          <a:xfrm>
            <a:off x="1439652" y="3697121"/>
            <a:ext cx="6984776" cy="2416334"/>
            <a:chOff x="1115616" y="3645024"/>
            <a:chExt cx="6984776" cy="2416334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115616" y="3645024"/>
              <a:ext cx="6984776" cy="1969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7" name="Groupe 16"/>
            <p:cNvGrpSpPr/>
            <p:nvPr/>
          </p:nvGrpSpPr>
          <p:grpSpPr>
            <a:xfrm>
              <a:off x="1187624" y="5661248"/>
              <a:ext cx="6336704" cy="400110"/>
              <a:chOff x="1187624" y="5661248"/>
              <a:chExt cx="6336704" cy="400110"/>
            </a:xfrm>
          </p:grpSpPr>
          <p:sp>
            <p:nvSpPr>
              <p:cNvPr id="13" name="ZoneTexte 12"/>
              <p:cNvSpPr txBox="1"/>
              <p:nvPr/>
            </p:nvSpPr>
            <p:spPr>
              <a:xfrm>
                <a:off x="1187624" y="5661248"/>
                <a:ext cx="142218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b="1">
                    <a:latin typeface="Arial" pitchFamily="34" charset="0"/>
                    <a:cs typeface="Arial" pitchFamily="34" charset="0"/>
                  </a:rPr>
                  <a:t>Pirimidina</a:t>
                </a: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5661248"/>
                <a:ext cx="11961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b="1">
                    <a:latin typeface="Arial" pitchFamily="34" charset="0"/>
                    <a:cs typeface="Arial" pitchFamily="34" charset="0"/>
                  </a:rPr>
                  <a:t>Citosina</a:t>
                </a:r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4829077" y="5661248"/>
                <a:ext cx="10390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b="1">
                    <a:latin typeface="Arial" pitchFamily="34" charset="0"/>
                    <a:cs typeface="Arial" pitchFamily="34" charset="0"/>
                  </a:rPr>
                  <a:t>Uracila</a:t>
                </a:r>
              </a:p>
            </p:txBody>
          </p:sp>
          <p:sp>
            <p:nvSpPr>
              <p:cNvPr id="16" name="ZoneTexte 15"/>
              <p:cNvSpPr txBox="1"/>
              <p:nvPr/>
            </p:nvSpPr>
            <p:spPr>
              <a:xfrm>
                <a:off x="6518732" y="5661248"/>
                <a:ext cx="10055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b="1">
                    <a:latin typeface="Arial" pitchFamily="34" charset="0"/>
                    <a:cs typeface="Arial" pitchFamily="34" charset="0"/>
                  </a:rPr>
                  <a:t>Timina</a:t>
                </a: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DA1DBC9-8EE0-7244-BABA-F7A3E5323567}"/>
              </a:ext>
            </a:extLst>
          </p:cNvPr>
          <p:cNvSpPr/>
          <p:nvPr/>
        </p:nvSpPr>
        <p:spPr>
          <a:xfrm>
            <a:off x="971600" y="1052736"/>
            <a:ext cx="2340260" cy="2428361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DC7F0C-7337-664A-B11C-EAA30FFE8C1B}"/>
              </a:ext>
            </a:extLst>
          </p:cNvPr>
          <p:cNvSpPr/>
          <p:nvPr/>
        </p:nvSpPr>
        <p:spPr>
          <a:xfrm>
            <a:off x="1295636" y="3789040"/>
            <a:ext cx="1690930" cy="2428361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/>
          <p:cNvGrpSpPr/>
          <p:nvPr/>
        </p:nvGrpSpPr>
        <p:grpSpPr>
          <a:xfrm>
            <a:off x="2627784" y="908720"/>
            <a:ext cx="3888432" cy="2664296"/>
            <a:chOff x="2051720" y="1196752"/>
            <a:chExt cx="3888432" cy="266429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51720" y="1196752"/>
              <a:ext cx="3632423" cy="1927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ZoneTexte 16"/>
            <p:cNvSpPr txBox="1"/>
            <p:nvPr/>
          </p:nvSpPr>
          <p:spPr>
            <a:xfrm>
              <a:off x="2339752" y="3153162"/>
              <a:ext cx="104067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000" b="1">
                  <a:latin typeface="Arial" pitchFamily="34" charset="0"/>
                  <a:cs typeface="Arial" pitchFamily="34" charset="0"/>
                </a:rPr>
                <a:t>Ribose</a:t>
              </a:r>
            </a:p>
            <a:p>
              <a:pPr algn="ctr"/>
              <a:r>
                <a:rPr lang="fr-FR" sz="2000" b="1">
                  <a:latin typeface="Arial" pitchFamily="34" charset="0"/>
                  <a:cs typeface="Arial" pitchFamily="34" charset="0"/>
                </a:rPr>
                <a:t>(RNA)</a:t>
              </a:r>
            </a:p>
          </p:txBody>
        </p:sp>
        <p:sp>
          <p:nvSpPr>
            <p:cNvPr id="18" name="ZoneTexte 17"/>
            <p:cNvSpPr txBox="1"/>
            <p:nvPr/>
          </p:nvSpPr>
          <p:spPr>
            <a:xfrm>
              <a:off x="4045081" y="3153162"/>
              <a:ext cx="189507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000" b="1">
                  <a:latin typeface="Arial" pitchFamily="34" charset="0"/>
                  <a:cs typeface="Arial" pitchFamily="34" charset="0"/>
                </a:rPr>
                <a:t>Desoxirribose</a:t>
              </a:r>
            </a:p>
            <a:p>
              <a:pPr algn="ctr"/>
              <a:r>
                <a:rPr lang="fr-FR" sz="2000" b="1">
                  <a:latin typeface="Arial" pitchFamily="34" charset="0"/>
                  <a:cs typeface="Arial" pitchFamily="34" charset="0"/>
                </a:rPr>
                <a:t>(DNA)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0" y="0"/>
            <a:ext cx="3464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200">
                <a:latin typeface="Arial" pitchFamily="34" charset="0"/>
                <a:cs typeface="Arial" pitchFamily="34" charset="0"/>
              </a:rPr>
              <a:t>Natureza química do DNA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123728" y="548680"/>
            <a:ext cx="5533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u="sng" dirty="0" err="1">
                <a:latin typeface="Arial" pitchFamily="34" charset="0"/>
                <a:cs typeface="Arial" pitchFamily="34" charset="0"/>
              </a:rPr>
              <a:t>Nucleosídeos</a:t>
            </a:r>
            <a:r>
              <a:rPr lang="pt-BR" sz="2000" b="1" dirty="0">
                <a:latin typeface="Arial" pitchFamily="34" charset="0"/>
                <a:cs typeface="Arial" pitchFamily="34" charset="0"/>
              </a:rPr>
              <a:t> : base nitrogenada + 1 açúcar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2492896"/>
            <a:ext cx="2016224" cy="3506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ZoneTexte 21"/>
          <p:cNvSpPr txBox="1"/>
          <p:nvPr/>
        </p:nvSpPr>
        <p:spPr>
          <a:xfrm>
            <a:off x="698210" y="6105490"/>
            <a:ext cx="14975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b="1">
                <a:latin typeface="Arial" pitchFamily="34" charset="0"/>
                <a:cs typeface="Arial" pitchFamily="34" charset="0"/>
              </a:rPr>
              <a:t>Adenosina</a:t>
            </a:r>
          </a:p>
          <a:p>
            <a:pPr algn="ctr"/>
            <a:endParaRPr lang="fr-FR" sz="2000" b="1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44208" y="2276872"/>
            <a:ext cx="2376264" cy="3689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ZoneTexte 23"/>
          <p:cNvSpPr txBox="1"/>
          <p:nvPr/>
        </p:nvSpPr>
        <p:spPr>
          <a:xfrm>
            <a:off x="6134118" y="6093296"/>
            <a:ext cx="22910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b="1">
                <a:latin typeface="Arial" pitchFamily="34" charset="0"/>
                <a:cs typeface="Arial" pitchFamily="34" charset="0"/>
              </a:rPr>
              <a:t>2-desoxi-timidina</a:t>
            </a:r>
          </a:p>
          <a:p>
            <a:pPr algn="ctr"/>
            <a:endParaRPr lang="fr-FR" sz="2000" b="1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464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200">
                <a:latin typeface="Arial" pitchFamily="34" charset="0"/>
                <a:cs typeface="Arial" pitchFamily="34" charset="0"/>
              </a:rPr>
              <a:t>Natureza química do DNA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971600" y="548680"/>
            <a:ext cx="77460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u="sng" dirty="0">
                <a:latin typeface="Arial" pitchFamily="34" charset="0"/>
                <a:cs typeface="Arial" pitchFamily="34" charset="0"/>
              </a:rPr>
              <a:t>Nucleotídeos</a:t>
            </a:r>
            <a:r>
              <a:rPr lang="pt-BR" sz="2000" b="1" dirty="0">
                <a:latin typeface="Arial" pitchFamily="34" charset="0"/>
                <a:cs typeface="Arial" pitchFamily="34" charset="0"/>
              </a:rPr>
              <a:t> : base nitrogenada + 1 açúcar + 1 ácido fosfórico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2267744" y="5417929"/>
            <a:ext cx="38750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b="1" dirty="0" err="1">
                <a:latin typeface="Arial" pitchFamily="34" charset="0"/>
                <a:cs typeface="Arial" pitchFamily="34" charset="0"/>
              </a:rPr>
              <a:t>Trifosfato</a:t>
            </a:r>
            <a:r>
              <a:rPr lang="fr-FR" sz="2000" b="1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000" b="1" dirty="0" err="1">
                <a:latin typeface="Arial" pitchFamily="34" charset="0"/>
                <a:cs typeface="Arial" pitchFamily="34" charset="0"/>
              </a:rPr>
              <a:t>desoxiadenosina</a:t>
            </a:r>
            <a:endParaRPr lang="fr-FR" sz="20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20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20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07904" y="1124744"/>
            <a:ext cx="4120480" cy="3948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878762"/>
            <a:ext cx="3410868" cy="2918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464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200">
                <a:latin typeface="Arial" pitchFamily="34" charset="0"/>
                <a:cs typeface="Arial" pitchFamily="34" charset="0"/>
              </a:rPr>
              <a:t>Natureza química do DNA</a:t>
            </a:r>
          </a:p>
        </p:txBody>
      </p:sp>
      <p:grpSp>
        <p:nvGrpSpPr>
          <p:cNvPr id="12" name="Groupe 11"/>
          <p:cNvGrpSpPr/>
          <p:nvPr/>
        </p:nvGrpSpPr>
        <p:grpSpPr>
          <a:xfrm>
            <a:off x="145538" y="772506"/>
            <a:ext cx="4498470" cy="6085494"/>
            <a:chOff x="-36512" y="772506"/>
            <a:chExt cx="4498470" cy="6085494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-1" y="772506"/>
              <a:ext cx="4461959" cy="60854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ZoneTexte 6"/>
            <p:cNvSpPr txBox="1"/>
            <p:nvPr/>
          </p:nvSpPr>
          <p:spPr>
            <a:xfrm>
              <a:off x="-36512" y="4500409"/>
              <a:ext cx="187220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Ligação </a:t>
              </a:r>
            </a:p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fosfodiéster</a:t>
              </a:r>
            </a:p>
          </p:txBody>
        </p:sp>
        <p:sp>
          <p:nvSpPr>
            <p:cNvPr id="8" name="ZoneTexte 7"/>
            <p:cNvSpPr txBox="1"/>
            <p:nvPr/>
          </p:nvSpPr>
          <p:spPr>
            <a:xfrm>
              <a:off x="-36512" y="1412776"/>
              <a:ext cx="115212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5’ Fosfato</a:t>
              </a:r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755576" y="6519446"/>
              <a:ext cx="144016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3’ Hidroxila</a:t>
              </a:r>
            </a:p>
          </p:txBody>
        </p:sp>
      </p:grp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1988840"/>
            <a:ext cx="2874044" cy="2699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0"/>
          <p:cNvSpPr txBox="1"/>
          <p:nvPr/>
        </p:nvSpPr>
        <p:spPr>
          <a:xfrm>
            <a:off x="1756402" y="508610"/>
            <a:ext cx="5767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u="sng" dirty="0">
                <a:latin typeface="Arial" pitchFamily="34" charset="0"/>
                <a:cs typeface="Arial" pitchFamily="34" charset="0"/>
              </a:rPr>
              <a:t>Ácidos nucléicos</a:t>
            </a:r>
            <a:r>
              <a:rPr lang="pt-BR" sz="2000" b="1" dirty="0">
                <a:latin typeface="Arial" pitchFamily="34" charset="0"/>
                <a:cs typeface="Arial" pitchFamily="34" charset="0"/>
              </a:rPr>
              <a:t> : polímeros de nucleotídeos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3968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200">
                <a:latin typeface="Arial" pitchFamily="34" charset="0"/>
                <a:cs typeface="Arial" pitchFamily="34" charset="0"/>
              </a:rPr>
              <a:t>Estrutura do DNA</a:t>
            </a:r>
          </a:p>
        </p:txBody>
      </p:sp>
      <p:pic>
        <p:nvPicPr>
          <p:cNvPr id="6146" name="Picture 2" descr="http://31.media.tumblr.com/tumblr_lezdme4Wmw1qbm5fzo1_4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0250" y="-387424"/>
            <a:ext cx="3333750" cy="3333750"/>
          </a:xfrm>
          <a:prstGeom prst="rect">
            <a:avLst/>
          </a:prstGeom>
          <a:noFill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1022296">
            <a:off x="2474804" y="2934199"/>
            <a:ext cx="817245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2935" y="764704"/>
            <a:ext cx="2464849" cy="2102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2555778" y="620688"/>
            <a:ext cx="3148618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James Watson (1928-)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e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Francis Crick (1916-2004)</a:t>
            </a:r>
          </a:p>
          <a:p>
            <a:pPr marL="457200" lvl="0" indent="-457200" algn="ctr">
              <a:spcBef>
                <a:spcPct val="0"/>
              </a:spcBef>
              <a:defRPr/>
            </a:pP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Prêmio Nobel 1962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com Maurice Wilkins</a:t>
            </a:r>
          </a:p>
          <a:p>
            <a:pPr marL="457200" lvl="0" indent="-457200" algn="ctr">
              <a:spcBef>
                <a:spcPct val="0"/>
              </a:spcBef>
              <a:defRPr/>
            </a:pP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dirty="0" err="1">
                <a:latin typeface="Arial" pitchFamily="34" charset="0"/>
                <a:cs typeface="Arial" pitchFamily="34" charset="0"/>
              </a:rPr>
              <a:t>Rosalind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Franklin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5747" y="3068960"/>
            <a:ext cx="1419225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368" y="2315857"/>
            <a:ext cx="2049388" cy="26290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3968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200">
                <a:latin typeface="Arial" pitchFamily="34" charset="0"/>
                <a:cs typeface="Arial" pitchFamily="34" charset="0"/>
              </a:rPr>
              <a:t>Estrutura do DNA</a:t>
            </a: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1748095"/>
            <a:ext cx="5414913" cy="4633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8"/>
          <p:cNvSpPr txBox="1"/>
          <p:nvPr/>
        </p:nvSpPr>
        <p:spPr>
          <a:xfrm>
            <a:off x="3563888" y="836712"/>
            <a:ext cx="187220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latin typeface="Arial" pitchFamily="34" charset="0"/>
                <a:cs typeface="Arial" pitchFamily="34" charset="0"/>
              </a:rPr>
              <a:t>Ligação </a:t>
            </a:r>
          </a:p>
          <a:p>
            <a:pPr algn="ctr"/>
            <a:r>
              <a:rPr lang="fr-FR" sz="1600" b="1" dirty="0">
                <a:latin typeface="Arial" pitchFamily="34" charset="0"/>
                <a:cs typeface="Arial" pitchFamily="34" charset="0"/>
              </a:rPr>
              <a:t>de hidrogênio</a:t>
            </a:r>
          </a:p>
        </p:txBody>
      </p:sp>
      <p:cxnSp>
        <p:nvCxnSpPr>
          <p:cNvPr id="11" name="Connecteur droit 10"/>
          <p:cNvCxnSpPr/>
          <p:nvPr/>
        </p:nvCxnSpPr>
        <p:spPr>
          <a:xfrm>
            <a:off x="4499992" y="1556792"/>
            <a:ext cx="0" cy="86409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7717" y="188703"/>
            <a:ext cx="7720707" cy="6653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23968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200">
                <a:latin typeface="Arial" pitchFamily="34" charset="0"/>
                <a:cs typeface="Arial" pitchFamily="34" charset="0"/>
              </a:rPr>
              <a:t>Estrutura do DNA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283968" y="3645024"/>
            <a:ext cx="13681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Sulco maior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139952" y="4653136"/>
            <a:ext cx="15121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Sulco menor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4999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Propriedades químicas do DNA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" name="Groupe 9"/>
          <p:cNvGrpSpPr/>
          <p:nvPr/>
        </p:nvGrpSpPr>
        <p:grpSpPr>
          <a:xfrm>
            <a:off x="145777" y="692696"/>
            <a:ext cx="4426223" cy="4124031"/>
            <a:chOff x="0" y="-99392"/>
            <a:chExt cx="4426223" cy="4124031"/>
          </a:xfrm>
        </p:grpSpPr>
        <p:pic>
          <p:nvPicPr>
            <p:cNvPr id="7373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-99392"/>
              <a:ext cx="4426223" cy="41240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ZoneTexte 8"/>
            <p:cNvSpPr txBox="1"/>
            <p:nvPr/>
          </p:nvSpPr>
          <p:spPr>
            <a:xfrm>
              <a:off x="1259631" y="1650286"/>
              <a:ext cx="172643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 err="1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Desnaturação</a:t>
              </a:r>
              <a:endParaRPr lang="fr-FR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6056" y="116632"/>
            <a:ext cx="3954016" cy="2599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04890" y="2708920"/>
            <a:ext cx="3982332" cy="414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27237" y="5457418"/>
            <a:ext cx="50208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Desnaturação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depende da </a:t>
            </a:r>
            <a:r>
              <a:rPr lang="pt-BR" sz="2000" b="1" dirty="0">
                <a:latin typeface="Arial" pitchFamily="34" charset="0"/>
                <a:cs typeface="Arial" pitchFamily="34" charset="0"/>
              </a:rPr>
              <a:t>temperatura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e da </a:t>
            </a:r>
            <a:r>
              <a:rPr lang="pt-BR" sz="2000" b="1" dirty="0">
                <a:latin typeface="Arial" pitchFamily="34" charset="0"/>
                <a:cs typeface="Arial" pitchFamily="34" charset="0"/>
              </a:rPr>
              <a:t>proporção em GC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60770" name="Picture 2" descr="http://promega.files.wordpress.com/2012/05/hir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2258616"/>
            <a:ext cx="9144000" cy="9144000"/>
          </a:xfrm>
          <a:prstGeom prst="rect">
            <a:avLst/>
          </a:prstGeom>
          <a:noFill/>
        </p:spPr>
      </p:pic>
      <p:sp useBgFill="1">
        <p:nvSpPr>
          <p:cNvPr id="6" name="Titre 1"/>
          <p:cNvSpPr txBox="1">
            <a:spLocks/>
          </p:cNvSpPr>
          <p:nvPr/>
        </p:nvSpPr>
        <p:spPr>
          <a:xfrm>
            <a:off x="1223628" y="2636912"/>
            <a:ext cx="6696744" cy="935434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Sequenciamento de DNA</a:t>
            </a:r>
          </a:p>
        </p:txBody>
      </p:sp>
    </p:spTree>
    <p:extLst>
      <p:ext uri="{BB962C8B-B14F-4D97-AF65-F5344CB8AC3E}">
        <p14:creationId xmlns:p14="http://schemas.microsoft.com/office/powerpoint/2010/main" val="126100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04664"/>
            <a:ext cx="8964488" cy="5925486"/>
            <a:chOff x="0" y="404664"/>
            <a:chExt cx="8964488" cy="5925486"/>
          </a:xfrm>
        </p:grpSpPr>
        <p:graphicFrame>
          <p:nvGraphicFramePr>
            <p:cNvPr id="2" name="Diagram 1"/>
            <p:cNvGraphicFramePr/>
            <p:nvPr>
              <p:extLst>
                <p:ext uri="{D42A27DB-BD31-4B8C-83A1-F6EECF244321}">
                  <p14:modId xmlns:p14="http://schemas.microsoft.com/office/powerpoint/2010/main" val="805357009"/>
                </p:ext>
              </p:extLst>
            </p:nvPr>
          </p:nvGraphicFramePr>
          <p:xfrm>
            <a:off x="0" y="404664"/>
            <a:ext cx="8964488" cy="489654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18" name="Group 17"/>
            <p:cNvGrpSpPr/>
            <p:nvPr/>
          </p:nvGrpSpPr>
          <p:grpSpPr>
            <a:xfrm>
              <a:off x="580442" y="1988840"/>
              <a:ext cx="1399270" cy="2581033"/>
              <a:chOff x="179512" y="2564904"/>
              <a:chExt cx="1399270" cy="2581033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539552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1953</a:t>
                </a:r>
              </a:p>
            </p:txBody>
          </p:sp>
          <p:pic>
            <p:nvPicPr>
              <p:cNvPr id="4" name="Picture 4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179512" y="3952442"/>
                <a:ext cx="1399270" cy="11934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5" name="Group 14"/>
            <p:cNvGrpSpPr/>
            <p:nvPr/>
          </p:nvGrpSpPr>
          <p:grpSpPr>
            <a:xfrm>
              <a:off x="7005024" y="1988840"/>
              <a:ext cx="1455408" cy="3806082"/>
              <a:chOff x="5364088" y="2564904"/>
              <a:chExt cx="1455408" cy="3806082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05" t="4475" r="3193" b="4475"/>
              <a:stretch/>
            </p:blipFill>
            <p:spPr>
              <a:xfrm>
                <a:off x="5364088" y="3952442"/>
                <a:ext cx="1455408" cy="1953250"/>
              </a:xfrm>
              <a:prstGeom prst="rect">
                <a:avLst/>
              </a:prstGeom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5659744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1976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64088" y="6001654"/>
                <a:ext cx="14544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Arial" charset="0"/>
                    <a:ea typeface="Arial" charset="0"/>
                    <a:cs typeface="Arial" charset="0"/>
                  </a:rPr>
                  <a:t>Alice </a:t>
                </a:r>
                <a:r>
                  <a:rPr lang="pt-BR" dirty="0" err="1">
                    <a:latin typeface="Arial" charset="0"/>
                    <a:ea typeface="Arial" charset="0"/>
                    <a:cs typeface="Arial" charset="0"/>
                  </a:rPr>
                  <a:t>Chien</a:t>
                </a:r>
                <a:endParaRPr lang="pt-BR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2513152" y="1988840"/>
              <a:ext cx="1554792" cy="4305502"/>
              <a:chOff x="1846490" y="2564904"/>
              <a:chExt cx="1554792" cy="4305502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2293726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1957</a:t>
                </a:r>
              </a:p>
            </p:txBody>
          </p:sp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46490" y="4056218"/>
                <a:ext cx="1554792" cy="1945436"/>
              </a:xfrm>
              <a:prstGeom prst="rect">
                <a:avLst/>
              </a:prstGeom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1846490" y="6008632"/>
                <a:ext cx="155479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Arthur Kornberg</a:t>
                </a:r>
              </a:p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Nobel 1959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400" y="1960929"/>
              <a:ext cx="1554792" cy="4369221"/>
              <a:chOff x="3605289" y="2536993"/>
              <a:chExt cx="1554792" cy="4369221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3923928" y="2536993"/>
                <a:ext cx="9561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~1960</a:t>
                </a:r>
                <a:endParaRPr lang="en-US" sz="2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14990" y="3996822"/>
                <a:ext cx="1461066" cy="2056450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3605289" y="6075217"/>
                <a:ext cx="155479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Har Gobind Khorana</a:t>
                </a:r>
              </a:p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Nobel 1968</a:t>
                </a:r>
              </a:p>
            </p:txBody>
          </p:sp>
        </p:grpSp>
      </p:grpSp>
      <p:sp>
        <p:nvSpPr>
          <p:cNvPr id="19" name="Rectangle 18"/>
          <p:cNvSpPr/>
          <p:nvPr/>
        </p:nvSpPr>
        <p:spPr>
          <a:xfrm>
            <a:off x="0" y="0"/>
            <a:ext cx="2308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Linha do tempo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08645" y="1772816"/>
            <a:ext cx="6655843" cy="4680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99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04664"/>
            <a:ext cx="8964488" cy="5925486"/>
            <a:chOff x="0" y="404664"/>
            <a:chExt cx="8964488" cy="5925486"/>
          </a:xfrm>
        </p:grpSpPr>
        <p:graphicFrame>
          <p:nvGraphicFramePr>
            <p:cNvPr id="2" name="Diagram 1"/>
            <p:cNvGraphicFramePr/>
            <p:nvPr/>
          </p:nvGraphicFramePr>
          <p:xfrm>
            <a:off x="0" y="404664"/>
            <a:ext cx="8964488" cy="489654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18" name="Group 17"/>
            <p:cNvGrpSpPr/>
            <p:nvPr/>
          </p:nvGrpSpPr>
          <p:grpSpPr>
            <a:xfrm>
              <a:off x="580442" y="1988840"/>
              <a:ext cx="1399270" cy="2581033"/>
              <a:chOff x="179512" y="2564904"/>
              <a:chExt cx="1399270" cy="2581033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539552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1953</a:t>
                </a:r>
              </a:p>
            </p:txBody>
          </p:sp>
          <p:pic>
            <p:nvPicPr>
              <p:cNvPr id="4" name="Picture 4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179512" y="3952442"/>
                <a:ext cx="1399270" cy="11934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5" name="Group 14"/>
            <p:cNvGrpSpPr/>
            <p:nvPr/>
          </p:nvGrpSpPr>
          <p:grpSpPr>
            <a:xfrm>
              <a:off x="7005024" y="1988840"/>
              <a:ext cx="1455408" cy="3806082"/>
              <a:chOff x="5364088" y="2564904"/>
              <a:chExt cx="1455408" cy="3806082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05" t="4475" r="3193" b="4475"/>
              <a:stretch/>
            </p:blipFill>
            <p:spPr>
              <a:xfrm>
                <a:off x="5364088" y="3952442"/>
                <a:ext cx="1455408" cy="1953250"/>
              </a:xfrm>
              <a:prstGeom prst="rect">
                <a:avLst/>
              </a:prstGeom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5659744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1976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64088" y="6001654"/>
                <a:ext cx="14544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Arial" charset="0"/>
                    <a:ea typeface="Arial" charset="0"/>
                    <a:cs typeface="Arial" charset="0"/>
                  </a:rPr>
                  <a:t>Alice </a:t>
                </a:r>
                <a:r>
                  <a:rPr lang="pt-BR" dirty="0" err="1">
                    <a:latin typeface="Arial" charset="0"/>
                    <a:ea typeface="Arial" charset="0"/>
                    <a:cs typeface="Arial" charset="0"/>
                  </a:rPr>
                  <a:t>Chien</a:t>
                </a:r>
                <a:endParaRPr lang="pt-BR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2513152" y="1988840"/>
              <a:ext cx="1554792" cy="4305502"/>
              <a:chOff x="1846490" y="2564904"/>
              <a:chExt cx="1554792" cy="4305502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2293726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1957</a:t>
                </a:r>
              </a:p>
            </p:txBody>
          </p:sp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46490" y="4056218"/>
                <a:ext cx="1554792" cy="1945436"/>
              </a:xfrm>
              <a:prstGeom prst="rect">
                <a:avLst/>
              </a:prstGeom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1846490" y="6008632"/>
                <a:ext cx="155479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Arthur Kornberg</a:t>
                </a:r>
              </a:p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Nobel 1959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400" y="1960929"/>
              <a:ext cx="1554792" cy="4369221"/>
              <a:chOff x="3605289" y="2536993"/>
              <a:chExt cx="1554792" cy="4369221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3923928" y="2536993"/>
                <a:ext cx="9561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~1960</a:t>
                </a:r>
                <a:endParaRPr lang="en-US" sz="2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14990" y="3996822"/>
                <a:ext cx="1461066" cy="2056450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3605289" y="6075217"/>
                <a:ext cx="155479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Har Gobind Khorana</a:t>
                </a:r>
              </a:p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Nobel 1968</a:t>
                </a:r>
              </a:p>
            </p:txBody>
          </p:sp>
        </p:grpSp>
      </p:grpSp>
      <p:sp>
        <p:nvSpPr>
          <p:cNvPr id="19" name="Rectangle 18"/>
          <p:cNvSpPr/>
          <p:nvPr/>
        </p:nvSpPr>
        <p:spPr>
          <a:xfrm>
            <a:off x="0" y="0"/>
            <a:ext cx="2308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Linha do tempo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01384" y="1412776"/>
            <a:ext cx="4363104" cy="5040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17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04664"/>
            <a:ext cx="8964488" cy="5925486"/>
            <a:chOff x="0" y="404664"/>
            <a:chExt cx="8964488" cy="5925486"/>
          </a:xfrm>
        </p:grpSpPr>
        <p:graphicFrame>
          <p:nvGraphicFramePr>
            <p:cNvPr id="2" name="Diagram 1"/>
            <p:cNvGraphicFramePr/>
            <p:nvPr/>
          </p:nvGraphicFramePr>
          <p:xfrm>
            <a:off x="0" y="404664"/>
            <a:ext cx="8964488" cy="489654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18" name="Group 17"/>
            <p:cNvGrpSpPr/>
            <p:nvPr/>
          </p:nvGrpSpPr>
          <p:grpSpPr>
            <a:xfrm>
              <a:off x="580442" y="1988840"/>
              <a:ext cx="1399270" cy="2581033"/>
              <a:chOff x="179512" y="2564904"/>
              <a:chExt cx="1399270" cy="2581033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539552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1953</a:t>
                </a:r>
              </a:p>
            </p:txBody>
          </p:sp>
          <p:pic>
            <p:nvPicPr>
              <p:cNvPr id="4" name="Picture 4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179512" y="3952442"/>
                <a:ext cx="1399270" cy="11934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5" name="Group 14"/>
            <p:cNvGrpSpPr/>
            <p:nvPr/>
          </p:nvGrpSpPr>
          <p:grpSpPr>
            <a:xfrm>
              <a:off x="7005024" y="1988840"/>
              <a:ext cx="1455408" cy="3806082"/>
              <a:chOff x="5364088" y="2564904"/>
              <a:chExt cx="1455408" cy="3806082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05" t="4475" r="3193" b="4475"/>
              <a:stretch/>
            </p:blipFill>
            <p:spPr>
              <a:xfrm>
                <a:off x="5364088" y="3952442"/>
                <a:ext cx="1455408" cy="1953250"/>
              </a:xfrm>
              <a:prstGeom prst="rect">
                <a:avLst/>
              </a:prstGeom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5659744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1976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64088" y="6001654"/>
                <a:ext cx="14544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Arial" charset="0"/>
                    <a:ea typeface="Arial" charset="0"/>
                    <a:cs typeface="Arial" charset="0"/>
                  </a:rPr>
                  <a:t>Alice </a:t>
                </a:r>
                <a:r>
                  <a:rPr lang="pt-BR" dirty="0" err="1">
                    <a:latin typeface="Arial" charset="0"/>
                    <a:ea typeface="Arial" charset="0"/>
                    <a:cs typeface="Arial" charset="0"/>
                  </a:rPr>
                  <a:t>Chien</a:t>
                </a:r>
                <a:endParaRPr lang="pt-BR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2513152" y="1988840"/>
              <a:ext cx="1554792" cy="4305502"/>
              <a:chOff x="1846490" y="2564904"/>
              <a:chExt cx="1554792" cy="4305502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2293726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1957</a:t>
                </a:r>
              </a:p>
            </p:txBody>
          </p:sp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46490" y="4056218"/>
                <a:ext cx="1554792" cy="1945436"/>
              </a:xfrm>
              <a:prstGeom prst="rect">
                <a:avLst/>
              </a:prstGeom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1846490" y="6008632"/>
                <a:ext cx="155479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Arthur Kornberg</a:t>
                </a:r>
              </a:p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Nobel 1959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400" y="1960929"/>
              <a:ext cx="1554792" cy="4369221"/>
              <a:chOff x="3605289" y="2536993"/>
              <a:chExt cx="1554792" cy="4369221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3923928" y="2536993"/>
                <a:ext cx="9561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~1960</a:t>
                </a:r>
                <a:endParaRPr lang="en-US" sz="2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14990" y="3996822"/>
                <a:ext cx="1461066" cy="2056450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3605289" y="6075217"/>
                <a:ext cx="155479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Har Gobind Khorana</a:t>
                </a:r>
              </a:p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Nobel 1968</a:t>
                </a:r>
              </a:p>
            </p:txBody>
          </p:sp>
        </p:grpSp>
      </p:grpSp>
      <p:sp>
        <p:nvSpPr>
          <p:cNvPr id="19" name="Rectangle 18"/>
          <p:cNvSpPr/>
          <p:nvPr/>
        </p:nvSpPr>
        <p:spPr>
          <a:xfrm>
            <a:off x="0" y="0"/>
            <a:ext cx="2308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Linha do tempo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903324" y="1412776"/>
            <a:ext cx="2061164" cy="5040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65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04664"/>
            <a:ext cx="8964488" cy="5925486"/>
            <a:chOff x="0" y="404664"/>
            <a:chExt cx="8964488" cy="5925486"/>
          </a:xfrm>
        </p:grpSpPr>
        <p:graphicFrame>
          <p:nvGraphicFramePr>
            <p:cNvPr id="2" name="Diagram 1"/>
            <p:cNvGraphicFramePr/>
            <p:nvPr/>
          </p:nvGraphicFramePr>
          <p:xfrm>
            <a:off x="0" y="404664"/>
            <a:ext cx="8964488" cy="489654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18" name="Group 17"/>
            <p:cNvGrpSpPr/>
            <p:nvPr/>
          </p:nvGrpSpPr>
          <p:grpSpPr>
            <a:xfrm>
              <a:off x="580442" y="1988840"/>
              <a:ext cx="1399270" cy="2581033"/>
              <a:chOff x="179512" y="2564904"/>
              <a:chExt cx="1399270" cy="2581033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539552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1953</a:t>
                </a:r>
              </a:p>
            </p:txBody>
          </p:sp>
          <p:pic>
            <p:nvPicPr>
              <p:cNvPr id="4" name="Picture 4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179512" y="3952442"/>
                <a:ext cx="1399270" cy="11934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5" name="Group 14"/>
            <p:cNvGrpSpPr/>
            <p:nvPr/>
          </p:nvGrpSpPr>
          <p:grpSpPr>
            <a:xfrm>
              <a:off x="7005024" y="1988840"/>
              <a:ext cx="1455408" cy="3806082"/>
              <a:chOff x="5364088" y="2564904"/>
              <a:chExt cx="1455408" cy="3806082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05" t="4475" r="3193" b="4475"/>
              <a:stretch/>
            </p:blipFill>
            <p:spPr>
              <a:xfrm>
                <a:off x="5364088" y="3952442"/>
                <a:ext cx="1455408" cy="1953250"/>
              </a:xfrm>
              <a:prstGeom prst="rect">
                <a:avLst/>
              </a:prstGeom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5659744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1976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64088" y="6001654"/>
                <a:ext cx="14544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Arial" charset="0"/>
                    <a:ea typeface="Arial" charset="0"/>
                    <a:cs typeface="Arial" charset="0"/>
                  </a:rPr>
                  <a:t>Alice </a:t>
                </a:r>
                <a:r>
                  <a:rPr lang="pt-BR" dirty="0" err="1">
                    <a:latin typeface="Arial" charset="0"/>
                    <a:ea typeface="Arial" charset="0"/>
                    <a:cs typeface="Arial" charset="0"/>
                  </a:rPr>
                  <a:t>Chien</a:t>
                </a:r>
                <a:endParaRPr lang="pt-BR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2513152" y="1988840"/>
              <a:ext cx="1554792" cy="4305502"/>
              <a:chOff x="1846490" y="2564904"/>
              <a:chExt cx="1554792" cy="4305502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2293726" y="2564904"/>
                <a:ext cx="8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1957</a:t>
                </a:r>
              </a:p>
            </p:txBody>
          </p:sp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46490" y="4056218"/>
                <a:ext cx="1554792" cy="1945436"/>
              </a:xfrm>
              <a:prstGeom prst="rect">
                <a:avLst/>
              </a:prstGeom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1846490" y="6008632"/>
                <a:ext cx="155479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Arthur Kornberg</a:t>
                </a:r>
              </a:p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Nobel 1959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400" y="1960929"/>
              <a:ext cx="1554792" cy="4369221"/>
              <a:chOff x="3605289" y="2536993"/>
              <a:chExt cx="1554792" cy="4369221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3923928" y="2536993"/>
                <a:ext cx="9561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~1960</a:t>
                </a:r>
                <a:endParaRPr lang="en-US" sz="2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14990" y="3996822"/>
                <a:ext cx="1461066" cy="2056450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3605289" y="6075217"/>
                <a:ext cx="155479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Har Gobind Khorana</a:t>
                </a:r>
              </a:p>
              <a:p>
                <a:pPr algn="ctr"/>
                <a:r>
                  <a:rPr lang="pt-BR" sz="1600" dirty="0">
                    <a:latin typeface="Arial" charset="0"/>
                    <a:ea typeface="Arial" charset="0"/>
                    <a:cs typeface="Arial" charset="0"/>
                  </a:rPr>
                  <a:t>Nobel 1968</a:t>
                </a:r>
              </a:p>
            </p:txBody>
          </p:sp>
        </p:grpSp>
      </p:grpSp>
      <p:sp>
        <p:nvSpPr>
          <p:cNvPr id="19" name="Rectangle 18"/>
          <p:cNvSpPr/>
          <p:nvPr/>
        </p:nvSpPr>
        <p:spPr>
          <a:xfrm>
            <a:off x="0" y="0"/>
            <a:ext cx="2308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Linha do tempo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510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179512" y="1484784"/>
            <a:ext cx="5976664" cy="3672408"/>
            <a:chOff x="0" y="-819472"/>
            <a:chExt cx="7300680" cy="3888432"/>
          </a:xfrm>
        </p:grpSpPr>
        <p:graphicFrame>
          <p:nvGraphicFramePr>
            <p:cNvPr id="3" name="Diagram 2"/>
            <p:cNvGraphicFramePr/>
            <p:nvPr>
              <p:extLst>
                <p:ext uri="{D42A27DB-BD31-4B8C-83A1-F6EECF244321}">
                  <p14:modId xmlns:p14="http://schemas.microsoft.com/office/powerpoint/2010/main" val="99314083"/>
                </p:ext>
              </p:extLst>
            </p:nvPr>
          </p:nvGraphicFramePr>
          <p:xfrm>
            <a:off x="0" y="-819472"/>
            <a:ext cx="7300680" cy="388843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0" name="TextBox 19"/>
            <p:cNvSpPr txBox="1"/>
            <p:nvPr/>
          </p:nvSpPr>
          <p:spPr>
            <a:xfrm>
              <a:off x="539551" y="331767"/>
              <a:ext cx="978056" cy="432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charset="0"/>
                  <a:ea typeface="Arial" charset="0"/>
                  <a:cs typeface="Arial" charset="0"/>
                </a:rPr>
                <a:t>1953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6135" y="331766"/>
              <a:ext cx="992174" cy="432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charset="0"/>
                  <a:ea typeface="Arial" charset="0"/>
                  <a:cs typeface="Arial" charset="0"/>
                </a:rPr>
                <a:t>1976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339751" y="331767"/>
              <a:ext cx="943726" cy="432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charset="0"/>
                  <a:ea typeface="Arial" charset="0"/>
                  <a:cs typeface="Arial" charset="0"/>
                </a:rPr>
                <a:t>1957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23927" y="331766"/>
              <a:ext cx="1231759" cy="432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Arial" charset="0"/>
                  <a:ea typeface="Arial" charset="0"/>
                  <a:cs typeface="Arial" charset="0"/>
                </a:rPr>
                <a:t>~1960</a:t>
              </a:r>
              <a:endParaRPr lang="en-US" sz="20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064804" y="2107379"/>
            <a:ext cx="2890921" cy="2427217"/>
            <a:chOff x="5929551" y="-376897"/>
            <a:chExt cx="3195464" cy="2715249"/>
          </a:xfrm>
        </p:grpSpPr>
        <p:graphicFrame>
          <p:nvGraphicFramePr>
            <p:cNvPr id="26" name="Diagram 25"/>
            <p:cNvGraphicFramePr/>
            <p:nvPr>
              <p:extLst>
                <p:ext uri="{D42A27DB-BD31-4B8C-83A1-F6EECF244321}">
                  <p14:modId xmlns:p14="http://schemas.microsoft.com/office/powerpoint/2010/main" val="998136631"/>
                </p:ext>
              </p:extLst>
            </p:nvPr>
          </p:nvGraphicFramePr>
          <p:xfrm>
            <a:off x="5929551" y="-376897"/>
            <a:ext cx="3195464" cy="271524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27" name="TextBox 26"/>
            <p:cNvSpPr txBox="1"/>
            <p:nvPr/>
          </p:nvSpPr>
          <p:spPr>
            <a:xfrm>
              <a:off x="6588224" y="0"/>
              <a:ext cx="18107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charset="0"/>
                  <a:ea typeface="Arial" charset="0"/>
                  <a:cs typeface="Arial" charset="0"/>
                </a:rPr>
                <a:t>1975 – 1977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9082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107504" y="-819472"/>
            <a:ext cx="6156176" cy="3600400"/>
            <a:chOff x="0" y="-819472"/>
            <a:chExt cx="7300680" cy="3888432"/>
          </a:xfrm>
        </p:grpSpPr>
        <p:graphicFrame>
          <p:nvGraphicFramePr>
            <p:cNvPr id="3" name="Diagram 2"/>
            <p:cNvGraphicFramePr/>
            <p:nvPr/>
          </p:nvGraphicFramePr>
          <p:xfrm>
            <a:off x="0" y="-819472"/>
            <a:ext cx="7300680" cy="388843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0" name="TextBox 19"/>
            <p:cNvSpPr txBox="1"/>
            <p:nvPr/>
          </p:nvSpPr>
          <p:spPr>
            <a:xfrm>
              <a:off x="539551" y="331767"/>
              <a:ext cx="978056" cy="432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charset="0"/>
                  <a:ea typeface="Arial" charset="0"/>
                  <a:cs typeface="Arial" charset="0"/>
                </a:rPr>
                <a:t>1953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6135" y="331766"/>
              <a:ext cx="992174" cy="432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charset="0"/>
                  <a:ea typeface="Arial" charset="0"/>
                  <a:cs typeface="Arial" charset="0"/>
                </a:rPr>
                <a:t>1976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339751" y="331767"/>
              <a:ext cx="943726" cy="432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charset="0"/>
                  <a:ea typeface="Arial" charset="0"/>
                  <a:cs typeface="Arial" charset="0"/>
                </a:rPr>
                <a:t>1957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23927" y="331766"/>
              <a:ext cx="1231759" cy="432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Arial" charset="0"/>
                  <a:ea typeface="Arial" charset="0"/>
                  <a:cs typeface="Arial" charset="0"/>
                </a:rPr>
                <a:t>~1960</a:t>
              </a:r>
              <a:endParaRPr lang="en-US" sz="20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929551" y="-366369"/>
            <a:ext cx="3195464" cy="2715249"/>
            <a:chOff x="5929551" y="-376897"/>
            <a:chExt cx="3195464" cy="2715249"/>
          </a:xfrm>
        </p:grpSpPr>
        <p:graphicFrame>
          <p:nvGraphicFramePr>
            <p:cNvPr id="26" name="Diagram 25"/>
            <p:cNvGraphicFramePr/>
            <p:nvPr/>
          </p:nvGraphicFramePr>
          <p:xfrm>
            <a:off x="5929551" y="-376897"/>
            <a:ext cx="3195464" cy="271524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27" name="TextBox 26"/>
            <p:cNvSpPr txBox="1"/>
            <p:nvPr/>
          </p:nvSpPr>
          <p:spPr>
            <a:xfrm>
              <a:off x="6588224" y="0"/>
              <a:ext cx="18107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Arial" charset="0"/>
                  <a:ea typeface="Arial" charset="0"/>
                  <a:cs typeface="Arial" charset="0"/>
                </a:rPr>
                <a:t>1975 – 1977</a:t>
              </a:r>
              <a:endParaRPr lang="en-US" sz="20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360859" y="3157826"/>
            <a:ext cx="2748858" cy="10156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dirty="0" err="1">
                <a:latin typeface="Arial" charset="0"/>
                <a:ea typeface="Arial" charset="0"/>
                <a:cs typeface="Arial" charset="0"/>
              </a:rPr>
              <a:t>Maxam</a:t>
            </a:r>
            <a:r>
              <a:rPr lang="pt-BR" sz="2000" dirty="0">
                <a:latin typeface="Arial" charset="0"/>
                <a:ea typeface="Arial" charset="0"/>
                <a:cs typeface="Arial" charset="0"/>
              </a:rPr>
              <a:t> &amp; Gilbert 1977</a:t>
            </a:r>
          </a:p>
          <a:p>
            <a:pPr algn="ctr"/>
            <a:endParaRPr lang="pt-BR" sz="2000" dirty="0"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pt-BR" sz="2000" dirty="0">
                <a:latin typeface="Arial" charset="0"/>
                <a:ea typeface="Arial" charset="0"/>
                <a:cs typeface="Arial" charset="0"/>
              </a:rPr>
              <a:t>Clivagem química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9251" y="3157825"/>
            <a:ext cx="2748858" cy="10156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Arial" charset="0"/>
                <a:ea typeface="Arial" charset="0"/>
                <a:cs typeface="Arial" charset="0"/>
              </a:rPr>
              <a:t>Sanger 1977*</a:t>
            </a:r>
          </a:p>
          <a:p>
            <a:pPr algn="ctr"/>
            <a:endParaRPr lang="pt-BR" sz="2000" dirty="0"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pt-BR" sz="2000" dirty="0" err="1">
                <a:latin typeface="Arial" charset="0"/>
                <a:ea typeface="Arial" charset="0"/>
                <a:cs typeface="Arial" charset="0"/>
              </a:rPr>
              <a:t>Didesoxinucleotídeos</a:t>
            </a:r>
            <a:endParaRPr lang="pt-BR" sz="2000" dirty="0"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2699792" y="1700808"/>
            <a:ext cx="4176464" cy="129614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6263680" y="1712560"/>
            <a:ext cx="756592" cy="1389417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4782" y="4666778"/>
            <a:ext cx="2925888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latin typeface="Arial" charset="0"/>
                <a:ea typeface="Arial" charset="0"/>
                <a:cs typeface="Arial" charset="0"/>
              </a:rPr>
              <a:t>Mais usado inicialmente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6890" y="6309320"/>
            <a:ext cx="5802413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Arial" charset="0"/>
                <a:ea typeface="Arial" charset="0"/>
                <a:cs typeface="Arial" charset="0"/>
              </a:rPr>
              <a:t>Sanger 1977* – 4º artigo mais citado da história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2208" y="5461193"/>
            <a:ext cx="2925888" cy="4001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Arial" charset="0"/>
                <a:ea typeface="Arial" charset="0"/>
                <a:cs typeface="Arial" charset="0"/>
              </a:rPr>
              <a:t>Nobel 1980</a:t>
            </a:r>
            <a:endParaRPr lang="en-US" sz="20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124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030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Maxam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-Gilbert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 descr="http://2.bp.blogspot.com/_DZH2cmCoois/ST_bcKcMnfI/AAAAAAAAIgk/H022GTuJ3e0/s400/Nobel_Laureate_1980_Gilbert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-243408"/>
            <a:ext cx="2279426" cy="3672408"/>
          </a:xfrm>
          <a:prstGeom prst="rect">
            <a:avLst/>
          </a:prstGeom>
          <a:noFill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76672"/>
            <a:ext cx="5328592" cy="2639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47944" y="3382888"/>
            <a:ext cx="2296056" cy="347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0" y="4077072"/>
            <a:ext cx="651621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 b="1" dirty="0">
                <a:latin typeface="Arial" pitchFamily="34" charset="0"/>
                <a:cs typeface="Arial" pitchFamily="34" charset="0"/>
              </a:rPr>
              <a:t>Método de clivagem química</a:t>
            </a:r>
          </a:p>
          <a:p>
            <a:pPr marL="457200" lvl="0" indent="-457200" algn="ctr">
              <a:spcBef>
                <a:spcPct val="0"/>
              </a:spcBef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indent="-457200" algn="ctr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Marcação radioativa do DNA e posterior tratamento com substâncias químicas que cortam a molécula de DNA em nucleotídeos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172696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1137697"/>
            <a:ext cx="8918867" cy="56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5030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Maxam-Gilbert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771800" y="766445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Adição grupo fosfato radioativo em 3’</a:t>
            </a:r>
          </a:p>
        </p:txBody>
      </p:sp>
    </p:spTree>
    <p:extLst>
      <p:ext uri="{BB962C8B-B14F-4D97-AF65-F5344CB8AC3E}">
        <p14:creationId xmlns:p14="http://schemas.microsoft.com/office/powerpoint/2010/main" val="3609332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030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Maxam-Gilbert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" name="Groupe 9"/>
          <p:cNvGrpSpPr/>
          <p:nvPr/>
        </p:nvGrpSpPr>
        <p:grpSpPr>
          <a:xfrm>
            <a:off x="1907704" y="648636"/>
            <a:ext cx="5378562" cy="5804700"/>
            <a:chOff x="0" y="432612"/>
            <a:chExt cx="5378562" cy="5804700"/>
          </a:xfrm>
        </p:grpSpPr>
        <p:pic>
          <p:nvPicPr>
            <p:cNvPr id="15872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1488231"/>
              <a:ext cx="5378562" cy="4749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8724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83568" y="432612"/>
              <a:ext cx="2058739" cy="980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835583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030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Maxam-Gilbert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607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908720"/>
            <a:ext cx="8733971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12876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4030" y="836712"/>
            <a:ext cx="8354434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5030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Maxam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-Gilbert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923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030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Maxam-Gilbert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63842" name="Picture 2" descr="File:Maxam-Gilbert sequencing en.sv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6512" y="333315"/>
            <a:ext cx="4824536" cy="6624077"/>
          </a:xfrm>
          <a:prstGeom prst="rect">
            <a:avLst/>
          </a:prstGeom>
          <a:noFill/>
        </p:spPr>
      </p:pic>
      <p:pic>
        <p:nvPicPr>
          <p:cNvPr id="163844" name="Picture 4" descr="http://www.nationaldiagnostics.com/images/2_1_5b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0"/>
            <a:ext cx="2336752" cy="6940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63952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030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Maxam-Gilbert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92696"/>
            <a:ext cx="9144000" cy="6001643"/>
          </a:xfrm>
          <a:prstGeom prst="rect">
            <a:avLst/>
          </a:prstGeom>
          <a:ln w="63500"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Publicado dois anos depois o artigo de Sanger &amp; </a:t>
            </a:r>
            <a:r>
              <a:rPr lang="pt-BR" sz="2400" dirty="0" err="1">
                <a:latin typeface="Arial" pitchFamily="34" charset="0"/>
                <a:cs typeface="Arial" pitchFamily="34" charset="0"/>
                <a:sym typeface="Wingdings"/>
              </a:rPr>
              <a:t>Coulson</a:t>
            </a:r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 (1975)</a:t>
            </a:r>
          </a:p>
          <a:p>
            <a:pPr>
              <a:buNone/>
            </a:pPr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mas foi mais usado inicialmente porque amostra é uma DNA de fita dupla (sem necessidade de clonar) </a:t>
            </a:r>
          </a:p>
          <a:p>
            <a:pPr>
              <a:buNone/>
            </a:pPr>
            <a:endParaRPr lang="pt-BR" sz="2400" dirty="0">
              <a:latin typeface="Arial" pitchFamily="34" charset="0"/>
              <a:cs typeface="Arial" pitchFamily="34" charset="0"/>
              <a:sym typeface="Wingdings"/>
            </a:endParaRPr>
          </a:p>
          <a:p>
            <a:pPr>
              <a:buNone/>
            </a:pPr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Não foi mais usado para sequenciamento de genoma a partir de 1982–1983:</a:t>
            </a:r>
          </a:p>
          <a:p>
            <a:pPr lvl="1">
              <a:buFontTx/>
              <a:buChar char="-"/>
            </a:pPr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complexidade técnica</a:t>
            </a:r>
          </a:p>
          <a:p>
            <a:pPr lvl="1">
              <a:buFontTx/>
              <a:buChar char="-"/>
            </a:pPr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uso extensivo de produtos químicos perigosos</a:t>
            </a:r>
          </a:p>
          <a:p>
            <a:pPr lvl="1">
              <a:buFontTx/>
              <a:buChar char="-"/>
            </a:pPr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dificuldades com aumento de escala </a:t>
            </a:r>
          </a:p>
          <a:p>
            <a:pPr lvl="1">
              <a:buFontTx/>
              <a:buChar char="-"/>
            </a:pPr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aperfeiçoamento do método de Sanger </a:t>
            </a:r>
          </a:p>
          <a:p>
            <a:pPr>
              <a:buFontTx/>
              <a:buChar char="-"/>
            </a:pPr>
            <a:endParaRPr lang="pt-BR" sz="2400" dirty="0">
              <a:latin typeface="Arial" pitchFamily="34" charset="0"/>
              <a:cs typeface="Arial" pitchFamily="34" charset="0"/>
              <a:sym typeface="Wingdings"/>
            </a:endParaRPr>
          </a:p>
          <a:p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Ainda usado para:</a:t>
            </a:r>
          </a:p>
          <a:p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	-caracterização de </a:t>
            </a:r>
            <a:r>
              <a:rPr lang="pt-BR" sz="2400" dirty="0" err="1">
                <a:latin typeface="Arial" pitchFamily="34" charset="0"/>
                <a:cs typeface="Arial" pitchFamily="34" charset="0"/>
                <a:sym typeface="Wingdings"/>
              </a:rPr>
              <a:t>oligonucleotídeos</a:t>
            </a:r>
            <a:endParaRPr lang="pt-BR" sz="2400" dirty="0">
              <a:latin typeface="Arial" pitchFamily="34" charset="0"/>
              <a:cs typeface="Arial" pitchFamily="34" charset="0"/>
              <a:sym typeface="Wingdings"/>
            </a:endParaRPr>
          </a:p>
          <a:p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	-sequenciamento de estruturas ricas em GC</a:t>
            </a:r>
          </a:p>
          <a:p>
            <a:endParaRPr lang="pt-BR" sz="2400" dirty="0">
              <a:latin typeface="Arial" pitchFamily="34" charset="0"/>
              <a:cs typeface="Arial" pitchFamily="34" charset="0"/>
              <a:sym typeface="Wingdings"/>
            </a:endParaRPr>
          </a:p>
          <a:p>
            <a:r>
              <a:rPr lang="pt-BR" sz="2400" dirty="0">
                <a:latin typeface="Arial" pitchFamily="34" charset="0"/>
                <a:cs typeface="Arial" pitchFamily="34" charset="0"/>
                <a:sym typeface="Wingdings"/>
              </a:rPr>
              <a:t>Versão automatizada em 1994 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28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5778" name="Picture 2" descr="http://webapps.fundp.ac.be/umdb/wiki-bioscope/images/a/ac/Sanger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5087" y="620688"/>
            <a:ext cx="1943469" cy="1872208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-36512" y="2780928"/>
            <a:ext cx="3746667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Frederick Sanger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(1918-2013)</a:t>
            </a:r>
            <a:br>
              <a:rPr lang="pt-BR" sz="2000" dirty="0">
                <a:latin typeface="Arial" pitchFamily="34" charset="0"/>
                <a:cs typeface="Arial" pitchFamily="34" charset="0"/>
              </a:rPr>
            </a:b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2 Prêmios Nobel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(1958, e 1980 </a:t>
            </a:r>
            <a:r>
              <a:rPr lang="pt-BR" sz="2000" dirty="0" err="1">
                <a:latin typeface="Arial" pitchFamily="34" charset="0"/>
                <a:cs typeface="Arial" pitchFamily="34" charset="0"/>
              </a:rPr>
              <a:t>c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/ Walter Gilbert)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23928" y="476672"/>
            <a:ext cx="5040559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Método baseado na interrupção controlada da replicação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do DNA </a:t>
            </a:r>
            <a:r>
              <a:rPr lang="pt-BR" sz="2500" i="1" dirty="0">
                <a:latin typeface="Arial" pitchFamily="34" charset="0"/>
                <a:cs typeface="Arial" pitchFamily="34" charset="0"/>
              </a:rPr>
              <a:t>in vitro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via incorporação rara e aleatória de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didesoxinucleotídeos</a:t>
            </a:r>
            <a:endParaRPr lang="pt-BR" sz="25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67944" y="2504542"/>
            <a:ext cx="4120480" cy="3948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3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6701" y="4535580"/>
            <a:ext cx="2160240" cy="2322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45719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5778" name="Picture 2" descr="http://webapps.fundp.ac.be/umdb/wiki-bioscope/images/a/ac/Sanger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5087" y="620688"/>
            <a:ext cx="1943469" cy="1872208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-36512" y="2780928"/>
            <a:ext cx="3746667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 b="1">
                <a:latin typeface="Arial" pitchFamily="34" charset="0"/>
                <a:cs typeface="Arial" pitchFamily="34" charset="0"/>
              </a:rPr>
              <a:t>Frederick Sanger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>
                <a:latin typeface="Arial" pitchFamily="34" charset="0"/>
                <a:cs typeface="Arial" pitchFamily="34" charset="0"/>
              </a:rPr>
              <a:t>(1918-2013)</a:t>
            </a:r>
            <a:br>
              <a:rPr lang="pt-BR" sz="2000">
                <a:latin typeface="Arial" pitchFamily="34" charset="0"/>
                <a:cs typeface="Arial" pitchFamily="34" charset="0"/>
              </a:rPr>
            </a:br>
            <a:endParaRPr lang="pt-BR" sz="2000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>
                <a:latin typeface="Arial" pitchFamily="34" charset="0"/>
                <a:cs typeface="Arial" pitchFamily="34" charset="0"/>
              </a:rPr>
              <a:t>2 Prêmios Nobel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>
                <a:latin typeface="Arial" pitchFamily="34" charset="0"/>
                <a:cs typeface="Arial" pitchFamily="34" charset="0"/>
              </a:rPr>
              <a:t>(1958, e 1980 c/ Walter Gilbert)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23928" y="476672"/>
            <a:ext cx="5040559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Método baseado na interrupção controlada da replicação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do DNA </a:t>
            </a:r>
            <a:r>
              <a:rPr lang="pt-BR" sz="2500" i="1" dirty="0">
                <a:latin typeface="Arial" pitchFamily="34" charset="0"/>
                <a:cs typeface="Arial" pitchFamily="34" charset="0"/>
              </a:rPr>
              <a:t>in vitro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via incorporação rara e aleatória de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didesoxinucleotídeos</a:t>
            </a:r>
            <a:endParaRPr lang="pt-BR" sz="25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67944" y="2504542"/>
            <a:ext cx="4120480" cy="3948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3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6701" y="4535580"/>
            <a:ext cx="2160240" cy="2322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Oval 1"/>
          <p:cNvSpPr/>
          <p:nvPr/>
        </p:nvSpPr>
        <p:spPr>
          <a:xfrm>
            <a:off x="6804248" y="6021288"/>
            <a:ext cx="720080" cy="648072"/>
          </a:xfrm>
          <a:prstGeom prst="ellipse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243132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32240" y="6165304"/>
            <a:ext cx="64807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9986" name="Picture 2" descr="http://upload.wikimedia.org/wikipedia/commons/1/1e/DNA_synthesis_E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426" y="946463"/>
            <a:ext cx="8569630" cy="5434865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021BA-9DDC-3743-88D8-56A56ADA1B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4337"/>
          <a:stretch/>
        </p:blipFill>
        <p:spPr>
          <a:xfrm>
            <a:off x="7699427" y="211585"/>
            <a:ext cx="1247753" cy="2006267"/>
          </a:xfrm>
          <a:prstGeom prst="rect">
            <a:avLst/>
          </a:prstGeom>
          <a:ln w="2222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320960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7364"/>
            <a:ext cx="9144000" cy="5095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F18C22A-4E37-6A4B-898A-83D91468801E}"/>
              </a:ext>
            </a:extLst>
          </p:cNvPr>
          <p:cNvSpPr/>
          <p:nvPr/>
        </p:nvSpPr>
        <p:spPr>
          <a:xfrm>
            <a:off x="2123728" y="2996952"/>
            <a:ext cx="1512168" cy="15121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F20DB6-607C-4641-8C10-0E76E960E9FB}"/>
              </a:ext>
            </a:extLst>
          </p:cNvPr>
          <p:cNvSpPr txBox="1"/>
          <p:nvPr/>
        </p:nvSpPr>
        <p:spPr>
          <a:xfrm>
            <a:off x="251520" y="5843206"/>
            <a:ext cx="2353665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Ligação </a:t>
            </a:r>
            <a:r>
              <a:rPr lang="pt-BR" dirty="0" err="1"/>
              <a:t>fosfodiéster</a:t>
            </a:r>
            <a:r>
              <a:rPr lang="pt-BR" dirty="0"/>
              <a:t> não ocorre entre O e 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21262-1660-8C45-AE75-958A081FD3DA}"/>
              </a:ext>
            </a:extLst>
          </p:cNvPr>
          <p:cNvSpPr txBox="1"/>
          <p:nvPr/>
        </p:nvSpPr>
        <p:spPr>
          <a:xfrm>
            <a:off x="6538815" y="5446965"/>
            <a:ext cx="2353665" cy="1200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A nova fita para de ser sintetizada onde o </a:t>
            </a:r>
            <a:r>
              <a:rPr lang="pt-BR" dirty="0" err="1">
                <a:latin typeface="Calibri" panose="020F0502020204030204" pitchFamily="34" charset="0"/>
                <a:cs typeface="Calibri" panose="020F0502020204030204" pitchFamily="34" charset="0"/>
              </a:rPr>
              <a:t>didesoxinucleotídeo</a:t>
            </a: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 foi incorporado </a:t>
            </a:r>
          </a:p>
        </p:txBody>
      </p:sp>
    </p:spTree>
    <p:extLst>
      <p:ext uri="{BB962C8B-B14F-4D97-AF65-F5344CB8AC3E}">
        <p14:creationId xmlns:p14="http://schemas.microsoft.com/office/powerpoint/2010/main" val="4217291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332656" y="476672"/>
            <a:ext cx="504055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>
                <a:latin typeface="Arial" pitchFamily="34" charset="0"/>
                <a:cs typeface="Arial" pitchFamily="34" charset="0"/>
              </a:rPr>
              <a:t>Método manual</a:t>
            </a:r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2044" y="1124744"/>
            <a:ext cx="63246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9632" y="3573016"/>
            <a:ext cx="6829425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5292080" y="1484784"/>
            <a:ext cx="3779912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>
                <a:latin typeface="Arial" pitchFamily="34" charset="0"/>
                <a:cs typeface="Arial" pitchFamily="34" charset="0"/>
              </a:rPr>
              <a:t>Replicação com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000">
                <a:latin typeface="Arial" pitchFamily="34" charset="0"/>
                <a:cs typeface="Arial" pitchFamily="34" charset="0"/>
              </a:rPr>
              <a:t>100 </a:t>
            </a:r>
            <a:r>
              <a:rPr lang="el-GR" sz="2000">
                <a:latin typeface="Arial" pitchFamily="34" charset="0"/>
                <a:cs typeface="Arial" pitchFamily="34" charset="0"/>
              </a:rPr>
              <a:t>μ</a:t>
            </a:r>
            <a:r>
              <a:rPr lang="fr-FR" sz="2000">
                <a:latin typeface="Arial" pitchFamily="34" charset="0"/>
                <a:cs typeface="Arial" pitchFamily="34" charset="0"/>
              </a:rPr>
              <a:t>M dTTP e 1 </a:t>
            </a:r>
            <a:r>
              <a:rPr lang="el-GR" sz="2000">
                <a:latin typeface="Arial" pitchFamily="34" charset="0"/>
                <a:cs typeface="Arial" pitchFamily="34" charset="0"/>
              </a:rPr>
              <a:t>μ</a:t>
            </a:r>
            <a:r>
              <a:rPr lang="fr-FR" sz="2000">
                <a:latin typeface="Arial" pitchFamily="34" charset="0"/>
                <a:cs typeface="Arial" pitchFamily="34" charset="0"/>
              </a:rPr>
              <a:t>M ddTTP</a:t>
            </a:r>
            <a:endParaRPr lang="pt-BR"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24136" y="1484784"/>
            <a:ext cx="3779912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fr-FR" sz="2000">
                <a:latin typeface="Arial" pitchFamily="34" charset="0"/>
                <a:cs typeface="Arial" pitchFamily="34" charset="0"/>
              </a:rPr>
              <a:t>Iniciador ou primer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fr-FR" sz="2000">
                <a:latin typeface="Arial" pitchFamily="34" charset="0"/>
                <a:cs typeface="Arial" pitchFamily="34" charset="0"/>
              </a:rPr>
              <a:t>(21 bases)</a:t>
            </a:r>
            <a:endParaRPr lang="pt-BR" sz="20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782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332656" y="476672"/>
            <a:ext cx="504055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>
                <a:latin typeface="Arial" pitchFamily="34" charset="0"/>
                <a:cs typeface="Arial" pitchFamily="34" charset="0"/>
              </a:rPr>
              <a:t>Método manual</a:t>
            </a:r>
          </a:p>
        </p:txBody>
      </p:sp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980728"/>
            <a:ext cx="5472608" cy="251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3053" y="4181475"/>
            <a:ext cx="47910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-612576" y="3790201"/>
            <a:ext cx="727280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100" dirty="0">
                <a:latin typeface="Arial" pitchFamily="34" charset="0"/>
                <a:cs typeface="Arial" pitchFamily="34" charset="0"/>
              </a:rPr>
              <a:t>Eletroforese e visualização via autorradiografia</a:t>
            </a:r>
          </a:p>
        </p:txBody>
      </p:sp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80312" y="693762"/>
            <a:ext cx="97155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43946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332656" y="476672"/>
            <a:ext cx="504055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>
                <a:latin typeface="Arial" pitchFamily="34" charset="0"/>
                <a:cs typeface="Arial" pitchFamily="34" charset="0"/>
              </a:rPr>
              <a:t>Método manual</a:t>
            </a:r>
          </a:p>
        </p:txBody>
      </p:sp>
      <p:pic>
        <p:nvPicPr>
          <p:cNvPr id="1740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1484784"/>
            <a:ext cx="6685461" cy="4013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28153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332656" y="476672"/>
            <a:ext cx="504055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>
                <a:latin typeface="Arial" pitchFamily="34" charset="0"/>
                <a:cs typeface="Arial" pitchFamily="34" charset="0"/>
              </a:rPr>
              <a:t>Método manual</a:t>
            </a:r>
          </a:p>
        </p:txBody>
      </p:sp>
      <p:pic>
        <p:nvPicPr>
          <p:cNvPr id="1740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1484784"/>
            <a:ext cx="6685461" cy="4013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0" y="2994918"/>
            <a:ext cx="9144000" cy="1508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Dois grandes avanços explicam o sucesso do método: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	- invenção da PCR (reação em cadeia da polimerase)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- adição de fluorescência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	- automatização da eletroforese e visualização </a:t>
            </a:r>
          </a:p>
        </p:txBody>
      </p:sp>
    </p:spTree>
    <p:extLst>
      <p:ext uri="{BB962C8B-B14F-4D97-AF65-F5344CB8AC3E}">
        <p14:creationId xmlns:p14="http://schemas.microsoft.com/office/powerpoint/2010/main" val="1549860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79512" y="-747464"/>
            <a:ext cx="8784976" cy="3960440"/>
            <a:chOff x="179512" y="1484784"/>
            <a:chExt cx="8784976" cy="3960440"/>
          </a:xfrm>
        </p:grpSpPr>
        <p:grpSp>
          <p:nvGrpSpPr>
            <p:cNvPr id="24" name="Group 23"/>
            <p:cNvGrpSpPr/>
            <p:nvPr/>
          </p:nvGrpSpPr>
          <p:grpSpPr>
            <a:xfrm>
              <a:off x="179512" y="1484784"/>
              <a:ext cx="8784976" cy="3960440"/>
              <a:chOff x="0" y="-819472"/>
              <a:chExt cx="7300680" cy="3888432"/>
            </a:xfrm>
          </p:grpSpPr>
          <p:graphicFrame>
            <p:nvGraphicFramePr>
              <p:cNvPr id="3" name="Diagram 2"/>
              <p:cNvGraphicFramePr/>
              <p:nvPr>
                <p:extLst>
                  <p:ext uri="{D42A27DB-BD31-4B8C-83A1-F6EECF244321}">
                    <p14:modId xmlns:p14="http://schemas.microsoft.com/office/powerpoint/2010/main" val="292303666"/>
                  </p:ext>
                </p:extLst>
              </p:nvPr>
            </p:nvGraphicFramePr>
            <p:xfrm>
              <a:off x="0" y="-819472"/>
              <a:ext cx="7300680" cy="388843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sp>
            <p:nvSpPr>
              <p:cNvPr id="20" name="TextBox 19"/>
              <p:cNvSpPr txBox="1"/>
              <p:nvPr/>
            </p:nvSpPr>
            <p:spPr>
              <a:xfrm>
                <a:off x="280795" y="331767"/>
                <a:ext cx="978056" cy="432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1953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4562925" y="331766"/>
                <a:ext cx="992174" cy="432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1976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825170" y="331767"/>
                <a:ext cx="943726" cy="432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charset="0"/>
                    <a:ea typeface="Arial" charset="0"/>
                    <a:cs typeface="Arial" charset="0"/>
                  </a:rPr>
                  <a:t>1957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050370" y="331766"/>
                <a:ext cx="1231759" cy="432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Arial" charset="0"/>
                    <a:ea typeface="Arial" charset="0"/>
                    <a:cs typeface="Arial" charset="0"/>
                  </a:rPr>
                  <a:t>~1960</a:t>
                </a:r>
                <a:endParaRPr lang="en-US" sz="20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7236296" y="2644072"/>
              <a:ext cx="12241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charset="0"/>
                  <a:ea typeface="Arial" charset="0"/>
                  <a:cs typeface="Arial" charset="0"/>
                </a:rPr>
                <a:t>1975-77</a:t>
              </a:r>
            </a:p>
          </p:txBody>
        </p:sp>
      </p:grp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45572324"/>
              </p:ext>
            </p:extLst>
          </p:nvPr>
        </p:nvGraphicFramePr>
        <p:xfrm>
          <a:off x="1694299" y="138083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764637" y="2386517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charset="0"/>
                <a:ea typeface="Arial" charset="0"/>
                <a:cs typeface="Arial" charset="0"/>
              </a:rPr>
              <a:t>1983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69442" y="4222555"/>
            <a:ext cx="1454486" cy="2662829"/>
            <a:chOff x="-1947218" y="3884816"/>
            <a:chExt cx="1454486" cy="2662829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80146" y="3884816"/>
              <a:ext cx="1120343" cy="1941631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-1947218" y="5901314"/>
              <a:ext cx="14544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Arial" charset="0"/>
                  <a:ea typeface="Arial" charset="0"/>
                  <a:cs typeface="Arial" charset="0"/>
                </a:rPr>
                <a:t>Kary Mullis</a:t>
              </a:r>
              <a:br>
                <a:rPr lang="pt-BR" dirty="0">
                  <a:latin typeface="Arial" charset="0"/>
                  <a:ea typeface="Arial" charset="0"/>
                  <a:cs typeface="Arial" charset="0"/>
                </a:rPr>
              </a:br>
              <a:r>
                <a:rPr lang="pt-BR" dirty="0">
                  <a:latin typeface="Arial" charset="0"/>
                  <a:ea typeface="Arial" charset="0"/>
                  <a:cs typeface="Arial" charset="0"/>
                </a:rPr>
                <a:t>Nobel 1993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660183" y="2386517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charset="0"/>
                <a:ea typeface="Arial" charset="0"/>
                <a:cs typeface="Arial" charset="0"/>
              </a:rPr>
              <a:t>1987</a:t>
            </a:r>
          </a:p>
        </p:txBody>
      </p:sp>
    </p:spTree>
    <p:extLst>
      <p:ext uri="{BB962C8B-B14F-4D97-AF65-F5344CB8AC3E}">
        <p14:creationId xmlns:p14="http://schemas.microsoft.com/office/powerpoint/2010/main" val="1047318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6089"/>
            <a:ext cx="684076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Reação em Cadeia </a:t>
            </a:r>
            <a:r>
              <a:rPr lang="pt-BR" sz="2500">
                <a:latin typeface="Arial" pitchFamily="34" charset="0"/>
                <a:cs typeface="Arial" pitchFamily="34" charset="0"/>
              </a:rPr>
              <a:t>da Polimerase – PCR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52736"/>
            <a:ext cx="7056784" cy="54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305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624"/>
            <a:ext cx="684076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Reação em Cadeia </a:t>
            </a:r>
            <a:r>
              <a:rPr lang="pt-BR" sz="2500">
                <a:latin typeface="Arial" pitchFamily="34" charset="0"/>
                <a:cs typeface="Arial" pitchFamily="34" charset="0"/>
              </a:rPr>
              <a:t>da Polimerase – PCR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620688"/>
            <a:ext cx="9055100" cy="2933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790165"/>
            <a:ext cx="4320480" cy="30613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/>
          <a:stretch/>
        </p:blipFill>
        <p:spPr>
          <a:xfrm>
            <a:off x="6156176" y="3678320"/>
            <a:ext cx="2592288" cy="31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29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624"/>
            <a:ext cx="684076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Reação em Cadeia </a:t>
            </a:r>
            <a:r>
              <a:rPr lang="pt-BR" sz="2500">
                <a:latin typeface="Arial" pitchFamily="34" charset="0"/>
                <a:cs typeface="Arial" pitchFamily="34" charset="0"/>
              </a:rPr>
              <a:t>da Polimerase – PCR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81"/>
          <a:stretch/>
        </p:blipFill>
        <p:spPr>
          <a:xfrm>
            <a:off x="1034747" y="2589584"/>
            <a:ext cx="7074506" cy="42033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1520" y="1124744"/>
            <a:ext cx="8568952" cy="861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lvl="0" indent="-12700" algn="ctr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Permite o sequenciamento de partes específicas do DNA, pelo uso de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primers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 (iniciadores)</a:t>
            </a:r>
          </a:p>
        </p:txBody>
      </p:sp>
    </p:spTree>
    <p:extLst>
      <p:ext uri="{BB962C8B-B14F-4D97-AF65-F5344CB8AC3E}">
        <p14:creationId xmlns:p14="http://schemas.microsoft.com/office/powerpoint/2010/main" val="6185791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900608" y="476672"/>
            <a:ext cx="504055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>
                <a:latin typeface="Arial" pitchFamily="34" charset="0"/>
                <a:cs typeface="Arial" pitchFamily="34" charset="0"/>
              </a:rPr>
              <a:t>Método automatizado</a:t>
            </a:r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1117830"/>
            <a:ext cx="3958693" cy="1591090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984" y="764704"/>
            <a:ext cx="4716016" cy="6087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995936" y="1268760"/>
            <a:ext cx="19442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100">
                <a:latin typeface="Arial" pitchFamily="34" charset="0"/>
                <a:cs typeface="Arial" pitchFamily="34" charset="0"/>
              </a:rPr>
              <a:t>Eletroforese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100">
                <a:latin typeface="Arial" pitchFamily="34" charset="0"/>
                <a:cs typeface="Arial" pitchFamily="34" charset="0"/>
              </a:rPr>
              <a:t>12 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32240" y="4365104"/>
            <a:ext cx="259228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100">
                <a:latin typeface="Arial" pitchFamily="34" charset="0"/>
                <a:cs typeface="Arial" pitchFamily="34" charset="0"/>
              </a:rPr>
              <a:t>Visualisação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sz="2100">
                <a:latin typeface="Arial" pitchFamily="34" charset="0"/>
                <a:cs typeface="Arial" pitchFamily="34" charset="0"/>
              </a:rPr>
              <a:t>via fluorescência</a:t>
            </a:r>
          </a:p>
        </p:txBody>
      </p:sp>
      <p:cxnSp>
        <p:nvCxnSpPr>
          <p:cNvPr id="13" name="Connecteur droit avec flèche 12"/>
          <p:cNvCxnSpPr/>
          <p:nvPr/>
        </p:nvCxnSpPr>
        <p:spPr>
          <a:xfrm>
            <a:off x="4283968" y="2060848"/>
            <a:ext cx="136815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7504" y="2782089"/>
            <a:ext cx="374441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100" dirty="0">
                <a:latin typeface="Arial" pitchFamily="34" charset="0"/>
                <a:cs typeface="Arial" pitchFamily="34" charset="0"/>
              </a:rPr>
              <a:t>4 reações no mesmo tubo</a:t>
            </a:r>
          </a:p>
        </p:txBody>
      </p:sp>
      <p:pic>
        <p:nvPicPr>
          <p:cNvPr id="79877" name="Picture 5" descr="http://patentimages.storage.googleapis.com/WO1994023064A1/imgf000038_000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1155" y="3789040"/>
            <a:ext cx="3917667" cy="2348880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-756592" y="6310481"/>
            <a:ext cx="554461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100" dirty="0" err="1">
                <a:latin typeface="Arial" pitchFamily="34" charset="0"/>
                <a:cs typeface="Arial" pitchFamily="34" charset="0"/>
              </a:rPr>
              <a:t>ddNTP</a:t>
            </a:r>
            <a:r>
              <a:rPr lang="pt-BR" sz="2100" dirty="0">
                <a:latin typeface="Arial" pitchFamily="34" charset="0"/>
                <a:cs typeface="Arial" pitchFamily="34" charset="0"/>
              </a:rPr>
              <a:t> com </a:t>
            </a:r>
            <a:r>
              <a:rPr lang="pt-BR" sz="2100" dirty="0" err="1">
                <a:latin typeface="Arial" pitchFamily="34" charset="0"/>
                <a:cs typeface="Arial" pitchFamily="34" charset="0"/>
              </a:rPr>
              <a:t>fluoróforo</a:t>
            </a:r>
            <a:endParaRPr lang="pt-BR" sz="2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 cstate="print"/>
          <a:srcRect l="47438" t="11839" r="34615" b="6740"/>
          <a:stretch>
            <a:fillRect/>
          </a:stretch>
        </p:blipFill>
        <p:spPr bwMode="auto">
          <a:xfrm>
            <a:off x="7740352" y="113684"/>
            <a:ext cx="1080120" cy="4107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30603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" name="Groupe 9"/>
          <p:cNvGrpSpPr/>
          <p:nvPr/>
        </p:nvGrpSpPr>
        <p:grpSpPr>
          <a:xfrm>
            <a:off x="0" y="1008112"/>
            <a:ext cx="4427984" cy="4653136"/>
            <a:chOff x="0" y="1124744"/>
            <a:chExt cx="4572000" cy="4752528"/>
          </a:xfrm>
        </p:grpSpPr>
        <p:pic>
          <p:nvPicPr>
            <p:cNvPr id="176130" name="Picture 2" descr="http://hshgp.genome.washington.edu/teacher_resources/Image92.gi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2132856"/>
              <a:ext cx="2783593" cy="3240360"/>
            </a:xfrm>
            <a:prstGeom prst="rect">
              <a:avLst/>
            </a:prstGeom>
            <a:noFill/>
          </p:spPr>
        </p:pic>
        <p:pic>
          <p:nvPicPr>
            <p:cNvPr id="176132" name="Picture 4" descr="http://www.sci.sdsu.edu/dnacore/images/Gel1.gi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987824" y="3861048"/>
              <a:ext cx="1415056" cy="2016224"/>
            </a:xfrm>
            <a:prstGeom prst="rect">
              <a:avLst/>
            </a:prstGeom>
            <a:noFill/>
          </p:spPr>
        </p:pic>
        <p:pic>
          <p:nvPicPr>
            <p:cNvPr id="176134" name="Picture 6" descr="http://genepath.med.harvard.edu/~cepko/lineage/fig3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43808" y="1124744"/>
              <a:ext cx="1728192" cy="2160240"/>
            </a:xfrm>
            <a:prstGeom prst="rect">
              <a:avLst/>
            </a:prstGeom>
            <a:noFill/>
          </p:spPr>
        </p:pic>
      </p:grpSp>
      <p:pic>
        <p:nvPicPr>
          <p:cNvPr id="176141" name="Picture 13" descr="http://mbcf.dfci.harvard.edu/images/dnaseq.jpe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16016" y="44624"/>
            <a:ext cx="4428491" cy="3672408"/>
          </a:xfrm>
          <a:prstGeom prst="rect">
            <a:avLst/>
          </a:prstGeom>
          <a:noFill/>
        </p:spPr>
      </p:pic>
      <p:pic>
        <p:nvPicPr>
          <p:cNvPr id="176143" name="Picture 15" descr="http://www.flmnh.ufl.edu/cowries/ABI377a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16016" y="3717031"/>
            <a:ext cx="4880270" cy="3142715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260206" y="6017515"/>
            <a:ext cx="374441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100" dirty="0">
                <a:latin typeface="Arial" pitchFamily="34" charset="0"/>
                <a:cs typeface="Arial" pitchFamily="34" charset="0"/>
              </a:rPr>
              <a:t>48 fragmentos em 5-6 horas</a:t>
            </a:r>
          </a:p>
        </p:txBody>
      </p:sp>
    </p:spTree>
    <p:extLst>
      <p:ext uri="{BB962C8B-B14F-4D97-AF65-F5344CB8AC3E}">
        <p14:creationId xmlns:p14="http://schemas.microsoft.com/office/powerpoint/2010/main" val="1392374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7613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92696"/>
            <a:ext cx="4774890" cy="3240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6136" name="Picture 8" descr="http://dnasequencing.files.wordpress.com/2007/10/ce_basic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836712"/>
            <a:ext cx="4103440" cy="2482233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3419872" y="421214"/>
            <a:ext cx="5724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100" b="1">
                <a:latin typeface="Arial" pitchFamily="34" charset="0"/>
                <a:cs typeface="Arial" pitchFamily="34" charset="0"/>
              </a:rPr>
              <a:t>Fim anos 1990: sequenciador de capilares</a:t>
            </a:r>
          </a:p>
        </p:txBody>
      </p:sp>
      <p:pic>
        <p:nvPicPr>
          <p:cNvPr id="181250" name="Picture 2" descr="http://www.genomenewsnetwork.org/gnn_images/whats_a_genome/capillary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536" y="4224666"/>
            <a:ext cx="3816424" cy="2633334"/>
          </a:xfrm>
          <a:prstGeom prst="rect">
            <a:avLst/>
          </a:prstGeom>
          <a:noFill/>
        </p:spPr>
      </p:pic>
      <p:pic>
        <p:nvPicPr>
          <p:cNvPr id="181252" name="Picture 4" descr="http://www.bio.davidson.edu/genomics/seq/tubescale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24536" y="3618402"/>
            <a:ext cx="4355976" cy="32669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2968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900608" y="476672"/>
            <a:ext cx="504055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>
                <a:latin typeface="Arial" pitchFamily="34" charset="0"/>
                <a:cs typeface="Arial" pitchFamily="34" charset="0"/>
              </a:rPr>
              <a:t>Método automatizado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396552" y="5013176"/>
            <a:ext cx="37444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Gel de poliacrilamida</a:t>
            </a:r>
          </a:p>
          <a:p>
            <a:pPr marL="457200" lvl="0" indent="-457200" algn="ctr">
              <a:spcBef>
                <a:spcPct val="0"/>
              </a:spcBef>
              <a:defRPr/>
            </a:pPr>
            <a:endParaRPr lang="pt-BR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Carregamento manual</a:t>
            </a:r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347" y="1052736"/>
            <a:ext cx="2736304" cy="3986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93508" y="1236140"/>
            <a:ext cx="3062668" cy="3272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1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56176" y="940102"/>
            <a:ext cx="2786634" cy="3641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2627784" y="5013176"/>
            <a:ext cx="37444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Eletroforese capilar</a:t>
            </a:r>
          </a:p>
          <a:p>
            <a:pPr marL="457200" lvl="0" indent="-457200" algn="ctr">
              <a:spcBef>
                <a:spcPct val="0"/>
              </a:spcBef>
              <a:defRPr/>
            </a:pPr>
            <a:endParaRPr lang="pt-BR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Carregamento robotizado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24128" y="5013176"/>
            <a:ext cx="37444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Eletroforese capilar</a:t>
            </a:r>
          </a:p>
          <a:p>
            <a:pPr marL="457200" lvl="0" indent="-457200" algn="ctr">
              <a:spcBef>
                <a:spcPct val="0"/>
              </a:spcBef>
              <a:defRPr/>
            </a:pPr>
            <a:endParaRPr lang="pt-BR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Carregamento robotizado</a:t>
            </a:r>
          </a:p>
          <a:p>
            <a:pPr marL="457200" lvl="0" indent="-457200" algn="ctr">
              <a:spcBef>
                <a:spcPct val="0"/>
              </a:spcBef>
              <a:defRPr/>
            </a:pPr>
            <a:endParaRPr lang="pt-BR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Nomeação de base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mais confiável</a:t>
            </a:r>
          </a:p>
        </p:txBody>
      </p:sp>
    </p:spTree>
    <p:extLst>
      <p:ext uri="{BB962C8B-B14F-4D97-AF65-F5344CB8AC3E}">
        <p14:creationId xmlns:p14="http://schemas.microsoft.com/office/powerpoint/2010/main" val="1387320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900608" y="476672"/>
            <a:ext cx="504055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Método automatizado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396552" y="5013176"/>
            <a:ext cx="37444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Gel de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poliacrilamida</a:t>
            </a:r>
            <a:endParaRPr lang="pt-BR" dirty="0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endParaRPr lang="pt-BR" dirty="0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Carregamento manual</a:t>
            </a:r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347" y="1052736"/>
            <a:ext cx="2736304" cy="3986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93508" y="1236140"/>
            <a:ext cx="3062668" cy="3272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1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56176" y="940102"/>
            <a:ext cx="2786634" cy="3641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2627784" y="5013176"/>
            <a:ext cx="37444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Eletroforese capilar</a:t>
            </a:r>
          </a:p>
          <a:p>
            <a:pPr marL="457200" lvl="0" indent="-457200" algn="ctr">
              <a:spcBef>
                <a:spcPct val="0"/>
              </a:spcBef>
              <a:defRPr/>
            </a:pPr>
            <a:endParaRPr lang="pt-BR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Carregamento robotizado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24128" y="5013176"/>
            <a:ext cx="37444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Eletroforese capilar</a:t>
            </a:r>
          </a:p>
          <a:p>
            <a:pPr marL="457200" lvl="0" indent="-457200" algn="ctr">
              <a:spcBef>
                <a:spcPct val="0"/>
              </a:spcBef>
              <a:defRPr/>
            </a:pPr>
            <a:endParaRPr lang="pt-BR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Carregamento robotizado</a:t>
            </a:r>
          </a:p>
          <a:p>
            <a:pPr marL="457200" lvl="0" indent="-457200" algn="ctr">
              <a:spcBef>
                <a:spcPct val="0"/>
              </a:spcBef>
              <a:defRPr/>
            </a:pPr>
            <a:endParaRPr lang="pt-BR">
              <a:latin typeface="Arial" pitchFamily="34" charset="0"/>
              <a:cs typeface="Arial" pitchFamily="34" charset="0"/>
            </a:endParaRP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Nomeação de base </a:t>
            </a:r>
          </a:p>
          <a:p>
            <a:pPr marL="457200" lvl="0" indent="-457200" algn="ctr">
              <a:spcBef>
                <a:spcPct val="0"/>
              </a:spcBef>
              <a:defRPr/>
            </a:pPr>
            <a:r>
              <a:rPr lang="pt-BR">
                <a:latin typeface="Arial" pitchFamily="34" charset="0"/>
                <a:cs typeface="Arial" pitchFamily="34" charset="0"/>
              </a:rPr>
              <a:t>mais confiável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2636912"/>
            <a:ext cx="9144000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Resultado: uma sequência de 300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pb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a 1000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pb</a:t>
            </a: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57200" indent="-457200" algn="ctr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Custo por base: US$0,005</a:t>
            </a:r>
          </a:p>
          <a:p>
            <a:pPr marL="457200" indent="-457200" algn="ctr">
              <a:spcBef>
                <a:spcPct val="0"/>
              </a:spcBef>
              <a:defRPr/>
            </a:pPr>
            <a:r>
              <a:rPr lang="en-US" sz="2300" dirty="0">
                <a:latin typeface="Arial" pitchFamily="34" charset="0"/>
                <a:cs typeface="Arial" pitchFamily="34" charset="0"/>
              </a:rPr>
              <a:t>500 mil bases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em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24 horas</a:t>
            </a:r>
            <a:endParaRPr lang="pt-BR" sz="23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886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Sequenciamento de Sanger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311" y="443896"/>
            <a:ext cx="504055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2500" b="1" dirty="0">
                <a:latin typeface="Arial" pitchFamily="34" charset="0"/>
                <a:cs typeface="Arial" pitchFamily="34" charset="0"/>
                <a:hlinkClick r:id="rId4"/>
              </a:rPr>
              <a:t>Revisão</a:t>
            </a:r>
            <a:endParaRPr lang="pt-BR" sz="25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Sequenciamento de Sanger - PPCC Biologia Molecular UFSC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8000" y="1143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169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Passo a passo: Como fazemos?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03848" y="1340768"/>
            <a:ext cx="315938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???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573016"/>
            <a:ext cx="38100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006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169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Passo a passo: Como fazemos?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0"/>
          <a:stretch/>
        </p:blipFill>
        <p:spPr>
          <a:xfrm>
            <a:off x="251520" y="1628800"/>
            <a:ext cx="1367332" cy="13681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4756" y="2996952"/>
            <a:ext cx="8640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1400">
                <a:latin typeface="Arial" pitchFamily="34" charset="0"/>
                <a:cs typeface="Arial" pitchFamily="34" charset="0"/>
              </a:rPr>
              <a:t>amostra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8277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1611305"/>
            <a:ext cx="1601671" cy="16016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6169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Passo a passo: Como fazemos?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0"/>
          <a:stretch/>
        </p:blipFill>
        <p:spPr>
          <a:xfrm>
            <a:off x="251520" y="1628800"/>
            <a:ext cx="1367332" cy="13681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4756" y="2996952"/>
            <a:ext cx="8640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1400">
                <a:latin typeface="Arial" pitchFamily="34" charset="0"/>
                <a:cs typeface="Arial" pitchFamily="34" charset="0"/>
              </a:rPr>
              <a:t>amostra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07704" y="2006842"/>
            <a:ext cx="1512168" cy="774086"/>
            <a:chOff x="2051720" y="1844824"/>
            <a:chExt cx="1512168" cy="774086"/>
          </a:xfrm>
        </p:grpSpPr>
        <p:sp>
          <p:nvSpPr>
            <p:cNvPr id="6" name="Right Arrow 5"/>
            <p:cNvSpPr/>
            <p:nvPr/>
          </p:nvSpPr>
          <p:spPr>
            <a:xfrm>
              <a:off x="2123728" y="1844824"/>
              <a:ext cx="1440160" cy="77408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051720" y="1969676"/>
              <a:ext cx="12961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525" lvl="0" indent="-9525" algn="ctr">
                <a:spcBef>
                  <a:spcPct val="0"/>
                </a:spcBef>
                <a:defRPr/>
              </a:pPr>
              <a:r>
                <a:rPr lang="pt-BR" sz="1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Extração do DNA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3059832" y="2956000"/>
            <a:ext cx="180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" lvl="0" indent="-9525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DNA total/</a:t>
            </a:r>
            <a:r>
              <a:rPr lang="pt-BR" sz="1400" dirty="0" err="1">
                <a:latin typeface="Arial" pitchFamily="34" charset="0"/>
                <a:cs typeface="Arial" pitchFamily="34" charset="0"/>
              </a:rPr>
              <a:t>cpDNA</a:t>
            </a:r>
            <a:r>
              <a:rPr lang="pt-BR" sz="1400" dirty="0">
                <a:latin typeface="Arial" pitchFamily="34" charset="0"/>
                <a:cs typeface="Arial" pitchFamily="34" charset="0"/>
              </a:rPr>
              <a:t>/</a:t>
            </a:r>
            <a:r>
              <a:rPr lang="pt-BR" sz="1400" dirty="0" err="1">
                <a:latin typeface="Arial" pitchFamily="34" charset="0"/>
                <a:cs typeface="Arial" pitchFamily="34" charset="0"/>
              </a:rPr>
              <a:t>mtDNA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517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1611305"/>
            <a:ext cx="1601671" cy="16016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6169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Passo a passo: Como fazemos?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0"/>
          <a:stretch/>
        </p:blipFill>
        <p:spPr>
          <a:xfrm>
            <a:off x="251520" y="1628800"/>
            <a:ext cx="1367332" cy="13681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4756" y="2996952"/>
            <a:ext cx="8640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1400">
                <a:latin typeface="Arial" pitchFamily="34" charset="0"/>
                <a:cs typeface="Arial" pitchFamily="34" charset="0"/>
              </a:rPr>
              <a:t>amostra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07704" y="2006842"/>
            <a:ext cx="1512168" cy="774086"/>
            <a:chOff x="2051720" y="1844824"/>
            <a:chExt cx="1512168" cy="774086"/>
          </a:xfrm>
        </p:grpSpPr>
        <p:sp>
          <p:nvSpPr>
            <p:cNvPr id="6" name="Right Arrow 5"/>
            <p:cNvSpPr/>
            <p:nvPr/>
          </p:nvSpPr>
          <p:spPr>
            <a:xfrm>
              <a:off x="2123728" y="1844824"/>
              <a:ext cx="1440160" cy="77408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051720" y="1969676"/>
              <a:ext cx="12961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525" lvl="0" indent="-9525" algn="ctr">
                <a:spcBef>
                  <a:spcPct val="0"/>
                </a:spcBef>
                <a:defRPr/>
              </a:pPr>
              <a:r>
                <a:rPr lang="pt-BR" sz="1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Extração do DNA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3059832" y="2956000"/>
            <a:ext cx="180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" lvl="0" indent="-9525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DNA total/</a:t>
            </a:r>
            <a:r>
              <a:rPr lang="pt-BR" sz="1400" dirty="0" err="1">
                <a:latin typeface="Arial" pitchFamily="34" charset="0"/>
                <a:cs typeface="Arial" pitchFamily="34" charset="0"/>
              </a:rPr>
              <a:t>cpDNA</a:t>
            </a:r>
            <a:r>
              <a:rPr lang="pt-BR" sz="1400" dirty="0">
                <a:latin typeface="Arial" pitchFamily="34" charset="0"/>
                <a:cs typeface="Arial" pitchFamily="34" charset="0"/>
              </a:rPr>
              <a:t>/</a:t>
            </a:r>
            <a:r>
              <a:rPr lang="pt-BR" sz="1400" dirty="0" err="1">
                <a:latin typeface="Arial" pitchFamily="34" charset="0"/>
                <a:cs typeface="Arial" pitchFamily="34" charset="0"/>
              </a:rPr>
              <a:t>mtDNA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788844" y="2094378"/>
            <a:ext cx="1512168" cy="774086"/>
            <a:chOff x="2051720" y="1844824"/>
            <a:chExt cx="1512168" cy="774086"/>
          </a:xfrm>
        </p:grpSpPr>
        <p:sp>
          <p:nvSpPr>
            <p:cNvPr id="12" name="Right Arrow 11"/>
            <p:cNvSpPr/>
            <p:nvPr/>
          </p:nvSpPr>
          <p:spPr>
            <a:xfrm>
              <a:off x="2123728" y="1844824"/>
              <a:ext cx="1440160" cy="77408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51720" y="1969676"/>
              <a:ext cx="12961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525" lvl="0" indent="-9525" algn="ctr">
                <a:spcBef>
                  <a:spcPct val="0"/>
                </a:spcBef>
                <a:defRPr/>
              </a:pPr>
              <a:r>
                <a:rPr lang="pt-BR" sz="1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Seleção de marcadores </a:t>
              </a: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/>
          <a:stretch/>
        </p:blipFill>
        <p:spPr>
          <a:xfrm>
            <a:off x="6732240" y="1261306"/>
            <a:ext cx="1799605" cy="221791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727494" y="677109"/>
            <a:ext cx="180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" lvl="0" indent="-9525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Amplificação de marcadores - PCR</a:t>
            </a:r>
          </a:p>
        </p:txBody>
      </p:sp>
    </p:spTree>
    <p:extLst>
      <p:ext uri="{BB962C8B-B14F-4D97-AF65-F5344CB8AC3E}">
        <p14:creationId xmlns:p14="http://schemas.microsoft.com/office/powerpoint/2010/main" val="13126070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1611305"/>
            <a:ext cx="1601671" cy="16016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6169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Passo a passo: Como fazemos?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0"/>
          <a:stretch/>
        </p:blipFill>
        <p:spPr>
          <a:xfrm>
            <a:off x="251520" y="1628800"/>
            <a:ext cx="1367332" cy="13681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4756" y="2996952"/>
            <a:ext cx="8640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1400">
                <a:latin typeface="Arial" pitchFamily="34" charset="0"/>
                <a:cs typeface="Arial" pitchFamily="34" charset="0"/>
              </a:rPr>
              <a:t>amostra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07704" y="2006842"/>
            <a:ext cx="1512168" cy="774086"/>
            <a:chOff x="2051720" y="1844824"/>
            <a:chExt cx="1512168" cy="774086"/>
          </a:xfrm>
        </p:grpSpPr>
        <p:sp>
          <p:nvSpPr>
            <p:cNvPr id="6" name="Right Arrow 5"/>
            <p:cNvSpPr/>
            <p:nvPr/>
          </p:nvSpPr>
          <p:spPr>
            <a:xfrm>
              <a:off x="2123728" y="1844824"/>
              <a:ext cx="1440160" cy="77408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051720" y="1969676"/>
              <a:ext cx="12961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525" lvl="0" indent="-9525" algn="ctr">
                <a:spcBef>
                  <a:spcPct val="0"/>
                </a:spcBef>
                <a:defRPr/>
              </a:pPr>
              <a:r>
                <a:rPr lang="pt-BR" sz="1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Extração do DNA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3059832" y="2956000"/>
            <a:ext cx="180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" lvl="0" indent="-9525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DNA total/</a:t>
            </a:r>
            <a:r>
              <a:rPr lang="pt-BR" sz="1400" dirty="0" err="1">
                <a:latin typeface="Arial" pitchFamily="34" charset="0"/>
                <a:cs typeface="Arial" pitchFamily="34" charset="0"/>
              </a:rPr>
              <a:t>cpDNA</a:t>
            </a:r>
            <a:r>
              <a:rPr lang="pt-BR" sz="1400" dirty="0">
                <a:latin typeface="Arial" pitchFamily="34" charset="0"/>
                <a:cs typeface="Arial" pitchFamily="34" charset="0"/>
              </a:rPr>
              <a:t>/</a:t>
            </a:r>
            <a:r>
              <a:rPr lang="pt-BR" sz="1400" dirty="0" err="1">
                <a:latin typeface="Arial" pitchFamily="34" charset="0"/>
                <a:cs typeface="Arial" pitchFamily="34" charset="0"/>
              </a:rPr>
              <a:t>mtDNA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788844" y="2094378"/>
            <a:ext cx="1512168" cy="774086"/>
            <a:chOff x="2051720" y="1844824"/>
            <a:chExt cx="1512168" cy="774086"/>
          </a:xfrm>
        </p:grpSpPr>
        <p:sp>
          <p:nvSpPr>
            <p:cNvPr id="12" name="Right Arrow 11"/>
            <p:cNvSpPr/>
            <p:nvPr/>
          </p:nvSpPr>
          <p:spPr>
            <a:xfrm>
              <a:off x="2123728" y="1844824"/>
              <a:ext cx="1440160" cy="77408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51720" y="1969676"/>
              <a:ext cx="12961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525" lvl="0" indent="-9525" algn="ctr">
                <a:spcBef>
                  <a:spcPct val="0"/>
                </a:spcBef>
                <a:defRPr/>
              </a:pPr>
              <a:r>
                <a:rPr lang="pt-BR" sz="1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Seleção de marcadores </a:t>
              </a: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/>
          <a:stretch/>
        </p:blipFill>
        <p:spPr>
          <a:xfrm>
            <a:off x="6732240" y="1261306"/>
            <a:ext cx="1799605" cy="221791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727494" y="677109"/>
            <a:ext cx="180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" lvl="0" indent="-9525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Amplificação de marcadores - PCR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386" y="4581128"/>
            <a:ext cx="2434110" cy="2003558"/>
          </a:xfrm>
          <a:prstGeom prst="rect">
            <a:avLst/>
          </a:prstGeom>
        </p:spPr>
      </p:pic>
      <p:sp>
        <p:nvSpPr>
          <p:cNvPr id="17" name="Down Arrow 16"/>
          <p:cNvSpPr/>
          <p:nvPr/>
        </p:nvSpPr>
        <p:spPr>
          <a:xfrm>
            <a:off x="7627594" y="3645024"/>
            <a:ext cx="256774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08304" y="6505599"/>
            <a:ext cx="13923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1400">
                <a:latin typeface="Arial" pitchFamily="34" charset="0"/>
                <a:cs typeface="Arial" pitchFamily="34" charset="0"/>
              </a:rPr>
              <a:t>eletroforese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4404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1611305"/>
            <a:ext cx="1601671" cy="16016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6169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Passo a passo: Como fazemos?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0"/>
          <a:stretch/>
        </p:blipFill>
        <p:spPr>
          <a:xfrm>
            <a:off x="251520" y="1628800"/>
            <a:ext cx="1367332" cy="13681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4756" y="2996952"/>
            <a:ext cx="8640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1400">
                <a:latin typeface="Arial" pitchFamily="34" charset="0"/>
                <a:cs typeface="Arial" pitchFamily="34" charset="0"/>
              </a:rPr>
              <a:t>amostra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07704" y="2006842"/>
            <a:ext cx="1512168" cy="774086"/>
            <a:chOff x="2051720" y="1844824"/>
            <a:chExt cx="1512168" cy="774086"/>
          </a:xfrm>
        </p:grpSpPr>
        <p:sp>
          <p:nvSpPr>
            <p:cNvPr id="6" name="Right Arrow 5"/>
            <p:cNvSpPr/>
            <p:nvPr/>
          </p:nvSpPr>
          <p:spPr>
            <a:xfrm>
              <a:off x="2123728" y="1844824"/>
              <a:ext cx="1440160" cy="77408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051720" y="1969676"/>
              <a:ext cx="12961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525" lvl="0" indent="-9525" algn="ctr">
                <a:spcBef>
                  <a:spcPct val="0"/>
                </a:spcBef>
                <a:defRPr/>
              </a:pPr>
              <a:r>
                <a:rPr lang="pt-BR" sz="1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Extração do DNA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3059832" y="2956000"/>
            <a:ext cx="180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" lvl="0" indent="-9525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DNA total/</a:t>
            </a:r>
            <a:r>
              <a:rPr lang="pt-BR" sz="1400" dirty="0" err="1">
                <a:latin typeface="Arial" pitchFamily="34" charset="0"/>
                <a:cs typeface="Arial" pitchFamily="34" charset="0"/>
              </a:rPr>
              <a:t>cpDNA</a:t>
            </a:r>
            <a:r>
              <a:rPr lang="pt-BR" sz="1400" dirty="0">
                <a:latin typeface="Arial" pitchFamily="34" charset="0"/>
                <a:cs typeface="Arial" pitchFamily="34" charset="0"/>
              </a:rPr>
              <a:t>/</a:t>
            </a:r>
            <a:r>
              <a:rPr lang="pt-BR" sz="1400" dirty="0" err="1">
                <a:latin typeface="Arial" pitchFamily="34" charset="0"/>
                <a:cs typeface="Arial" pitchFamily="34" charset="0"/>
              </a:rPr>
              <a:t>mtDNA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788844" y="2094378"/>
            <a:ext cx="1512168" cy="774086"/>
            <a:chOff x="2051720" y="1844824"/>
            <a:chExt cx="1512168" cy="774086"/>
          </a:xfrm>
        </p:grpSpPr>
        <p:sp>
          <p:nvSpPr>
            <p:cNvPr id="12" name="Right Arrow 11"/>
            <p:cNvSpPr/>
            <p:nvPr/>
          </p:nvSpPr>
          <p:spPr>
            <a:xfrm>
              <a:off x="2123728" y="1844824"/>
              <a:ext cx="1440160" cy="77408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51720" y="1969676"/>
              <a:ext cx="12961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525" lvl="0" indent="-9525" algn="ctr">
                <a:spcBef>
                  <a:spcPct val="0"/>
                </a:spcBef>
                <a:defRPr/>
              </a:pPr>
              <a:r>
                <a:rPr lang="pt-BR" sz="1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Seleção de marcadores </a:t>
              </a: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/>
          <a:stretch/>
        </p:blipFill>
        <p:spPr>
          <a:xfrm>
            <a:off x="6732240" y="1261306"/>
            <a:ext cx="1799605" cy="221791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727494" y="677109"/>
            <a:ext cx="180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" lvl="0" indent="-9525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Amplificação de marcadores - PCR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386" y="4581128"/>
            <a:ext cx="2434110" cy="2003558"/>
          </a:xfrm>
          <a:prstGeom prst="rect">
            <a:avLst/>
          </a:prstGeom>
        </p:spPr>
      </p:pic>
      <p:sp>
        <p:nvSpPr>
          <p:cNvPr id="17" name="Down Arrow 16"/>
          <p:cNvSpPr/>
          <p:nvPr/>
        </p:nvSpPr>
        <p:spPr>
          <a:xfrm>
            <a:off x="7627594" y="3645024"/>
            <a:ext cx="256774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08304" y="6505599"/>
            <a:ext cx="13923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spcBef>
                <a:spcPct val="0"/>
              </a:spcBef>
              <a:defRPr/>
            </a:pPr>
            <a:r>
              <a:rPr lang="pt-BR" sz="1400">
                <a:latin typeface="Arial" pitchFamily="34" charset="0"/>
                <a:cs typeface="Arial" pitchFamily="34" charset="0"/>
              </a:rPr>
              <a:t>eletroforese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31582" b="8466"/>
          <a:stretch/>
        </p:blipFill>
        <p:spPr>
          <a:xfrm>
            <a:off x="1403648" y="4509120"/>
            <a:ext cx="4326969" cy="1952145"/>
          </a:xfrm>
          <a:prstGeom prst="rect">
            <a:avLst/>
          </a:prstGeom>
        </p:spPr>
      </p:pic>
      <p:sp>
        <p:nvSpPr>
          <p:cNvPr id="20" name="Right Arrow 19"/>
          <p:cNvSpPr/>
          <p:nvPr/>
        </p:nvSpPr>
        <p:spPr>
          <a:xfrm rot="10800000">
            <a:off x="5730617" y="5117223"/>
            <a:ext cx="996877" cy="400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843808" y="6505599"/>
            <a:ext cx="2776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0" indent="-11113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Reação </a:t>
            </a:r>
            <a:r>
              <a:rPr lang="pt-BR" sz="1400">
                <a:latin typeface="Arial" pitchFamily="34" charset="0"/>
                <a:cs typeface="Arial" pitchFamily="34" charset="0"/>
              </a:rPr>
              <a:t>de sequenciamento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786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169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Passo a passo: Como fazemos?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31582" b="8466"/>
          <a:stretch/>
        </p:blipFill>
        <p:spPr>
          <a:xfrm>
            <a:off x="395536" y="1628800"/>
            <a:ext cx="4326969" cy="195214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43608" y="3572903"/>
            <a:ext cx="2776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0" indent="-11113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Reação </a:t>
            </a:r>
            <a:r>
              <a:rPr lang="pt-BR" sz="1400">
                <a:latin typeface="Arial" pitchFamily="34" charset="0"/>
                <a:cs typeface="Arial" pitchFamily="34" charset="0"/>
              </a:rPr>
              <a:t>de sequenciamento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3765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169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Passo a passo: Como fazemos?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31582" b="8466"/>
          <a:stretch/>
        </p:blipFill>
        <p:spPr>
          <a:xfrm>
            <a:off x="395536" y="1628800"/>
            <a:ext cx="4326969" cy="195214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43608" y="3572903"/>
            <a:ext cx="2776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0" indent="-11113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Reação </a:t>
            </a:r>
            <a:r>
              <a:rPr lang="pt-BR" sz="1400">
                <a:latin typeface="Arial" pitchFamily="34" charset="0"/>
                <a:cs typeface="Arial" pitchFamily="34" charset="0"/>
              </a:rPr>
              <a:t>de sequenciamento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4722505" y="2132856"/>
            <a:ext cx="713591" cy="472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404664"/>
            <a:ext cx="2259544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2"/>
          <p:cNvSpPr/>
          <p:nvPr/>
        </p:nvSpPr>
        <p:spPr>
          <a:xfrm>
            <a:off x="5971994" y="3349063"/>
            <a:ext cx="2776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0" indent="-11113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Sequenciamento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614" y="4269078"/>
            <a:ext cx="6408712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/>
              <a:t>Quanto</a:t>
            </a:r>
            <a:r>
              <a:rPr lang="en-US" sz="2400" dirty="0"/>
              <a:t> tempo </a:t>
            </a:r>
            <a:r>
              <a:rPr lang="en-US" sz="2400" dirty="0" err="1"/>
              <a:t>gastamos</a:t>
            </a:r>
            <a:r>
              <a:rPr lang="en-US" sz="2400" dirty="0"/>
              <a:t> </a:t>
            </a:r>
            <a:r>
              <a:rPr lang="en-US" sz="2400" dirty="0" err="1"/>
              <a:t>até</a:t>
            </a:r>
            <a:r>
              <a:rPr lang="en-US" sz="2400" dirty="0"/>
              <a:t> </a:t>
            </a:r>
            <a:r>
              <a:rPr lang="en-US" sz="2400" dirty="0" err="1"/>
              <a:t>aqui</a:t>
            </a:r>
            <a:r>
              <a:rPr lang="en-US" sz="2400" dirty="0"/>
              <a:t>?</a:t>
            </a:r>
          </a:p>
          <a:p>
            <a:r>
              <a:rPr lang="en-US" sz="2400" dirty="0"/>
              <a:t>	- PCR: ~ 3 horas</a:t>
            </a:r>
          </a:p>
          <a:p>
            <a:r>
              <a:rPr lang="en-US" sz="2400" dirty="0"/>
              <a:t>	- </a:t>
            </a:r>
            <a:r>
              <a:rPr lang="en-US" sz="2400" dirty="0" err="1"/>
              <a:t>Eletroforese</a:t>
            </a:r>
            <a:r>
              <a:rPr lang="en-US" sz="2400" dirty="0"/>
              <a:t>: ~ 1 hora</a:t>
            </a:r>
          </a:p>
          <a:p>
            <a:pPr algn="ctr"/>
            <a:r>
              <a:rPr lang="en-US" sz="2400" dirty="0"/>
              <a:t>	- </a:t>
            </a:r>
            <a:r>
              <a:rPr lang="en-US" sz="2400" dirty="0" err="1"/>
              <a:t>Reação</a:t>
            </a:r>
            <a:r>
              <a:rPr lang="en-US" sz="2400" dirty="0"/>
              <a:t> de </a:t>
            </a:r>
            <a:r>
              <a:rPr lang="en-US" sz="2400" dirty="0" err="1"/>
              <a:t>sequenciamento</a:t>
            </a:r>
            <a:r>
              <a:rPr lang="en-US" sz="2400" dirty="0"/>
              <a:t>: ~ 2 horas</a:t>
            </a:r>
          </a:p>
          <a:p>
            <a:pPr algn="ctr"/>
            <a:r>
              <a:rPr lang="en-US" sz="2400" dirty="0"/>
              <a:t> </a:t>
            </a:r>
          </a:p>
          <a:p>
            <a:pPr algn="ctr"/>
            <a:r>
              <a:rPr lang="en-US" sz="2400" b="1" dirty="0"/>
              <a:t>nº de </a:t>
            </a:r>
            <a:r>
              <a:rPr lang="en-US" sz="2400" b="1" dirty="0" err="1"/>
              <a:t>amostras</a:t>
            </a:r>
            <a:r>
              <a:rPr lang="en-US" sz="2400" b="1" dirty="0"/>
              <a:t> X nº de </a:t>
            </a:r>
            <a:r>
              <a:rPr lang="en-US" sz="2400" b="1" dirty="0" err="1"/>
              <a:t>marcadores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487064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169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Passo a passo: Como fazemos?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31582" b="8466"/>
          <a:stretch/>
        </p:blipFill>
        <p:spPr>
          <a:xfrm>
            <a:off x="395536" y="1628800"/>
            <a:ext cx="4326969" cy="195214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43608" y="3572903"/>
            <a:ext cx="2776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0" indent="-11113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Reação </a:t>
            </a:r>
            <a:r>
              <a:rPr lang="pt-BR" sz="1400">
                <a:latin typeface="Arial" pitchFamily="34" charset="0"/>
                <a:cs typeface="Arial" pitchFamily="34" charset="0"/>
              </a:rPr>
              <a:t>de sequenciamento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4722505" y="2132856"/>
            <a:ext cx="713591" cy="472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404664"/>
            <a:ext cx="2259544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2"/>
          <p:cNvSpPr/>
          <p:nvPr/>
        </p:nvSpPr>
        <p:spPr>
          <a:xfrm>
            <a:off x="5971994" y="3349063"/>
            <a:ext cx="2776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0" indent="-11113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Sequenciamento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000189" y="3726791"/>
            <a:ext cx="720080" cy="936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506" y="4952871"/>
            <a:ext cx="5043958" cy="1296144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036277" y="6345330"/>
            <a:ext cx="2776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0" indent="-11113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Análise de dados</a:t>
            </a:r>
          </a:p>
        </p:txBody>
      </p:sp>
    </p:spTree>
    <p:extLst>
      <p:ext uri="{BB962C8B-B14F-4D97-AF65-F5344CB8AC3E}">
        <p14:creationId xmlns:p14="http://schemas.microsoft.com/office/powerpoint/2010/main" val="14029030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169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Sequenciamento de Sanger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Passo a passo: Como fazemos?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31582" b="8466"/>
          <a:stretch/>
        </p:blipFill>
        <p:spPr>
          <a:xfrm>
            <a:off x="395536" y="1628800"/>
            <a:ext cx="4326969" cy="195214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43608" y="3572903"/>
            <a:ext cx="2776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0" indent="-11113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Reação </a:t>
            </a:r>
            <a:r>
              <a:rPr lang="pt-BR" sz="1400">
                <a:latin typeface="Arial" pitchFamily="34" charset="0"/>
                <a:cs typeface="Arial" pitchFamily="34" charset="0"/>
              </a:rPr>
              <a:t>de sequenciamento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4722505" y="2132856"/>
            <a:ext cx="713591" cy="472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404664"/>
            <a:ext cx="2259544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2"/>
          <p:cNvSpPr/>
          <p:nvPr/>
        </p:nvSpPr>
        <p:spPr>
          <a:xfrm>
            <a:off x="5971994" y="3349063"/>
            <a:ext cx="2776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0" indent="-11113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Sequenciamento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000189" y="3726791"/>
            <a:ext cx="720080" cy="936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506" y="4952871"/>
            <a:ext cx="5043958" cy="1296144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036277" y="6345330"/>
            <a:ext cx="2776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0" indent="-11113" algn="ctr">
              <a:spcBef>
                <a:spcPct val="0"/>
              </a:spcBef>
              <a:defRPr/>
            </a:pPr>
            <a:r>
              <a:rPr lang="pt-BR" sz="1400" dirty="0">
                <a:latin typeface="Arial" pitchFamily="34" charset="0"/>
                <a:cs typeface="Arial" pitchFamily="34" charset="0"/>
              </a:rPr>
              <a:t>Análise de dados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7" t="3896" r="17985"/>
          <a:stretch/>
        </p:blipFill>
        <p:spPr>
          <a:xfrm>
            <a:off x="179512" y="4149080"/>
            <a:ext cx="2330982" cy="2396486"/>
          </a:xfrm>
          <a:prstGeom prst="rect">
            <a:avLst/>
          </a:prstGeom>
        </p:spPr>
      </p:pic>
      <p:sp>
        <p:nvSpPr>
          <p:cNvPr id="28" name="Right Arrow 27"/>
          <p:cNvSpPr/>
          <p:nvPr/>
        </p:nvSpPr>
        <p:spPr>
          <a:xfrm rot="10800000">
            <a:off x="2699793" y="5340169"/>
            <a:ext cx="713591" cy="472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740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DNA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5" name="Titre 1"/>
          <p:cNvSpPr txBox="1">
            <a:spLocks/>
          </p:cNvSpPr>
          <p:nvPr/>
        </p:nvSpPr>
        <p:spPr>
          <a:xfrm>
            <a:off x="1080120" y="1844824"/>
            <a:ext cx="7524328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800" dirty="0">
                <a:latin typeface="Arial" pitchFamily="34" charset="0"/>
                <a:ea typeface="+mj-ea"/>
                <a:cs typeface="Arial" pitchFamily="34" charset="0"/>
              </a:rPr>
              <a:t>1) Introdução Geral</a:t>
            </a: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indent="-514350" algn="ctr"/>
            <a:endParaRPr lang="pt-BR" sz="2800" dirty="0"/>
          </a:p>
          <a:p>
            <a:pPr marL="514350" indent="-514350"/>
            <a:endParaRPr lang="fr-FR" sz="2800" dirty="0"/>
          </a:p>
          <a:p>
            <a:pPr marL="514350" indent="-514350" algn="ctr">
              <a:spcBef>
                <a:spcPct val="0"/>
              </a:spcBef>
            </a:pPr>
            <a:endParaRPr lang="pt-BR" sz="2800" dirty="0"/>
          </a:p>
          <a:p>
            <a:pPr marL="457200" indent="-457200" algn="ctr">
              <a:spcBef>
                <a:spcPct val="0"/>
              </a:spcBef>
            </a:pPr>
            <a:br>
              <a:rPr lang="pt-BR" sz="25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79512" y="1052736"/>
            <a:ext cx="7524328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800" dirty="0">
                <a:latin typeface="Arial" pitchFamily="34" charset="0"/>
                <a:ea typeface="+mj-ea"/>
                <a:cs typeface="Arial" pitchFamily="34" charset="0"/>
              </a:rPr>
              <a:t>O que é? De onde veio? Para que serve?</a:t>
            </a: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indent="-514350" algn="ctr"/>
            <a:endParaRPr lang="pt-BR" sz="2800" dirty="0"/>
          </a:p>
          <a:p>
            <a:pPr marL="514350" indent="-514350"/>
            <a:endParaRPr lang="fr-FR" sz="2800" dirty="0"/>
          </a:p>
          <a:p>
            <a:pPr marL="514350" indent="-514350" algn="ctr">
              <a:spcBef>
                <a:spcPct val="0"/>
              </a:spcBef>
            </a:pPr>
            <a:endParaRPr lang="pt-BR" sz="2800" dirty="0"/>
          </a:p>
          <a:p>
            <a:pPr marL="457200" indent="-457200" algn="ctr">
              <a:spcBef>
                <a:spcPct val="0"/>
              </a:spcBef>
            </a:pPr>
            <a:br>
              <a:rPr lang="pt-BR" sz="25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2" y="3570940"/>
            <a:ext cx="31623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324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61764" y="2996952"/>
            <a:ext cx="7200800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4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400" b="1" dirty="0">
                <a:latin typeface="Arial" pitchFamily="34" charset="0"/>
                <a:ea typeface="+mj-ea"/>
                <a:cs typeface="Arial" pitchFamily="34" charset="0"/>
              </a:rPr>
              <a:t>O que é? </a:t>
            </a: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De onde veio? Para que serve?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 Sequenciamento de alto rendimento, em paralelo, de múltiplas regiões genômicas e de múltiplas amostras</a:t>
            </a: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1036638" marR="0" lvl="0" indent="-1206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defRPr/>
            </a:pP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 DNA é fragmentado, recebe índices específicos, sequenciamento ocorre em superfície fixa e com amplificação massiva de cada fragmento, simultânea ao sequenciamento</a:t>
            </a: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/>
          </a:p>
          <a:p>
            <a:pPr marL="514350" indent="-514350" algn="ctr"/>
            <a:endParaRPr lang="pt-BR" sz="2400" dirty="0"/>
          </a:p>
          <a:p>
            <a:pPr marL="514350" indent="-514350"/>
            <a:endParaRPr lang="fr-FR" sz="2400" dirty="0"/>
          </a:p>
          <a:p>
            <a:pPr marL="514350" indent="-514350" algn="ctr">
              <a:spcBef>
                <a:spcPct val="0"/>
              </a:spcBef>
            </a:pPr>
            <a:endParaRPr lang="pt-BR" sz="2400" dirty="0"/>
          </a:p>
          <a:p>
            <a:pPr marL="457200" indent="-457200" algn="ctr">
              <a:spcBef>
                <a:spcPct val="0"/>
              </a:spcBef>
            </a:pPr>
            <a:br>
              <a:rPr lang="pt-BR" sz="24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0342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61764" y="3068960"/>
            <a:ext cx="7200800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4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O que é? </a:t>
            </a:r>
            <a:r>
              <a:rPr lang="pt-BR" sz="2400" b="1" dirty="0">
                <a:latin typeface="Arial" pitchFamily="34" charset="0"/>
                <a:ea typeface="+mj-ea"/>
                <a:cs typeface="Arial" pitchFamily="34" charset="0"/>
              </a:rPr>
              <a:t>De onde veio? </a:t>
            </a: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Para que serve?</a:t>
            </a: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Desenvolvimento impulsionado principalmente pelo projeto do Genoma Humano, capitaneado por diversas empresas desenvolvendo técnicas concorrentes; financiamento inicial do NIH (EUA)</a:t>
            </a: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/>
          </a:p>
          <a:p>
            <a:pPr marL="514350" indent="-514350" algn="ctr"/>
            <a:endParaRPr lang="pt-BR" sz="2400" dirty="0"/>
          </a:p>
          <a:p>
            <a:pPr marL="514350" indent="-514350"/>
            <a:endParaRPr lang="fr-FR" sz="2400" dirty="0"/>
          </a:p>
          <a:p>
            <a:pPr marL="514350" indent="-514350" algn="ctr">
              <a:spcBef>
                <a:spcPct val="0"/>
              </a:spcBef>
            </a:pPr>
            <a:endParaRPr lang="pt-BR" sz="2400" dirty="0"/>
          </a:p>
          <a:p>
            <a:pPr marL="457200" indent="-457200" algn="ctr">
              <a:spcBef>
                <a:spcPct val="0"/>
              </a:spcBef>
            </a:pPr>
            <a:br>
              <a:rPr lang="pt-BR" sz="24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3448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61764" y="3068960"/>
            <a:ext cx="7200800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4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O que é? De onde veio? </a:t>
            </a:r>
            <a:r>
              <a:rPr lang="pt-BR" sz="2400" b="1" dirty="0">
                <a:latin typeface="Arial" pitchFamily="34" charset="0"/>
                <a:ea typeface="+mj-ea"/>
                <a:cs typeface="Arial" pitchFamily="34" charset="0"/>
              </a:rPr>
              <a:t>Para que serve?</a:t>
            </a: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Múltiplas aplicações, </a:t>
            </a:r>
            <a:r>
              <a:rPr lang="pt-BR" sz="2400" i="1" dirty="0" err="1">
                <a:latin typeface="Arial" pitchFamily="34" charset="0"/>
                <a:ea typeface="+mj-ea"/>
                <a:cs typeface="Arial" pitchFamily="34" charset="0"/>
              </a:rPr>
              <a:t>whole</a:t>
            </a:r>
            <a:r>
              <a:rPr lang="pt-BR" sz="2400" i="1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pt-BR" sz="2400" i="1" dirty="0" err="1">
                <a:latin typeface="Arial" pitchFamily="34" charset="0"/>
                <a:ea typeface="+mj-ea"/>
                <a:cs typeface="Arial" pitchFamily="34" charset="0"/>
              </a:rPr>
              <a:t>genome</a:t>
            </a:r>
            <a:r>
              <a:rPr lang="pt-BR" sz="2400" i="1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pt-BR" sz="2400" i="1" dirty="0" err="1">
                <a:latin typeface="Arial" pitchFamily="34" charset="0"/>
                <a:ea typeface="+mj-ea"/>
                <a:cs typeface="Arial" pitchFamily="34" charset="0"/>
              </a:rPr>
              <a:t>sequencing</a:t>
            </a: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, </a:t>
            </a:r>
            <a:r>
              <a:rPr lang="pt-BR" sz="2400" dirty="0" err="1">
                <a:latin typeface="Arial" pitchFamily="34" charset="0"/>
                <a:ea typeface="+mj-ea"/>
                <a:cs typeface="Arial" pitchFamily="34" charset="0"/>
              </a:rPr>
              <a:t>exoma</a:t>
            </a: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, genomas </a:t>
            </a:r>
            <a:r>
              <a:rPr lang="pt-BR" sz="2400" dirty="0" err="1">
                <a:latin typeface="Arial" pitchFamily="34" charset="0"/>
                <a:ea typeface="+mj-ea"/>
                <a:cs typeface="Arial" pitchFamily="34" charset="0"/>
              </a:rPr>
              <a:t>plastidial</a:t>
            </a:r>
            <a:r>
              <a:rPr lang="pt-BR" sz="2400" dirty="0">
                <a:latin typeface="Arial" pitchFamily="34" charset="0"/>
                <a:ea typeface="+mj-ea"/>
                <a:cs typeface="Arial" pitchFamily="34" charset="0"/>
              </a:rPr>
              <a:t> e mitocondrial, gerar marcadores para análises diversas, etc...</a:t>
            </a: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endParaRPr lang="pt-BR" sz="24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160338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400" dirty="0"/>
          </a:p>
          <a:p>
            <a:pPr marL="514350" indent="-514350" algn="ctr"/>
            <a:endParaRPr lang="pt-BR" sz="2400" dirty="0"/>
          </a:p>
          <a:p>
            <a:pPr marL="514350" indent="-514350"/>
            <a:endParaRPr lang="fr-FR" sz="2400" dirty="0"/>
          </a:p>
          <a:p>
            <a:pPr marL="514350" indent="-514350" algn="ctr">
              <a:spcBef>
                <a:spcPct val="0"/>
              </a:spcBef>
            </a:pPr>
            <a:endParaRPr lang="pt-BR" sz="2400" dirty="0"/>
          </a:p>
          <a:p>
            <a:pPr marL="457200" indent="-457200" algn="ctr">
              <a:spcBef>
                <a:spcPct val="0"/>
              </a:spcBef>
            </a:pPr>
            <a:br>
              <a:rPr lang="pt-BR" sz="24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2256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830758"/>
            <a:ext cx="1719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Projeto Genoma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Projeto Genoma Humano</a:t>
            </a:r>
          </a:p>
        </p:txBody>
      </p:sp>
      <p:pic>
        <p:nvPicPr>
          <p:cNvPr id="4" name="The race to sequence the human genome - Tien Nguyen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07718" y="1484784"/>
            <a:ext cx="8528564" cy="479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6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521" y="863714"/>
            <a:ext cx="5616623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Histórico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Técnicas precursoras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BAC-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to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-BAC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sequencing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 (~1980)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dirty="0" err="1">
                <a:latin typeface="Arial" pitchFamily="34" charset="0"/>
                <a:cs typeface="Arial" pitchFamily="34" charset="0"/>
              </a:rPr>
              <a:t>Shotgun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sequencing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 (1996)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Primer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walking</a:t>
            </a: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Bibliotecas de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ESTs</a:t>
            </a:r>
            <a:endParaRPr lang="pt-BR" sz="25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2875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BAC-</a:t>
            </a:r>
            <a:r>
              <a:rPr lang="pt-BR" sz="3400" b="1" dirty="0" err="1">
                <a:latin typeface="Arial" pitchFamily="34" charset="0"/>
                <a:cs typeface="Arial" pitchFamily="34" charset="0"/>
              </a:rPr>
              <a:t>to</a:t>
            </a:r>
            <a:r>
              <a:rPr lang="pt-BR" sz="3400" b="1" dirty="0">
                <a:latin typeface="Arial" pitchFamily="34" charset="0"/>
                <a:cs typeface="Arial" pitchFamily="34" charset="0"/>
              </a:rPr>
              <a:t>-BAC </a:t>
            </a:r>
            <a:r>
              <a:rPr lang="pt-BR" sz="3400" b="1" dirty="0" err="1">
                <a:latin typeface="Arial" pitchFamily="34" charset="0"/>
                <a:cs typeface="Arial" pitchFamily="34" charset="0"/>
              </a:rPr>
              <a:t>Sequencing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15" y="1013971"/>
            <a:ext cx="4415585" cy="18722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1098178"/>
            <a:ext cx="2730500" cy="3365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56" y="3501008"/>
            <a:ext cx="4965700" cy="257810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896337">
            <a:off x="4643576" y="2096928"/>
            <a:ext cx="1177262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8582212">
            <a:off x="5448934" y="4949480"/>
            <a:ext cx="138032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5408" y="291565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Fragmentação aleatória do genoma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1312" y="4509120"/>
            <a:ext cx="18451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Fragmentos são inseridos em cromossomos bacterianos artificiais (BAC)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2" y="6165304"/>
            <a:ext cx="5520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Sobreposição dos fragmentos com base em sequências em comum para elaborar um “mapa”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6096" y="6597352"/>
            <a:ext cx="3888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© 2002 The Center for the Advancement of Genomics (TCAG).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4187487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503086"/>
            <a:ext cx="3281130" cy="213916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BAC-</a:t>
            </a:r>
            <a:r>
              <a:rPr lang="pt-BR" sz="3400" b="1" dirty="0" err="1">
                <a:latin typeface="Arial" pitchFamily="34" charset="0"/>
                <a:cs typeface="Arial" pitchFamily="34" charset="0"/>
              </a:rPr>
              <a:t>to</a:t>
            </a:r>
            <a:r>
              <a:rPr lang="pt-BR" sz="3400" b="1" dirty="0">
                <a:latin typeface="Arial" pitchFamily="34" charset="0"/>
                <a:cs typeface="Arial" pitchFamily="34" charset="0"/>
              </a:rPr>
              <a:t>-BAC </a:t>
            </a:r>
            <a:r>
              <a:rPr lang="pt-BR" sz="3400" b="1" dirty="0" err="1">
                <a:latin typeface="Arial" pitchFamily="34" charset="0"/>
                <a:cs typeface="Arial" pitchFamily="34" charset="0"/>
              </a:rPr>
              <a:t>Sequencing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ight Arrow 6"/>
          <p:cNvSpPr/>
          <p:nvPr/>
        </p:nvSpPr>
        <p:spPr>
          <a:xfrm rot="20003118">
            <a:off x="4014196" y="2033162"/>
            <a:ext cx="1481982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8582212">
            <a:off x="6885769" y="3176971"/>
            <a:ext cx="138032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5086925"/>
            <a:ext cx="3491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BACs</a:t>
            </a:r>
            <a:r>
              <a:rPr lang="pt-BR" dirty="0"/>
              <a:t> são fragmentados e inseridos em plasmídeos M13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112" y="2422629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Plasmídeos </a:t>
            </a:r>
            <a:r>
              <a:rPr lang="pt-BR"/>
              <a:t>são sequenciados</a:t>
            </a:r>
            <a:endParaRPr lang="pt-BR" dirty="0"/>
          </a:p>
        </p:txBody>
      </p:sp>
      <p:sp>
        <p:nvSpPr>
          <p:cNvPr id="11" name="TextBox 10"/>
          <p:cNvSpPr txBox="1"/>
          <p:nvPr/>
        </p:nvSpPr>
        <p:spPr>
          <a:xfrm>
            <a:off x="7020272" y="4410978"/>
            <a:ext cx="2054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Programa PHRAP une os fragmentos com base em sequências em comum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358477"/>
            <a:ext cx="3096344" cy="36433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585" y="4014996"/>
            <a:ext cx="3175000" cy="2679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36512" y="6597352"/>
            <a:ext cx="3888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© 2002 The Center for the Advancement of Genomics (TCAG).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0184546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BR" sz="3400" b="1" dirty="0" err="1">
                <a:latin typeface="Arial" pitchFamily="34" charset="0"/>
                <a:cs typeface="Arial" pitchFamily="34" charset="0"/>
              </a:rPr>
              <a:t>Shotgun</a:t>
            </a:r>
            <a:r>
              <a:rPr lang="pt-BR" sz="3400" b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3400" b="1" dirty="0" err="1">
                <a:latin typeface="Arial" pitchFamily="34" charset="0"/>
                <a:cs typeface="Arial" pitchFamily="34" charset="0"/>
              </a:rPr>
              <a:t>Sequencing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ight Arrow 6"/>
          <p:cNvSpPr/>
          <p:nvPr/>
        </p:nvSpPr>
        <p:spPr>
          <a:xfrm rot="20003118">
            <a:off x="4044332" y="3212976"/>
            <a:ext cx="1481982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27642" y="5149642"/>
            <a:ext cx="3524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Múltiplas cópias do genoma são fragmentadas em pedaços de 2 mil e 10 </a:t>
            </a:r>
            <a:r>
              <a:rPr lang="pt-BR"/>
              <a:t>mil </a:t>
            </a:r>
            <a:r>
              <a:rPr lang="pt-BR" dirty="0" err="1"/>
              <a:t>bp</a:t>
            </a:r>
            <a:endParaRPr lang="pt-BR" dirty="0"/>
          </a:p>
        </p:txBody>
      </p:sp>
      <p:sp>
        <p:nvSpPr>
          <p:cNvPr id="11" name="TextBox 10"/>
          <p:cNvSpPr txBox="1"/>
          <p:nvPr/>
        </p:nvSpPr>
        <p:spPr>
          <a:xfrm>
            <a:off x="5652120" y="6023029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Fragmentos </a:t>
            </a:r>
            <a:r>
              <a:rPr lang="pt-BR" dirty="0"/>
              <a:t>são inseridos em plasmídeos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6512" y="6597352"/>
            <a:ext cx="3888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© 2002 The Center for the Advancement of Genomics (TCAG).</a:t>
            </a:r>
            <a:endParaRPr lang="pt-BR" sz="11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0" y="2152126"/>
            <a:ext cx="3421822" cy="29975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227" y="420134"/>
            <a:ext cx="2349205" cy="556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1479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BR" sz="3400" b="1" dirty="0" err="1">
                <a:latin typeface="Arial" pitchFamily="34" charset="0"/>
                <a:cs typeface="Arial" pitchFamily="34" charset="0"/>
              </a:rPr>
              <a:t>Shotgun</a:t>
            </a:r>
            <a:r>
              <a:rPr lang="pt-BR" sz="3400" b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3400" b="1" dirty="0" err="1">
                <a:latin typeface="Arial" pitchFamily="34" charset="0"/>
                <a:cs typeface="Arial" pitchFamily="34" charset="0"/>
              </a:rPr>
              <a:t>Sequencing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ight Arrow 6"/>
          <p:cNvSpPr/>
          <p:nvPr/>
        </p:nvSpPr>
        <p:spPr>
          <a:xfrm rot="20694801">
            <a:off x="3957512" y="3236836"/>
            <a:ext cx="1171964" cy="427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51520" y="5807005"/>
            <a:ext cx="3524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Os 500 </a:t>
            </a:r>
            <a:r>
              <a:rPr lang="pt-BR" dirty="0" err="1"/>
              <a:t>bp</a:t>
            </a:r>
            <a:r>
              <a:rPr lang="pt-BR" dirty="0"/>
              <a:t> iniciais e finais de cada fragmento são sequenciados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6874" y="4953942"/>
            <a:ext cx="3799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Fragmentos são analisados e montados computacionalmente para formar um “mapa” </a:t>
            </a:r>
            <a:r>
              <a:rPr lang="pt-BR"/>
              <a:t>do cromossomo</a:t>
            </a:r>
            <a:endParaRPr lang="pt-BR" dirty="0"/>
          </a:p>
        </p:txBody>
      </p:sp>
      <p:sp>
        <p:nvSpPr>
          <p:cNvPr id="14" name="TextBox 13"/>
          <p:cNvSpPr txBox="1"/>
          <p:nvPr/>
        </p:nvSpPr>
        <p:spPr>
          <a:xfrm>
            <a:off x="-36512" y="6597352"/>
            <a:ext cx="3888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© 2002 The Center for the Advancement of Genomics (TCAG).</a:t>
            </a:r>
            <a:endParaRPr lang="pt-BR" sz="1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838183"/>
            <a:ext cx="3486519" cy="48950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806" y="1588975"/>
            <a:ext cx="3810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872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Primer </a:t>
            </a:r>
            <a:r>
              <a:rPr lang="pt-BR" sz="3400" b="1" dirty="0" err="1">
                <a:latin typeface="Arial" pitchFamily="34" charset="0"/>
                <a:cs typeface="Arial" pitchFamily="34" charset="0"/>
              </a:rPr>
              <a:t>Walking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138" y="1877963"/>
            <a:ext cx="9430650" cy="46473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520" y="830758"/>
            <a:ext cx="8424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Alternativa para sequenciar fragmentos grandes inseridos em </a:t>
            </a:r>
            <a:r>
              <a:rPr lang="pt-BR" sz="2400" dirty="0" err="1"/>
              <a:t>BACs</a:t>
            </a:r>
            <a:r>
              <a:rPr lang="pt-BR" sz="2400" dirty="0"/>
              <a:t> ou plasmídeos</a:t>
            </a:r>
          </a:p>
        </p:txBody>
      </p:sp>
    </p:spTree>
    <p:extLst>
      <p:ext uri="{BB962C8B-B14F-4D97-AF65-F5344CB8AC3E}">
        <p14:creationId xmlns:p14="http://schemas.microsoft.com/office/powerpoint/2010/main" val="3151691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Bibliotecas de </a:t>
            </a:r>
            <a:r>
              <a:rPr lang="pt-BR" sz="3400" b="1" dirty="0" err="1">
                <a:latin typeface="Arial" pitchFamily="34" charset="0"/>
                <a:cs typeface="Arial" pitchFamily="34" charset="0"/>
              </a:rPr>
              <a:t>ESTs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0928"/>
            <a:ext cx="9095898" cy="3672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92" y="836712"/>
            <a:ext cx="87440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sz="2400" dirty="0"/>
              <a:t>Sequenciamento de regiões expressas do genoma (</a:t>
            </a:r>
            <a:r>
              <a:rPr lang="pt-BR" sz="2400" dirty="0" err="1"/>
              <a:t>Expressed</a:t>
            </a:r>
            <a:r>
              <a:rPr lang="pt-BR" sz="2400" dirty="0"/>
              <a:t> </a:t>
            </a:r>
            <a:r>
              <a:rPr lang="pt-BR" sz="2400" dirty="0" err="1"/>
              <a:t>Sequence</a:t>
            </a:r>
            <a:r>
              <a:rPr lang="pt-BR" sz="2400" dirty="0"/>
              <a:t> </a:t>
            </a:r>
            <a:r>
              <a:rPr lang="pt-BR" sz="2400" dirty="0" err="1"/>
              <a:t>Tags</a:t>
            </a:r>
            <a:r>
              <a:rPr lang="pt-BR" sz="2400" dirty="0"/>
              <a:t>)</a:t>
            </a:r>
          </a:p>
          <a:p>
            <a:pPr marL="285750" indent="-285750">
              <a:buFontTx/>
              <a:buChar char="-"/>
            </a:pPr>
            <a:r>
              <a:rPr lang="pt-BR" sz="2400" dirty="0"/>
              <a:t>Baseado em RNAm</a:t>
            </a:r>
          </a:p>
          <a:p>
            <a:pPr marL="285750" indent="-285750">
              <a:buFontTx/>
              <a:buChar char="-"/>
            </a:pPr>
            <a:r>
              <a:rPr lang="pt-BR" sz="2400" dirty="0"/>
              <a:t>Identificação de genes, variações, desenho de marcadores, </a:t>
            </a:r>
            <a:r>
              <a:rPr lang="pt-BR" sz="2400" dirty="0" err="1"/>
              <a:t>etc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04635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Bibliotecas de </a:t>
            </a:r>
            <a:r>
              <a:rPr lang="pt-BR" sz="3400" b="1" dirty="0" err="1">
                <a:latin typeface="Arial" pitchFamily="34" charset="0"/>
                <a:cs typeface="Arial" pitchFamily="34" charset="0"/>
              </a:rPr>
              <a:t>ESTs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434"/>
            <a:ext cx="6005336" cy="28818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0448" t="12522"/>
          <a:stretch/>
        </p:blipFill>
        <p:spPr>
          <a:xfrm>
            <a:off x="4628679" y="3212976"/>
            <a:ext cx="4407817" cy="36341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27776" y="2581788"/>
            <a:ext cx="2016224" cy="386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85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521" y="863714"/>
            <a:ext cx="662473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Histórico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Outras técnicas à partir da década de 90: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Wingdings" charset="2"/>
              <a:buChar char="Ø"/>
              <a:defRPr/>
            </a:pPr>
            <a:r>
              <a:rPr lang="en-US" sz="2500" dirty="0">
                <a:latin typeface="Arial" pitchFamily="34" charset="0"/>
                <a:cs typeface="Arial" pitchFamily="34" charset="0"/>
              </a:rPr>
              <a:t>Sequencing by hybridization</a:t>
            </a: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Wingdings" charset="2"/>
              <a:buChar char="Ø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208" y="2996952"/>
            <a:ext cx="5904656" cy="374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299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521" y="863714"/>
            <a:ext cx="6624735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Histórico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Outras técnicas à partir da década de 90: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Wingdings" charset="2"/>
              <a:buChar char="Ø"/>
              <a:defRPr/>
            </a:pPr>
            <a:r>
              <a:rPr lang="en-US" sz="2500" dirty="0" err="1">
                <a:latin typeface="Arial" pitchFamily="34" charset="0"/>
                <a:cs typeface="Arial" pitchFamily="34" charset="0"/>
              </a:rPr>
              <a:t>Pirosequenciamento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 (1988) -&gt; Roche 454</a:t>
            </a:r>
          </a:p>
          <a:p>
            <a:pPr marL="457200" lvl="0" indent="-457200">
              <a:spcBef>
                <a:spcPct val="0"/>
              </a:spcBef>
              <a:buFont typeface="Wingdings" charset="2"/>
              <a:buChar char="Ø"/>
              <a:defRPr/>
            </a:pPr>
            <a:endParaRPr lang="en-US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Wingdings" charset="2"/>
              <a:buChar char="Ø"/>
              <a:defRPr/>
            </a:pPr>
            <a:r>
              <a:rPr lang="en-US" sz="2500" dirty="0" err="1">
                <a:latin typeface="Arial" pitchFamily="34" charset="0"/>
                <a:cs typeface="Arial" pitchFamily="34" charset="0"/>
              </a:rPr>
              <a:t>Polony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 sequencing (2005) -&gt; Solid</a:t>
            </a:r>
          </a:p>
          <a:p>
            <a:pPr marL="457200" lvl="0" indent="-457200">
              <a:spcBef>
                <a:spcPct val="0"/>
              </a:spcBef>
              <a:buFont typeface="Wingdings" charset="2"/>
              <a:buChar char="Ø"/>
              <a:defRPr/>
            </a:pPr>
            <a:endParaRPr lang="en-US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Wingdings" charset="2"/>
              <a:buChar char="Ø"/>
              <a:defRPr/>
            </a:pPr>
            <a:r>
              <a:rPr lang="en-US" sz="2500" dirty="0">
                <a:latin typeface="Arial" pitchFamily="34" charset="0"/>
                <a:cs typeface="Arial" pitchFamily="34" charset="0"/>
              </a:rPr>
              <a:t>Bridge amplification (2005) -&gt; Illumina</a:t>
            </a: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Wingdings" charset="2"/>
              <a:buChar char="Ø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7661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198" y="1268760"/>
            <a:ext cx="712879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Histórico</a:t>
            </a:r>
          </a:p>
          <a:p>
            <a:pPr marL="457200" lvl="0" indent="-457200">
              <a:spcBef>
                <a:spcPct val="0"/>
              </a:spcBef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Wingdings" charset="2"/>
              <a:buChar char="Ø"/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à partir da década de 90: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Múltiplas empresas começam a adquirir e patentear técnicas sendo desenvolvidas em diversos laboratórios e investem pesadamente em P&amp;D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Revolução genômica causada pela conclusão do Genoma Humano, abertura de muitas áreas promissoras cientificamente e financeiramente</a:t>
            </a:r>
          </a:p>
        </p:txBody>
      </p:sp>
    </p:spTree>
    <p:extLst>
      <p:ext uri="{BB962C8B-B14F-4D97-AF65-F5344CB8AC3E}">
        <p14:creationId xmlns:p14="http://schemas.microsoft.com/office/powerpoint/2010/main" val="16590312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930"/>
          <a:stretch/>
        </p:blipFill>
        <p:spPr>
          <a:xfrm>
            <a:off x="5060836" y="1399651"/>
            <a:ext cx="2273796" cy="1869108"/>
          </a:xfrm>
          <a:prstGeom prst="rect">
            <a:avLst/>
          </a:prstGeom>
        </p:spPr>
      </p:pic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27" y="924825"/>
            <a:ext cx="492634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endParaRPr lang="pt-BR" dirty="0">
              <a:latin typeface="Arial" pitchFamily="34" charset="0"/>
              <a:cs typeface="Arial" pitchFamily="34" charset="0"/>
            </a:endParaRPr>
          </a:p>
          <a:p>
            <a:pPr lvl="0">
              <a:spcBef>
                <a:spcPct val="0"/>
              </a:spcBef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Genomas publicados:</a:t>
            </a:r>
          </a:p>
          <a:p>
            <a:pPr marL="457200" lvl="0" indent="-457200">
              <a:spcBef>
                <a:spcPct val="0"/>
              </a:spcBef>
              <a:buFont typeface="Wingdings" charset="2"/>
              <a:buChar char="Ø"/>
              <a:defRPr/>
            </a:pPr>
            <a:endParaRPr lang="pt-BR" dirty="0">
              <a:latin typeface="Arial" pitchFamily="34" charset="0"/>
              <a:cs typeface="Arial" pitchFamily="34" charset="0"/>
            </a:endParaRPr>
          </a:p>
          <a:p>
            <a:pPr marL="457200" lvl="0" indent="2286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Bacteriófago ɸX174 (1975) </a:t>
            </a:r>
          </a:p>
          <a:p>
            <a:pPr marL="457200" lvl="0" indent="2286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i="1" dirty="0" err="1">
                <a:latin typeface="Arial" pitchFamily="34" charset="0"/>
                <a:cs typeface="Arial" pitchFamily="34" charset="0"/>
              </a:rPr>
              <a:t>Haemophilus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i="1" dirty="0" err="1">
                <a:latin typeface="Arial" pitchFamily="34" charset="0"/>
                <a:cs typeface="Arial" pitchFamily="34" charset="0"/>
              </a:rPr>
              <a:t>influenzae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dirty="0">
                <a:latin typeface="Arial" pitchFamily="34" charset="0"/>
                <a:cs typeface="Arial" pitchFamily="34" charset="0"/>
              </a:rPr>
              <a:t>(bactéria, 1995)</a:t>
            </a:r>
          </a:p>
          <a:p>
            <a:pPr marL="457200" lvl="0" indent="2286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i="1" dirty="0" err="1">
                <a:latin typeface="Arial" pitchFamily="34" charset="0"/>
                <a:cs typeface="Arial" pitchFamily="34" charset="0"/>
              </a:rPr>
              <a:t>Saccharomyces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i="1" dirty="0" err="1">
                <a:latin typeface="Arial" pitchFamily="34" charset="0"/>
                <a:cs typeface="Arial" pitchFamily="34" charset="0"/>
              </a:rPr>
              <a:t>cerevisiae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dirty="0">
                <a:latin typeface="Arial" pitchFamily="34" charset="0"/>
                <a:cs typeface="Arial" pitchFamily="34" charset="0"/>
              </a:rPr>
              <a:t>(levedura, 1996)</a:t>
            </a:r>
          </a:p>
          <a:p>
            <a:pPr marL="457200" lvl="0" indent="2286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i="1" dirty="0">
                <a:latin typeface="Arial" pitchFamily="34" charset="0"/>
                <a:cs typeface="Arial" pitchFamily="34" charset="0"/>
              </a:rPr>
              <a:t>C. </a:t>
            </a:r>
            <a:r>
              <a:rPr lang="pt-BR" i="1" dirty="0" err="1">
                <a:latin typeface="Arial" pitchFamily="34" charset="0"/>
                <a:cs typeface="Arial" pitchFamily="34" charset="0"/>
              </a:rPr>
              <a:t>elegans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dirty="0">
                <a:latin typeface="Arial" pitchFamily="34" charset="0"/>
                <a:cs typeface="Arial" pitchFamily="34" charset="0"/>
              </a:rPr>
              <a:t>(nematódeo, 1998)</a:t>
            </a:r>
          </a:p>
          <a:p>
            <a:pPr marL="457200" lvl="0" indent="2286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i="1" dirty="0" err="1">
                <a:latin typeface="Arial" pitchFamily="34" charset="0"/>
                <a:cs typeface="Arial" pitchFamily="34" charset="0"/>
              </a:rPr>
              <a:t>Arabidopsis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i="1" dirty="0" err="1">
                <a:latin typeface="Arial" pitchFamily="34" charset="0"/>
                <a:cs typeface="Arial" pitchFamily="34" charset="0"/>
              </a:rPr>
              <a:t>thaliana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dirty="0">
                <a:latin typeface="Arial" pitchFamily="34" charset="0"/>
                <a:cs typeface="Arial" pitchFamily="34" charset="0"/>
              </a:rPr>
              <a:t>(planta, 2000)</a:t>
            </a:r>
          </a:p>
          <a:p>
            <a:pPr marL="457200" lvl="0" indent="2286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i="1" dirty="0">
                <a:latin typeface="Arial" pitchFamily="34" charset="0"/>
                <a:cs typeface="Arial" pitchFamily="34" charset="0"/>
              </a:rPr>
              <a:t>Homo sapiens </a:t>
            </a:r>
            <a:r>
              <a:rPr lang="pt-BR" dirty="0">
                <a:latin typeface="Arial" pitchFamily="34" charset="0"/>
                <a:cs typeface="Arial" pitchFamily="34" charset="0"/>
              </a:rPr>
              <a:t>(2001)</a:t>
            </a:r>
          </a:p>
          <a:p>
            <a:pPr marL="457200" lvl="0" indent="2286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i="1" dirty="0">
                <a:latin typeface="Arial" pitchFamily="34" charset="0"/>
                <a:cs typeface="Arial" pitchFamily="34" charset="0"/>
              </a:rPr>
              <a:t>Mus </a:t>
            </a:r>
            <a:r>
              <a:rPr lang="pt-BR" i="1" dirty="0" err="1">
                <a:latin typeface="Arial" pitchFamily="34" charset="0"/>
                <a:cs typeface="Arial" pitchFamily="34" charset="0"/>
              </a:rPr>
              <a:t>musculus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dirty="0">
                <a:latin typeface="Arial" pitchFamily="34" charset="0"/>
                <a:cs typeface="Arial" pitchFamily="34" charset="0"/>
              </a:rPr>
              <a:t>(rato, 2002)</a:t>
            </a:r>
            <a:endParaRPr lang="pt-BR" i="1" dirty="0">
              <a:latin typeface="Arial" pitchFamily="34" charset="0"/>
              <a:cs typeface="Arial" pitchFamily="34" charset="0"/>
            </a:endParaRPr>
          </a:p>
          <a:p>
            <a:pPr marL="457200" lvl="0" indent="228600">
              <a:spcBef>
                <a:spcPct val="0"/>
              </a:spcBef>
              <a:buFont typeface="Arial" charset="0"/>
              <a:buChar char="•"/>
              <a:defRPr/>
            </a:pPr>
            <a:endParaRPr lang="pt-BR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92080" y="2780928"/>
            <a:ext cx="20694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genomesonline.org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1F1429-CBBA-4E47-A5FD-554FFF7B0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836" y="3576116"/>
            <a:ext cx="2434735" cy="15911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FCC5C7-5CC3-0F4B-8003-C66791DDBD45}"/>
              </a:ext>
            </a:extLst>
          </p:cNvPr>
          <p:cNvSpPr txBox="1"/>
          <p:nvPr/>
        </p:nvSpPr>
        <p:spPr>
          <a:xfrm>
            <a:off x="5359417" y="104344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793AB-9FAC-F343-8CD8-F160889E9949}"/>
              </a:ext>
            </a:extLst>
          </p:cNvPr>
          <p:cNvSpPr txBox="1"/>
          <p:nvPr/>
        </p:nvSpPr>
        <p:spPr>
          <a:xfrm>
            <a:off x="5083839" y="326875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44750C-FB20-9C40-1CAC-7FD11DE52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382" y="5012836"/>
            <a:ext cx="2562583" cy="16861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41E954-05F5-D41B-0EF0-573F4B33E840}"/>
              </a:ext>
            </a:extLst>
          </p:cNvPr>
          <p:cNvSpPr txBox="1"/>
          <p:nvPr/>
        </p:nvSpPr>
        <p:spPr>
          <a:xfrm>
            <a:off x="5154639" y="533261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57419E-F866-CEE1-5AAD-4A70D1E92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85" y="4408502"/>
            <a:ext cx="4032448" cy="244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9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49519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4624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504" y="692696"/>
            <a:ext cx="7992888" cy="6632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Glossário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>
                <a:latin typeface="Arial" pitchFamily="34" charset="0"/>
                <a:cs typeface="Arial" pitchFamily="34" charset="0"/>
              </a:rPr>
              <a:t>Biblioteca, </a:t>
            </a:r>
            <a:r>
              <a:rPr lang="pt-BR" sz="2500" b="1" dirty="0" err="1">
                <a:latin typeface="Arial" pitchFamily="34" charset="0"/>
                <a:cs typeface="Arial" pitchFamily="34" charset="0"/>
              </a:rPr>
              <a:t>library</a:t>
            </a:r>
            <a:r>
              <a:rPr lang="pt-BR" sz="2500" b="1" dirty="0">
                <a:latin typeface="Arial" pitchFamily="34" charset="0"/>
                <a:cs typeface="Arial" pitchFamily="34" charset="0"/>
              </a:rPr>
              <a:t>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conjunto de fragmentos de DNA de uma amostra que passou por todos os procedimentos de preparação e está pronto para ser sequenciado;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 err="1">
                <a:latin typeface="Arial" pitchFamily="34" charset="0"/>
                <a:cs typeface="Arial" pitchFamily="34" charset="0"/>
              </a:rPr>
              <a:t>Barcode</a:t>
            </a:r>
            <a:r>
              <a:rPr lang="pt-BR" sz="2500" b="1" dirty="0">
                <a:latin typeface="Arial" pitchFamily="34" charset="0"/>
                <a:cs typeface="Arial" pitchFamily="34" charset="0"/>
              </a:rPr>
              <a:t>, índice, index: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pedaço de DNA de 6 a 8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bp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 de sequência conhecida que é inserido em cada fragmento de DNA em uma biblioteca, usados para separar computacionalmente sequências de diferentes amostras após o sequenciamento;</a:t>
            </a:r>
          </a:p>
          <a:p>
            <a:pPr marL="45720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>
                <a:latin typeface="Arial" pitchFamily="34" charset="0"/>
                <a:cs typeface="Arial" pitchFamily="34" charset="0"/>
              </a:rPr>
              <a:t>Adaptador: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pedaço de DNA que é inserido nos fragmentos durante a preparação de bibliotecas que permite que o fragmento se ligue à superfície onde o sequenciamento irá ocorrer;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b="1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6926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37551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35496" y="836712"/>
            <a:ext cx="8352928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Glossário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 err="1">
                <a:latin typeface="Arial" pitchFamily="34" charset="0"/>
                <a:cs typeface="Arial" pitchFamily="34" charset="0"/>
              </a:rPr>
              <a:t>Flow</a:t>
            </a:r>
            <a:r>
              <a:rPr lang="pt-BR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500" b="1" dirty="0" err="1">
                <a:latin typeface="Arial" pitchFamily="34" charset="0"/>
                <a:cs typeface="Arial" pitchFamily="34" charset="0"/>
              </a:rPr>
              <a:t>cell</a:t>
            </a:r>
            <a:r>
              <a:rPr lang="pt-BR" sz="2500" b="1" dirty="0">
                <a:latin typeface="Arial" pitchFamily="34" charset="0"/>
                <a:cs typeface="Arial" pitchFamily="34" charset="0"/>
              </a:rPr>
              <a:t>, lâmina: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lâmina onde ocorre o sequenciamento;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>
                <a:latin typeface="Arial" pitchFamily="34" charset="0"/>
                <a:cs typeface="Arial" pitchFamily="34" charset="0"/>
              </a:rPr>
              <a:t>Canaleta, </a:t>
            </a:r>
            <a:r>
              <a:rPr lang="pt-BR" sz="2500" b="1" dirty="0" err="1">
                <a:latin typeface="Arial" pitchFamily="34" charset="0"/>
                <a:cs typeface="Arial" pitchFamily="34" charset="0"/>
              </a:rPr>
              <a:t>lane</a:t>
            </a:r>
            <a:r>
              <a:rPr lang="pt-BR" sz="2500" b="1" dirty="0">
                <a:latin typeface="Arial" pitchFamily="34" charset="0"/>
                <a:cs typeface="Arial" pitchFamily="34" charset="0"/>
              </a:rPr>
              <a:t>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parte do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flow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cell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 onde as amostras são carregadas;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>
                <a:latin typeface="Arial" pitchFamily="34" charset="0"/>
                <a:cs typeface="Arial" pitchFamily="34" charset="0"/>
              </a:rPr>
              <a:t>Corrida, </a:t>
            </a:r>
            <a:r>
              <a:rPr lang="pt-BR" sz="2500" b="1" dirty="0" err="1">
                <a:latin typeface="Arial" pitchFamily="34" charset="0"/>
                <a:cs typeface="Arial" pitchFamily="34" charset="0"/>
              </a:rPr>
              <a:t>run</a:t>
            </a:r>
            <a:r>
              <a:rPr lang="pt-BR" sz="2500" b="1" dirty="0">
                <a:latin typeface="Arial" pitchFamily="34" charset="0"/>
                <a:cs typeface="Arial" pitchFamily="34" charset="0"/>
              </a:rPr>
              <a:t>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processo de obtenção de sequências, desde as amostras serem carregadas na máquina até a obtenção dos dados computacionais;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>
                <a:latin typeface="Arial" pitchFamily="34" charset="0"/>
                <a:cs typeface="Arial" pitchFamily="34" charset="0"/>
              </a:rPr>
              <a:t>Cobertura, </a:t>
            </a:r>
            <a:r>
              <a:rPr lang="pt-BR" sz="2500" b="1" dirty="0" err="1">
                <a:latin typeface="Arial" pitchFamily="34" charset="0"/>
                <a:cs typeface="Arial" pitchFamily="34" charset="0"/>
              </a:rPr>
              <a:t>coverage</a:t>
            </a:r>
            <a:r>
              <a:rPr lang="pt-BR" sz="2500" b="1" dirty="0">
                <a:latin typeface="Arial" pitchFamily="34" charset="0"/>
                <a:cs typeface="Arial" pitchFamily="34" charset="0"/>
              </a:rPr>
              <a:t>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valor que indica quantas vezes uma determinada base foi sequenciada durante a corrida;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 err="1">
                <a:latin typeface="Arial" pitchFamily="34" charset="0"/>
                <a:cs typeface="Arial" pitchFamily="34" charset="0"/>
              </a:rPr>
              <a:t>Paired-end-read</a:t>
            </a:r>
            <a:r>
              <a:rPr lang="pt-BR" sz="2500" b="1" dirty="0">
                <a:latin typeface="Arial" pitchFamily="34" charset="0"/>
                <a:cs typeface="Arial" pitchFamily="34" charset="0"/>
              </a:rPr>
              <a:t>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método de sequenciamento no qual o fragmento é sequenciado primeiro em um sentido e depois no outro;</a:t>
            </a:r>
            <a:endParaRPr lang="pt-BR" sz="25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3894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DN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49519" y="0"/>
            <a:ext cx="21070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Sequenciamento de Nova Geração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504" y="863714"/>
            <a:ext cx="784887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500" dirty="0">
                <a:latin typeface="Arial" pitchFamily="34" charset="0"/>
                <a:cs typeface="Arial" pitchFamily="34" charset="0"/>
              </a:rPr>
              <a:t>Glossário</a:t>
            </a: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 err="1">
                <a:latin typeface="Arial" pitchFamily="34" charset="0"/>
                <a:cs typeface="Arial" pitchFamily="34" charset="0"/>
              </a:rPr>
              <a:t>Read</a:t>
            </a:r>
            <a:r>
              <a:rPr lang="pt-BR" sz="2500" b="1" dirty="0">
                <a:latin typeface="Arial" pitchFamily="34" charset="0"/>
                <a:cs typeface="Arial" pitchFamily="34" charset="0"/>
              </a:rPr>
              <a:t>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pedaço de DNA que é sequenciado pela máquina, pode ser curto (50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bp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) ou longo (mais de 1000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bp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);</a:t>
            </a:r>
          </a:p>
          <a:p>
            <a:pPr marL="45720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>
                <a:latin typeface="Arial" pitchFamily="34" charset="0"/>
                <a:cs typeface="Arial" pitchFamily="34" charset="0"/>
              </a:rPr>
              <a:t>Assembly: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processo computacional no qual os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 são organizados em fragmentos maiores (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contigs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);</a:t>
            </a:r>
          </a:p>
          <a:p>
            <a:pPr marL="457200" indent="-457200">
              <a:spcBef>
                <a:spcPct val="0"/>
              </a:spcBef>
              <a:buFont typeface="Arial" charset="0"/>
              <a:buChar char="•"/>
              <a:defRPr/>
            </a:pPr>
            <a:r>
              <a:rPr lang="pt-BR" sz="2500" b="1" dirty="0" err="1">
                <a:latin typeface="Arial" pitchFamily="34" charset="0"/>
                <a:cs typeface="Arial" pitchFamily="34" charset="0"/>
              </a:rPr>
              <a:t>Contigs</a:t>
            </a:r>
            <a:r>
              <a:rPr lang="pt-BR" sz="2500" b="1" dirty="0">
                <a:latin typeface="Arial" pitchFamily="34" charset="0"/>
                <a:cs typeface="Arial" pitchFamily="34" charset="0"/>
              </a:rPr>
              <a:t>: 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fragmentos maiores compostos da comparação de vários </a:t>
            </a:r>
            <a:r>
              <a:rPr lang="pt-BR" sz="2500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sz="25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45720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Bef>
                <a:spcPct val="0"/>
              </a:spcBef>
              <a:buFont typeface="Arial" charset="0"/>
              <a:buChar char="•"/>
              <a:defRPr/>
            </a:pPr>
            <a:endParaRPr lang="pt-BR" sz="25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868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20734</TotalTime>
  <Words>1952</Words>
  <Application>Microsoft Office PowerPoint</Application>
  <PresentationFormat>On-screen Show (4:3)</PresentationFormat>
  <Paragraphs>568</Paragraphs>
  <Slides>73</Slides>
  <Notes>32</Notes>
  <HiddenSlides>11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Arial</vt:lpstr>
      <vt:lpstr>Calibri</vt:lpstr>
      <vt:lpstr>Wingdings</vt:lpstr>
      <vt:lpstr>Thème Office</vt:lpstr>
      <vt:lpstr>1_Thème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Reviewer</dc:creator>
  <cp:lastModifiedBy>reviewer</cp:lastModifiedBy>
  <cp:revision>406</cp:revision>
  <dcterms:created xsi:type="dcterms:W3CDTF">2013-09-17T16:48:06Z</dcterms:created>
  <dcterms:modified xsi:type="dcterms:W3CDTF">2026-10-18T22:26:05Z</dcterms:modified>
</cp:coreProperties>
</file>