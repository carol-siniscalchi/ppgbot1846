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5"/>
  </p:notesMasterIdLst>
  <p:sldIdLst>
    <p:sldId id="257" r:id="rId2"/>
    <p:sldId id="258" r:id="rId3"/>
    <p:sldId id="260" r:id="rId4"/>
    <p:sldId id="309" r:id="rId5"/>
    <p:sldId id="310" r:id="rId6"/>
    <p:sldId id="261" r:id="rId7"/>
    <p:sldId id="311" r:id="rId8"/>
    <p:sldId id="312" r:id="rId9"/>
    <p:sldId id="313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14" r:id="rId18"/>
    <p:sldId id="315" r:id="rId19"/>
    <p:sldId id="262" r:id="rId20"/>
    <p:sldId id="263" r:id="rId21"/>
    <p:sldId id="317" r:id="rId22"/>
    <p:sldId id="318" r:id="rId23"/>
    <p:sldId id="270" r:id="rId24"/>
    <p:sldId id="271" r:id="rId25"/>
    <p:sldId id="337" r:id="rId26"/>
    <p:sldId id="338" r:id="rId27"/>
    <p:sldId id="342" r:id="rId28"/>
    <p:sldId id="274" r:id="rId29"/>
    <p:sldId id="275" r:id="rId30"/>
    <p:sldId id="329" r:id="rId31"/>
    <p:sldId id="276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303" r:id="rId40"/>
    <p:sldId id="307" r:id="rId41"/>
    <p:sldId id="306" r:id="rId42"/>
    <p:sldId id="304" r:id="rId43"/>
    <p:sldId id="305" r:id="rId44"/>
    <p:sldId id="308" r:id="rId45"/>
    <p:sldId id="325" r:id="rId46"/>
    <p:sldId id="290" r:id="rId47"/>
    <p:sldId id="291" r:id="rId48"/>
    <p:sldId id="341" r:id="rId49"/>
    <p:sldId id="339" r:id="rId50"/>
    <p:sldId id="340" r:id="rId51"/>
    <p:sldId id="298" r:id="rId52"/>
    <p:sldId id="299" r:id="rId53"/>
    <p:sldId id="301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16"/>
    <p:restoredTop sz="93632"/>
  </p:normalViewPr>
  <p:slideViewPr>
    <p:cSldViewPr snapToGrid="0" snapToObjects="1">
      <p:cViewPr varScale="1">
        <p:scale>
          <a:sx n="92" d="100"/>
          <a:sy n="92" d="100"/>
        </p:scale>
        <p:origin x="8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6E09D-6A8A-1048-9E87-944516FE138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5AC7C-A29E-CB48-A863-B6CB3AA81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34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164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966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280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5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960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57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290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839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868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94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174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6EBA5-D235-3F4E-A374-5A71DE2DF23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4A159-2431-924C-B8F8-8640CB648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pn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gif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16024" y="133762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Aplicações para sistemática</a:t>
            </a: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403648" y="3284984"/>
            <a:ext cx="6336704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Filogenia</a:t>
            </a:r>
            <a:r>
              <a:rPr lang="fr-FR" sz="23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filogeografia</a:t>
            </a: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ct val="0"/>
              </a:spcBef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fr-FR" sz="23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3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fr-FR" sz="2300" dirty="0">
                <a:latin typeface="Arial" pitchFamily="34" charset="0"/>
                <a:cs typeface="Arial" pitchFamily="34" charset="0"/>
              </a:rPr>
              <a:t>)</a:t>
            </a:r>
          </a:p>
          <a:p>
            <a:pPr lvl="0">
              <a:spcBef>
                <a:spcPct val="0"/>
              </a:spcBef>
              <a:defRPr/>
            </a:pP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Metagenômica</a:t>
            </a: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3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SNPs</a:t>
            </a: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971550" lvl="1" indent="-514350">
              <a:spcBef>
                <a:spcPct val="0"/>
              </a:spcBef>
              <a:buFont typeface="Arial" pitchFamily="34" charset="0"/>
              <a:buChar char="•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indent="-514350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 algn="ctr"/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 algn="ctr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 indent="-457200" algn="ctr">
              <a:spcBef>
                <a:spcPct val="0"/>
              </a:spcBef>
            </a:pPr>
            <a:br>
              <a:rPr lang="pt-BR" sz="23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3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2" name="Groupe 13"/>
          <p:cNvGrpSpPr/>
          <p:nvPr/>
        </p:nvGrpSpPr>
        <p:grpSpPr>
          <a:xfrm>
            <a:off x="7812359" y="1"/>
            <a:ext cx="1331641" cy="6885383"/>
            <a:chOff x="7812359" y="1"/>
            <a:chExt cx="1331641" cy="6885383"/>
          </a:xfrm>
        </p:grpSpPr>
        <p:pic>
          <p:nvPicPr>
            <p:cNvPr id="5529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12359" y="1"/>
              <a:ext cx="1331640" cy="16107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812359" y="1602507"/>
              <a:ext cx="1331641" cy="2042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812359" y="3645024"/>
              <a:ext cx="1316970" cy="1872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812359" y="5499392"/>
              <a:ext cx="1331639" cy="1385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9620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308304" y="3501008"/>
            <a:ext cx="57606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733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10476" y="839611"/>
            <a:ext cx="80648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itchFamily="34" charset="0"/>
                <a:cs typeface="Arial" pitchFamily="34" charset="0"/>
              </a:rPr>
              <a:t>Análise de </a:t>
            </a:r>
            <a:r>
              <a:rPr lang="pt-BR" sz="2400" b="1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pt-BR" sz="2400" b="1" dirty="0">
                <a:latin typeface="Arial" pitchFamily="34" charset="0"/>
                <a:cs typeface="Arial" pitchFamily="34" charset="0"/>
              </a:rPr>
              <a:t> em larga-escala</a:t>
            </a:r>
          </a:p>
          <a:p>
            <a:endParaRPr lang="pt-BR" sz="2400" b="1" dirty="0">
              <a:latin typeface="Arial" pitchFamily="34" charset="0"/>
              <a:cs typeface="Arial" pitchFamily="34" charset="0"/>
            </a:endParaRPr>
          </a:p>
          <a:p>
            <a:endParaRPr lang="pt-BR" sz="2400" b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Identificação de todos os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RNAs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expressos em um dado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organismo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ou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tecido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Comparação do perfil de expressão gênica em diferentes condições ambientais, estados patológicos, fisiológicos ou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desenvolvimento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Caracterização de polimorfismos associados aos genes transcritos: formas alternativas de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splicing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e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Obtenção de marcadores para filogenia</a:t>
            </a:r>
          </a:p>
        </p:txBody>
      </p:sp>
    </p:spTree>
    <p:extLst>
      <p:ext uri="{BB962C8B-B14F-4D97-AF65-F5344CB8AC3E}">
        <p14:creationId xmlns:p14="http://schemas.microsoft.com/office/powerpoint/2010/main" val="783764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65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196752"/>
            <a:ext cx="6552728" cy="5242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6084168" y="1372706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latin typeface="Arial" pitchFamily="34" charset="0"/>
                <a:cs typeface="Arial" pitchFamily="34" charset="0"/>
              </a:rPr>
              <a:t>Extração RNA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6012160" y="2564904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latin typeface="Arial" pitchFamily="34" charset="0"/>
                <a:cs typeface="Arial" pitchFamily="34" charset="0"/>
              </a:rPr>
              <a:t>Fragmentação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6012160" y="4077072"/>
            <a:ext cx="2448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latin typeface="Arial" pitchFamily="34" charset="0"/>
                <a:cs typeface="Arial" pitchFamily="34" charset="0"/>
              </a:rPr>
              <a:t>Converter em cDNA e adicionar adaptadores</a:t>
            </a:r>
          </a:p>
        </p:txBody>
      </p:sp>
      <p:pic>
        <p:nvPicPr>
          <p:cNvPr id="1065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8223107">
            <a:off x="5654435" y="5744754"/>
            <a:ext cx="432048" cy="756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Pentagone 15"/>
          <p:cNvSpPr/>
          <p:nvPr/>
        </p:nvSpPr>
        <p:spPr>
          <a:xfrm>
            <a:off x="6372200" y="5733256"/>
            <a:ext cx="2232248" cy="1008112"/>
          </a:xfrm>
          <a:prstGeom prst="homeP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A0A042-6054-164B-8415-014788930714}"/>
              </a:ext>
            </a:extLst>
          </p:cNvPr>
          <p:cNvSpPr/>
          <p:nvPr/>
        </p:nvSpPr>
        <p:spPr>
          <a:xfrm>
            <a:off x="0" y="0"/>
            <a:ext cx="3733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5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35" r="56302" b="51051"/>
          <a:stretch/>
        </p:blipFill>
        <p:spPr>
          <a:xfrm>
            <a:off x="187890" y="300624"/>
            <a:ext cx="4152265" cy="64301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5" r="55071"/>
          <a:stretch/>
        </p:blipFill>
        <p:spPr>
          <a:xfrm>
            <a:off x="4966570" y="266067"/>
            <a:ext cx="3914383" cy="67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2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47" t="29403" b="3379"/>
          <a:stretch/>
        </p:blipFill>
        <p:spPr>
          <a:xfrm>
            <a:off x="5010409" y="-31315"/>
            <a:ext cx="3858018" cy="69769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37" t="10776" b="70411"/>
          <a:stretch/>
        </p:blipFill>
        <p:spPr>
          <a:xfrm>
            <a:off x="175364" y="1791222"/>
            <a:ext cx="4686799" cy="235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3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308304" y="3501008"/>
            <a:ext cx="57606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402" name="Picture 2" descr="http://biologia12c.files.wordpress.com/2010/01/aaarevers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7207" y="1395957"/>
            <a:ext cx="7225570" cy="5417419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827584" y="581779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fr-FR" sz="2400" b="1">
                <a:latin typeface="Arial" pitchFamily="34" charset="0"/>
                <a:cs typeface="Arial" pitchFamily="34" charset="0"/>
              </a:rPr>
              <a:t>Obtenção cDNA (DNA complementar)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2EB1F-DDE8-3F49-A9B6-E45F8A470EC5}"/>
              </a:ext>
            </a:extLst>
          </p:cNvPr>
          <p:cNvSpPr/>
          <p:nvPr/>
        </p:nvSpPr>
        <p:spPr>
          <a:xfrm>
            <a:off x="0" y="0"/>
            <a:ext cx="3733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64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/>
          <p:cNvSpPr txBox="1"/>
          <p:nvPr/>
        </p:nvSpPr>
        <p:spPr>
          <a:xfrm>
            <a:off x="127091" y="752216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tabLst>
                <a:tab pos="6908800" algn="l"/>
              </a:tabLst>
            </a:pPr>
            <a:r>
              <a:rPr lang="pt-PT" sz="2400" b="1" dirty="0">
                <a:latin typeface="Arial" pitchFamily="34" charset="0"/>
                <a:cs typeface="Arial" pitchFamily="34" charset="0"/>
              </a:rPr>
              <a:t>Desvantagens: trabalhar com RNA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4"/>
          <a:stretch/>
        </p:blipFill>
        <p:spPr>
          <a:xfrm rot="5400000">
            <a:off x="4892487" y="542956"/>
            <a:ext cx="4590104" cy="3686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504432"/>
            <a:ext cx="49102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PT" sz="2000" dirty="0"/>
              <a:t>Rápida degradação (fita simples)</a:t>
            </a:r>
          </a:p>
          <a:p>
            <a:pPr marL="285750" indent="-285750">
              <a:buFontTx/>
              <a:buChar char="-"/>
            </a:pPr>
            <a:r>
              <a:rPr lang="pt-PT" sz="2000" dirty="0"/>
              <a:t>Como coletar???</a:t>
            </a:r>
          </a:p>
          <a:p>
            <a:pPr marL="742950" lvl="1" indent="-285750">
              <a:buFontTx/>
              <a:buChar char="-"/>
            </a:pPr>
            <a:r>
              <a:rPr lang="pt-PT" sz="2000" dirty="0" err="1"/>
              <a:t>RNAlater</a:t>
            </a:r>
            <a:endParaRPr lang="pt-PT" sz="2000" dirty="0"/>
          </a:p>
          <a:p>
            <a:pPr marL="742950" lvl="1" indent="-285750">
              <a:buFontTx/>
              <a:buChar char="-"/>
            </a:pPr>
            <a:r>
              <a:rPr lang="pt-PT" sz="2000" dirty="0"/>
              <a:t>Congelar imediatamente após a coleta em nitrogênio líquido e manter em      -80ºC</a:t>
            </a:r>
          </a:p>
          <a:p>
            <a:pPr marL="742950" lvl="1" indent="-285750">
              <a:buFontTx/>
              <a:buChar char="-"/>
            </a:pPr>
            <a:r>
              <a:rPr lang="pt-PT" sz="2000" dirty="0"/>
              <a:t>Coletar logo antes da extração</a:t>
            </a:r>
          </a:p>
          <a:p>
            <a:pPr marL="347663" lvl="1" indent="-336550">
              <a:buFontTx/>
              <a:buChar char="-"/>
            </a:pPr>
            <a:r>
              <a:rPr lang="pt-PT" sz="2000" dirty="0"/>
              <a:t>Extração delicada, pode ser necessário testar múltiplos protocolos</a:t>
            </a:r>
          </a:p>
          <a:p>
            <a:pPr marL="347663" lvl="1" indent="-336550">
              <a:buFontTx/>
              <a:buChar char="-"/>
            </a:pPr>
            <a:r>
              <a:rPr lang="pt-PT" sz="2000" dirty="0"/>
              <a:t>Tem que ser quantificado em </a:t>
            </a:r>
            <a:r>
              <a:rPr lang="pt-PT" sz="2000" dirty="0" err="1"/>
              <a:t>Bioanalyzer</a:t>
            </a:r>
            <a:r>
              <a:rPr lang="pt-PT" sz="2000" dirty="0"/>
              <a:t> (RIN score) </a:t>
            </a:r>
          </a:p>
          <a:p>
            <a:pPr marL="347663" lvl="1" indent="-336550">
              <a:buFontTx/>
              <a:buChar char="-"/>
            </a:pPr>
            <a:r>
              <a:rPr lang="pt-PT" sz="2000" dirty="0"/>
              <a:t>Se o objetivo for </a:t>
            </a:r>
            <a:r>
              <a:rPr lang="pt-PT" sz="2000" dirty="0" err="1"/>
              <a:t>mRNA</a:t>
            </a:r>
            <a:r>
              <a:rPr lang="pt-PT" sz="2000" dirty="0"/>
              <a:t>, é necessário </a:t>
            </a:r>
            <a:r>
              <a:rPr lang="pt-PT" sz="2000" dirty="0" err="1"/>
              <a:t>depletar</a:t>
            </a:r>
            <a:r>
              <a:rPr lang="pt-PT" sz="2000" dirty="0"/>
              <a:t> os </a:t>
            </a:r>
            <a:r>
              <a:rPr lang="pt-PT" sz="2000" dirty="0" err="1"/>
              <a:t>tRNAs</a:t>
            </a:r>
            <a:r>
              <a:rPr lang="pt-PT" sz="2000" dirty="0"/>
              <a:t> e </a:t>
            </a:r>
            <a:r>
              <a:rPr lang="pt-PT" sz="2000" dirty="0" err="1"/>
              <a:t>rRNAs</a:t>
            </a:r>
            <a:endParaRPr lang="pt-PT" sz="2000" dirty="0"/>
          </a:p>
          <a:p>
            <a:pPr marL="742950" lvl="1" indent="-285750">
              <a:buFontTx/>
              <a:buChar char="-"/>
            </a:pPr>
            <a:endParaRPr lang="pt-PT" sz="2000" dirty="0"/>
          </a:p>
          <a:p>
            <a:pPr marL="742950" lvl="1" indent="-285750">
              <a:buFontTx/>
              <a:buChar char="-"/>
            </a:pPr>
            <a:endParaRPr lang="pt-PT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710" y="4681045"/>
            <a:ext cx="3582146" cy="2176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66AF10-C0AA-E546-BAEB-F12B17B01033}"/>
              </a:ext>
            </a:extLst>
          </p:cNvPr>
          <p:cNvSpPr/>
          <p:nvPr/>
        </p:nvSpPr>
        <p:spPr>
          <a:xfrm>
            <a:off x="0" y="0"/>
            <a:ext cx="3733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62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/>
          <p:cNvSpPr txBox="1"/>
          <p:nvPr/>
        </p:nvSpPr>
        <p:spPr>
          <a:xfrm>
            <a:off x="151178" y="837664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tabLst>
                <a:tab pos="6908800" algn="l"/>
              </a:tabLst>
            </a:pPr>
            <a:r>
              <a:rPr lang="pt-PT" sz="2400" b="1" dirty="0">
                <a:latin typeface="Arial" pitchFamily="34" charset="0"/>
                <a:cs typeface="Arial" pitchFamily="34" charset="0"/>
              </a:rPr>
              <a:t>Outros detalhes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121" y="1506908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pt-PT" sz="2400" dirty="0"/>
              <a:t>Padronização é essencial: expressão pode ser diferente num mesmo tecido dependendo da hora de coleta, idade do indivíduo, condições ambientais, </a:t>
            </a:r>
            <a:r>
              <a:rPr lang="pt-PT" sz="2400" dirty="0" err="1"/>
              <a:t>etc</a:t>
            </a:r>
            <a:r>
              <a:rPr lang="pt-PT" sz="2400" dirty="0"/>
              <a:t>, </a:t>
            </a:r>
            <a:r>
              <a:rPr lang="pt-PT" sz="2400" dirty="0" err="1"/>
              <a:t>etc</a:t>
            </a:r>
            <a:r>
              <a:rPr lang="pt-PT" sz="2400" dirty="0"/>
              <a:t>, </a:t>
            </a:r>
            <a:r>
              <a:rPr lang="pt-PT" sz="2400" dirty="0" err="1"/>
              <a:t>etc</a:t>
            </a:r>
            <a:endParaRPr lang="pt-PT" sz="2400" dirty="0"/>
          </a:p>
          <a:p>
            <a:pPr marL="742950" lvl="1" indent="-285750">
              <a:buFontTx/>
              <a:buChar char="-"/>
            </a:pPr>
            <a:r>
              <a:rPr lang="pt-PT" sz="2400" dirty="0"/>
              <a:t>Pode ser necessário cultivar em estufa ou laboratório para garantir a padronização</a:t>
            </a:r>
          </a:p>
          <a:p>
            <a:pPr marL="742950" lvl="1" indent="-285750">
              <a:buFontTx/>
              <a:buChar char="-"/>
            </a:pPr>
            <a:endParaRPr lang="pt-PT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4182B-6C84-BC4D-BA7C-5823F28ED725}"/>
              </a:ext>
            </a:extLst>
          </p:cNvPr>
          <p:cNvSpPr/>
          <p:nvPr/>
        </p:nvSpPr>
        <p:spPr>
          <a:xfrm>
            <a:off x="0" y="0"/>
            <a:ext cx="3733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7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/>
          <p:cNvSpPr txBox="1"/>
          <p:nvPr/>
        </p:nvSpPr>
        <p:spPr>
          <a:xfrm>
            <a:off x="151178" y="5330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tabLst>
                <a:tab pos="6908800" algn="l"/>
              </a:tabLst>
            </a:pPr>
            <a:r>
              <a:rPr lang="pt-PT" sz="2400" b="1" dirty="0">
                <a:latin typeface="Arial" pitchFamily="34" charset="0"/>
                <a:cs typeface="Arial" pitchFamily="34" charset="0"/>
              </a:rPr>
              <a:t>Análise dos dados: 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depende do seu objetivo final!</a:t>
            </a:r>
            <a:endParaRPr lang="pt-PT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5233"/>
            <a:ext cx="9121962" cy="51260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64F32F-691E-6643-8B3E-DFC2AF624F28}"/>
              </a:ext>
            </a:extLst>
          </p:cNvPr>
          <p:cNvSpPr/>
          <p:nvPr/>
        </p:nvSpPr>
        <p:spPr>
          <a:xfrm>
            <a:off x="0" y="0"/>
            <a:ext cx="3733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Transcriptomas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821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061DC6-F4A1-C04E-9FC0-DAA03AFC936B}"/>
              </a:ext>
            </a:extLst>
          </p:cNvPr>
          <p:cNvSpPr/>
          <p:nvPr/>
        </p:nvSpPr>
        <p:spPr>
          <a:xfrm>
            <a:off x="0" y="0"/>
            <a:ext cx="4996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PT" sz="2400" dirty="0" err="1"/>
              <a:t>Transcriptomas</a:t>
            </a:r>
            <a:r>
              <a:rPr lang="pt-PT" sz="2400" dirty="0"/>
              <a:t> e filogenias 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(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1AF05-A436-A445-94CC-C65647912FC5}"/>
              </a:ext>
            </a:extLst>
          </p:cNvPr>
          <p:cNvSpPr txBox="1"/>
          <p:nvPr/>
        </p:nvSpPr>
        <p:spPr>
          <a:xfrm>
            <a:off x="0" y="893135"/>
            <a:ext cx="91440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8788" lvl="2" indent="-342900">
              <a:buFont typeface="Arial" panose="020B0604020202020204" pitchFamily="34" charset="0"/>
              <a:buChar char="•"/>
            </a:pPr>
            <a:r>
              <a:rPr lang="pt-PT" sz="2400" dirty="0"/>
              <a:t>Plantas coletadas em diferentes locais/estágios de desenvolvimento podem estar expressando diferentes genes</a:t>
            </a:r>
          </a:p>
          <a:p>
            <a:pPr marL="458788" lvl="2" indent="-342900">
              <a:buFont typeface="Arial" panose="020B0604020202020204" pitchFamily="34" charset="0"/>
              <a:buChar char="•"/>
            </a:pPr>
            <a:r>
              <a:rPr lang="pt-PT" sz="2400" dirty="0"/>
              <a:t>Como garantir que terei os mesmos marcadores para todos os indivíduos? </a:t>
            </a:r>
          </a:p>
          <a:p>
            <a:pPr marL="1657350" lvl="3" indent="-285750">
              <a:buFontTx/>
              <a:buChar char="-"/>
            </a:pPr>
            <a:r>
              <a:rPr lang="pt-PT" sz="2400" dirty="0"/>
              <a:t>necessário filtrar bem os dados </a:t>
            </a:r>
          </a:p>
          <a:p>
            <a:pPr marL="1657350" lvl="3" indent="-285750">
              <a:buFontTx/>
              <a:buChar char="-"/>
            </a:pPr>
            <a:r>
              <a:rPr lang="pt-PT" sz="2400" dirty="0"/>
              <a:t>aumento dos dados ausentes</a:t>
            </a:r>
          </a:p>
          <a:p>
            <a:pPr marL="1657350" lvl="3" indent="-285750">
              <a:buFontTx/>
              <a:buChar char="-"/>
            </a:pPr>
            <a:r>
              <a:rPr lang="pt-PT" sz="2400" dirty="0"/>
              <a:t>Inferência de paralogia é mais complicada</a:t>
            </a:r>
          </a:p>
          <a:p>
            <a:pPr marL="1200150" lvl="2" indent="-285750">
              <a:buFontTx/>
              <a:buChar char="-"/>
            </a:pPr>
            <a:endParaRPr lang="pt-PT" sz="2400" dirty="0"/>
          </a:p>
          <a:p>
            <a:pPr marL="1200150" lvl="2" indent="-285750">
              <a:buFontTx/>
              <a:buChar char="-"/>
            </a:pPr>
            <a:r>
              <a:rPr lang="pt-PT" sz="2400" b="1" dirty="0"/>
              <a:t>Vantagens: não depende de genoma de referência, obtenção de muitos marcadores (milhares), custo</a:t>
            </a:r>
            <a:endParaRPr lang="pt-PT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338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E50019-46DB-3444-883A-D1712A3BB3A2}"/>
              </a:ext>
            </a:extLst>
          </p:cNvPr>
          <p:cNvSpPr/>
          <p:nvPr/>
        </p:nvSpPr>
        <p:spPr>
          <a:xfrm>
            <a:off x="0" y="0"/>
            <a:ext cx="4996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 err="1"/>
              <a:t>Transcriptomas</a:t>
            </a:r>
            <a:r>
              <a:rPr lang="pt-BR" sz="2400" dirty="0"/>
              <a:t> e filogenias 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(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D4D4-3C2B-5D46-B35F-5AEDD6952AA1}"/>
              </a:ext>
            </a:extLst>
          </p:cNvPr>
          <p:cNvSpPr txBox="1"/>
          <p:nvPr/>
        </p:nvSpPr>
        <p:spPr>
          <a:xfrm>
            <a:off x="42530" y="907748"/>
            <a:ext cx="90589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8788" lvl="2" indent="-342900">
              <a:buFont typeface="Arial" panose="020B0604020202020204" pitchFamily="34" charset="0"/>
              <a:buChar char="•"/>
            </a:pPr>
            <a:r>
              <a:rPr lang="pt-BR" sz="2400" dirty="0"/>
              <a:t>A montagem tem que levar em conta:</a:t>
            </a:r>
          </a:p>
          <a:p>
            <a:pPr marL="915988" lvl="3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diferentes níveis de expressão: normalização de transcritos muito comuns ou muito raros</a:t>
            </a:r>
          </a:p>
          <a:p>
            <a:pPr marL="915988" lvl="3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diferentes </a:t>
            </a:r>
            <a:r>
              <a:rPr lang="pt-BR" sz="2400" dirty="0" err="1"/>
              <a:t>isoformas</a:t>
            </a:r>
            <a:r>
              <a:rPr lang="pt-BR" sz="2400" dirty="0"/>
              <a:t> devido à </a:t>
            </a:r>
            <a:r>
              <a:rPr lang="pt-BR" sz="2400" dirty="0" err="1"/>
              <a:t>splicing</a:t>
            </a:r>
            <a:r>
              <a:rPr lang="pt-BR" sz="2400" dirty="0"/>
              <a:t> alternativo: pode influenciar em avaliações de </a:t>
            </a:r>
            <a:r>
              <a:rPr lang="pt-BR" sz="2400" dirty="0" err="1"/>
              <a:t>paralogia</a:t>
            </a:r>
            <a:endParaRPr lang="pt-BR" sz="2400" dirty="0"/>
          </a:p>
          <a:p>
            <a:pPr marL="915988" lvl="3" indent="-342900">
              <a:buFont typeface="Arial" panose="020B0604020202020204" pitchFamily="34" charset="0"/>
              <a:buChar char="•"/>
            </a:pPr>
            <a:r>
              <a:rPr lang="pt-BR" sz="2400" dirty="0" err="1"/>
              <a:t>Ex</a:t>
            </a:r>
            <a:r>
              <a:rPr lang="pt-BR" sz="2400" dirty="0"/>
              <a:t>: Trinity, </a:t>
            </a:r>
            <a:r>
              <a:rPr lang="pt-BR" sz="2400" dirty="0" err="1"/>
              <a:t>SOAPdenovoTrans</a:t>
            </a:r>
            <a:endParaRPr lang="pt-BR" sz="2400" dirty="0"/>
          </a:p>
          <a:p>
            <a:pPr marL="465138" lvl="3" indent="-285750">
              <a:buFont typeface="Arial" panose="020B0604020202020204" pitchFamily="34" charset="0"/>
              <a:buChar char="•"/>
            </a:pPr>
            <a:r>
              <a:rPr lang="pt-BR" sz="2400" dirty="0"/>
              <a:t>Avaliação das montagens usando genes BUSCO</a:t>
            </a:r>
          </a:p>
          <a:p>
            <a:pPr marL="465138" lvl="3" indent="-285750">
              <a:buFont typeface="Arial" panose="020B0604020202020204" pitchFamily="34" charset="0"/>
              <a:buChar char="•"/>
            </a:pPr>
            <a:r>
              <a:rPr lang="pt-BR" sz="2400" dirty="0"/>
              <a:t>Geralmente as sequências são traduzidas para sequências de aminoácidos para facilitar o alinhamento múltiplo (</a:t>
            </a:r>
            <a:r>
              <a:rPr lang="pt-BR" sz="2400" dirty="0" err="1"/>
              <a:t>TransPipe</a:t>
            </a:r>
            <a:r>
              <a:rPr lang="pt-BR" sz="2400" dirty="0"/>
              <a:t>, </a:t>
            </a:r>
            <a:r>
              <a:rPr lang="pt-BR" sz="2400" dirty="0" err="1"/>
              <a:t>Genewise</a:t>
            </a:r>
            <a:r>
              <a:rPr lang="pt-BR" sz="2400" dirty="0"/>
              <a:t>)</a:t>
            </a:r>
          </a:p>
          <a:p>
            <a:pPr marL="465138" lvl="3" indent="-285750">
              <a:buFont typeface="Arial" panose="020B0604020202020204" pitchFamily="34" charset="0"/>
              <a:buChar char="•"/>
            </a:pPr>
            <a:r>
              <a:rPr lang="pt-BR" sz="2400" dirty="0"/>
              <a:t>Busca por grupos de genes </a:t>
            </a:r>
            <a:r>
              <a:rPr lang="pt-BR" sz="2400" dirty="0" err="1"/>
              <a:t>ortólogos</a:t>
            </a:r>
            <a:r>
              <a:rPr lang="pt-BR" sz="2400" dirty="0"/>
              <a:t> que serão usados como marcadores (</a:t>
            </a:r>
            <a:r>
              <a:rPr lang="pt-BR" sz="2400" dirty="0" err="1"/>
              <a:t>OrthoFinder</a:t>
            </a:r>
            <a:r>
              <a:rPr lang="pt-BR" sz="2400" dirty="0"/>
              <a:t>)</a:t>
            </a:r>
          </a:p>
          <a:p>
            <a:pPr marL="465138" lvl="3" indent="-285750">
              <a:buFont typeface="Arial" panose="020B0604020202020204" pitchFamily="34" charset="0"/>
              <a:buChar char="•"/>
            </a:pPr>
            <a:r>
              <a:rPr lang="pt-BR" sz="2400" dirty="0"/>
              <a:t>Alinhamento com árvore de referência (PASTA)</a:t>
            </a:r>
          </a:p>
        </p:txBody>
      </p:sp>
    </p:spTree>
    <p:extLst>
      <p:ext uri="{BB962C8B-B14F-4D97-AF65-F5344CB8AC3E}">
        <p14:creationId xmlns:p14="http://schemas.microsoft.com/office/powerpoint/2010/main" val="221830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409F7E-9F88-834C-8C4B-2DBC78E4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62"/>
            <a:ext cx="9144000" cy="25870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3AD1B1-92F3-1F43-B9B6-1E8B7A61C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768" y="2684363"/>
            <a:ext cx="5762847" cy="4068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B9F0FE-363F-7C44-91FB-B668C9515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25" y="2959161"/>
            <a:ext cx="2727158" cy="362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8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F1E70D-5AAE-5048-B6BB-A4FAA4DC5852}"/>
              </a:ext>
            </a:extLst>
          </p:cNvPr>
          <p:cNvSpPr/>
          <p:nvPr/>
        </p:nvSpPr>
        <p:spPr>
          <a:xfrm>
            <a:off x="0" y="0"/>
            <a:ext cx="6274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 err="1"/>
              <a:t>Transcriptomas</a:t>
            </a:r>
            <a:r>
              <a:rPr lang="pt-BR" sz="2400" dirty="0"/>
              <a:t> e duplicações genômicas (</a:t>
            </a:r>
            <a:r>
              <a:rPr lang="pt-BR" sz="2400" dirty="0" err="1"/>
              <a:t>WGDs</a:t>
            </a:r>
            <a:r>
              <a:rPr lang="pt-BR" sz="2400" dirty="0"/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71277-A0FD-EF46-AAAC-60505D12A85F}"/>
              </a:ext>
            </a:extLst>
          </p:cNvPr>
          <p:cNvSpPr txBox="1"/>
          <p:nvPr/>
        </p:nvSpPr>
        <p:spPr>
          <a:xfrm>
            <a:off x="42530" y="867529"/>
            <a:ext cx="5351105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8788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/>
              <a:t>Transcriptomas</a:t>
            </a:r>
            <a:r>
              <a:rPr lang="pt-BR" sz="2000" dirty="0"/>
              <a:t> podem ser usados para avaliar a ocorrência de duplicações genômicas antigas (</a:t>
            </a:r>
            <a:r>
              <a:rPr lang="pt-BR" sz="2000" dirty="0" err="1"/>
              <a:t>paleopoliploidia</a:t>
            </a:r>
            <a:r>
              <a:rPr lang="pt-BR" sz="2000" dirty="0"/>
              <a:t>) em uma linhagem de organismos </a:t>
            </a:r>
          </a:p>
          <a:p>
            <a:pPr marL="458788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Análise baseada na distribuição de substituições sinônimas por sítio (</a:t>
            </a:r>
            <a:r>
              <a:rPr lang="pt-BR" sz="2000" dirty="0" err="1"/>
              <a:t>Ks</a:t>
            </a:r>
            <a:r>
              <a:rPr lang="pt-BR" sz="2000" dirty="0"/>
              <a:t>), calculada entre genes </a:t>
            </a:r>
            <a:r>
              <a:rPr lang="pt-BR" sz="2000" dirty="0" err="1"/>
              <a:t>parálogos</a:t>
            </a:r>
            <a:r>
              <a:rPr lang="pt-BR" sz="2000" dirty="0"/>
              <a:t> em um genoma</a:t>
            </a:r>
          </a:p>
          <a:p>
            <a:pPr marL="458788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Outras abordagens usando árvores de gene e contando duplicações compartilhadas por diversas espécies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42333-9671-7D49-A233-ABCA483B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312" y="1261117"/>
            <a:ext cx="3867688" cy="48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17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CE4EB2-CDAA-EB4D-8DE4-9DCF1698B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9138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4E5F96-0304-4847-A989-9DA6341E01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537"/>
          <a:stretch/>
        </p:blipFill>
        <p:spPr>
          <a:xfrm>
            <a:off x="5109867" y="1913860"/>
            <a:ext cx="3691281" cy="25897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68ED4A-D5FA-D441-967F-42223F7892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537"/>
          <a:stretch/>
        </p:blipFill>
        <p:spPr>
          <a:xfrm>
            <a:off x="5189886" y="4268281"/>
            <a:ext cx="3611262" cy="2589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40EF8C-C1B7-AA49-B241-A0C6BDEB7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45" y="2600752"/>
            <a:ext cx="4768971" cy="333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8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FD2B40-7368-9F40-AC09-5D6EA0535278}"/>
              </a:ext>
            </a:extLst>
          </p:cNvPr>
          <p:cNvSpPr/>
          <p:nvPr/>
        </p:nvSpPr>
        <p:spPr>
          <a:xfrm>
            <a:off x="0" y="0"/>
            <a:ext cx="456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PT" sz="2400" dirty="0">
                <a:latin typeface="Arial" pitchFamily="34" charset="0"/>
                <a:cs typeface="Arial" pitchFamily="34" charset="0"/>
              </a:rPr>
              <a:t>Expressão diferencial (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A626A7-073A-7941-A836-03C806E9F30C}"/>
              </a:ext>
            </a:extLst>
          </p:cNvPr>
          <p:cNvSpPr/>
          <p:nvPr/>
        </p:nvSpPr>
        <p:spPr>
          <a:xfrm>
            <a:off x="194647" y="865824"/>
            <a:ext cx="8748464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>
                <a:latin typeface="Arial" pitchFamily="34" charset="0"/>
                <a:cs typeface="Arial" pitchFamily="34" charset="0"/>
              </a:rPr>
              <a:t>Identificação de genes e vias moleculares envolvidas em processos biológicos :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 Genes com perfil de expressão semelhante podem estar funcionalmente relacionados ou sob o mesmo mecanismo de controle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• Fornecer pistas sobre as funções de genes ainda não caracterizados à partir do estudo do padrão espacial e temporal de expressão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• Podem ainda indicar alterações no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proteoma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 e/ou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metaboloma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699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FD2B40-7368-9F40-AC09-5D6EA0535278}"/>
              </a:ext>
            </a:extLst>
          </p:cNvPr>
          <p:cNvSpPr/>
          <p:nvPr/>
        </p:nvSpPr>
        <p:spPr>
          <a:xfrm>
            <a:off x="0" y="0"/>
            <a:ext cx="456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PT" sz="2400" dirty="0">
                <a:latin typeface="Arial" pitchFamily="34" charset="0"/>
                <a:cs typeface="Arial" pitchFamily="34" charset="0"/>
              </a:rPr>
              <a:t>Expressão diferencial (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72437-90CE-5848-9AA2-653687DB99F4}"/>
              </a:ext>
            </a:extLst>
          </p:cNvPr>
          <p:cNvSpPr/>
          <p:nvPr/>
        </p:nvSpPr>
        <p:spPr>
          <a:xfrm>
            <a:off x="194647" y="680294"/>
            <a:ext cx="8748464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>
                <a:latin typeface="Arial" pitchFamily="34" charset="0"/>
                <a:cs typeface="Arial" pitchFamily="34" charset="0"/>
              </a:rPr>
              <a:t>A análise pode ser </a:t>
            </a:r>
            <a:r>
              <a:rPr lang="pt-BR" sz="2200" b="1" dirty="0">
                <a:latin typeface="Arial" pitchFamily="34" charset="0"/>
                <a:cs typeface="Arial" pitchFamily="34" charset="0"/>
              </a:rPr>
              <a:t>qualitativa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 ou </a:t>
            </a:r>
            <a:r>
              <a:rPr lang="pt-BR" sz="2200" b="1" dirty="0">
                <a:latin typeface="Arial" pitchFamily="34" charset="0"/>
                <a:cs typeface="Arial" pitchFamily="34" charset="0"/>
              </a:rPr>
              <a:t>quantitativa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 Qualitativa: quando queremos saber quais genes são expressos ou não</a:t>
            </a:r>
          </a:p>
          <a:p>
            <a:pPr lvl="1">
              <a:buFont typeface="Arial" pitchFamily="34" charset="0"/>
              <a:buChar char="•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 Método mais apropriado quando os organismos de interesse não são proximamente relacionados</a:t>
            </a:r>
          </a:p>
          <a:p>
            <a:pPr lvl="1">
              <a:buFont typeface="Arial" pitchFamily="34" charset="0"/>
              <a:buChar char="•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Ex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: descobrir as diferenças entre duas espécies com fenótipos diferentes</a:t>
            </a:r>
          </a:p>
          <a:p>
            <a:pPr lvl="1">
              <a:buFont typeface="Arial" pitchFamily="34" charset="0"/>
              <a:buChar char="•"/>
            </a:pPr>
            <a:endParaRPr lang="pt-BR" sz="2200" dirty="0">
              <a:latin typeface="Arial" pitchFamily="34" charset="0"/>
              <a:cs typeface="Arial" pitchFamily="34" charset="0"/>
            </a:endParaRPr>
          </a:p>
          <a:p>
            <a:pPr marL="234950" lvl="1" indent="-2222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Quantitativa: quando se quer quantificar a expressão de genes específicos em relação a um tratamento específico</a:t>
            </a:r>
          </a:p>
          <a:p>
            <a:pPr marL="692150" lvl="2" indent="-222250">
              <a:buFont typeface="Arial" panose="020B0604020202020204" pitchFamily="34" charset="0"/>
              <a:buChar char="•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Só funciona entre organismos muito próximos, preferencialmente em diferentes tratamentos no mesmo organismo</a:t>
            </a:r>
          </a:p>
          <a:p>
            <a:pPr marL="692150" lvl="2" indent="-222250">
              <a:buFont typeface="Arial" panose="020B0604020202020204" pitchFamily="34" charset="0"/>
              <a:buChar char="•"/>
            </a:pPr>
            <a:r>
              <a:rPr lang="pt-BR" sz="2200" dirty="0" err="1">
                <a:latin typeface="Arial" pitchFamily="34" charset="0"/>
                <a:cs typeface="Arial" pitchFamily="34" charset="0"/>
              </a:rPr>
              <a:t>Ex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: descobrir mudanças na expressão gênica de uma bactéria antes e depois de tratamento com um antibiótico</a:t>
            </a:r>
          </a:p>
        </p:txBody>
      </p:sp>
    </p:spTree>
    <p:extLst>
      <p:ext uri="{BB962C8B-B14F-4D97-AF65-F5344CB8AC3E}">
        <p14:creationId xmlns:p14="http://schemas.microsoft.com/office/powerpoint/2010/main" val="3299041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6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PT" sz="2400" dirty="0">
                <a:latin typeface="Arial" pitchFamily="34" charset="0"/>
                <a:cs typeface="Arial" pitchFamily="34" charset="0"/>
              </a:rPr>
              <a:t>Expressão diferencial (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6" name="ZoneTexte 6"/>
          <p:cNvSpPr txBox="1"/>
          <p:nvPr/>
        </p:nvSpPr>
        <p:spPr>
          <a:xfrm>
            <a:off x="151178" y="5330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tabLst>
                <a:tab pos="6908800" algn="l"/>
              </a:tabLst>
            </a:pPr>
            <a:r>
              <a:rPr lang="pt-PT" sz="2400" b="1" dirty="0">
                <a:latin typeface="Arial" pitchFamily="34" charset="0"/>
                <a:cs typeface="Arial" pitchFamily="34" charset="0"/>
              </a:rPr>
              <a:t>Ontologias de genes (</a:t>
            </a:r>
            <a:r>
              <a:rPr lang="pt-PT" sz="2400" b="1" dirty="0" err="1">
                <a:latin typeface="Arial" pitchFamily="34" charset="0"/>
                <a:cs typeface="Arial" pitchFamily="34" charset="0"/>
              </a:rPr>
              <a:t>geneontology.org</a:t>
            </a:r>
            <a:r>
              <a:rPr lang="pt-PT" sz="2400" b="1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1" y="1299923"/>
            <a:ext cx="9144000" cy="543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69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6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PT" sz="2400" dirty="0">
                <a:latin typeface="Arial" pitchFamily="34" charset="0"/>
                <a:cs typeface="Arial" pitchFamily="34" charset="0"/>
              </a:rPr>
              <a:t>Expressão diferencial (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RNAseq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6" name="ZoneTexte 6"/>
          <p:cNvSpPr txBox="1"/>
          <p:nvPr/>
        </p:nvSpPr>
        <p:spPr>
          <a:xfrm>
            <a:off x="151178" y="445359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tabLst>
                <a:tab pos="6908800" algn="l"/>
              </a:tabLst>
            </a:pPr>
            <a:r>
              <a:rPr lang="pt-PT" sz="2400" b="1" dirty="0">
                <a:latin typeface="Arial" pitchFamily="34" charset="0"/>
                <a:cs typeface="Arial" pitchFamily="34" charset="0"/>
              </a:rPr>
              <a:t>Ontologias de genes (</a:t>
            </a:r>
            <a:r>
              <a:rPr lang="pt-PT" sz="2400" b="1" dirty="0" err="1">
                <a:latin typeface="Arial" pitchFamily="34" charset="0"/>
                <a:cs typeface="Arial" pitchFamily="34" charset="0"/>
              </a:rPr>
              <a:t>geneontology.org</a:t>
            </a:r>
            <a:r>
              <a:rPr lang="pt-PT" sz="2400" b="1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076"/>
            <a:ext cx="9144000" cy="6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9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6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>
                <a:latin typeface="Arial" pitchFamily="34" charset="0"/>
                <a:cs typeface="Arial" pitchFamily="34" charset="0"/>
              </a:rPr>
              <a:t>Expressão diferencial (RNAseq)</a:t>
            </a: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56628"/>
            <a:ext cx="6640521" cy="218028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114852"/>
            <a:ext cx="2641604" cy="58595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708919"/>
            <a:ext cx="4406531" cy="411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98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308304" y="3501008"/>
            <a:ext cx="57606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6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>
                <a:latin typeface="Arial" pitchFamily="34" charset="0"/>
                <a:cs typeface="Arial" pitchFamily="34" charset="0"/>
              </a:rPr>
              <a:t>Expressão diferencial (RNAseq)</a:t>
            </a: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8" y="2652486"/>
            <a:ext cx="7596336" cy="4232898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656" y="862248"/>
            <a:ext cx="5158720" cy="18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3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44230" cy="19353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62" y="3845488"/>
            <a:ext cx="4314238" cy="30125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098455"/>
            <a:ext cx="4572001" cy="1707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876" y="169201"/>
            <a:ext cx="3584124" cy="353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67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02049" cy="25883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381" y="2229632"/>
            <a:ext cx="5110619" cy="46460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80" y="2781049"/>
            <a:ext cx="1864221" cy="390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17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16024" y="133762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>
                <a:latin typeface="Arial" pitchFamily="34" charset="0"/>
                <a:cs typeface="Arial" pitchFamily="34" charset="0"/>
              </a:rPr>
              <a:t>Aplicações para sistemática</a:t>
            </a: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223539" y="3035602"/>
            <a:ext cx="6336704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Filogenia</a:t>
            </a:r>
            <a:r>
              <a:rPr lang="fr-FR" sz="23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filogeografia</a:t>
            </a: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ct val="0"/>
              </a:spcBef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Expressão</a:t>
            </a:r>
            <a:r>
              <a:rPr lang="fr-FR" sz="23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300" dirty="0" err="1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diferencial</a:t>
            </a:r>
            <a:r>
              <a:rPr lang="fr-FR" sz="23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fr-FR" sz="2300" dirty="0" err="1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RNAseq</a:t>
            </a:r>
            <a:r>
              <a:rPr lang="fr-FR" sz="23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solidFill>
                <a:schemeClr val="bg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latin typeface="Arial" pitchFamily="34" charset="0"/>
                <a:cs typeface="Arial" pitchFamily="34" charset="0"/>
              </a:rPr>
              <a:t>Metagenômica</a:t>
            </a: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3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SNPs</a:t>
            </a:r>
            <a:endParaRPr lang="fr-FR" sz="2300" b="1" dirty="0">
              <a:latin typeface="Arial" pitchFamily="34" charset="0"/>
              <a:cs typeface="Arial" pitchFamily="34" charset="0"/>
            </a:endParaRPr>
          </a:p>
          <a:p>
            <a:pPr marL="971550" lvl="1" indent="-514350">
              <a:spcBef>
                <a:spcPct val="0"/>
              </a:spcBef>
              <a:buFont typeface="Arial" pitchFamily="34" charset="0"/>
              <a:buChar char="•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indent="-514350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 algn="ctr"/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 algn="ctr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 indent="-457200" algn="ctr">
              <a:spcBef>
                <a:spcPct val="0"/>
              </a:spcBef>
            </a:pPr>
            <a:br>
              <a:rPr lang="pt-BR" sz="23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3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2" name="Groupe 13"/>
          <p:cNvGrpSpPr/>
          <p:nvPr/>
        </p:nvGrpSpPr>
        <p:grpSpPr>
          <a:xfrm>
            <a:off x="7812359" y="1"/>
            <a:ext cx="1331641" cy="6885383"/>
            <a:chOff x="7812359" y="1"/>
            <a:chExt cx="1331641" cy="6885383"/>
          </a:xfrm>
        </p:grpSpPr>
        <p:pic>
          <p:nvPicPr>
            <p:cNvPr id="5529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12359" y="1"/>
              <a:ext cx="1331640" cy="16107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812359" y="1602507"/>
              <a:ext cx="1331641" cy="2042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812359" y="3645024"/>
              <a:ext cx="1316970" cy="1872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812359" y="5499392"/>
              <a:ext cx="1331639" cy="1385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23061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308304" y="3501008"/>
            <a:ext cx="57606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2060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>
                <a:latin typeface="Arial" pitchFamily="34" charset="0"/>
                <a:cs typeface="Arial" pitchFamily="34" charset="0"/>
              </a:rPr>
              <a:t>Metagenômica</a:t>
            </a: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 descr="File:Environmental shotgun sequenci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0"/>
            <a:ext cx="4932040" cy="6822846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1628795"/>
            <a:ext cx="518457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>
                <a:latin typeface="Arial" pitchFamily="34" charset="0"/>
                <a:cs typeface="Arial" pitchFamily="34" charset="0"/>
              </a:rPr>
              <a:t>Estudo do material genético recuperado diretamente a partir de amostras ambientais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Comunidade microbiana (principalmente bactérias e fungos)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Grande interesse para ter acesso a microrganismos que não podem ser cultivados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6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CC3B9C-5A57-4C48-B1A1-8297CD605C22}"/>
              </a:ext>
            </a:extLst>
          </p:cNvPr>
          <p:cNvSpPr/>
          <p:nvPr/>
        </p:nvSpPr>
        <p:spPr>
          <a:xfrm>
            <a:off x="0" y="0"/>
            <a:ext cx="22060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>
                <a:latin typeface="Arial" pitchFamily="34" charset="0"/>
                <a:cs typeface="Arial" pitchFamily="34" charset="0"/>
              </a:rPr>
              <a:t>Metagenômica</a:t>
            </a: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B68CB-525B-554F-A174-90C0895D0109}"/>
              </a:ext>
            </a:extLst>
          </p:cNvPr>
          <p:cNvSpPr/>
          <p:nvPr/>
        </p:nvSpPr>
        <p:spPr>
          <a:xfrm>
            <a:off x="0" y="918955"/>
            <a:ext cx="4572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 err="1">
                <a:latin typeface="Arial" pitchFamily="34" charset="0"/>
                <a:cs typeface="Arial" pitchFamily="34" charset="0"/>
              </a:rPr>
              <a:t>Amplicon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sequencing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: 16S e ITS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Método baseado em PCR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Amostras de DNA ambiental (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ex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: solo, água, raízes) são extraídas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DNA total é amplificado usando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primers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 universais para 16S (bactérias) e ITS (fungos)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  <a:p>
            <a:r>
              <a:rPr lang="pt-BR" sz="2200" dirty="0">
                <a:latin typeface="Arial" pitchFamily="34" charset="0"/>
                <a:cs typeface="Arial" pitchFamily="34" charset="0"/>
              </a:rPr>
              <a:t>Produto de PCR recebe adaptadores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Illumina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 e é sequenciado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52A2CD2-4707-2247-860E-80F4DFC0D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645122"/>
            <a:ext cx="4485131" cy="571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5382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3B677-7D3B-5745-BA36-AD94D4F7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566" y="374072"/>
            <a:ext cx="5338433" cy="64839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5C0527-FB54-EC48-8B61-2508C2526D8B}"/>
              </a:ext>
            </a:extLst>
          </p:cNvPr>
          <p:cNvSpPr/>
          <p:nvPr/>
        </p:nvSpPr>
        <p:spPr>
          <a:xfrm>
            <a:off x="0" y="918955"/>
            <a:ext cx="3699164" cy="4600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Análise de dados:</a:t>
            </a:r>
          </a:p>
          <a:p>
            <a:pPr>
              <a:lnSpc>
                <a:spcPct val="150000"/>
              </a:lnSpc>
            </a:pPr>
            <a:endParaRPr lang="pt-BR" sz="22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Identificação de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OTUs</a:t>
            </a:r>
            <a:endParaRPr lang="pt-BR" sz="22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Quantificação dessas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OTUs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 em cada amostra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pt-BR" sz="2200" dirty="0">
                <a:latin typeface="Arial" pitchFamily="34" charset="0"/>
                <a:cs typeface="Arial" pitchFamily="34" charset="0"/>
              </a:rPr>
              <a:t>Relacionar a variação de </a:t>
            </a:r>
            <a:r>
              <a:rPr lang="pt-BR" sz="2200" dirty="0" err="1">
                <a:latin typeface="Arial" pitchFamily="34" charset="0"/>
                <a:cs typeface="Arial" pitchFamily="34" charset="0"/>
              </a:rPr>
              <a:t>OTUs</a:t>
            </a:r>
            <a:r>
              <a:rPr lang="pt-BR" sz="2200" dirty="0">
                <a:latin typeface="Arial" pitchFamily="34" charset="0"/>
                <a:cs typeface="Arial" pitchFamily="34" charset="0"/>
              </a:rPr>
              <a:t> com alguma outra variável de interesse</a:t>
            </a:r>
          </a:p>
          <a:p>
            <a:pPr>
              <a:lnSpc>
                <a:spcPct val="150000"/>
              </a:lnSpc>
            </a:pP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054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0E5B7-2C23-5E42-7BC0-BECAA3382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32" y="1435146"/>
            <a:ext cx="8600536" cy="5490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C48F5C-3414-80A2-3685-7896090F4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4" y="121003"/>
            <a:ext cx="5736566" cy="146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4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308304" y="3501008"/>
            <a:ext cx="57606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2060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>
                <a:latin typeface="Arial" pitchFamily="34" charset="0"/>
                <a:cs typeface="Arial" pitchFamily="34" charset="0"/>
              </a:rPr>
              <a:t>Metagenômica</a:t>
            </a: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Groupe 9"/>
          <p:cNvGrpSpPr/>
          <p:nvPr/>
        </p:nvGrpSpPr>
        <p:grpSpPr>
          <a:xfrm>
            <a:off x="58241" y="-27384"/>
            <a:ext cx="8258175" cy="1584176"/>
            <a:chOff x="58241" y="332656"/>
            <a:chExt cx="8258175" cy="1584176"/>
          </a:xfrm>
        </p:grpSpPr>
        <p:pic>
          <p:nvPicPr>
            <p:cNvPr id="16179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241" y="821457"/>
              <a:ext cx="8258175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179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185392" y="332656"/>
              <a:ext cx="4114800" cy="733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61797" name="Picture 5" descr="http://2.bp.blogspot.com/_fTgmDOrEzFs/Sx6rgpPPhuI/AAAAAAAAAQA/atZQHGLc9rU/s1600/ataud+hungri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1556792"/>
            <a:ext cx="4151075" cy="2736304"/>
          </a:xfrm>
          <a:prstGeom prst="rect">
            <a:avLst/>
          </a:prstGeom>
          <a:noFill/>
        </p:spPr>
      </p:pic>
      <p:pic>
        <p:nvPicPr>
          <p:cNvPr id="161801" name="Picture 9" descr="http://2.bp.blogspot.com/_fTgmDOrEzFs/Sx6uxBBZJRI/AAAAAAAAAQo/eBIdKi9Z140/s1600/momia+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3998967"/>
            <a:ext cx="4211959" cy="2859033"/>
          </a:xfrm>
          <a:prstGeom prst="rect">
            <a:avLst/>
          </a:prstGeom>
          <a:noFill/>
        </p:spPr>
      </p:pic>
      <p:pic>
        <p:nvPicPr>
          <p:cNvPr id="161803" name="Picture 11" descr="http://3.bp.blogspot.com/_fTgmDOrEzFs/Sx6sUHw27AI/AAAAAAAAAQQ/SyS3URpcX38/s1600/hungr%C3%ADa+2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39952" y="4509120"/>
            <a:ext cx="5004048" cy="3336032"/>
          </a:xfrm>
          <a:prstGeom prst="rect">
            <a:avLst/>
          </a:prstGeom>
          <a:noFill/>
        </p:spPr>
      </p:pic>
      <p:pic>
        <p:nvPicPr>
          <p:cNvPr id="161799" name="Picture 7" descr="http://1.bp.blogspot.com/_fTgmDOrEzFs/Sx6s_1dpeiI/AAAAAAAAAQY/n-i6Nuuk4qA/s1600/hungr%C3%ADa+3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139952" y="1556792"/>
            <a:ext cx="5004048" cy="33360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6638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4653136"/>
            <a:ext cx="3600" cy="15841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308304" y="3501008"/>
            <a:ext cx="57606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2060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>
                <a:latin typeface="Arial" pitchFamily="34" charset="0"/>
                <a:cs typeface="Arial" pitchFamily="34" charset="0"/>
              </a:rPr>
              <a:t>Metagenômica</a:t>
            </a: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e 9"/>
          <p:cNvGrpSpPr/>
          <p:nvPr/>
        </p:nvGrpSpPr>
        <p:grpSpPr>
          <a:xfrm>
            <a:off x="58241" y="-27384"/>
            <a:ext cx="8258175" cy="1584176"/>
            <a:chOff x="58241" y="332656"/>
            <a:chExt cx="8258175" cy="1584176"/>
          </a:xfrm>
        </p:grpSpPr>
        <p:pic>
          <p:nvPicPr>
            <p:cNvPr id="16179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241" y="821457"/>
              <a:ext cx="8258175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179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185392" y="332656"/>
              <a:ext cx="4114800" cy="733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Rectangle 12"/>
          <p:cNvSpPr/>
          <p:nvPr/>
        </p:nvSpPr>
        <p:spPr>
          <a:xfrm>
            <a:off x="0" y="1412776"/>
            <a:ext cx="954055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err="1">
                <a:latin typeface="Arial" pitchFamily="34" charset="0"/>
                <a:cs typeface="Arial" pitchFamily="34" charset="0"/>
              </a:rPr>
              <a:t>Terézia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Haussman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,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falecida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25/12/1797 com 28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anos</a:t>
            </a:r>
            <a:endParaRPr lang="fr-FR" sz="2200" dirty="0">
              <a:latin typeface="Arial" pitchFamily="34" charset="0"/>
              <a:cs typeface="Arial" pitchFamily="34" charset="0"/>
            </a:endParaRPr>
          </a:p>
          <a:p>
            <a:r>
              <a:rPr lang="fr-FR" sz="2200" dirty="0" err="1">
                <a:latin typeface="Arial" pitchFamily="34" charset="0"/>
                <a:cs typeface="Arial" pitchFamily="34" charset="0"/>
              </a:rPr>
              <a:t>Radiografia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tórax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+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aparência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do corpo → Tuberculose ?</a:t>
            </a:r>
          </a:p>
          <a:p>
            <a:endParaRPr lang="fr-FR" sz="2200" dirty="0">
              <a:latin typeface="Arial" pitchFamily="34" charset="0"/>
              <a:cs typeface="Arial" pitchFamily="34" charset="0"/>
            </a:endParaRP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1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amostra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tecido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pulmão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Illumina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MiSeq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5.5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milhões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reads</a:t>
            </a:r>
            <a:endParaRPr lang="fr-FR" sz="2200" dirty="0">
              <a:latin typeface="Arial" pitchFamily="34" charset="0"/>
              <a:cs typeface="Arial" pitchFamily="34" charset="0"/>
            </a:endParaRPr>
          </a:p>
          <a:p>
            <a:endParaRPr lang="fr-FR" sz="2200" dirty="0">
              <a:latin typeface="Arial" pitchFamily="34" charset="0"/>
              <a:cs typeface="Arial" pitchFamily="34" charset="0"/>
            </a:endParaRPr>
          </a:p>
          <a:p>
            <a:r>
              <a:rPr lang="fr-FR" sz="2200" dirty="0" err="1">
                <a:latin typeface="Arial" pitchFamily="34" charset="0"/>
                <a:cs typeface="Arial" pitchFamily="34" charset="0"/>
              </a:rPr>
              <a:t>Menos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de 1%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mapeados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no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genoma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humano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Mais de 8% com o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genoma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200" i="1" dirty="0" err="1">
                <a:latin typeface="Arial" pitchFamily="34" charset="0"/>
                <a:cs typeface="Arial" pitchFamily="34" charset="0"/>
              </a:rPr>
              <a:t>Mycobacterium</a:t>
            </a:r>
            <a:r>
              <a:rPr lang="fr-FR" sz="2200" i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200" i="1" dirty="0" err="1">
                <a:latin typeface="Arial" pitchFamily="34" charset="0"/>
                <a:cs typeface="Arial" pitchFamily="34" charset="0"/>
              </a:rPr>
              <a:t>tuberculosis</a:t>
            </a:r>
            <a:r>
              <a:rPr lang="fr-FR" sz="2200" i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cepa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H37Rv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(</a:t>
            </a:r>
            <a:r>
              <a:rPr lang="fr-FR" sz="2200" dirty="0" err="1">
                <a:latin typeface="Arial" pitchFamily="34" charset="0"/>
                <a:cs typeface="Arial" pitchFamily="34" charset="0"/>
              </a:rPr>
              <a:t>cobertura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x32) </a:t>
            </a:r>
          </a:p>
        </p:txBody>
      </p:sp>
      <p:pic>
        <p:nvPicPr>
          <p:cNvPr id="164866" name="Picture 2" descr="http://www.bioquell.com/interface/assets/images/content/Multidrug-resistant-Mycobacterium-tuberculosis_15058261_1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83760" y="2204864"/>
            <a:ext cx="2160240" cy="1618740"/>
          </a:xfrm>
          <a:prstGeom prst="rect">
            <a:avLst/>
          </a:prstGeom>
          <a:noFill/>
        </p:spPr>
      </p:pic>
      <p:pic>
        <p:nvPicPr>
          <p:cNvPr id="16486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11760" y="4543425"/>
            <a:ext cx="42672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19636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5569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4001" y="3047999"/>
            <a:ext cx="5331266" cy="32215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63" y="2556933"/>
            <a:ext cx="4640737" cy="38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67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16024" y="133762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>
                <a:latin typeface="Arial" pitchFamily="34" charset="0"/>
                <a:cs typeface="Arial" pitchFamily="34" charset="0"/>
              </a:rPr>
              <a:t>Aplicações para sistemática</a:t>
            </a: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403648" y="3284984"/>
            <a:ext cx="6336704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3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Filogenia</a:t>
            </a:r>
            <a:r>
              <a:rPr lang="fr-FR" sz="23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filogeografia</a:t>
            </a: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spcBef>
                <a:spcPct val="0"/>
              </a:spcBef>
              <a:buFont typeface="Arial" pitchFamily="34" charset="0"/>
              <a:buChar char="•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Transcriptoma</a:t>
            </a:r>
            <a:r>
              <a:rPr lang="fr-FR" sz="23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fr-FR" sz="2300" dirty="0" err="1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RNAseq</a:t>
            </a:r>
            <a:r>
              <a:rPr lang="fr-FR" sz="23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solidFill>
                <a:schemeClr val="bg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Metagenômica</a:t>
            </a:r>
            <a:endParaRPr lang="fr-FR" sz="23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fr-FR" sz="23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3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3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3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3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300" dirty="0">
                <a:latin typeface="Arial" pitchFamily="34" charset="0"/>
                <a:cs typeface="Arial" pitchFamily="34" charset="0"/>
              </a:rPr>
              <a:t>)</a:t>
            </a:r>
            <a:endParaRPr lang="fr-FR" sz="2300" b="1" dirty="0">
              <a:latin typeface="Arial" pitchFamily="34" charset="0"/>
              <a:cs typeface="Arial" pitchFamily="34" charset="0"/>
            </a:endParaRPr>
          </a:p>
          <a:p>
            <a:pPr marL="971550" lvl="1" indent="-514350">
              <a:spcBef>
                <a:spcPct val="0"/>
              </a:spcBef>
              <a:buFont typeface="Arial" pitchFamily="34" charset="0"/>
              <a:buChar char="•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indent="-514350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 algn="ctr"/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514350" indent="-514350"/>
            <a:endParaRPr lang="fr-FR" sz="2300" dirty="0">
              <a:latin typeface="Arial" pitchFamily="34" charset="0"/>
              <a:cs typeface="Arial" pitchFamily="34" charset="0"/>
            </a:endParaRPr>
          </a:p>
          <a:p>
            <a:pPr marL="514350" indent="-514350" algn="ctr">
              <a:spcBef>
                <a:spcPct val="0"/>
              </a:spcBef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 indent="-457200" algn="ctr">
              <a:spcBef>
                <a:spcPct val="0"/>
              </a:spcBef>
            </a:pPr>
            <a:br>
              <a:rPr lang="pt-BR" sz="23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3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2" name="Groupe 13"/>
          <p:cNvGrpSpPr/>
          <p:nvPr/>
        </p:nvGrpSpPr>
        <p:grpSpPr>
          <a:xfrm>
            <a:off x="7812359" y="1"/>
            <a:ext cx="1331641" cy="6885383"/>
            <a:chOff x="7812359" y="1"/>
            <a:chExt cx="1331641" cy="6885383"/>
          </a:xfrm>
        </p:grpSpPr>
        <p:pic>
          <p:nvPicPr>
            <p:cNvPr id="5529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12359" y="1"/>
              <a:ext cx="1331640" cy="16107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812359" y="1602507"/>
              <a:ext cx="1331641" cy="2042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812359" y="3645024"/>
              <a:ext cx="1316970" cy="1872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812359" y="5499392"/>
              <a:ext cx="1331639" cy="1385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565249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/>
              <a:t>Single Nucleotide Polymorphisms (SNPs)</a:t>
            </a:r>
          </a:p>
        </p:txBody>
      </p:sp>
      <p:pic>
        <p:nvPicPr>
          <p:cNvPr id="5" name="Picture 4" descr="SNP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618" y="3861981"/>
            <a:ext cx="3851564" cy="2791637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/>
              <a:t>Variações que ocorrem na sequência de DNA quando um único nucleotídeo do genoma difere entre membros de espécies diferentes ou não ou entre cromossomos pareados.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286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/>
              <a:t>Single Nucleotide Polymorphisms (SNPs)</a:t>
            </a:r>
          </a:p>
        </p:txBody>
      </p:sp>
      <p:pic>
        <p:nvPicPr>
          <p:cNvPr id="5" name="Picture 4" descr="SNP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368" y="4271122"/>
            <a:ext cx="3564632" cy="2583667"/>
          </a:xfrm>
          <a:prstGeom prst="rect">
            <a:avLst/>
          </a:prstGeo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" y="1509184"/>
            <a:ext cx="8991600" cy="5181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14350" indent="-514350">
              <a:spcBef>
                <a:spcPct val="30000"/>
              </a:spcBef>
              <a:buFontTx/>
              <a:buAutoNum type="arabicPeriod"/>
            </a:pPr>
            <a:r>
              <a:rPr lang="en-US" sz="2800" err="1">
                <a:latin typeface="Calibri"/>
                <a:cs typeface="Calibri"/>
              </a:rPr>
              <a:t>Mutações</a:t>
            </a:r>
            <a:r>
              <a:rPr lang="en-US" sz="2800">
                <a:latin typeface="Calibri"/>
                <a:cs typeface="Calibri"/>
              </a:rPr>
              <a:t> </a:t>
            </a:r>
            <a:r>
              <a:rPr lang="en-US" sz="2800" err="1">
                <a:latin typeface="Calibri"/>
                <a:cs typeface="Calibri"/>
              </a:rPr>
              <a:t>pontuais</a:t>
            </a:r>
            <a:r>
              <a:rPr lang="en-US" sz="2800">
                <a:latin typeface="Calibri"/>
                <a:cs typeface="Calibri"/>
              </a:rPr>
              <a:t> – </a:t>
            </a:r>
            <a:r>
              <a:rPr lang="en-US" sz="3200" b="1">
                <a:latin typeface="Calibri"/>
                <a:cs typeface="Calibri"/>
              </a:rPr>
              <a:t>SNPs</a:t>
            </a:r>
            <a:endParaRPr lang="en-US" sz="2800" b="1">
              <a:latin typeface="Calibri"/>
              <a:cs typeface="Calibri"/>
            </a:endParaRPr>
          </a:p>
          <a:p>
            <a:pPr marL="514350" indent="-514350">
              <a:lnSpc>
                <a:spcPct val="70000"/>
              </a:lnSpc>
            </a:pPr>
            <a:r>
              <a:rPr lang="en-US">
                <a:latin typeface="Candara" charset="0"/>
              </a:rPr>
              <a:t>	</a:t>
            </a:r>
          </a:p>
          <a:p>
            <a:pPr marL="514350" indent="-514350">
              <a:lnSpc>
                <a:spcPct val="70000"/>
              </a:lnSpc>
            </a:pPr>
            <a:endParaRPr lang="en-US">
              <a:latin typeface="Courier New"/>
              <a:cs typeface="Courier New"/>
            </a:endParaRPr>
          </a:p>
          <a:p>
            <a:pPr marL="514350" indent="-514350">
              <a:lnSpc>
                <a:spcPct val="70000"/>
              </a:lnSpc>
            </a:pPr>
            <a:endParaRPr lang="en-US">
              <a:latin typeface="Courier New"/>
              <a:cs typeface="Courier New"/>
            </a:endParaRPr>
          </a:p>
          <a:p>
            <a:pPr marL="514350" indent="-514350">
              <a:lnSpc>
                <a:spcPct val="70000"/>
              </a:lnSpc>
            </a:pPr>
            <a:r>
              <a:rPr lang="en-US">
                <a:latin typeface="Courier New"/>
                <a:cs typeface="Courier New"/>
              </a:rPr>
              <a:t>	</a:t>
            </a:r>
            <a:r>
              <a:rPr lang="en-US" sz="2800">
                <a:latin typeface="Courier New"/>
                <a:cs typeface="Courier New"/>
              </a:rPr>
              <a:t>	ATCTCGTGATT</a:t>
            </a:r>
            <a:r>
              <a:rPr lang="en-US" sz="2800" u="sng">
                <a:solidFill>
                  <a:srgbClr val="33CCFF"/>
                </a:solidFill>
                <a:latin typeface="Courier New"/>
                <a:cs typeface="Courier New"/>
              </a:rPr>
              <a:t>C</a:t>
            </a:r>
            <a:r>
              <a:rPr lang="en-US" sz="2800">
                <a:latin typeface="Courier New"/>
                <a:cs typeface="Courier New"/>
              </a:rPr>
              <a:t>CTAGTCGTA</a:t>
            </a:r>
          </a:p>
          <a:p>
            <a:pPr marL="514350" indent="-514350">
              <a:lnSpc>
                <a:spcPct val="70000"/>
              </a:lnSpc>
            </a:pPr>
            <a:r>
              <a:rPr lang="en-US" sz="2800">
                <a:latin typeface="Courier New"/>
                <a:cs typeface="Courier New"/>
              </a:rPr>
              <a:t>		TAGAGCACTAA</a:t>
            </a:r>
            <a:r>
              <a:rPr lang="en-US" sz="2800">
                <a:solidFill>
                  <a:srgbClr val="33CCFF"/>
                </a:solidFill>
                <a:latin typeface="Courier New"/>
                <a:cs typeface="Courier New"/>
              </a:rPr>
              <a:t>G</a:t>
            </a:r>
            <a:r>
              <a:rPr lang="en-US" sz="2800">
                <a:latin typeface="Courier New"/>
                <a:cs typeface="Courier New"/>
              </a:rPr>
              <a:t>GGATCAGCA               	</a:t>
            </a:r>
          </a:p>
          <a:p>
            <a:pPr marL="514350" indent="-514350"/>
            <a:r>
              <a:rPr lang="en-US" sz="2800">
                <a:latin typeface="Courier New"/>
                <a:cs typeface="Courier New"/>
              </a:rPr>
              <a:t>		ATCTCGTGATT</a:t>
            </a:r>
            <a:r>
              <a:rPr lang="en-US" sz="2800" u="sng">
                <a:solidFill>
                  <a:srgbClr val="33CCFF"/>
                </a:solidFill>
                <a:latin typeface="Courier New"/>
                <a:cs typeface="Courier New"/>
              </a:rPr>
              <a:t>A</a:t>
            </a:r>
            <a:r>
              <a:rPr lang="en-US" sz="2800">
                <a:latin typeface="Courier New"/>
                <a:cs typeface="Courier New"/>
              </a:rPr>
              <a:t>TAGTCGTA	</a:t>
            </a:r>
          </a:p>
          <a:p>
            <a:pPr marL="514350" indent="-514350"/>
            <a:r>
              <a:rPr lang="en-US" sz="2800">
                <a:latin typeface="Courier New"/>
                <a:cs typeface="Courier New"/>
              </a:rPr>
              <a:t>		TAGAGCACTAA</a:t>
            </a:r>
            <a:r>
              <a:rPr lang="en-US" sz="2800" u="sng">
                <a:solidFill>
                  <a:srgbClr val="05E0DB"/>
                </a:solidFill>
                <a:latin typeface="Courier New"/>
                <a:cs typeface="Courier New"/>
              </a:rPr>
              <a:t>T</a:t>
            </a:r>
            <a:r>
              <a:rPr lang="en-US" sz="2800">
                <a:latin typeface="Courier New"/>
                <a:cs typeface="Courier New"/>
              </a:rPr>
              <a:t>ATCAGCAT</a:t>
            </a:r>
          </a:p>
          <a:p>
            <a:pPr marL="514350" indent="-514350"/>
            <a:endParaRPr lang="en-US" sz="2800">
              <a:latin typeface="Candara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613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Maioria dos </a:t>
            </a:r>
            <a:r>
              <a:rPr lang="pt-BR" dirty="0" err="1"/>
              <a:t>SNPs</a:t>
            </a:r>
            <a:r>
              <a:rPr lang="pt-BR" dirty="0"/>
              <a:t> só tem 2 alelos;</a:t>
            </a:r>
          </a:p>
          <a:p>
            <a:r>
              <a:rPr lang="pt-BR" dirty="0"/>
              <a:t>Distribuição não-homogênea, mais frequente em regiões não </a:t>
            </a:r>
            <a:r>
              <a:rPr lang="pt-BR" dirty="0" err="1"/>
              <a:t>codificantes</a:t>
            </a:r>
            <a:r>
              <a:rPr lang="pt-BR" dirty="0"/>
              <a:t>;</a:t>
            </a:r>
          </a:p>
          <a:p>
            <a:r>
              <a:rPr lang="pt-BR" dirty="0"/>
              <a:t>Quando em regiões </a:t>
            </a:r>
            <a:r>
              <a:rPr lang="pt-BR" dirty="0" err="1"/>
              <a:t>codificantes</a:t>
            </a:r>
            <a:r>
              <a:rPr lang="pt-BR" dirty="0"/>
              <a:t> podem influenciar no produto gênico;</a:t>
            </a:r>
          </a:p>
          <a:p>
            <a:r>
              <a:rPr lang="pt-BR" dirty="0"/>
              <a:t>MUITO comuns: 62 milhões </a:t>
            </a:r>
            <a:r>
              <a:rPr lang="pt-BR" dirty="0" err="1"/>
              <a:t>SNPs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conhecido em humanos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/>
              <a:t>Single Nucleotide Polymorphisms (SNPs)</a:t>
            </a:r>
          </a:p>
        </p:txBody>
      </p:sp>
      <p:pic>
        <p:nvPicPr>
          <p:cNvPr id="6" name="Picture 5" descr="SNP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5085339"/>
            <a:ext cx="2483768" cy="1800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2357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567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SNPs</a:t>
            </a:r>
            <a:r>
              <a:rPr lang="pt-BR"/>
              <a:t>: Utilidades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pt-BR" err="1"/>
              <a:t>Fingerprinting</a:t>
            </a:r>
            <a:r>
              <a:rPr lang="pt-BR"/>
              <a:t>, mapas de </a:t>
            </a:r>
            <a:r>
              <a:rPr lang="pt-BR" err="1"/>
              <a:t>SNPs</a:t>
            </a:r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  <p:pic>
        <p:nvPicPr>
          <p:cNvPr id="4" name="Picture 3" descr="Screen shot 2014-05-21 at 8.55.3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988840"/>
            <a:ext cx="7416824" cy="47158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280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SNPs</a:t>
            </a:r>
            <a:r>
              <a:rPr lang="pt-BR"/>
              <a:t>: Utilidades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5915000" cy="4525963"/>
          </a:xfrm>
        </p:spPr>
        <p:txBody>
          <a:bodyPr>
            <a:normAutofit/>
          </a:bodyPr>
          <a:lstStyle/>
          <a:p>
            <a:r>
              <a:rPr lang="pt-BR" err="1">
                <a:solidFill>
                  <a:srgbClr val="BFBFBF"/>
                </a:solidFill>
              </a:rPr>
              <a:t>Fingerprinting</a:t>
            </a:r>
            <a:r>
              <a:rPr lang="pt-BR">
                <a:solidFill>
                  <a:srgbClr val="BFBFBF"/>
                </a:solidFill>
              </a:rPr>
              <a:t>;</a:t>
            </a:r>
          </a:p>
          <a:p>
            <a:r>
              <a:rPr lang="pt-BR" err="1"/>
              <a:t>SNPs</a:t>
            </a:r>
            <a:r>
              <a:rPr lang="pt-BR"/>
              <a:t> únicos podem causar doenças mendelianas: anemia falciforme (mutação pontual na beta globina); doenças complexas podem ser causadas por diversos </a:t>
            </a:r>
            <a:r>
              <a:rPr lang="pt-BR" err="1"/>
              <a:t>SNPs</a:t>
            </a:r>
            <a:r>
              <a:rPr lang="pt-BR"/>
              <a:t> em conjunto (</a:t>
            </a:r>
            <a:r>
              <a:rPr lang="pt-BR" err="1"/>
              <a:t>ex</a:t>
            </a:r>
            <a:r>
              <a:rPr lang="pt-BR"/>
              <a:t>: osteoporose);</a:t>
            </a:r>
          </a:p>
        </p:txBody>
      </p:sp>
      <p:pic>
        <p:nvPicPr>
          <p:cNvPr id="4" name="Picture 3" descr="sicklecel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1386373"/>
            <a:ext cx="2822284" cy="51835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96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SNPs: Utilidades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>
                <a:solidFill>
                  <a:srgbClr val="BFBFBF"/>
                </a:solidFill>
              </a:rPr>
              <a:t>Fingerprinting</a:t>
            </a:r>
            <a:r>
              <a:rPr lang="pt-BR" dirty="0">
                <a:solidFill>
                  <a:srgbClr val="BFBFBF"/>
                </a:solidFill>
              </a:rPr>
              <a:t>;</a:t>
            </a:r>
          </a:p>
          <a:p>
            <a:r>
              <a:rPr lang="pt-BR" dirty="0" err="1">
                <a:solidFill>
                  <a:srgbClr val="BFBFBF"/>
                </a:solidFill>
              </a:rPr>
              <a:t>SNPs</a:t>
            </a:r>
            <a:r>
              <a:rPr lang="pt-BR" dirty="0">
                <a:solidFill>
                  <a:srgbClr val="BFBFBF"/>
                </a:solidFill>
              </a:rPr>
              <a:t> únicos podem causar doenças mendelianas: anemia falciforme (mutação pontual na beta globina); doenças complexas podem ser causadas por diversos </a:t>
            </a:r>
            <a:r>
              <a:rPr lang="pt-BR" dirty="0" err="1">
                <a:solidFill>
                  <a:srgbClr val="BFBFBF"/>
                </a:solidFill>
              </a:rPr>
              <a:t>SNPs</a:t>
            </a:r>
            <a:r>
              <a:rPr lang="pt-BR" dirty="0">
                <a:solidFill>
                  <a:srgbClr val="BFBFBF"/>
                </a:solidFill>
              </a:rPr>
              <a:t> em conjunto (</a:t>
            </a:r>
            <a:r>
              <a:rPr lang="pt-BR" dirty="0" err="1">
                <a:solidFill>
                  <a:srgbClr val="BFBFBF"/>
                </a:solidFill>
              </a:rPr>
              <a:t>ex</a:t>
            </a:r>
            <a:r>
              <a:rPr lang="pt-BR" dirty="0">
                <a:solidFill>
                  <a:srgbClr val="BFBFBF"/>
                </a:solidFill>
              </a:rPr>
              <a:t>: osteoporose);</a:t>
            </a:r>
          </a:p>
          <a:p>
            <a:r>
              <a:rPr lang="pt-BR" dirty="0"/>
              <a:t>Estudos de variação em nível </a:t>
            </a:r>
            <a:r>
              <a:rPr lang="pt-BR" dirty="0" err="1"/>
              <a:t>genômico</a:t>
            </a:r>
            <a:r>
              <a:rPr lang="pt-BR" dirty="0"/>
              <a:t> (GWAS), importantes para associar variações genéticas a caracteres específicos;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3" descr="gwas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557926"/>
            <a:ext cx="4536504" cy="3345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61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SNPs</a:t>
            </a:r>
            <a:r>
              <a:rPr lang="pt-BR"/>
              <a:t>: Utilidades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>
                <a:solidFill>
                  <a:srgbClr val="BFBFBF"/>
                </a:solidFill>
              </a:rPr>
              <a:t>Fingerprinting</a:t>
            </a:r>
            <a:r>
              <a:rPr lang="pt-BR" dirty="0">
                <a:solidFill>
                  <a:srgbClr val="BFBFBF"/>
                </a:solidFill>
              </a:rPr>
              <a:t>;</a:t>
            </a:r>
          </a:p>
          <a:p>
            <a:r>
              <a:rPr lang="pt-BR" dirty="0" err="1">
                <a:solidFill>
                  <a:srgbClr val="BFBFBF"/>
                </a:solidFill>
              </a:rPr>
              <a:t>SNPs</a:t>
            </a:r>
            <a:r>
              <a:rPr lang="pt-BR" dirty="0">
                <a:solidFill>
                  <a:srgbClr val="BFBFBF"/>
                </a:solidFill>
              </a:rPr>
              <a:t> únicos podem causar doenças mendelianas: anemia falciforme (mutação pontual na beta globina); doenças complexas podem ser causadas por diversos </a:t>
            </a:r>
            <a:r>
              <a:rPr lang="pt-BR" dirty="0" err="1">
                <a:solidFill>
                  <a:srgbClr val="BFBFBF"/>
                </a:solidFill>
              </a:rPr>
              <a:t>SNPs</a:t>
            </a:r>
            <a:r>
              <a:rPr lang="pt-BR" dirty="0">
                <a:solidFill>
                  <a:srgbClr val="BFBFBF"/>
                </a:solidFill>
              </a:rPr>
              <a:t> em conjunto (</a:t>
            </a:r>
            <a:r>
              <a:rPr lang="pt-BR" dirty="0" err="1">
                <a:solidFill>
                  <a:srgbClr val="BFBFBF"/>
                </a:solidFill>
              </a:rPr>
              <a:t>ex</a:t>
            </a:r>
            <a:r>
              <a:rPr lang="pt-BR" dirty="0">
                <a:solidFill>
                  <a:srgbClr val="BFBFBF"/>
                </a:solidFill>
              </a:rPr>
              <a:t>: osteoporose);</a:t>
            </a:r>
          </a:p>
          <a:p>
            <a:r>
              <a:rPr lang="pt-BR" dirty="0">
                <a:solidFill>
                  <a:srgbClr val="BFBFBF"/>
                </a:solidFill>
              </a:rPr>
              <a:t>Estudos de variação em nível </a:t>
            </a:r>
            <a:r>
              <a:rPr lang="pt-BR" dirty="0" err="1">
                <a:solidFill>
                  <a:srgbClr val="BFBFBF"/>
                </a:solidFill>
              </a:rPr>
              <a:t>genômico</a:t>
            </a:r>
            <a:r>
              <a:rPr lang="pt-BR" dirty="0">
                <a:solidFill>
                  <a:srgbClr val="BFBFBF"/>
                </a:solidFill>
              </a:rPr>
              <a:t>, importantes para associar variações genéticas a caracteres específicos;</a:t>
            </a:r>
          </a:p>
          <a:p>
            <a:r>
              <a:rPr lang="pt-BR" dirty="0"/>
              <a:t>Programas de cruzamento (animais de criação e plantas cultivadas). </a:t>
            </a:r>
          </a:p>
        </p:txBody>
      </p:sp>
      <p:pic>
        <p:nvPicPr>
          <p:cNvPr id="4" name="Picture 3" descr="Screen shot 2014-05-21 at 9.00.0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011171"/>
            <a:ext cx="3248142" cy="42210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69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5022"/>
            <a:ext cx="7886700" cy="1325563"/>
          </a:xfrm>
        </p:spPr>
        <p:txBody>
          <a:bodyPr/>
          <a:lstStyle/>
          <a:p>
            <a:r>
              <a:rPr lang="en-US"/>
              <a:t>SNPs e NGS: </a:t>
            </a:r>
            <a:r>
              <a:rPr lang="en-US" dirty="0" err="1"/>
              <a:t>RADSeq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4105"/>
            <a:ext cx="7886700" cy="4351338"/>
          </a:xfrm>
        </p:spPr>
        <p:txBody>
          <a:bodyPr/>
          <a:lstStyle/>
          <a:p>
            <a:r>
              <a:rPr lang="pt-BR" b="1" dirty="0" err="1">
                <a:solidFill>
                  <a:srgbClr val="FF0000"/>
                </a:solidFill>
              </a:rPr>
              <a:t>R</a:t>
            </a:r>
            <a:r>
              <a:rPr lang="pt-BR" dirty="0" err="1"/>
              <a:t>estriction</a:t>
            </a:r>
            <a:r>
              <a:rPr lang="pt-BR" dirty="0"/>
              <a:t> Site-</a:t>
            </a:r>
            <a:r>
              <a:rPr lang="pt-BR" b="1" dirty="0">
                <a:solidFill>
                  <a:srgbClr val="FF0000"/>
                </a:solidFill>
              </a:rPr>
              <a:t>A</a:t>
            </a:r>
            <a:r>
              <a:rPr lang="pt-BR" dirty="0"/>
              <a:t>ssociated </a:t>
            </a:r>
            <a:r>
              <a:rPr lang="pt-BR" b="1" dirty="0">
                <a:solidFill>
                  <a:srgbClr val="FF0000"/>
                </a:solidFill>
              </a:rPr>
              <a:t>D</a:t>
            </a:r>
            <a:r>
              <a:rPr lang="pt-BR" dirty="0"/>
              <a:t>NA </a:t>
            </a:r>
            <a:r>
              <a:rPr lang="pt-BR" b="1" dirty="0" err="1">
                <a:solidFill>
                  <a:srgbClr val="FF0000"/>
                </a:solidFill>
              </a:rPr>
              <a:t>Seq</a:t>
            </a:r>
            <a:r>
              <a:rPr lang="pt-BR" dirty="0" err="1"/>
              <a:t>uencing</a:t>
            </a:r>
            <a:endParaRPr lang="pt-BR" dirty="0"/>
          </a:p>
          <a:p>
            <a:r>
              <a:rPr lang="pt-BR" dirty="0"/>
              <a:t>Associação de enzimas de restrição + identificadores moleculares + NGS;</a:t>
            </a:r>
          </a:p>
          <a:p>
            <a:r>
              <a:rPr lang="pt-BR" dirty="0"/>
              <a:t>Permite sequenciar milhares de marcadores (</a:t>
            </a:r>
            <a:r>
              <a:rPr lang="pt-BR" dirty="0" err="1"/>
              <a:t>SNPs</a:t>
            </a:r>
            <a:r>
              <a:rPr lang="pt-BR" dirty="0"/>
              <a:t>) em vários indivíduos de uma vez só, a custos razoáveis;</a:t>
            </a:r>
          </a:p>
          <a:p>
            <a:r>
              <a:rPr lang="pt-BR" dirty="0"/>
              <a:t>Aplicação em genética de populações, GWAS, </a:t>
            </a:r>
            <a:r>
              <a:rPr lang="pt-BR" dirty="0" err="1"/>
              <a:t>linkage</a:t>
            </a:r>
            <a:r>
              <a:rPr lang="pt-BR" dirty="0"/>
              <a:t> </a:t>
            </a:r>
            <a:r>
              <a:rPr lang="pt-BR" dirty="0" err="1"/>
              <a:t>maps</a:t>
            </a:r>
            <a:r>
              <a:rPr lang="pt-BR" dirty="0"/>
              <a:t>, etc....</a:t>
            </a:r>
          </a:p>
          <a:p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15565"/>
            <a:ext cx="7259782" cy="11774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965" y="6428005"/>
            <a:ext cx="34290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6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7551" y="1703541"/>
            <a:ext cx="6764054" cy="26776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/>
              <a:t>REDUCED REPRESENTATION SEQUENCING</a:t>
            </a:r>
          </a:p>
          <a:p>
            <a:pPr algn="ctr"/>
            <a:endParaRPr lang="en-US" sz="2800"/>
          </a:p>
          <a:p>
            <a:pPr algn="ctr"/>
            <a:r>
              <a:rPr lang="en-US" sz="2800" err="1"/>
              <a:t>Reduz</a:t>
            </a:r>
            <a:r>
              <a:rPr lang="en-US" sz="2800"/>
              <a:t> a </a:t>
            </a:r>
            <a:r>
              <a:rPr lang="en-US" sz="2800" err="1"/>
              <a:t>quantidade</a:t>
            </a:r>
            <a:r>
              <a:rPr lang="en-US" sz="2800"/>
              <a:t> de </a:t>
            </a:r>
            <a:r>
              <a:rPr lang="en-US" sz="2800" err="1"/>
              <a:t>sequências</a:t>
            </a:r>
            <a:r>
              <a:rPr lang="en-US" sz="2800"/>
              <a:t> para </a:t>
            </a:r>
            <a:r>
              <a:rPr lang="en-US" sz="2800" err="1"/>
              <a:t>facilitar</a:t>
            </a:r>
            <a:r>
              <a:rPr lang="en-US" sz="2800"/>
              <a:t> a </a:t>
            </a:r>
            <a:r>
              <a:rPr lang="en-US" sz="2800" err="1"/>
              <a:t>geração</a:t>
            </a:r>
            <a:r>
              <a:rPr lang="en-US" sz="2800"/>
              <a:t> de dados e </a:t>
            </a:r>
            <a:r>
              <a:rPr lang="en-US" sz="2800" err="1"/>
              <a:t>análise</a:t>
            </a:r>
            <a:r>
              <a:rPr lang="en-US" sz="2800"/>
              <a:t>!</a:t>
            </a:r>
          </a:p>
          <a:p>
            <a:endParaRPr lang="en-US" sz="2800"/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513178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>
                <a:latin typeface="Arial" pitchFamily="34" charset="0"/>
                <a:cs typeface="Arial" pitchFamily="34" charset="0"/>
              </a:rPr>
              <a:t>)</a:t>
            </a:r>
            <a:endParaRPr lang="pt-BR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 descr="Screen shot 2014-05-21 at 12.43.58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88"/>
          <a:stretch/>
        </p:blipFill>
        <p:spPr>
          <a:xfrm>
            <a:off x="0" y="542385"/>
            <a:ext cx="9144000" cy="2802065"/>
          </a:xfrm>
          <a:prstGeom prst="rect">
            <a:avLst/>
          </a:prstGeom>
        </p:spPr>
      </p:pic>
      <p:pic>
        <p:nvPicPr>
          <p:cNvPr id="9" name="Picture 8" descr="Screen shot 2014-05-21 at 9.34.24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93"/>
          <a:stretch/>
        </p:blipFill>
        <p:spPr>
          <a:xfrm>
            <a:off x="313151" y="3437696"/>
            <a:ext cx="8417489" cy="8580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751" y="4342151"/>
            <a:ext cx="5035463" cy="26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131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5" r="14032"/>
          <a:stretch/>
        </p:blipFill>
        <p:spPr>
          <a:xfrm>
            <a:off x="4622104" y="3714489"/>
            <a:ext cx="4562925" cy="31435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243408"/>
            <a:ext cx="8229600" cy="1143000"/>
          </a:xfrm>
        </p:spPr>
        <p:txBody>
          <a:bodyPr/>
          <a:lstStyle/>
          <a:p>
            <a:r>
              <a:rPr lang="en-US" err="1"/>
              <a:t>RADSeq</a:t>
            </a:r>
            <a:endParaRPr lang="en-US"/>
          </a:p>
        </p:txBody>
      </p:sp>
      <p:pic>
        <p:nvPicPr>
          <p:cNvPr id="4" name="Picture 3" descr="Screen shot 2014-05-21 at 12.43.58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34"/>
          <a:stretch/>
        </p:blipFill>
        <p:spPr>
          <a:xfrm>
            <a:off x="0" y="899592"/>
            <a:ext cx="9144000" cy="1975988"/>
          </a:xfrm>
          <a:prstGeom prst="rect">
            <a:avLst/>
          </a:prstGeom>
        </p:spPr>
      </p:pic>
      <p:pic>
        <p:nvPicPr>
          <p:cNvPr id="3" name="Picture 2" descr="Screen shot 2014-05-21 at 9.34.24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27" b="37560"/>
          <a:stretch/>
        </p:blipFill>
        <p:spPr>
          <a:xfrm>
            <a:off x="2908412" y="187890"/>
            <a:ext cx="6012160" cy="4885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3" r="7144"/>
          <a:stretch/>
        </p:blipFill>
        <p:spPr>
          <a:xfrm>
            <a:off x="-12526" y="2938210"/>
            <a:ext cx="4972833" cy="262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52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4-05-21 at 12.44.48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28"/>
          <a:stretch/>
        </p:blipFill>
        <p:spPr>
          <a:xfrm>
            <a:off x="0" y="613775"/>
            <a:ext cx="9144000" cy="387255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857" y="4551234"/>
            <a:ext cx="5947836" cy="230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6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"/>
          <a:stretch/>
        </p:blipFill>
        <p:spPr>
          <a:xfrm>
            <a:off x="100207" y="1870205"/>
            <a:ext cx="8906005" cy="44507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68435" y="753433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SNPs e NGS: </a:t>
            </a:r>
            <a:r>
              <a:rPr lang="en-US" dirty="0" err="1"/>
              <a:t>RADSeq</a:t>
            </a:r>
            <a:r>
              <a:rPr lang="en-US" dirty="0"/>
              <a:t> e </a:t>
            </a:r>
            <a:r>
              <a:rPr lang="en-US" dirty="0" err="1"/>
              <a:t>derivações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02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8435" y="753433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SNPs e NGS: </a:t>
            </a:r>
            <a:r>
              <a:rPr lang="en-US" dirty="0" err="1"/>
              <a:t>RADSeq</a:t>
            </a:r>
            <a:r>
              <a:rPr lang="en-US" dirty="0"/>
              <a:t> e </a:t>
            </a:r>
            <a:r>
              <a:rPr lang="en-US" dirty="0" err="1"/>
              <a:t>derivações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6062"/>
            <a:ext cx="5340017" cy="27430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55" y="3637252"/>
            <a:ext cx="5472545" cy="31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19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23061"/>
            <a:ext cx="8229600" cy="1143000"/>
          </a:xfrm>
        </p:spPr>
        <p:txBody>
          <a:bodyPr/>
          <a:lstStyle/>
          <a:p>
            <a:r>
              <a:rPr lang="en-US"/>
              <a:t>SNPs e NGS: </a:t>
            </a:r>
            <a:r>
              <a:rPr lang="en-US" err="1"/>
              <a:t>sopa</a:t>
            </a:r>
            <a:r>
              <a:rPr lang="en-US"/>
              <a:t> de </a:t>
            </a:r>
            <a:r>
              <a:rPr lang="en-US" err="1"/>
              <a:t>letrinhas</a:t>
            </a:r>
            <a:r>
              <a:rPr lang="en-US"/>
              <a:t>…</a:t>
            </a:r>
          </a:p>
        </p:txBody>
      </p:sp>
      <p:pic>
        <p:nvPicPr>
          <p:cNvPr id="3" name="Picture 2" descr="Screen shot 2014-05-21 at 12.34.4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6498"/>
            <a:ext cx="9144000" cy="57215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520" y="4869160"/>
            <a:ext cx="7848872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rgbClr val="FF6600"/>
                </a:solidFill>
              </a:rPr>
              <a:t>Quanto da variação é realmente uma variação genômica e quanto da variação é devido a erros (barulho na análise)?</a:t>
            </a:r>
          </a:p>
        </p:txBody>
      </p:sp>
    </p:spTree>
    <p:extLst>
      <p:ext uri="{BB962C8B-B14F-4D97-AF65-F5344CB8AC3E}">
        <p14:creationId xmlns:p14="http://schemas.microsoft.com/office/powerpoint/2010/main" val="16399409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05-21 at 12.37.4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72"/>
            <a:ext cx="9144000" cy="61211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160"/>
            <a:ext cx="8229600" cy="1143000"/>
          </a:xfrm>
        </p:spPr>
        <p:txBody>
          <a:bodyPr/>
          <a:lstStyle/>
          <a:p>
            <a:r>
              <a:rPr lang="en-US"/>
              <a:t>SNPs e NGS: </a:t>
            </a:r>
            <a:r>
              <a:rPr lang="en-US" err="1"/>
              <a:t>cautela</a:t>
            </a:r>
            <a:r>
              <a:rPr lang="en-US"/>
              <a:t>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4546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E5951E-9CF0-7A4A-967F-545FCB14A973}"/>
              </a:ext>
            </a:extLst>
          </p:cNvPr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CF736-0A70-F844-AE23-A5CE9DC010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06" r="8116"/>
          <a:stretch/>
        </p:blipFill>
        <p:spPr>
          <a:xfrm>
            <a:off x="0" y="582114"/>
            <a:ext cx="4128655" cy="25901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30AF27-B2A9-D341-9677-E16698088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55" y="2169083"/>
            <a:ext cx="4914905" cy="1901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E99AB-DFA5-D649-96E7-9B883BF29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33" y="4267883"/>
            <a:ext cx="8464134" cy="25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90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9E1C1A-BC94-AE4B-B25E-9CBA9C43212E}"/>
              </a:ext>
            </a:extLst>
          </p:cNvPr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A69D2-3407-EB4B-BC6B-9B8180274A4B}"/>
              </a:ext>
            </a:extLst>
          </p:cNvPr>
          <p:cNvSpPr txBox="1">
            <a:spLocks/>
          </p:cNvSpPr>
          <p:nvPr/>
        </p:nvSpPr>
        <p:spPr>
          <a:xfrm>
            <a:off x="216455" y="1253331"/>
            <a:ext cx="8390659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 método é baseado no pressuposto de que os sítios de ligação das enzimas de restrição são compartilhados entre os táxons na analise</a:t>
            </a:r>
          </a:p>
          <a:p>
            <a:r>
              <a:rPr lang="pt-BR" dirty="0"/>
              <a:t>Quanto mais divergentes os táxons, menos marcadores serão compartilhados devido a degeneração dos sítios de ligação</a:t>
            </a:r>
          </a:p>
        </p:txBody>
      </p:sp>
    </p:spTree>
    <p:extLst>
      <p:ext uri="{BB962C8B-B14F-4D97-AF65-F5344CB8AC3E}">
        <p14:creationId xmlns:p14="http://schemas.microsoft.com/office/powerpoint/2010/main" val="738316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437D17-2C7E-E340-8187-D0F6D1CEA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7402" cy="3290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034B3B-902F-E24B-A648-89368A1E8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868" y="0"/>
            <a:ext cx="2034020" cy="36160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38295F-6CB4-294F-990C-A12B389A6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18" y="3290454"/>
            <a:ext cx="8594563" cy="343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647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SNPs</a:t>
            </a:r>
          </a:p>
        </p:txBody>
      </p:sp>
      <p:pic>
        <p:nvPicPr>
          <p:cNvPr id="4" name="Picture 3" descr="Screen shot 2014-05-21 at 12.47.3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9144000" cy="2128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12" y="3717032"/>
            <a:ext cx="5832648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/>
              <a:t>- Interesse para programas de cruzamento</a:t>
            </a:r>
          </a:p>
          <a:p>
            <a:r>
              <a:rPr lang="pt-BR" sz="2400"/>
              <a:t>- RADSeq</a:t>
            </a:r>
          </a:p>
          <a:p>
            <a:r>
              <a:rPr lang="pt-BR" sz="2400"/>
              <a:t>- 16.467 SNPs</a:t>
            </a:r>
          </a:p>
        </p:txBody>
      </p:sp>
      <p:pic>
        <p:nvPicPr>
          <p:cNvPr id="6" name="Picture 5" descr="Screen shot 2014-05-21 at 12.50.2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019" y="2488332"/>
            <a:ext cx="2883981" cy="43696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67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05-21 at 12.51.3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6755"/>
            <a:ext cx="9144000" cy="2932981"/>
          </a:xfrm>
          <a:prstGeom prst="rect">
            <a:avLst/>
          </a:prstGeom>
        </p:spPr>
      </p:pic>
      <p:pic>
        <p:nvPicPr>
          <p:cNvPr id="5" name="Picture 4" descr="Sisymbrium_austriacum02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390569"/>
            <a:ext cx="2598063" cy="34640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520" y="4293096"/>
            <a:ext cx="5904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- ~15.000 </a:t>
            </a:r>
            <a:r>
              <a:rPr lang="pt-BR" sz="2400" dirty="0" err="1"/>
              <a:t>SNPs</a:t>
            </a:r>
            <a:r>
              <a:rPr lang="pt-BR" sz="2400" dirty="0"/>
              <a:t>, 300 validados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411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Obtenção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SNPs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(RAD-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2225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Dúvidas</a:t>
            </a:r>
            <a:r>
              <a:rPr lang="en-US"/>
              <a:t>?</a:t>
            </a:r>
          </a:p>
        </p:txBody>
      </p:sp>
      <p:pic>
        <p:nvPicPr>
          <p:cNvPr id="4" name="Picture 3" descr="godzill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2400"/>
            <a:ext cx="4033563" cy="646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2003</TotalTime>
  <Words>1405</Words>
  <Application>Microsoft Office PowerPoint</Application>
  <PresentationFormat>On-screen Show (4:3)</PresentationFormat>
  <Paragraphs>277</Paragraphs>
  <Slides>53</Slides>
  <Notes>11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Candara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Nucleotide Polymorphisms (SNPs)</vt:lpstr>
      <vt:lpstr>Single Nucleotide Polymorphisms (SNPs)</vt:lpstr>
      <vt:lpstr>Single Nucleotide Polymorphisms (SNPs)</vt:lpstr>
      <vt:lpstr>SNPs: Utilidades</vt:lpstr>
      <vt:lpstr>SNPs: Utilidades</vt:lpstr>
      <vt:lpstr>SNPs: Utilidades</vt:lpstr>
      <vt:lpstr>SNPs: Utilidades</vt:lpstr>
      <vt:lpstr>SNPs e NGS: RADSeq</vt:lpstr>
      <vt:lpstr>PowerPoint Presentation</vt:lpstr>
      <vt:lpstr>PowerPoint Presentation</vt:lpstr>
      <vt:lpstr>RADSeq</vt:lpstr>
      <vt:lpstr>PowerPoint Presentation</vt:lpstr>
      <vt:lpstr>PowerPoint Presentation</vt:lpstr>
      <vt:lpstr>PowerPoint Presentation</vt:lpstr>
      <vt:lpstr>SNPs e NGS: sopa de letrinhas…</vt:lpstr>
      <vt:lpstr>SNPs e NGS: cautela!</vt:lpstr>
      <vt:lpstr>PowerPoint Presentation</vt:lpstr>
      <vt:lpstr>PowerPoint Presentation</vt:lpstr>
      <vt:lpstr>PowerPoint Presentation</vt:lpstr>
      <vt:lpstr>SNPs</vt:lpstr>
      <vt:lpstr>PowerPoint Presentation</vt:lpstr>
      <vt:lpstr>FIM!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Carolina Siniscalchi</dc:creator>
  <cp:lastModifiedBy>reviewer</cp:lastModifiedBy>
  <cp:revision>41</cp:revision>
  <cp:lastPrinted>2018-09-13T16:54:34Z</cp:lastPrinted>
  <dcterms:created xsi:type="dcterms:W3CDTF">2018-08-20T22:07:36Z</dcterms:created>
  <dcterms:modified xsi:type="dcterms:W3CDTF">2026-10-21T00:45:25Z</dcterms:modified>
</cp:coreProperties>
</file>