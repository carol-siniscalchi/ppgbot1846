
<file path=[Content_Types].xml><?xml version="1.0" encoding="utf-8"?>
<Types xmlns="http://schemas.openxmlformats.org/package/2006/content-types">
  <Default Extension="jpeg" ContentType="image/jpeg"/>
  <Default Extension="jpg" ContentType="image/jpeg"/>
  <Default Extension="org&amp;utm_campaign=parser&amp;utm_content=thumbnail"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media/image26.org&amp;utm_campaign=parser&amp;utm_content=thumbnail" ContentType="image/pn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89" r:id="rId3"/>
    <p:sldId id="290" r:id="rId4"/>
    <p:sldId id="291" r:id="rId5"/>
    <p:sldId id="257" r:id="rId6"/>
    <p:sldId id="292" r:id="rId7"/>
    <p:sldId id="259" r:id="rId8"/>
    <p:sldId id="260" r:id="rId9"/>
    <p:sldId id="261" r:id="rId10"/>
    <p:sldId id="262" r:id="rId11"/>
    <p:sldId id="263" r:id="rId12"/>
    <p:sldId id="269" r:id="rId13"/>
    <p:sldId id="264" r:id="rId14"/>
    <p:sldId id="265" r:id="rId15"/>
    <p:sldId id="266" r:id="rId16"/>
    <p:sldId id="268" r:id="rId17"/>
    <p:sldId id="267" r:id="rId18"/>
    <p:sldId id="270" r:id="rId19"/>
    <p:sldId id="271" r:id="rId20"/>
    <p:sldId id="272" r:id="rId21"/>
    <p:sldId id="273" r:id="rId22"/>
    <p:sldId id="274" r:id="rId23"/>
    <p:sldId id="275" r:id="rId24"/>
    <p:sldId id="298" r:id="rId25"/>
    <p:sldId id="294" r:id="rId26"/>
    <p:sldId id="295" r:id="rId27"/>
    <p:sldId id="296" r:id="rId28"/>
    <p:sldId id="297" r:id="rId29"/>
    <p:sldId id="287" r:id="rId30"/>
    <p:sldId id="276" r:id="rId31"/>
    <p:sldId id="288" r:id="rId32"/>
    <p:sldId id="280" r:id="rId33"/>
    <p:sldId id="281" r:id="rId34"/>
    <p:sldId id="285" r:id="rId35"/>
    <p:sldId id="282" r:id="rId36"/>
    <p:sldId id="283" r:id="rId37"/>
    <p:sldId id="284" r:id="rId38"/>
    <p:sldId id="286" r:id="rId39"/>
    <p:sldId id="277" r:id="rId40"/>
    <p:sldId id="278" r:id="rId41"/>
    <p:sldId id="279" r:id="rId42"/>
    <p:sldId id="293" r:id="rId43"/>
    <p:sldId id="299" r:id="rId44"/>
    <p:sldId id="300" r:id="rId45"/>
    <p:sldId id="301" r:id="rId46"/>
    <p:sldId id="302"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A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1" autoAdjust="0"/>
    <p:restoredTop sz="94660"/>
  </p:normalViewPr>
  <p:slideViewPr>
    <p:cSldViewPr snapToGrid="0" showGuides="1">
      <p:cViewPr varScale="1">
        <p:scale>
          <a:sx n="71" d="100"/>
          <a:sy n="71" d="100"/>
        </p:scale>
        <p:origin x="72" y="408"/>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2">
                <a:lumMod val="20000"/>
                <a:lumOff val="80000"/>
              </a:schemeClr>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2-AC9A-A041-980C-9B6582421773}"/>
              </c:ext>
            </c:extLst>
          </c:dPt>
          <c:dPt>
            <c:idx val="1"/>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AC9A-A041-980C-9B6582421773}"/>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4-AC9A-A041-980C-9B658242177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3-AC9A-A041-980C-9B6582421773}"/>
              </c:ext>
            </c:extLst>
          </c:dPt>
          <c:cat>
            <c:strRef>
              <c:f>Sheet1!$A$2:$A$5</c:f>
              <c:strCache>
                <c:ptCount val="4"/>
                <c:pt idx="0">
                  <c:v>A</c:v>
                </c:pt>
                <c:pt idx="1">
                  <c:v>B</c:v>
                </c:pt>
                <c:pt idx="2">
                  <c:v>C</c:v>
                </c:pt>
                <c:pt idx="3">
                  <c:v>D</c:v>
                </c:pt>
              </c:strCache>
            </c:strRef>
          </c:cat>
          <c:val>
            <c:numRef>
              <c:f>Sheet1!$B$2:$B$5</c:f>
              <c:numCache>
                <c:formatCode>General</c:formatCode>
                <c:ptCount val="4"/>
                <c:pt idx="0">
                  <c:v>3</c:v>
                </c:pt>
                <c:pt idx="1">
                  <c:v>2.5</c:v>
                </c:pt>
                <c:pt idx="2">
                  <c:v>2</c:v>
                </c:pt>
                <c:pt idx="3">
                  <c:v>1.5</c:v>
                </c:pt>
              </c:numCache>
            </c:numRef>
          </c:val>
          <c:extLst>
            <c:ext xmlns:c16="http://schemas.microsoft.com/office/drawing/2014/chart" uri="{C3380CC4-5D6E-409C-BE32-E72D297353CC}">
              <c16:uniqueId val="{00000000-AC9A-A041-980C-9B658242177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399168-A0F7-4A95-88EA-FEF895356DF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4E649-E07E-4DCF-BD73-E1850DCC4CDF}" type="slidenum">
              <a:rPr lang="en-US" smtClean="0"/>
              <a:t>‹#›</a:t>
            </a:fld>
            <a:endParaRPr lang="en-US"/>
          </a:p>
        </p:txBody>
      </p:sp>
    </p:spTree>
    <p:extLst>
      <p:ext uri="{BB962C8B-B14F-4D97-AF65-F5344CB8AC3E}">
        <p14:creationId xmlns:p14="http://schemas.microsoft.com/office/powerpoint/2010/main" val="1234123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B4E649-E07E-4DCF-BD73-E1850DCC4CDF}" type="slidenum">
              <a:rPr lang="en-US" smtClean="0"/>
              <a:t>44</a:t>
            </a:fld>
            <a:endParaRPr lang="en-US"/>
          </a:p>
        </p:txBody>
      </p:sp>
    </p:spTree>
    <p:extLst>
      <p:ext uri="{BB962C8B-B14F-4D97-AF65-F5344CB8AC3E}">
        <p14:creationId xmlns:p14="http://schemas.microsoft.com/office/powerpoint/2010/main" val="48329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10/21/2026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19607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10/21/2026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52600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10/21/2026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7930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10/21/2026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526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10/21/2026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4228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10/21/2026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95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10/21/2026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83620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10/21/2026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47962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10/21/2026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0550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10/21/2026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03460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10/21/2026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21917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10/21/2026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36175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org&amp;utm_campaign=parser&amp;utm_content=thumbnai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org&amp;utm_campaign=parser&amp;utm_content=thumbnai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noProof="0" dirty="0"/>
          </a:p>
        </p:txBody>
      </p:sp>
      <p:sp>
        <p:nvSpPr>
          <p:cNvPr id="2" name="Title 1">
            <a:extLst>
              <a:ext uri="{FF2B5EF4-FFF2-40B4-BE49-F238E27FC236}">
                <a16:creationId xmlns:a16="http://schemas.microsoft.com/office/drawing/2014/main" id="{1031AE82-E6B0-194C-9BC0-5C176B25A9EC}"/>
              </a:ext>
            </a:extLst>
          </p:cNvPr>
          <p:cNvSpPr>
            <a:spLocks noGrp="1"/>
          </p:cNvSpPr>
          <p:nvPr>
            <p:ph type="ctrTitle"/>
          </p:nvPr>
        </p:nvSpPr>
        <p:spPr>
          <a:xfrm>
            <a:off x="5604552" y="871758"/>
            <a:ext cx="5825448" cy="3871143"/>
          </a:xfrm>
        </p:spPr>
        <p:txBody>
          <a:bodyPr>
            <a:normAutofit/>
          </a:bodyPr>
          <a:lstStyle/>
          <a:p>
            <a:r>
              <a:rPr lang="pt-BR" noProof="0" dirty="0"/>
              <a:t>O modelo de coalescência multiespécies</a:t>
            </a:r>
          </a:p>
        </p:txBody>
      </p:sp>
      <p:sp>
        <p:nvSpPr>
          <p:cNvPr id="3" name="Subtitle 2">
            <a:extLst>
              <a:ext uri="{FF2B5EF4-FFF2-40B4-BE49-F238E27FC236}">
                <a16:creationId xmlns:a16="http://schemas.microsoft.com/office/drawing/2014/main" id="{1576BDDC-3A84-B1C8-4B55-F396D8463933}"/>
              </a:ext>
            </a:extLst>
          </p:cNvPr>
          <p:cNvSpPr>
            <a:spLocks noGrp="1"/>
          </p:cNvSpPr>
          <p:nvPr>
            <p:ph type="subTitle" idx="1"/>
          </p:nvPr>
        </p:nvSpPr>
        <p:spPr>
          <a:xfrm>
            <a:off x="5619964" y="4785543"/>
            <a:ext cx="5322013" cy="1005657"/>
          </a:xfrm>
        </p:spPr>
        <p:txBody>
          <a:bodyPr>
            <a:normAutofit/>
          </a:bodyPr>
          <a:lstStyle/>
          <a:p>
            <a:r>
              <a:rPr lang="pt-BR" noProof="0" dirty="0"/>
              <a:t>Carolina M. Siniscalchi</a:t>
            </a:r>
          </a:p>
          <a:p>
            <a:r>
              <a:rPr lang="pt-BR" noProof="0" dirty="0"/>
              <a:t>Outubro 2026</a:t>
            </a:r>
          </a:p>
        </p:txBody>
      </p:sp>
      <p:pic>
        <p:nvPicPr>
          <p:cNvPr id="4" name="Picture 3">
            <a:extLst>
              <a:ext uri="{FF2B5EF4-FFF2-40B4-BE49-F238E27FC236}">
                <a16:creationId xmlns:a16="http://schemas.microsoft.com/office/drawing/2014/main" id="{4DF272E2-A747-86D5-6BC4-D04E26EA165C}"/>
              </a:ext>
            </a:extLst>
          </p:cNvPr>
          <p:cNvPicPr>
            <a:picLocks noChangeAspect="1"/>
          </p:cNvPicPr>
          <p:nvPr/>
        </p:nvPicPr>
        <p:blipFill>
          <a:blip r:embed="rId2"/>
          <a:srcRect l="9236" r="19653"/>
          <a:stretch>
            <a:fillRect/>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9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C650DD-F44E-2A61-40DA-04FC32BDD22D}"/>
              </a:ext>
            </a:extLst>
          </p:cNvPr>
          <p:cNvPicPr>
            <a:picLocks noChangeAspect="1"/>
          </p:cNvPicPr>
          <p:nvPr/>
        </p:nvPicPr>
        <p:blipFill rotWithShape="1">
          <a:blip r:embed="rId2"/>
          <a:srcRect l="11874" r="17528"/>
          <a:stretch/>
        </p:blipFill>
        <p:spPr>
          <a:xfrm>
            <a:off x="342900" y="834850"/>
            <a:ext cx="5628068" cy="5580416"/>
          </a:xfrm>
          <a:prstGeom prst="rect">
            <a:avLst/>
          </a:prstGeom>
        </p:spPr>
      </p:pic>
      <p:sp>
        <p:nvSpPr>
          <p:cNvPr id="5" name="TextBox 4">
            <a:extLst>
              <a:ext uri="{FF2B5EF4-FFF2-40B4-BE49-F238E27FC236}">
                <a16:creationId xmlns:a16="http://schemas.microsoft.com/office/drawing/2014/main" id="{9B8FFC29-07AF-D375-7C7C-806259BEEF3A}"/>
              </a:ext>
            </a:extLst>
          </p:cNvPr>
          <p:cNvSpPr txBox="1"/>
          <p:nvPr/>
        </p:nvSpPr>
        <p:spPr>
          <a:xfrm>
            <a:off x="6711352" y="2106860"/>
            <a:ext cx="4991210" cy="2308324"/>
          </a:xfrm>
          <a:prstGeom prst="rect">
            <a:avLst/>
          </a:prstGeom>
          <a:noFill/>
        </p:spPr>
        <p:txBody>
          <a:bodyPr wrap="square" rtlCol="0">
            <a:spAutoFit/>
          </a:bodyPr>
          <a:lstStyle/>
          <a:p>
            <a:r>
              <a:rPr lang="pt-BR" sz="2400" dirty="0"/>
              <a:t>As relações filogenéticas entre diferentes organismos são a combinação das histórias evolutivas dos genes contidos nesses organismos. </a:t>
            </a:r>
            <a:r>
              <a:rPr lang="pt-BR" sz="2400" b="1" dirty="0"/>
              <a:t>Nem sempre essas histórias são congruentes entre si. </a:t>
            </a:r>
          </a:p>
        </p:txBody>
      </p:sp>
      <p:pic>
        <p:nvPicPr>
          <p:cNvPr id="7" name="Picture 6">
            <a:extLst>
              <a:ext uri="{FF2B5EF4-FFF2-40B4-BE49-F238E27FC236}">
                <a16:creationId xmlns:a16="http://schemas.microsoft.com/office/drawing/2014/main" id="{735AF9DD-4A1D-3061-3A83-8F7C1D71E0D4}"/>
              </a:ext>
            </a:extLst>
          </p:cNvPr>
          <p:cNvPicPr>
            <a:picLocks noChangeAspect="1"/>
          </p:cNvPicPr>
          <p:nvPr/>
        </p:nvPicPr>
        <p:blipFill>
          <a:blip r:embed="rId3">
            <a:alphaModFix amt="5000"/>
          </a:blip>
          <a:srcRect l="9236" t="24142" r="19653" b="35476"/>
          <a:stretch>
            <a:fillRect/>
          </a:stretch>
        </p:blipFill>
        <p:spPr>
          <a:xfrm>
            <a:off x="1" y="-65314"/>
            <a:ext cx="12191999" cy="6923314"/>
          </a:xfrm>
          <a:prstGeom prst="rect">
            <a:avLst/>
          </a:prstGeom>
        </p:spPr>
      </p:pic>
    </p:spTree>
    <p:extLst>
      <p:ext uri="{BB962C8B-B14F-4D97-AF65-F5344CB8AC3E}">
        <p14:creationId xmlns:p14="http://schemas.microsoft.com/office/powerpoint/2010/main" val="162388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83B055-9A1A-41FE-38BB-336195B81A29}"/>
              </a:ext>
            </a:extLst>
          </p:cNvPr>
          <p:cNvSpPr txBox="1"/>
          <p:nvPr/>
        </p:nvSpPr>
        <p:spPr>
          <a:xfrm>
            <a:off x="1779270" y="1923124"/>
            <a:ext cx="8709660" cy="3108543"/>
          </a:xfrm>
          <a:prstGeom prst="rect">
            <a:avLst/>
          </a:prstGeom>
          <a:solidFill>
            <a:srgbClr val="7A81FF">
              <a:alpha val="52941"/>
            </a:srgbClr>
          </a:solidFill>
        </p:spPr>
        <p:txBody>
          <a:bodyPr wrap="square" rtlCol="0">
            <a:spAutoFit/>
          </a:bodyPr>
          <a:lstStyle/>
          <a:p>
            <a:pPr algn="ctr"/>
            <a:r>
              <a:rPr lang="en-US" sz="2800" dirty="0"/>
              <a:t>The diversity recovered in our surveys of DNA sequence evolution within and between species is ultimately an </a:t>
            </a:r>
            <a:r>
              <a:rPr lang="en-US" sz="2800" b="1" dirty="0"/>
              <a:t>indirect and incomplete window </a:t>
            </a:r>
            <a:r>
              <a:rPr lang="en-US" sz="2800" dirty="0"/>
              <a:t>into the history of species, precisely because </a:t>
            </a:r>
            <a:r>
              <a:rPr lang="en-US" sz="2800" b="1" dirty="0"/>
              <a:t>species are</a:t>
            </a:r>
            <a:r>
              <a:rPr lang="en-US" sz="2800" dirty="0"/>
              <a:t>, by most definitions, </a:t>
            </a:r>
            <a:r>
              <a:rPr lang="en-US" sz="2800" b="1" dirty="0"/>
              <a:t>evolving lineages that comprise many genes, each found in many individuals</a:t>
            </a:r>
            <a:r>
              <a:rPr lang="en-US" sz="2800" dirty="0"/>
              <a:t>.</a:t>
            </a:r>
          </a:p>
          <a:p>
            <a:pPr algn="ctr"/>
            <a:r>
              <a:rPr lang="en-US" sz="2800" dirty="0"/>
              <a:t> (Edwards 2009)</a:t>
            </a:r>
          </a:p>
        </p:txBody>
      </p:sp>
      <p:pic>
        <p:nvPicPr>
          <p:cNvPr id="5" name="Picture 4">
            <a:extLst>
              <a:ext uri="{FF2B5EF4-FFF2-40B4-BE49-F238E27FC236}">
                <a16:creationId xmlns:a16="http://schemas.microsoft.com/office/drawing/2014/main" id="{9383ED1E-6CE6-3956-B448-27A29FE7478A}"/>
              </a:ext>
            </a:extLst>
          </p:cNvPr>
          <p:cNvPicPr>
            <a:picLocks noChangeAspect="1"/>
          </p:cNvPicPr>
          <p:nvPr/>
        </p:nvPicPr>
        <p:blipFill>
          <a:blip r:embed="rId2">
            <a:alphaModFix amt="5000"/>
          </a:blip>
          <a:srcRect l="9236" t="24142" r="19653" b="35476"/>
          <a:stretch>
            <a:fillRect/>
          </a:stretch>
        </p:blipFill>
        <p:spPr>
          <a:xfrm>
            <a:off x="1" y="-65314"/>
            <a:ext cx="12191999" cy="6923314"/>
          </a:xfrm>
          <a:prstGeom prst="rect">
            <a:avLst/>
          </a:prstGeom>
        </p:spPr>
      </p:pic>
    </p:spTree>
    <p:extLst>
      <p:ext uri="{BB962C8B-B14F-4D97-AF65-F5344CB8AC3E}">
        <p14:creationId xmlns:p14="http://schemas.microsoft.com/office/powerpoint/2010/main" val="408333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46833E-47AA-0CCE-FB01-F309A3FE6275}"/>
              </a:ext>
            </a:extLst>
          </p:cNvPr>
          <p:cNvSpPr txBox="1"/>
          <p:nvPr/>
        </p:nvSpPr>
        <p:spPr>
          <a:xfrm>
            <a:off x="892270" y="1476350"/>
            <a:ext cx="10493768" cy="3905300"/>
          </a:xfrm>
          <a:prstGeom prst="rect">
            <a:avLst/>
          </a:prstGeom>
          <a:noFill/>
        </p:spPr>
        <p:txBody>
          <a:bodyPr wrap="square" rtlCol="0">
            <a:spAutoFit/>
          </a:bodyPr>
          <a:lstStyle/>
          <a:p>
            <a:pPr>
              <a:lnSpc>
                <a:spcPct val="150000"/>
              </a:lnSpc>
            </a:pPr>
            <a:r>
              <a:rPr lang="pt-BR" sz="2400" dirty="0"/>
              <a:t>Análises com matrizes concatenadas:</a:t>
            </a:r>
          </a:p>
          <a:p>
            <a:pPr marL="285750" indent="-285750">
              <a:lnSpc>
                <a:spcPct val="150000"/>
              </a:lnSpc>
              <a:buFont typeface="Arial" panose="020B0604020202020204" pitchFamily="34" charset="0"/>
              <a:buChar char="•"/>
            </a:pPr>
            <a:r>
              <a:rPr lang="pt-BR" sz="2400" dirty="0"/>
              <a:t>baseado na ideia de que filogenias devem conter a “evidência total” </a:t>
            </a:r>
          </a:p>
          <a:p>
            <a:pPr marL="285750" indent="-285750">
              <a:lnSpc>
                <a:spcPct val="150000"/>
              </a:lnSpc>
              <a:buFont typeface="Arial" panose="020B0604020202020204" pitchFamily="34" charset="0"/>
              <a:buChar char="•"/>
            </a:pPr>
            <a:r>
              <a:rPr lang="pt-BR" sz="2400" dirty="0"/>
              <a:t>marcadores que evoluem com taxas de substituição diferentes podem fornecer resultados incorretos quando analisados como se estivessem sobre o mesmo regime de evolução</a:t>
            </a:r>
          </a:p>
          <a:p>
            <a:pPr marL="285750" indent="-285750">
              <a:lnSpc>
                <a:spcPct val="150000"/>
              </a:lnSpc>
              <a:buFont typeface="Arial" panose="020B0604020202020204" pitchFamily="34" charset="0"/>
              <a:buChar char="•"/>
            </a:pPr>
            <a:r>
              <a:rPr lang="pt-BR" sz="2400" dirty="0"/>
              <a:t>Assume-se que todos os genes compartilham a mesma topologia</a:t>
            </a:r>
          </a:p>
          <a:p>
            <a:pPr marL="285750" indent="-285750">
              <a:lnSpc>
                <a:spcPct val="150000"/>
              </a:lnSpc>
              <a:buFont typeface="Arial" panose="020B0604020202020204" pitchFamily="34" charset="0"/>
              <a:buChar char="•"/>
            </a:pPr>
            <a:r>
              <a:rPr lang="pt-BR" sz="2400" dirty="0"/>
              <a:t>“Data </a:t>
            </a:r>
            <a:r>
              <a:rPr lang="pt-BR" sz="2400" dirty="0" err="1"/>
              <a:t>swamping</a:t>
            </a:r>
            <a:r>
              <a:rPr lang="pt-BR" sz="2400" dirty="0"/>
              <a:t>”: poucos marcadores fornecem todo o sinal na análise</a:t>
            </a:r>
          </a:p>
        </p:txBody>
      </p:sp>
      <p:pic>
        <p:nvPicPr>
          <p:cNvPr id="5" name="Picture 4">
            <a:extLst>
              <a:ext uri="{FF2B5EF4-FFF2-40B4-BE49-F238E27FC236}">
                <a16:creationId xmlns:a16="http://schemas.microsoft.com/office/drawing/2014/main" id="{95BEF4F1-BCE8-D4AD-F19C-41B4D6FC8587}"/>
              </a:ext>
            </a:extLst>
          </p:cNvPr>
          <p:cNvPicPr>
            <a:picLocks noChangeAspect="1"/>
          </p:cNvPicPr>
          <p:nvPr/>
        </p:nvPicPr>
        <p:blipFill>
          <a:blip r:embed="rId2">
            <a:alphaModFix amt="5000"/>
          </a:blip>
          <a:srcRect l="9236" t="24142" r="19653" b="35476"/>
          <a:stretch>
            <a:fillRect/>
          </a:stretch>
        </p:blipFill>
        <p:spPr>
          <a:xfrm>
            <a:off x="1" y="-65314"/>
            <a:ext cx="12191999" cy="6923314"/>
          </a:xfrm>
          <a:prstGeom prst="rect">
            <a:avLst/>
          </a:prstGeom>
        </p:spPr>
      </p:pic>
    </p:spTree>
    <p:extLst>
      <p:ext uri="{BB962C8B-B14F-4D97-AF65-F5344CB8AC3E}">
        <p14:creationId xmlns:p14="http://schemas.microsoft.com/office/powerpoint/2010/main" val="2866149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D3B014-3C32-0126-3A82-5847F850FFE1}"/>
              </a:ext>
            </a:extLst>
          </p:cNvPr>
          <p:cNvPicPr>
            <a:picLocks noChangeAspect="1"/>
          </p:cNvPicPr>
          <p:nvPr/>
        </p:nvPicPr>
        <p:blipFill>
          <a:blip r:embed="rId2">
            <a:alphaModFix amt="5000"/>
          </a:blip>
          <a:srcRect l="9236" t="24142" r="19653" b="35476"/>
          <a:stretch>
            <a:fillRect/>
          </a:stretch>
        </p:blipFill>
        <p:spPr>
          <a:xfrm>
            <a:off x="1" y="-65314"/>
            <a:ext cx="12191999" cy="6923314"/>
          </a:xfrm>
          <a:prstGeom prst="rect">
            <a:avLst/>
          </a:prstGeom>
        </p:spPr>
      </p:pic>
      <p:sp>
        <p:nvSpPr>
          <p:cNvPr id="2" name="TextBox 1">
            <a:extLst>
              <a:ext uri="{FF2B5EF4-FFF2-40B4-BE49-F238E27FC236}">
                <a16:creationId xmlns:a16="http://schemas.microsoft.com/office/drawing/2014/main" id="{DD1F20D3-3ADA-39C5-E68B-E44042EE08FA}"/>
              </a:ext>
            </a:extLst>
          </p:cNvPr>
          <p:cNvSpPr txBox="1"/>
          <p:nvPr/>
        </p:nvSpPr>
        <p:spPr>
          <a:xfrm>
            <a:off x="1655258" y="1510392"/>
            <a:ext cx="8881483" cy="1200329"/>
          </a:xfrm>
          <a:prstGeom prst="rect">
            <a:avLst/>
          </a:prstGeom>
          <a:noFill/>
        </p:spPr>
        <p:txBody>
          <a:bodyPr wrap="square" rtlCol="0">
            <a:spAutoFit/>
          </a:bodyPr>
          <a:lstStyle/>
          <a:p>
            <a:r>
              <a:rPr lang="pt-BR" sz="2400" noProof="0" dirty="0"/>
              <a:t>O modelo de coalescência multiespécies é um processo estocástico que descreve as relações genealógicas para </a:t>
            </a:r>
            <a:r>
              <a:rPr lang="pt-BR" sz="2400" noProof="0" dirty="0" err="1"/>
              <a:t>sequ</a:t>
            </a:r>
            <a:r>
              <a:rPr lang="pt-BR" sz="2400" dirty="0"/>
              <a:t>ê</a:t>
            </a:r>
            <a:r>
              <a:rPr lang="pt-BR" sz="2400" noProof="0" dirty="0" err="1"/>
              <a:t>ncias</a:t>
            </a:r>
            <a:r>
              <a:rPr lang="pt-BR" sz="2400" noProof="0" dirty="0"/>
              <a:t> de DNA provenientes de diversas esp</a:t>
            </a:r>
            <a:r>
              <a:rPr lang="pt-BR" sz="2400" dirty="0" err="1"/>
              <a:t>écies</a:t>
            </a:r>
            <a:r>
              <a:rPr lang="pt-BR" sz="2400" dirty="0"/>
              <a:t>.</a:t>
            </a:r>
            <a:endParaRPr lang="pt-BR" sz="2400" noProof="0" dirty="0"/>
          </a:p>
        </p:txBody>
      </p:sp>
      <p:sp>
        <p:nvSpPr>
          <p:cNvPr id="3" name="TextBox 2">
            <a:extLst>
              <a:ext uri="{FF2B5EF4-FFF2-40B4-BE49-F238E27FC236}">
                <a16:creationId xmlns:a16="http://schemas.microsoft.com/office/drawing/2014/main" id="{7D9999C4-48AA-EBD1-B933-279847400D5E}"/>
              </a:ext>
            </a:extLst>
          </p:cNvPr>
          <p:cNvSpPr txBox="1"/>
          <p:nvPr/>
        </p:nvSpPr>
        <p:spPr>
          <a:xfrm>
            <a:off x="1608679" y="3791750"/>
            <a:ext cx="8974641" cy="1323439"/>
          </a:xfrm>
          <a:prstGeom prst="rect">
            <a:avLst/>
          </a:prstGeom>
          <a:noFill/>
        </p:spPr>
        <p:txBody>
          <a:bodyPr wrap="square" rtlCol="0">
            <a:spAutoFit/>
          </a:bodyPr>
          <a:lstStyle/>
          <a:p>
            <a:pPr marL="285750" indent="-285750">
              <a:buFontTx/>
              <a:buChar char="-"/>
            </a:pPr>
            <a:r>
              <a:rPr lang="pt-BR" sz="2000" dirty="0"/>
              <a:t>Derivado da teoria da coalescência tradicionalmente aplicada à populações</a:t>
            </a:r>
          </a:p>
          <a:p>
            <a:pPr marL="285750" indent="-285750">
              <a:buFontTx/>
              <a:buChar char="-"/>
            </a:pPr>
            <a:r>
              <a:rPr lang="pt-BR" sz="2000" dirty="0"/>
              <a:t>Fornece uma estrutura para inferir filogenias de espécies levando em conta polimorfismos ancestrais e discordância entre árvores de genes e árvores de espécies</a:t>
            </a:r>
            <a:endParaRPr lang="en-US" sz="2000" dirty="0"/>
          </a:p>
        </p:txBody>
      </p:sp>
    </p:spTree>
    <p:extLst>
      <p:ext uri="{BB962C8B-B14F-4D97-AF65-F5344CB8AC3E}">
        <p14:creationId xmlns:p14="http://schemas.microsoft.com/office/powerpoint/2010/main" val="1312840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88FE4F-0891-7E62-FA26-B7AA52D82CFB}"/>
              </a:ext>
            </a:extLst>
          </p:cNvPr>
          <p:cNvPicPr>
            <a:picLocks noChangeAspect="1"/>
          </p:cNvPicPr>
          <p:nvPr/>
        </p:nvPicPr>
        <p:blipFill>
          <a:blip r:embed="rId2"/>
          <a:stretch>
            <a:fillRect/>
          </a:stretch>
        </p:blipFill>
        <p:spPr>
          <a:xfrm>
            <a:off x="7615255" y="2049599"/>
            <a:ext cx="2972257" cy="3750931"/>
          </a:xfrm>
          <a:prstGeom prst="rect">
            <a:avLst/>
          </a:prstGeom>
        </p:spPr>
      </p:pic>
      <p:sp>
        <p:nvSpPr>
          <p:cNvPr id="7" name="TextBox 6">
            <a:extLst>
              <a:ext uri="{FF2B5EF4-FFF2-40B4-BE49-F238E27FC236}">
                <a16:creationId xmlns:a16="http://schemas.microsoft.com/office/drawing/2014/main" id="{5F87D6E0-606E-E2BA-1503-E3B75848E312}"/>
              </a:ext>
            </a:extLst>
          </p:cNvPr>
          <p:cNvSpPr txBox="1"/>
          <p:nvPr/>
        </p:nvSpPr>
        <p:spPr>
          <a:xfrm>
            <a:off x="759277" y="1385114"/>
            <a:ext cx="6133892" cy="4708981"/>
          </a:xfrm>
          <a:prstGeom prst="rect">
            <a:avLst/>
          </a:prstGeom>
          <a:noFill/>
        </p:spPr>
        <p:txBody>
          <a:bodyPr wrap="square" rtlCol="0">
            <a:spAutoFit/>
          </a:bodyPr>
          <a:lstStyle/>
          <a:p>
            <a:pPr marL="285750" indent="-285750">
              <a:buFontTx/>
              <a:buChar char="-"/>
            </a:pPr>
            <a:r>
              <a:rPr lang="pt-BR" sz="2000" dirty="0"/>
              <a:t>Vem da genética de populações (baseado no modelo de Wright-Fisher)</a:t>
            </a:r>
          </a:p>
          <a:p>
            <a:pPr marL="285750" indent="-285750">
              <a:buFontTx/>
              <a:buChar char="-"/>
            </a:pPr>
            <a:r>
              <a:rPr lang="pt-BR" sz="2000" dirty="0"/>
              <a:t>Modelo de como alelos amostrados de uma população originaram de um ancestral comum</a:t>
            </a:r>
          </a:p>
          <a:p>
            <a:pPr marL="285750" indent="-285750">
              <a:buFontTx/>
              <a:buChar char="-"/>
            </a:pPr>
            <a:endParaRPr lang="pt-BR" sz="2000" dirty="0"/>
          </a:p>
          <a:p>
            <a:pPr marL="285750" indent="-285750">
              <a:buFontTx/>
              <a:buChar char="-"/>
            </a:pPr>
            <a:r>
              <a:rPr lang="pt-BR" sz="2000" dirty="0"/>
              <a:t>No caso mais simples, assume que </a:t>
            </a:r>
            <a:r>
              <a:rPr lang="pt-BR" sz="2000" b="1" dirty="0"/>
              <a:t>NÃO</a:t>
            </a:r>
            <a:r>
              <a:rPr lang="pt-BR" sz="2000" dirty="0"/>
              <a:t> há:</a:t>
            </a:r>
          </a:p>
          <a:p>
            <a:pPr marL="742950" lvl="1" indent="-285750">
              <a:buFontTx/>
              <a:buChar char="-"/>
            </a:pPr>
            <a:r>
              <a:rPr lang="pt-BR" sz="2000" dirty="0"/>
              <a:t>Recombinação</a:t>
            </a:r>
          </a:p>
          <a:p>
            <a:pPr marL="742950" lvl="1" indent="-285750">
              <a:buFontTx/>
              <a:buChar char="-"/>
            </a:pPr>
            <a:r>
              <a:rPr lang="pt-BR" sz="2000" dirty="0"/>
              <a:t>Seleção natural</a:t>
            </a:r>
          </a:p>
          <a:p>
            <a:pPr marL="742950" lvl="1" indent="-285750">
              <a:buFontTx/>
              <a:buChar char="-"/>
            </a:pPr>
            <a:r>
              <a:rPr lang="pt-BR" sz="2000" dirty="0"/>
              <a:t>Fluxo gênico</a:t>
            </a:r>
          </a:p>
          <a:p>
            <a:pPr marL="742950" lvl="1" indent="-285750">
              <a:buFontTx/>
              <a:buChar char="-"/>
            </a:pPr>
            <a:endParaRPr lang="pt-BR" sz="2000" dirty="0"/>
          </a:p>
          <a:p>
            <a:pPr marL="293688" lvl="1" indent="-282575">
              <a:buFontTx/>
              <a:buChar char="-"/>
            </a:pPr>
            <a:r>
              <a:rPr lang="pt-BR" sz="2000" dirty="0"/>
              <a:t>Tempo esperado entre cada evento cresce de forma quase exponencial</a:t>
            </a:r>
          </a:p>
          <a:p>
            <a:pPr marL="293688" lvl="1" indent="-282575">
              <a:buFontTx/>
              <a:buChar char="-"/>
            </a:pPr>
            <a:endParaRPr lang="pt-BR" sz="2000" dirty="0"/>
          </a:p>
          <a:p>
            <a:pPr marL="293688" lvl="1" indent="-282575">
              <a:buFontTx/>
              <a:buChar char="-"/>
            </a:pPr>
            <a:r>
              <a:rPr lang="pt-BR" sz="2000" dirty="0"/>
              <a:t>Basicamente depende só do tamanho efetivo da população</a:t>
            </a:r>
          </a:p>
        </p:txBody>
      </p:sp>
      <p:sp>
        <p:nvSpPr>
          <p:cNvPr id="9" name="Down Arrow 5">
            <a:extLst>
              <a:ext uri="{FF2B5EF4-FFF2-40B4-BE49-F238E27FC236}">
                <a16:creationId xmlns:a16="http://schemas.microsoft.com/office/drawing/2014/main" id="{DEC977E4-6A7B-55CB-9C6B-A69BEA60899E}"/>
              </a:ext>
            </a:extLst>
          </p:cNvPr>
          <p:cNvSpPr/>
          <p:nvPr/>
        </p:nvSpPr>
        <p:spPr>
          <a:xfrm>
            <a:off x="7256967" y="1503142"/>
            <a:ext cx="166254" cy="444095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FDC153F-51D2-DCDE-0104-24D77B687246}"/>
              </a:ext>
            </a:extLst>
          </p:cNvPr>
          <p:cNvSpPr txBox="1"/>
          <p:nvPr/>
        </p:nvSpPr>
        <p:spPr>
          <a:xfrm>
            <a:off x="7455421" y="5759433"/>
            <a:ext cx="802527" cy="369332"/>
          </a:xfrm>
          <a:prstGeom prst="rect">
            <a:avLst/>
          </a:prstGeom>
          <a:noFill/>
        </p:spPr>
        <p:txBody>
          <a:bodyPr wrap="none" rtlCol="0">
            <a:spAutoFit/>
          </a:bodyPr>
          <a:lstStyle/>
          <a:p>
            <a:r>
              <a:rPr lang="en-US" dirty="0"/>
              <a:t>tempo</a:t>
            </a:r>
          </a:p>
        </p:txBody>
      </p:sp>
      <p:pic>
        <p:nvPicPr>
          <p:cNvPr id="13" name="Picture 12">
            <a:extLst>
              <a:ext uri="{FF2B5EF4-FFF2-40B4-BE49-F238E27FC236}">
                <a16:creationId xmlns:a16="http://schemas.microsoft.com/office/drawing/2014/main" id="{2BFD2CF3-4A16-7272-D96E-725E05160C27}"/>
              </a:ext>
            </a:extLst>
          </p:cNvPr>
          <p:cNvPicPr>
            <a:picLocks noChangeAspect="1"/>
          </p:cNvPicPr>
          <p:nvPr/>
        </p:nvPicPr>
        <p:blipFill>
          <a:blip r:embed="rId3"/>
          <a:stretch>
            <a:fillRect/>
          </a:stretch>
        </p:blipFill>
        <p:spPr>
          <a:xfrm>
            <a:off x="7455421" y="770925"/>
            <a:ext cx="2972256" cy="1152875"/>
          </a:xfrm>
          <a:prstGeom prst="rect">
            <a:avLst/>
          </a:prstGeom>
        </p:spPr>
      </p:pic>
      <p:sp>
        <p:nvSpPr>
          <p:cNvPr id="15" name="TextBox 14">
            <a:extLst>
              <a:ext uri="{FF2B5EF4-FFF2-40B4-BE49-F238E27FC236}">
                <a16:creationId xmlns:a16="http://schemas.microsoft.com/office/drawing/2014/main" id="{1F1754FD-F017-7950-F9B8-EE9D4C6D1E39}"/>
              </a:ext>
            </a:extLst>
          </p:cNvPr>
          <p:cNvSpPr txBox="1"/>
          <p:nvPr/>
        </p:nvSpPr>
        <p:spPr>
          <a:xfrm>
            <a:off x="759277" y="796963"/>
            <a:ext cx="5674179" cy="523220"/>
          </a:xfrm>
          <a:prstGeom prst="rect">
            <a:avLst/>
          </a:prstGeom>
          <a:noFill/>
        </p:spPr>
        <p:txBody>
          <a:bodyPr wrap="square" rtlCol="0">
            <a:spAutoFit/>
          </a:bodyPr>
          <a:lstStyle/>
          <a:p>
            <a:r>
              <a:rPr lang="pt-BR" sz="2800" dirty="0">
                <a:latin typeface="+mj-lt"/>
              </a:rPr>
              <a:t>Coalescência em populações </a:t>
            </a:r>
            <a:endParaRPr lang="en-US" sz="2800" dirty="0">
              <a:latin typeface="+mj-lt"/>
            </a:endParaRPr>
          </a:p>
        </p:txBody>
      </p:sp>
    </p:spTree>
    <p:extLst>
      <p:ext uri="{BB962C8B-B14F-4D97-AF65-F5344CB8AC3E}">
        <p14:creationId xmlns:p14="http://schemas.microsoft.com/office/powerpoint/2010/main" val="3840034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F2EACE-D523-31D8-653C-5F68C9F8C7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8A9C60-A97B-F695-AF2B-58ACEF3D60E7}"/>
              </a:ext>
            </a:extLst>
          </p:cNvPr>
          <p:cNvSpPr txBox="1"/>
          <p:nvPr/>
        </p:nvSpPr>
        <p:spPr>
          <a:xfrm>
            <a:off x="759277" y="840923"/>
            <a:ext cx="5674179" cy="523220"/>
          </a:xfrm>
          <a:prstGeom prst="rect">
            <a:avLst/>
          </a:prstGeom>
          <a:noFill/>
        </p:spPr>
        <p:txBody>
          <a:bodyPr wrap="square" rtlCol="0">
            <a:spAutoFit/>
          </a:bodyPr>
          <a:lstStyle/>
          <a:p>
            <a:r>
              <a:rPr lang="pt-BR" sz="2800" dirty="0">
                <a:latin typeface="+mj-lt"/>
              </a:rPr>
              <a:t>Coalescência em populações </a:t>
            </a:r>
            <a:endParaRPr lang="en-US" sz="2800" dirty="0">
              <a:latin typeface="+mj-lt"/>
            </a:endParaRPr>
          </a:p>
        </p:txBody>
      </p:sp>
      <p:pic>
        <p:nvPicPr>
          <p:cNvPr id="4" name="Picture 3">
            <a:extLst>
              <a:ext uri="{FF2B5EF4-FFF2-40B4-BE49-F238E27FC236}">
                <a16:creationId xmlns:a16="http://schemas.microsoft.com/office/drawing/2014/main" id="{5FE096E6-7441-4435-DB62-F8F3D095BFCE}"/>
              </a:ext>
            </a:extLst>
          </p:cNvPr>
          <p:cNvPicPr>
            <a:picLocks noChangeAspect="1"/>
          </p:cNvPicPr>
          <p:nvPr/>
        </p:nvPicPr>
        <p:blipFill>
          <a:blip r:embed="rId2"/>
          <a:stretch>
            <a:fillRect/>
          </a:stretch>
        </p:blipFill>
        <p:spPr>
          <a:xfrm>
            <a:off x="7108527" y="840923"/>
            <a:ext cx="4324196" cy="5129684"/>
          </a:xfrm>
          <a:prstGeom prst="rect">
            <a:avLst/>
          </a:prstGeom>
        </p:spPr>
      </p:pic>
      <p:sp>
        <p:nvSpPr>
          <p:cNvPr id="6" name="TextBox 5">
            <a:extLst>
              <a:ext uri="{FF2B5EF4-FFF2-40B4-BE49-F238E27FC236}">
                <a16:creationId xmlns:a16="http://schemas.microsoft.com/office/drawing/2014/main" id="{237054E5-4F7F-8039-0D25-3EA8C1F7C4C5}"/>
              </a:ext>
            </a:extLst>
          </p:cNvPr>
          <p:cNvSpPr txBox="1"/>
          <p:nvPr/>
        </p:nvSpPr>
        <p:spPr>
          <a:xfrm>
            <a:off x="759277" y="1734350"/>
            <a:ext cx="5143185" cy="1015663"/>
          </a:xfrm>
          <a:prstGeom prst="rect">
            <a:avLst/>
          </a:prstGeom>
          <a:noFill/>
        </p:spPr>
        <p:txBody>
          <a:bodyPr wrap="square" rtlCol="0">
            <a:spAutoFit/>
          </a:bodyPr>
          <a:lstStyle/>
          <a:p>
            <a:pPr marL="285750" indent="-285750">
              <a:buFontTx/>
              <a:buChar char="-"/>
            </a:pPr>
            <a:r>
              <a:rPr lang="pt-BR" sz="2000" dirty="0"/>
              <a:t>Representa um modelo para traçar a história de um alelo presente em uma população até um ancestral comum. </a:t>
            </a:r>
            <a:endParaRPr lang="en-US" sz="2000" dirty="0"/>
          </a:p>
        </p:txBody>
      </p:sp>
      <p:cxnSp>
        <p:nvCxnSpPr>
          <p:cNvPr id="8" name="Straight Arrow Connector 7">
            <a:extLst>
              <a:ext uri="{FF2B5EF4-FFF2-40B4-BE49-F238E27FC236}">
                <a16:creationId xmlns:a16="http://schemas.microsoft.com/office/drawing/2014/main" id="{F1ED4863-91ED-91B0-6516-C43E56406F58}"/>
              </a:ext>
            </a:extLst>
          </p:cNvPr>
          <p:cNvCxnSpPr>
            <a:cxnSpLocks/>
          </p:cNvCxnSpPr>
          <p:nvPr/>
        </p:nvCxnSpPr>
        <p:spPr>
          <a:xfrm flipV="1">
            <a:off x="6817179" y="1600200"/>
            <a:ext cx="0" cy="36820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F8C1729-C462-D6E1-0CBE-02E059AEEBC8}"/>
              </a:ext>
            </a:extLst>
          </p:cNvPr>
          <p:cNvSpPr txBox="1"/>
          <p:nvPr/>
        </p:nvSpPr>
        <p:spPr>
          <a:xfrm>
            <a:off x="759276" y="3193036"/>
            <a:ext cx="5143185" cy="1015663"/>
          </a:xfrm>
          <a:prstGeom prst="rect">
            <a:avLst/>
          </a:prstGeom>
          <a:noFill/>
        </p:spPr>
        <p:txBody>
          <a:bodyPr wrap="square" rtlCol="0">
            <a:spAutoFit/>
          </a:bodyPr>
          <a:lstStyle/>
          <a:p>
            <a:pPr marL="285750" indent="-285750">
              <a:buFontTx/>
              <a:buChar char="-"/>
            </a:pPr>
            <a:r>
              <a:rPr lang="pt-BR" sz="2000" dirty="0"/>
              <a:t>Tempo de coalescência = número de gerações necessárias para chegar em um evento de coalescência</a:t>
            </a:r>
            <a:endParaRPr lang="en-US" sz="2000" dirty="0"/>
          </a:p>
        </p:txBody>
      </p:sp>
      <p:pic>
        <p:nvPicPr>
          <p:cNvPr id="5" name="Picture 4">
            <a:extLst>
              <a:ext uri="{FF2B5EF4-FFF2-40B4-BE49-F238E27FC236}">
                <a16:creationId xmlns:a16="http://schemas.microsoft.com/office/drawing/2014/main" id="{C596BE5E-D8F8-C725-5F87-837710CDCDEC}"/>
              </a:ext>
            </a:extLst>
          </p:cNvPr>
          <p:cNvPicPr>
            <a:picLocks noChangeAspect="1"/>
          </p:cNvPicPr>
          <p:nvPr/>
        </p:nvPicPr>
        <p:blipFill>
          <a:blip r:embed="rId3"/>
          <a:stretch>
            <a:fillRect/>
          </a:stretch>
        </p:blipFill>
        <p:spPr>
          <a:xfrm>
            <a:off x="1291381" y="4578906"/>
            <a:ext cx="3628580" cy="1032356"/>
          </a:xfrm>
          <a:prstGeom prst="rect">
            <a:avLst/>
          </a:prstGeom>
        </p:spPr>
      </p:pic>
    </p:spTree>
    <p:extLst>
      <p:ext uri="{BB962C8B-B14F-4D97-AF65-F5344CB8AC3E}">
        <p14:creationId xmlns:p14="http://schemas.microsoft.com/office/powerpoint/2010/main" val="328001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6B8C15-61A4-4742-4A6D-D0AF1E87146B}"/>
              </a:ext>
            </a:extLst>
          </p:cNvPr>
          <p:cNvSpPr txBox="1"/>
          <p:nvPr/>
        </p:nvSpPr>
        <p:spPr>
          <a:xfrm>
            <a:off x="759277" y="840923"/>
            <a:ext cx="5674179" cy="523220"/>
          </a:xfrm>
          <a:prstGeom prst="rect">
            <a:avLst/>
          </a:prstGeom>
          <a:noFill/>
        </p:spPr>
        <p:txBody>
          <a:bodyPr wrap="square" rtlCol="0">
            <a:spAutoFit/>
          </a:bodyPr>
          <a:lstStyle/>
          <a:p>
            <a:r>
              <a:rPr lang="pt-BR" sz="2800" dirty="0">
                <a:latin typeface="+mj-lt"/>
              </a:rPr>
              <a:t>Coalescência multiespécies</a:t>
            </a:r>
            <a:endParaRPr lang="en-US" sz="2800" dirty="0">
              <a:latin typeface="+mj-lt"/>
            </a:endParaRPr>
          </a:p>
        </p:txBody>
      </p:sp>
      <p:sp>
        <p:nvSpPr>
          <p:cNvPr id="5" name="TextBox 4">
            <a:extLst>
              <a:ext uri="{FF2B5EF4-FFF2-40B4-BE49-F238E27FC236}">
                <a16:creationId xmlns:a16="http://schemas.microsoft.com/office/drawing/2014/main" id="{545DFF4A-FE20-1384-D28E-D4283B559DEC}"/>
              </a:ext>
            </a:extLst>
          </p:cNvPr>
          <p:cNvSpPr txBox="1"/>
          <p:nvPr/>
        </p:nvSpPr>
        <p:spPr>
          <a:xfrm>
            <a:off x="759277" y="1564341"/>
            <a:ext cx="9801541" cy="1323439"/>
          </a:xfrm>
          <a:prstGeom prst="rect">
            <a:avLst/>
          </a:prstGeom>
          <a:noFill/>
        </p:spPr>
        <p:txBody>
          <a:bodyPr wrap="square" rtlCol="0">
            <a:spAutoFit/>
          </a:bodyPr>
          <a:lstStyle/>
          <a:p>
            <a:pPr marL="285750" indent="-285750">
              <a:buFontTx/>
              <a:buChar char="-"/>
            </a:pPr>
            <a:r>
              <a:rPr lang="pt-BR" sz="2000" dirty="0"/>
              <a:t>A coalescência é um processo natural em todos os organismos com populações finitas</a:t>
            </a:r>
          </a:p>
          <a:p>
            <a:pPr marL="285750" indent="-285750">
              <a:buFontTx/>
              <a:buChar char="-"/>
            </a:pPr>
            <a:r>
              <a:rPr lang="pt-BR" sz="2000" dirty="0"/>
              <a:t>A aplicação do MSC pode resultar em casos onde as relações entre espécies em um único gene diferem da história dos táxons</a:t>
            </a:r>
          </a:p>
          <a:p>
            <a:pPr marL="285750" indent="-285750">
              <a:buFontTx/>
              <a:buChar char="-"/>
            </a:pPr>
            <a:r>
              <a:rPr lang="pt-BR" sz="2000" dirty="0"/>
              <a:t>Incongruência entre a história dos genes e das espécies </a:t>
            </a:r>
          </a:p>
        </p:txBody>
      </p:sp>
      <p:pic>
        <p:nvPicPr>
          <p:cNvPr id="6" name="Picture 5" descr="Multispecies coalescent for rooted three-taxon tree">
            <a:extLst>
              <a:ext uri="{FF2B5EF4-FFF2-40B4-BE49-F238E27FC236}">
                <a16:creationId xmlns:a16="http://schemas.microsoft.com/office/drawing/2014/main" id="{54FB08F1-3F8B-3375-2E83-C88A10784C54}"/>
              </a:ext>
            </a:extLst>
          </p:cNvPr>
          <p:cNvPicPr>
            <a:picLocks noChangeAspect="1"/>
          </p:cNvPicPr>
          <p:nvPr/>
        </p:nvPicPr>
        <p:blipFill>
          <a:blip r:embed="rId2"/>
          <a:stretch>
            <a:fillRect/>
          </a:stretch>
        </p:blipFill>
        <p:spPr>
          <a:xfrm>
            <a:off x="1524000" y="3102428"/>
            <a:ext cx="9144000" cy="2743200"/>
          </a:xfrm>
          <a:prstGeom prst="rect">
            <a:avLst/>
          </a:prstGeom>
        </p:spPr>
      </p:pic>
    </p:spTree>
    <p:extLst>
      <p:ext uri="{BB962C8B-B14F-4D97-AF65-F5344CB8AC3E}">
        <p14:creationId xmlns:p14="http://schemas.microsoft.com/office/powerpoint/2010/main" val="126079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32CF7-8ACC-822A-5518-CE066DDA6F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4AA9BC-F5F8-55C4-C5C9-368751E1ECEC}"/>
              </a:ext>
            </a:extLst>
          </p:cNvPr>
          <p:cNvSpPr txBox="1"/>
          <p:nvPr/>
        </p:nvSpPr>
        <p:spPr>
          <a:xfrm>
            <a:off x="759277" y="840923"/>
            <a:ext cx="5674179" cy="523220"/>
          </a:xfrm>
          <a:prstGeom prst="rect">
            <a:avLst/>
          </a:prstGeom>
          <a:noFill/>
        </p:spPr>
        <p:txBody>
          <a:bodyPr wrap="square" rtlCol="0">
            <a:spAutoFit/>
          </a:bodyPr>
          <a:lstStyle/>
          <a:p>
            <a:r>
              <a:rPr lang="pt-BR" sz="2800" dirty="0">
                <a:latin typeface="+mj-lt"/>
              </a:rPr>
              <a:t>Suposições básicas</a:t>
            </a:r>
            <a:endParaRPr lang="en-US" sz="2800" dirty="0">
              <a:latin typeface="+mj-lt"/>
            </a:endParaRPr>
          </a:p>
        </p:txBody>
      </p:sp>
      <p:sp>
        <p:nvSpPr>
          <p:cNvPr id="5" name="TextBox 4">
            <a:extLst>
              <a:ext uri="{FF2B5EF4-FFF2-40B4-BE49-F238E27FC236}">
                <a16:creationId xmlns:a16="http://schemas.microsoft.com/office/drawing/2014/main" id="{EDDB4E5C-9B5E-1A84-5082-1AF47864C13E}"/>
              </a:ext>
            </a:extLst>
          </p:cNvPr>
          <p:cNvSpPr txBox="1"/>
          <p:nvPr/>
        </p:nvSpPr>
        <p:spPr>
          <a:xfrm>
            <a:off x="759277" y="1660434"/>
            <a:ext cx="9764487" cy="461665"/>
          </a:xfrm>
          <a:prstGeom prst="rect">
            <a:avLst/>
          </a:prstGeom>
          <a:noFill/>
        </p:spPr>
        <p:txBody>
          <a:bodyPr wrap="square" rtlCol="0">
            <a:spAutoFit/>
          </a:bodyPr>
          <a:lstStyle/>
          <a:p>
            <a:pPr marL="285750" indent="-285750">
              <a:buFontTx/>
              <a:buChar char="-"/>
            </a:pPr>
            <a:r>
              <a:rPr lang="pt-BR" sz="2400" dirty="0"/>
              <a:t>A derivação matemática do modelo tem algumas suposições básicas</a:t>
            </a:r>
          </a:p>
        </p:txBody>
      </p:sp>
      <p:sp>
        <p:nvSpPr>
          <p:cNvPr id="4" name="TextBox 3">
            <a:extLst>
              <a:ext uri="{FF2B5EF4-FFF2-40B4-BE49-F238E27FC236}">
                <a16:creationId xmlns:a16="http://schemas.microsoft.com/office/drawing/2014/main" id="{A8ECD8DD-2C42-8186-51EF-9E85E1F83EAC}"/>
              </a:ext>
            </a:extLst>
          </p:cNvPr>
          <p:cNvSpPr txBox="1"/>
          <p:nvPr/>
        </p:nvSpPr>
        <p:spPr>
          <a:xfrm>
            <a:off x="1409699" y="2418390"/>
            <a:ext cx="8063176" cy="2308324"/>
          </a:xfrm>
          <a:prstGeom prst="rect">
            <a:avLst/>
          </a:prstGeom>
          <a:noFill/>
        </p:spPr>
        <p:txBody>
          <a:bodyPr wrap="square" rtlCol="0">
            <a:spAutoFit/>
          </a:bodyPr>
          <a:lstStyle/>
          <a:p>
            <a:pPr marL="285750" indent="-285750">
              <a:buFontTx/>
              <a:buChar char="-"/>
            </a:pPr>
            <a:r>
              <a:rPr lang="pt-BR" sz="2400" dirty="0"/>
              <a:t>Supõe-se que a filogenia das espécies é conhecida</a:t>
            </a:r>
          </a:p>
          <a:p>
            <a:pPr marL="285750" indent="-285750">
              <a:buFontTx/>
              <a:buChar char="-"/>
            </a:pPr>
            <a:r>
              <a:rPr lang="pt-BR" sz="2400" dirty="0"/>
              <a:t>Isolamento completo após a divergência das espécies</a:t>
            </a:r>
          </a:p>
          <a:p>
            <a:pPr marL="285750" indent="-285750">
              <a:buFontTx/>
              <a:buChar char="-"/>
            </a:pPr>
            <a:r>
              <a:rPr lang="pt-BR" sz="2400" dirty="0"/>
              <a:t>Sem migração</a:t>
            </a:r>
          </a:p>
          <a:p>
            <a:pPr marL="285750" indent="-285750">
              <a:buFontTx/>
              <a:buChar char="-"/>
            </a:pPr>
            <a:r>
              <a:rPr lang="pt-BR" sz="2400" dirty="0"/>
              <a:t>Sem hibridização</a:t>
            </a:r>
          </a:p>
          <a:p>
            <a:pPr marL="285750" indent="-285750">
              <a:buFontTx/>
              <a:buChar char="-"/>
            </a:pPr>
            <a:r>
              <a:rPr lang="pt-BR" sz="2400" dirty="0"/>
              <a:t>Sem introgressão</a:t>
            </a:r>
          </a:p>
          <a:p>
            <a:pPr marL="285750" indent="-285750">
              <a:buFontTx/>
              <a:buChar char="-"/>
            </a:pPr>
            <a:r>
              <a:rPr lang="pt-BR" sz="2400" dirty="0"/>
              <a:t>Sem recombinação </a:t>
            </a:r>
          </a:p>
        </p:txBody>
      </p:sp>
      <p:sp>
        <p:nvSpPr>
          <p:cNvPr id="8" name="TextBox 7">
            <a:extLst>
              <a:ext uri="{FF2B5EF4-FFF2-40B4-BE49-F238E27FC236}">
                <a16:creationId xmlns:a16="http://schemas.microsoft.com/office/drawing/2014/main" id="{F6AFE22C-7C35-8BCC-5463-10A6C2526743}"/>
              </a:ext>
            </a:extLst>
          </p:cNvPr>
          <p:cNvSpPr txBox="1"/>
          <p:nvPr/>
        </p:nvSpPr>
        <p:spPr>
          <a:xfrm>
            <a:off x="879020" y="5197566"/>
            <a:ext cx="9764487" cy="830997"/>
          </a:xfrm>
          <a:prstGeom prst="rect">
            <a:avLst/>
          </a:prstGeom>
          <a:noFill/>
        </p:spPr>
        <p:txBody>
          <a:bodyPr wrap="square" rtlCol="0">
            <a:spAutoFit/>
          </a:bodyPr>
          <a:lstStyle/>
          <a:p>
            <a:pPr marL="285750" indent="-285750">
              <a:buFontTx/>
              <a:buChar char="-"/>
            </a:pPr>
            <a:r>
              <a:rPr lang="pt-BR" sz="2400" dirty="0"/>
              <a:t>No entanto, o modelo pode ser ampliado para acomodar diferentes processos</a:t>
            </a:r>
          </a:p>
        </p:txBody>
      </p:sp>
    </p:spTree>
    <p:extLst>
      <p:ext uri="{BB962C8B-B14F-4D97-AF65-F5344CB8AC3E}">
        <p14:creationId xmlns:p14="http://schemas.microsoft.com/office/powerpoint/2010/main" val="4155741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9AE5-795E-14A5-1DA3-0FE0B08735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FBCDE1-A25A-02B6-EEFF-5B9FC9660D8F}"/>
              </a:ext>
            </a:extLst>
          </p:cNvPr>
          <p:cNvSpPr txBox="1"/>
          <p:nvPr/>
        </p:nvSpPr>
        <p:spPr>
          <a:xfrm>
            <a:off x="759277" y="840923"/>
            <a:ext cx="5674179" cy="523220"/>
          </a:xfrm>
          <a:prstGeom prst="rect">
            <a:avLst/>
          </a:prstGeom>
          <a:noFill/>
        </p:spPr>
        <p:txBody>
          <a:bodyPr wrap="square" rtlCol="0">
            <a:spAutoFit/>
          </a:bodyPr>
          <a:lstStyle/>
          <a:p>
            <a:r>
              <a:rPr lang="pt-BR" sz="2800" dirty="0" err="1">
                <a:latin typeface="+mj-lt"/>
              </a:rPr>
              <a:t>Incomplete</a:t>
            </a:r>
            <a:r>
              <a:rPr lang="pt-BR" sz="2800" dirty="0">
                <a:latin typeface="+mj-lt"/>
              </a:rPr>
              <a:t> </a:t>
            </a:r>
            <a:r>
              <a:rPr lang="pt-BR" sz="2800" dirty="0" err="1">
                <a:latin typeface="+mj-lt"/>
              </a:rPr>
              <a:t>Lineage</a:t>
            </a:r>
            <a:r>
              <a:rPr lang="pt-BR" sz="2800" dirty="0">
                <a:latin typeface="+mj-lt"/>
              </a:rPr>
              <a:t> </a:t>
            </a:r>
            <a:r>
              <a:rPr lang="pt-BR" sz="2800" dirty="0" err="1">
                <a:latin typeface="+mj-lt"/>
              </a:rPr>
              <a:t>Sorting</a:t>
            </a:r>
            <a:r>
              <a:rPr lang="pt-BR" sz="2800" dirty="0">
                <a:latin typeface="+mj-lt"/>
              </a:rPr>
              <a:t> (ILS)</a:t>
            </a:r>
            <a:endParaRPr lang="en-US" sz="2800" dirty="0">
              <a:latin typeface="+mj-lt"/>
            </a:endParaRPr>
          </a:p>
        </p:txBody>
      </p:sp>
      <p:sp>
        <p:nvSpPr>
          <p:cNvPr id="4" name="TextBox 3">
            <a:extLst>
              <a:ext uri="{FF2B5EF4-FFF2-40B4-BE49-F238E27FC236}">
                <a16:creationId xmlns:a16="http://schemas.microsoft.com/office/drawing/2014/main" id="{94B4F83D-ED51-BA2A-604C-5633B04257CF}"/>
              </a:ext>
            </a:extLst>
          </p:cNvPr>
          <p:cNvSpPr txBox="1"/>
          <p:nvPr/>
        </p:nvSpPr>
        <p:spPr>
          <a:xfrm>
            <a:off x="814121" y="1859340"/>
            <a:ext cx="4240468" cy="3477875"/>
          </a:xfrm>
          <a:prstGeom prst="rect">
            <a:avLst/>
          </a:prstGeom>
          <a:noFill/>
        </p:spPr>
        <p:txBody>
          <a:bodyPr wrap="square" rtlCol="0">
            <a:spAutoFit/>
          </a:bodyPr>
          <a:lstStyle/>
          <a:p>
            <a:pPr marL="285750" indent="-285750">
              <a:buFontTx/>
              <a:buChar char="-"/>
            </a:pPr>
            <a:r>
              <a:rPr lang="pt-BR" sz="2000" dirty="0"/>
              <a:t>Também conhecido como </a:t>
            </a:r>
            <a:r>
              <a:rPr lang="pt-BR" sz="2000" dirty="0" err="1"/>
              <a:t>hemiplasia</a:t>
            </a:r>
            <a:r>
              <a:rPr lang="pt-BR" sz="2000" dirty="0"/>
              <a:t>, retenção de polimorfismo ancestral, ou coalescência profunda</a:t>
            </a:r>
          </a:p>
          <a:p>
            <a:pPr marL="285750" indent="-285750">
              <a:buFontTx/>
              <a:buChar char="-"/>
            </a:pPr>
            <a:endParaRPr lang="pt-BR" sz="2000" dirty="0"/>
          </a:p>
          <a:p>
            <a:pPr marL="285750" indent="-285750">
              <a:buFontTx/>
              <a:buChar char="-"/>
            </a:pPr>
            <a:r>
              <a:rPr lang="pt-BR" sz="2000" dirty="0"/>
              <a:t>Ocorre quando no processo de especiação as espécies resultantes carregam diferentes conjuntos de alelos da população ancestral</a:t>
            </a:r>
          </a:p>
          <a:p>
            <a:pPr marL="285750" indent="-285750">
              <a:buFontTx/>
              <a:buChar char="-"/>
            </a:pPr>
            <a:endParaRPr lang="pt-BR" sz="2000" dirty="0"/>
          </a:p>
          <a:p>
            <a:pPr marL="285750" indent="-285750">
              <a:buFontTx/>
              <a:buChar char="-"/>
            </a:pPr>
            <a:r>
              <a:rPr lang="pt-BR" sz="2000" dirty="0"/>
              <a:t>Pervasiva em filogenias</a:t>
            </a:r>
          </a:p>
        </p:txBody>
      </p:sp>
      <p:pic>
        <p:nvPicPr>
          <p:cNvPr id="6" name="Graphic 5">
            <a:extLst>
              <a:ext uri="{FF2B5EF4-FFF2-40B4-BE49-F238E27FC236}">
                <a16:creationId xmlns:a16="http://schemas.microsoft.com/office/drawing/2014/main" id="{4444382E-3335-8666-E8B4-2F06341958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71169" y="1364143"/>
            <a:ext cx="4951727" cy="4066574"/>
          </a:xfrm>
          <a:prstGeom prst="rect">
            <a:avLst/>
          </a:prstGeom>
        </p:spPr>
      </p:pic>
      <p:cxnSp>
        <p:nvCxnSpPr>
          <p:cNvPr id="9" name="Straight Arrow Connector 8">
            <a:extLst>
              <a:ext uri="{FF2B5EF4-FFF2-40B4-BE49-F238E27FC236}">
                <a16:creationId xmlns:a16="http://schemas.microsoft.com/office/drawing/2014/main" id="{3C3F3FA0-50D4-943A-0833-A3925150C01C}"/>
              </a:ext>
            </a:extLst>
          </p:cNvPr>
          <p:cNvCxnSpPr/>
          <p:nvPr/>
        </p:nvCxnSpPr>
        <p:spPr>
          <a:xfrm>
            <a:off x="7553899" y="4879361"/>
            <a:ext cx="123712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94BB305-CAA3-886D-CAF6-49BA5A720D7E}"/>
              </a:ext>
            </a:extLst>
          </p:cNvPr>
          <p:cNvSpPr txBox="1"/>
          <p:nvPr/>
        </p:nvSpPr>
        <p:spPr>
          <a:xfrm>
            <a:off x="6175898" y="4690885"/>
            <a:ext cx="1636699" cy="584775"/>
          </a:xfrm>
          <a:prstGeom prst="rect">
            <a:avLst/>
          </a:prstGeom>
          <a:noFill/>
        </p:spPr>
        <p:txBody>
          <a:bodyPr wrap="square" rtlCol="0">
            <a:spAutoFit/>
          </a:bodyPr>
          <a:lstStyle/>
          <a:p>
            <a:r>
              <a:rPr lang="pt-BR" sz="1600" dirty="0">
                <a:solidFill>
                  <a:srgbClr val="FF0000"/>
                </a:solidFill>
                <a:latin typeface="+mj-lt"/>
              </a:rPr>
              <a:t>Um único alelo ancestral</a:t>
            </a:r>
            <a:endParaRPr lang="en-US" sz="1600" dirty="0">
              <a:solidFill>
                <a:srgbClr val="FF0000"/>
              </a:solidFill>
              <a:latin typeface="+mj-lt"/>
            </a:endParaRPr>
          </a:p>
        </p:txBody>
      </p:sp>
      <p:cxnSp>
        <p:nvCxnSpPr>
          <p:cNvPr id="11" name="Straight Arrow Connector 10">
            <a:extLst>
              <a:ext uri="{FF2B5EF4-FFF2-40B4-BE49-F238E27FC236}">
                <a16:creationId xmlns:a16="http://schemas.microsoft.com/office/drawing/2014/main" id="{9415811D-39F6-C94A-36BC-28CF9E6AF969}"/>
              </a:ext>
            </a:extLst>
          </p:cNvPr>
          <p:cNvCxnSpPr/>
          <p:nvPr/>
        </p:nvCxnSpPr>
        <p:spPr>
          <a:xfrm>
            <a:off x="7437357" y="4154599"/>
            <a:ext cx="1237129"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831C8E3-B43D-7AAA-0E97-831AEE2502EB}"/>
              </a:ext>
            </a:extLst>
          </p:cNvPr>
          <p:cNvSpPr txBox="1"/>
          <p:nvPr/>
        </p:nvSpPr>
        <p:spPr>
          <a:xfrm>
            <a:off x="6046188" y="3862211"/>
            <a:ext cx="1636699" cy="584775"/>
          </a:xfrm>
          <a:prstGeom prst="rect">
            <a:avLst/>
          </a:prstGeom>
          <a:noFill/>
        </p:spPr>
        <p:txBody>
          <a:bodyPr wrap="square" rtlCol="0">
            <a:spAutoFit/>
          </a:bodyPr>
          <a:lstStyle/>
          <a:p>
            <a:r>
              <a:rPr lang="pt-BR" sz="1600" dirty="0">
                <a:solidFill>
                  <a:srgbClr val="0070C0"/>
                </a:solidFill>
                <a:latin typeface="+mj-lt"/>
              </a:rPr>
              <a:t>População se torna polimórfica</a:t>
            </a:r>
            <a:endParaRPr lang="en-US" sz="1600" dirty="0">
              <a:solidFill>
                <a:srgbClr val="0070C0"/>
              </a:solidFill>
              <a:latin typeface="+mj-lt"/>
            </a:endParaRPr>
          </a:p>
        </p:txBody>
      </p:sp>
      <p:cxnSp>
        <p:nvCxnSpPr>
          <p:cNvPr id="13" name="Straight Arrow Connector 12">
            <a:extLst>
              <a:ext uri="{FF2B5EF4-FFF2-40B4-BE49-F238E27FC236}">
                <a16:creationId xmlns:a16="http://schemas.microsoft.com/office/drawing/2014/main" id="{DB5DAD55-699F-E331-7739-785EB0B32865}"/>
              </a:ext>
            </a:extLst>
          </p:cNvPr>
          <p:cNvCxnSpPr/>
          <p:nvPr/>
        </p:nvCxnSpPr>
        <p:spPr>
          <a:xfrm>
            <a:off x="6619007" y="3155487"/>
            <a:ext cx="1237129"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C162885-D6A0-EDD6-BC6B-E717A7ABF376}"/>
              </a:ext>
            </a:extLst>
          </p:cNvPr>
          <p:cNvSpPr txBox="1"/>
          <p:nvPr/>
        </p:nvSpPr>
        <p:spPr>
          <a:xfrm>
            <a:off x="5227838" y="2863099"/>
            <a:ext cx="1636699" cy="584775"/>
          </a:xfrm>
          <a:prstGeom prst="rect">
            <a:avLst/>
          </a:prstGeom>
          <a:noFill/>
        </p:spPr>
        <p:txBody>
          <a:bodyPr wrap="square" rtlCol="0">
            <a:spAutoFit/>
          </a:bodyPr>
          <a:lstStyle/>
          <a:p>
            <a:r>
              <a:rPr lang="pt-BR" sz="1600" dirty="0">
                <a:solidFill>
                  <a:srgbClr val="0070C0"/>
                </a:solidFill>
                <a:latin typeface="+mj-lt"/>
              </a:rPr>
              <a:t>Pop A retém apenas um alelo</a:t>
            </a:r>
            <a:endParaRPr lang="en-US" sz="1600" dirty="0">
              <a:solidFill>
                <a:srgbClr val="0070C0"/>
              </a:solidFill>
              <a:latin typeface="+mj-lt"/>
            </a:endParaRPr>
          </a:p>
        </p:txBody>
      </p:sp>
      <p:cxnSp>
        <p:nvCxnSpPr>
          <p:cNvPr id="15" name="Straight Arrow Connector 14">
            <a:extLst>
              <a:ext uri="{FF2B5EF4-FFF2-40B4-BE49-F238E27FC236}">
                <a16:creationId xmlns:a16="http://schemas.microsoft.com/office/drawing/2014/main" id="{261398C5-5769-EE64-7122-D46795ED4045}"/>
              </a:ext>
            </a:extLst>
          </p:cNvPr>
          <p:cNvCxnSpPr>
            <a:cxnSpLocks/>
            <a:stCxn id="16" idx="1"/>
          </p:cNvCxnSpPr>
          <p:nvPr/>
        </p:nvCxnSpPr>
        <p:spPr>
          <a:xfrm flipH="1">
            <a:off x="9889352" y="3155486"/>
            <a:ext cx="66594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2AA12CE-A191-AA9F-1788-E42DDFFA43F7}"/>
              </a:ext>
            </a:extLst>
          </p:cNvPr>
          <p:cNvSpPr txBox="1"/>
          <p:nvPr/>
        </p:nvSpPr>
        <p:spPr>
          <a:xfrm>
            <a:off x="10555301" y="2616877"/>
            <a:ext cx="1636699" cy="1077218"/>
          </a:xfrm>
          <a:prstGeom prst="rect">
            <a:avLst/>
          </a:prstGeom>
          <a:noFill/>
        </p:spPr>
        <p:txBody>
          <a:bodyPr wrap="square" rtlCol="0">
            <a:spAutoFit/>
          </a:bodyPr>
          <a:lstStyle/>
          <a:p>
            <a:r>
              <a:rPr lang="pt-BR" sz="1600" dirty="0">
                <a:solidFill>
                  <a:srgbClr val="FF0000"/>
                </a:solidFill>
                <a:latin typeface="+mj-lt"/>
              </a:rPr>
              <a:t>Pop B e C retém os dois, até subsequente especiação</a:t>
            </a:r>
            <a:endParaRPr lang="en-US" sz="1600" dirty="0">
              <a:solidFill>
                <a:srgbClr val="FF0000"/>
              </a:solidFill>
              <a:latin typeface="+mj-lt"/>
            </a:endParaRPr>
          </a:p>
        </p:txBody>
      </p:sp>
    </p:spTree>
    <p:extLst>
      <p:ext uri="{BB962C8B-B14F-4D97-AF65-F5344CB8AC3E}">
        <p14:creationId xmlns:p14="http://schemas.microsoft.com/office/powerpoint/2010/main" val="3300003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FDCFD-4D1B-C04F-3B10-DC82F98255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FE7ED2-67C8-F857-4895-D99C5F2EDA29}"/>
              </a:ext>
            </a:extLst>
          </p:cNvPr>
          <p:cNvSpPr txBox="1"/>
          <p:nvPr/>
        </p:nvSpPr>
        <p:spPr>
          <a:xfrm>
            <a:off x="759277" y="840923"/>
            <a:ext cx="5674179" cy="523220"/>
          </a:xfrm>
          <a:prstGeom prst="rect">
            <a:avLst/>
          </a:prstGeom>
          <a:noFill/>
        </p:spPr>
        <p:txBody>
          <a:bodyPr wrap="square" rtlCol="0">
            <a:spAutoFit/>
          </a:bodyPr>
          <a:lstStyle/>
          <a:p>
            <a:r>
              <a:rPr lang="pt-BR" sz="2800" dirty="0" err="1">
                <a:latin typeface="+mj-lt"/>
              </a:rPr>
              <a:t>Incomplete</a:t>
            </a:r>
            <a:r>
              <a:rPr lang="pt-BR" sz="2800" dirty="0">
                <a:latin typeface="+mj-lt"/>
              </a:rPr>
              <a:t> </a:t>
            </a:r>
            <a:r>
              <a:rPr lang="pt-BR" sz="2800" dirty="0" err="1">
                <a:latin typeface="+mj-lt"/>
              </a:rPr>
              <a:t>Lineage</a:t>
            </a:r>
            <a:r>
              <a:rPr lang="pt-BR" sz="2800" dirty="0">
                <a:latin typeface="+mj-lt"/>
              </a:rPr>
              <a:t> </a:t>
            </a:r>
            <a:r>
              <a:rPr lang="pt-BR" sz="2800" dirty="0" err="1">
                <a:latin typeface="+mj-lt"/>
              </a:rPr>
              <a:t>Sorting</a:t>
            </a:r>
            <a:r>
              <a:rPr lang="pt-BR" sz="2800" dirty="0">
                <a:latin typeface="+mj-lt"/>
              </a:rPr>
              <a:t> (ILS)</a:t>
            </a:r>
            <a:endParaRPr lang="en-US" sz="2800" dirty="0">
              <a:latin typeface="+mj-lt"/>
            </a:endParaRPr>
          </a:p>
        </p:txBody>
      </p:sp>
      <p:sp>
        <p:nvSpPr>
          <p:cNvPr id="4" name="TextBox 3">
            <a:extLst>
              <a:ext uri="{FF2B5EF4-FFF2-40B4-BE49-F238E27FC236}">
                <a16:creationId xmlns:a16="http://schemas.microsoft.com/office/drawing/2014/main" id="{782CF62E-139E-30EF-894A-4B208A4A388B}"/>
              </a:ext>
            </a:extLst>
          </p:cNvPr>
          <p:cNvSpPr txBox="1"/>
          <p:nvPr/>
        </p:nvSpPr>
        <p:spPr>
          <a:xfrm>
            <a:off x="498019" y="2723223"/>
            <a:ext cx="5131816" cy="2246769"/>
          </a:xfrm>
          <a:prstGeom prst="rect">
            <a:avLst/>
          </a:prstGeom>
          <a:noFill/>
        </p:spPr>
        <p:txBody>
          <a:bodyPr wrap="square" rtlCol="0">
            <a:spAutoFit/>
          </a:bodyPr>
          <a:lstStyle/>
          <a:p>
            <a:pPr marL="285750" indent="-285750">
              <a:buFontTx/>
              <a:buChar char="-"/>
            </a:pPr>
            <a:r>
              <a:rPr lang="pt-BR" sz="2000" dirty="0"/>
              <a:t>A presença de ILS pode confundir a inferência de homoplasias (e homologias, por consequência)</a:t>
            </a:r>
          </a:p>
          <a:p>
            <a:pPr marL="285750" indent="-285750">
              <a:buFontTx/>
              <a:buChar char="-"/>
            </a:pPr>
            <a:endParaRPr lang="pt-BR" sz="2000" dirty="0"/>
          </a:p>
          <a:p>
            <a:pPr marL="285750" indent="-285750">
              <a:buFontTx/>
              <a:buChar char="-"/>
            </a:pPr>
            <a:r>
              <a:rPr lang="pt-BR" sz="2000" dirty="0"/>
              <a:t>ILS se torna mais comum em árvores com ramos curtos (menos tempo entre processos de especiação)</a:t>
            </a:r>
          </a:p>
        </p:txBody>
      </p:sp>
      <p:pic>
        <p:nvPicPr>
          <p:cNvPr id="5" name="Picture 4">
            <a:extLst>
              <a:ext uri="{FF2B5EF4-FFF2-40B4-BE49-F238E27FC236}">
                <a16:creationId xmlns:a16="http://schemas.microsoft.com/office/drawing/2014/main" id="{F775112E-156F-27FC-3690-896D94BE53D8}"/>
              </a:ext>
            </a:extLst>
          </p:cNvPr>
          <p:cNvPicPr>
            <a:picLocks noChangeAspect="1"/>
          </p:cNvPicPr>
          <p:nvPr/>
        </p:nvPicPr>
        <p:blipFill>
          <a:blip r:embed="rId2"/>
          <a:stretch>
            <a:fillRect/>
          </a:stretch>
        </p:blipFill>
        <p:spPr>
          <a:xfrm>
            <a:off x="6231611" y="1881328"/>
            <a:ext cx="5462370" cy="3095343"/>
          </a:xfrm>
          <a:prstGeom prst="rect">
            <a:avLst/>
          </a:prstGeom>
        </p:spPr>
      </p:pic>
    </p:spTree>
    <p:extLst>
      <p:ext uri="{BB962C8B-B14F-4D97-AF65-F5344CB8AC3E}">
        <p14:creationId xmlns:p14="http://schemas.microsoft.com/office/powerpoint/2010/main" val="4161559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FAE3B0-A20A-81DC-2866-36DBEC28C483}"/>
              </a:ext>
            </a:extLst>
          </p:cNvPr>
          <p:cNvPicPr>
            <a:picLocks noChangeAspect="1"/>
          </p:cNvPicPr>
          <p:nvPr/>
        </p:nvPicPr>
        <p:blipFill>
          <a:blip r:embed="rId2"/>
          <a:stretch>
            <a:fillRect/>
          </a:stretch>
        </p:blipFill>
        <p:spPr>
          <a:xfrm>
            <a:off x="1873190" y="895796"/>
            <a:ext cx="8444012" cy="5066408"/>
          </a:xfrm>
          <a:prstGeom prst="rect">
            <a:avLst/>
          </a:prstGeom>
        </p:spPr>
      </p:pic>
    </p:spTree>
    <p:extLst>
      <p:ext uri="{BB962C8B-B14F-4D97-AF65-F5344CB8AC3E}">
        <p14:creationId xmlns:p14="http://schemas.microsoft.com/office/powerpoint/2010/main" val="845697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CACC3-EA83-E11F-5D83-7EF845B4BF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4635F5-2626-DA04-B365-5E6431C882A8}"/>
              </a:ext>
            </a:extLst>
          </p:cNvPr>
          <p:cNvSpPr txBox="1"/>
          <p:nvPr/>
        </p:nvSpPr>
        <p:spPr>
          <a:xfrm>
            <a:off x="759277" y="840923"/>
            <a:ext cx="5674179" cy="523220"/>
          </a:xfrm>
          <a:prstGeom prst="rect">
            <a:avLst/>
          </a:prstGeom>
          <a:noFill/>
        </p:spPr>
        <p:txBody>
          <a:bodyPr wrap="square" rtlCol="0">
            <a:spAutoFit/>
          </a:bodyPr>
          <a:lstStyle/>
          <a:p>
            <a:r>
              <a:rPr lang="pt-BR" sz="2800" dirty="0">
                <a:latin typeface="+mj-lt"/>
              </a:rPr>
              <a:t>A zona anômala</a:t>
            </a:r>
            <a:endParaRPr lang="en-US" sz="2800" dirty="0">
              <a:latin typeface="+mj-lt"/>
            </a:endParaRPr>
          </a:p>
        </p:txBody>
      </p:sp>
      <p:sp>
        <p:nvSpPr>
          <p:cNvPr id="4" name="TextBox 3">
            <a:extLst>
              <a:ext uri="{FF2B5EF4-FFF2-40B4-BE49-F238E27FC236}">
                <a16:creationId xmlns:a16="http://schemas.microsoft.com/office/drawing/2014/main" id="{64FD85A2-2C9D-A5D4-CEC5-CC9A5099223F}"/>
              </a:ext>
            </a:extLst>
          </p:cNvPr>
          <p:cNvSpPr txBox="1"/>
          <p:nvPr/>
        </p:nvSpPr>
        <p:spPr>
          <a:xfrm>
            <a:off x="759276" y="1424362"/>
            <a:ext cx="5211259" cy="4708981"/>
          </a:xfrm>
          <a:prstGeom prst="rect">
            <a:avLst/>
          </a:prstGeom>
          <a:noFill/>
        </p:spPr>
        <p:txBody>
          <a:bodyPr wrap="square" rtlCol="0">
            <a:spAutoFit/>
          </a:bodyPr>
          <a:lstStyle/>
          <a:p>
            <a:pPr marL="285750" indent="-285750">
              <a:buFontTx/>
              <a:buChar char="-"/>
            </a:pPr>
            <a:r>
              <a:rPr lang="pt-BR" sz="2000" dirty="0"/>
              <a:t>Região do espaço de parâmetros onde a árvore de gene mais comum não é congruente com a árvore de espécies devido à ILS</a:t>
            </a:r>
          </a:p>
          <a:p>
            <a:pPr marL="285750" indent="-285750">
              <a:buFontTx/>
              <a:buChar char="-"/>
            </a:pPr>
            <a:endParaRPr lang="pt-BR" sz="2000" dirty="0"/>
          </a:p>
          <a:p>
            <a:pPr marL="285750" indent="-285750">
              <a:buFontTx/>
              <a:buChar char="-"/>
            </a:pPr>
            <a:r>
              <a:rPr lang="pt-BR" sz="2000" dirty="0"/>
              <a:t>Quando dois ou mais ramos internos consecutivos são suficientemente curtos, árvores de genes incongruentes com a árvore de espécie podem ser mais comuns que congruentes</a:t>
            </a:r>
          </a:p>
          <a:p>
            <a:pPr marL="285750" indent="-285750">
              <a:buFontTx/>
              <a:buChar char="-"/>
            </a:pPr>
            <a:endParaRPr lang="pt-BR" sz="2000" dirty="0"/>
          </a:p>
          <a:p>
            <a:pPr marL="285750" indent="-285750">
              <a:buFontTx/>
              <a:buChar char="-"/>
            </a:pPr>
            <a:r>
              <a:rPr lang="pt-BR" sz="2000" dirty="0"/>
              <a:t>A zona anômala se torna um problema em métodos que tomam a árvore de gene mais frequente como uma estimativa da árvore de espécies***</a:t>
            </a:r>
          </a:p>
        </p:txBody>
      </p:sp>
      <p:pic>
        <p:nvPicPr>
          <p:cNvPr id="6" name="Picture 5">
            <a:extLst>
              <a:ext uri="{FF2B5EF4-FFF2-40B4-BE49-F238E27FC236}">
                <a16:creationId xmlns:a16="http://schemas.microsoft.com/office/drawing/2014/main" id="{99E75847-6A2F-AA1F-A46B-9BDFE8969B96}"/>
              </a:ext>
            </a:extLst>
          </p:cNvPr>
          <p:cNvPicPr>
            <a:picLocks noChangeAspect="1"/>
          </p:cNvPicPr>
          <p:nvPr/>
        </p:nvPicPr>
        <p:blipFill>
          <a:blip r:embed="rId2"/>
          <a:srcRect l="3949" r="5631"/>
          <a:stretch>
            <a:fillRect/>
          </a:stretch>
        </p:blipFill>
        <p:spPr>
          <a:xfrm>
            <a:off x="5970536" y="2183907"/>
            <a:ext cx="5485265" cy="3065420"/>
          </a:xfrm>
          <a:prstGeom prst="rect">
            <a:avLst/>
          </a:prstGeom>
        </p:spPr>
      </p:pic>
      <p:sp>
        <p:nvSpPr>
          <p:cNvPr id="2" name="TextBox 1">
            <a:extLst>
              <a:ext uri="{FF2B5EF4-FFF2-40B4-BE49-F238E27FC236}">
                <a16:creationId xmlns:a16="http://schemas.microsoft.com/office/drawing/2014/main" id="{FE4239C8-A39D-32E7-7C18-1E656670F635}"/>
              </a:ext>
            </a:extLst>
          </p:cNvPr>
          <p:cNvSpPr txBox="1"/>
          <p:nvPr/>
        </p:nvSpPr>
        <p:spPr>
          <a:xfrm>
            <a:off x="5970535" y="6193562"/>
            <a:ext cx="5836766" cy="338554"/>
          </a:xfrm>
          <a:prstGeom prst="rect">
            <a:avLst/>
          </a:prstGeom>
          <a:noFill/>
        </p:spPr>
        <p:txBody>
          <a:bodyPr wrap="square" rtlCol="0">
            <a:spAutoFit/>
          </a:bodyPr>
          <a:lstStyle/>
          <a:p>
            <a:r>
              <a:rPr lang="pt-BR" sz="1600" noProof="0" dirty="0"/>
              <a:t>*** a maioria dos métodos modernos não usa essa estimativa</a:t>
            </a:r>
          </a:p>
        </p:txBody>
      </p:sp>
    </p:spTree>
    <p:extLst>
      <p:ext uri="{BB962C8B-B14F-4D97-AF65-F5344CB8AC3E}">
        <p14:creationId xmlns:p14="http://schemas.microsoft.com/office/powerpoint/2010/main" val="4204717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7BF5-C085-7341-FC57-8E887523B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287EE1-4BAF-99FE-C832-56547AEB13A6}"/>
              </a:ext>
            </a:extLst>
          </p:cNvPr>
          <p:cNvSpPr txBox="1"/>
          <p:nvPr/>
        </p:nvSpPr>
        <p:spPr>
          <a:xfrm>
            <a:off x="759277" y="840923"/>
            <a:ext cx="5674179" cy="523220"/>
          </a:xfrm>
          <a:prstGeom prst="rect">
            <a:avLst/>
          </a:prstGeom>
          <a:noFill/>
        </p:spPr>
        <p:txBody>
          <a:bodyPr wrap="square" rtlCol="0">
            <a:spAutoFit/>
          </a:bodyPr>
          <a:lstStyle/>
          <a:p>
            <a:r>
              <a:rPr lang="pt-BR" sz="2800" dirty="0">
                <a:latin typeface="+mj-lt"/>
              </a:rPr>
              <a:t>Aplicação do MSC em filogenômica</a:t>
            </a:r>
            <a:endParaRPr lang="en-US" sz="2800" dirty="0">
              <a:latin typeface="+mj-lt"/>
            </a:endParaRPr>
          </a:p>
        </p:txBody>
      </p:sp>
      <p:sp>
        <p:nvSpPr>
          <p:cNvPr id="4" name="TextBox 3">
            <a:extLst>
              <a:ext uri="{FF2B5EF4-FFF2-40B4-BE49-F238E27FC236}">
                <a16:creationId xmlns:a16="http://schemas.microsoft.com/office/drawing/2014/main" id="{8563F37D-DCB5-7C07-9AA3-958DA3A39C76}"/>
              </a:ext>
            </a:extLst>
          </p:cNvPr>
          <p:cNvSpPr txBox="1"/>
          <p:nvPr/>
        </p:nvSpPr>
        <p:spPr>
          <a:xfrm>
            <a:off x="828432" y="2197934"/>
            <a:ext cx="9810260" cy="2246769"/>
          </a:xfrm>
          <a:prstGeom prst="rect">
            <a:avLst/>
          </a:prstGeom>
          <a:noFill/>
        </p:spPr>
        <p:txBody>
          <a:bodyPr wrap="square" rtlCol="0">
            <a:spAutoFit/>
          </a:bodyPr>
          <a:lstStyle/>
          <a:p>
            <a:pPr marL="285750" indent="-285750">
              <a:buFontTx/>
              <a:buChar char="-"/>
            </a:pPr>
            <a:r>
              <a:rPr lang="pt-BR" sz="2000" dirty="0"/>
              <a:t>Devido a ILS, não podemos supor que a história do gene é igual a da espécie</a:t>
            </a:r>
          </a:p>
          <a:p>
            <a:pPr marL="285750" indent="-285750">
              <a:buFontTx/>
              <a:buChar char="-"/>
            </a:pPr>
            <a:endParaRPr lang="pt-BR" sz="2000" dirty="0"/>
          </a:p>
          <a:p>
            <a:pPr marL="285750" indent="-285750">
              <a:buFontTx/>
              <a:buChar char="-"/>
            </a:pPr>
            <a:r>
              <a:rPr lang="pt-BR" sz="2000" dirty="0"/>
              <a:t>Métodos que usam concatenação tem a suposição implícita que todos os genes têm a mesma topologia</a:t>
            </a:r>
          </a:p>
          <a:p>
            <a:pPr marL="285750" indent="-285750">
              <a:buFontTx/>
              <a:buChar char="-"/>
            </a:pPr>
            <a:endParaRPr lang="pt-BR" sz="2000" dirty="0"/>
          </a:p>
          <a:p>
            <a:pPr marL="285750" indent="-285750">
              <a:buFontTx/>
              <a:buChar char="-"/>
            </a:pPr>
            <a:r>
              <a:rPr lang="pt-BR" sz="2000" dirty="0"/>
              <a:t>Concatenação em conjuntos de dados com muita ILS podem levar à alta sustentação estatística para a topologia discordante</a:t>
            </a:r>
          </a:p>
        </p:txBody>
      </p:sp>
    </p:spTree>
    <p:extLst>
      <p:ext uri="{BB962C8B-B14F-4D97-AF65-F5344CB8AC3E}">
        <p14:creationId xmlns:p14="http://schemas.microsoft.com/office/powerpoint/2010/main" val="1395533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B9077-0DC9-B7B8-1E32-0F55E7D332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8919A8-0002-A63A-E526-E84AD0170B20}"/>
              </a:ext>
            </a:extLst>
          </p:cNvPr>
          <p:cNvSpPr txBox="1"/>
          <p:nvPr/>
        </p:nvSpPr>
        <p:spPr>
          <a:xfrm>
            <a:off x="681939" y="820552"/>
            <a:ext cx="5674179" cy="523220"/>
          </a:xfrm>
          <a:prstGeom prst="rect">
            <a:avLst/>
          </a:prstGeom>
          <a:noFill/>
        </p:spPr>
        <p:txBody>
          <a:bodyPr wrap="square" rtlCol="0">
            <a:spAutoFit/>
          </a:bodyPr>
          <a:lstStyle/>
          <a:p>
            <a:r>
              <a:rPr lang="pt-BR" sz="2800" dirty="0">
                <a:latin typeface="+mj-lt"/>
              </a:rPr>
              <a:t>Tipos de software que usam MSC</a:t>
            </a:r>
            <a:endParaRPr lang="en-US" sz="2800" dirty="0">
              <a:latin typeface="+mj-lt"/>
            </a:endParaRPr>
          </a:p>
        </p:txBody>
      </p:sp>
      <p:sp>
        <p:nvSpPr>
          <p:cNvPr id="4" name="TextBox 3">
            <a:extLst>
              <a:ext uri="{FF2B5EF4-FFF2-40B4-BE49-F238E27FC236}">
                <a16:creationId xmlns:a16="http://schemas.microsoft.com/office/drawing/2014/main" id="{ECDAEDD4-EDB8-6A18-9A3A-925F99A74FDE}"/>
              </a:ext>
            </a:extLst>
          </p:cNvPr>
          <p:cNvSpPr txBox="1"/>
          <p:nvPr/>
        </p:nvSpPr>
        <p:spPr>
          <a:xfrm>
            <a:off x="694539" y="1843950"/>
            <a:ext cx="10394539" cy="3170099"/>
          </a:xfrm>
          <a:prstGeom prst="rect">
            <a:avLst/>
          </a:prstGeom>
          <a:noFill/>
        </p:spPr>
        <p:txBody>
          <a:bodyPr wrap="square" rtlCol="0">
            <a:spAutoFit/>
          </a:bodyPr>
          <a:lstStyle/>
          <a:p>
            <a:pPr marL="285750" indent="-285750">
              <a:buFontTx/>
              <a:buChar char="-"/>
            </a:pPr>
            <a:r>
              <a:rPr lang="pt-BR" sz="2000" dirty="0"/>
              <a:t>Duas abordagens diferentes:	</a:t>
            </a:r>
          </a:p>
          <a:p>
            <a:pPr marL="742950" lvl="1" indent="-285750">
              <a:buFontTx/>
              <a:buChar char="-"/>
            </a:pPr>
            <a:r>
              <a:rPr lang="pt-BR" sz="2000" dirty="0"/>
              <a:t>Full-data: operam diretamente nos alinhamentos, usam ML ou </a:t>
            </a:r>
            <a:r>
              <a:rPr lang="pt-BR" sz="2000" dirty="0" err="1"/>
              <a:t>Bayes</a:t>
            </a:r>
            <a:r>
              <a:rPr lang="pt-BR" sz="2000" dirty="0"/>
              <a:t>. Tambem chamados de full-</a:t>
            </a:r>
            <a:r>
              <a:rPr lang="pt-BR" sz="2000" dirty="0" err="1"/>
              <a:t>likelihood</a:t>
            </a:r>
            <a:r>
              <a:rPr lang="pt-BR" sz="2000" dirty="0"/>
              <a:t>. Árvores de gene calculadas junto com a árvore de espécie. </a:t>
            </a:r>
          </a:p>
          <a:p>
            <a:pPr marL="1200150" lvl="2" indent="-285750">
              <a:buFontTx/>
              <a:buChar char="-"/>
            </a:pPr>
            <a:r>
              <a:rPr lang="pt-BR" sz="2000" dirty="0"/>
              <a:t>BPP: utiliza metodologia Bayesiana sob o MSC para definir parâmetros populacionais. Mais focado em delimitação de espécies.</a:t>
            </a:r>
          </a:p>
          <a:p>
            <a:pPr marL="1200150" lvl="2" indent="-285750">
              <a:buFontTx/>
              <a:buChar char="-"/>
            </a:pPr>
            <a:endParaRPr lang="pt-BR" sz="2000" dirty="0"/>
          </a:p>
          <a:p>
            <a:pPr marL="742950" lvl="1" indent="-285750">
              <a:buFontTx/>
              <a:buChar char="-"/>
            </a:pPr>
            <a:r>
              <a:rPr lang="pt-BR" sz="2000" dirty="0" err="1"/>
              <a:t>Summary</a:t>
            </a:r>
            <a:r>
              <a:rPr lang="pt-BR" sz="2000" dirty="0"/>
              <a:t>: usam um “resumo” das sequencias originais (por exemplo, arvores de gene já calculadas). Também chamados de </a:t>
            </a:r>
            <a:r>
              <a:rPr lang="pt-BR" sz="2000" dirty="0" err="1"/>
              <a:t>two</a:t>
            </a:r>
            <a:r>
              <a:rPr lang="pt-BR" sz="2000" dirty="0"/>
              <a:t>-step.</a:t>
            </a:r>
          </a:p>
          <a:p>
            <a:pPr marL="1200150" lvl="2" indent="-285750">
              <a:buFontTx/>
              <a:buChar char="-"/>
            </a:pPr>
            <a:r>
              <a:rPr lang="pt-BR" sz="2000" dirty="0"/>
              <a:t>ASTRAL: Usa árvores de gene calculadas anteriormente. Rapidamente se tornou o método mais usado. </a:t>
            </a:r>
          </a:p>
        </p:txBody>
      </p:sp>
      <p:sp>
        <p:nvSpPr>
          <p:cNvPr id="2" name="TextBox 1">
            <a:extLst>
              <a:ext uri="{FF2B5EF4-FFF2-40B4-BE49-F238E27FC236}">
                <a16:creationId xmlns:a16="http://schemas.microsoft.com/office/drawing/2014/main" id="{F2B128CF-A867-C9F1-F1A8-35727632CD2E}"/>
              </a:ext>
            </a:extLst>
          </p:cNvPr>
          <p:cNvSpPr txBox="1"/>
          <p:nvPr/>
        </p:nvSpPr>
        <p:spPr>
          <a:xfrm>
            <a:off x="943292" y="5709486"/>
            <a:ext cx="9897035" cy="369332"/>
          </a:xfrm>
          <a:prstGeom prst="rect">
            <a:avLst/>
          </a:prstGeom>
          <a:noFill/>
        </p:spPr>
        <p:txBody>
          <a:bodyPr wrap="square" rtlCol="0">
            <a:spAutoFit/>
          </a:bodyPr>
          <a:lstStyle/>
          <a:p>
            <a:r>
              <a:rPr lang="pt-BR" dirty="0"/>
              <a:t>** Problemas computacionais – dependendo do método, não é possível analisar </a:t>
            </a:r>
            <a:r>
              <a:rPr lang="pt-BR" dirty="0" err="1"/>
              <a:t>datasets</a:t>
            </a:r>
            <a:r>
              <a:rPr lang="pt-BR" dirty="0"/>
              <a:t> grandes</a:t>
            </a:r>
            <a:endParaRPr lang="en-US" dirty="0"/>
          </a:p>
        </p:txBody>
      </p:sp>
    </p:spTree>
    <p:extLst>
      <p:ext uri="{BB962C8B-B14F-4D97-AF65-F5344CB8AC3E}">
        <p14:creationId xmlns:p14="http://schemas.microsoft.com/office/powerpoint/2010/main" val="779951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0E8715-091A-9E67-307C-348F4C19451B}"/>
              </a:ext>
            </a:extLst>
          </p:cNvPr>
          <p:cNvPicPr>
            <a:picLocks noChangeAspect="1"/>
          </p:cNvPicPr>
          <p:nvPr/>
        </p:nvPicPr>
        <p:blipFill>
          <a:blip r:embed="rId2"/>
          <a:stretch>
            <a:fillRect/>
          </a:stretch>
        </p:blipFill>
        <p:spPr>
          <a:xfrm>
            <a:off x="1888624" y="857730"/>
            <a:ext cx="8417312" cy="5146382"/>
          </a:xfrm>
          <a:prstGeom prst="rect">
            <a:avLst/>
          </a:prstGeom>
        </p:spPr>
      </p:pic>
    </p:spTree>
    <p:extLst>
      <p:ext uri="{BB962C8B-B14F-4D97-AF65-F5344CB8AC3E}">
        <p14:creationId xmlns:p14="http://schemas.microsoft.com/office/powerpoint/2010/main" val="4063250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EDC8C-3D76-9EF4-D977-79B05D0C48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A81650-2E49-1E44-4EB5-4791177A8A34}"/>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ASTRAL (</a:t>
            </a:r>
            <a:r>
              <a:rPr lang="pt-BR" sz="2800" dirty="0" err="1">
                <a:latin typeface="+mj-lt"/>
              </a:rPr>
              <a:t>Accurate</a:t>
            </a:r>
            <a:r>
              <a:rPr lang="pt-BR" sz="2800" dirty="0">
                <a:latin typeface="+mj-lt"/>
              </a:rPr>
              <a:t> </a:t>
            </a:r>
            <a:r>
              <a:rPr lang="pt-BR" sz="2800" dirty="0" err="1">
                <a:latin typeface="+mj-lt"/>
              </a:rPr>
              <a:t>Species</a:t>
            </a:r>
            <a:r>
              <a:rPr lang="pt-BR" sz="2800" dirty="0">
                <a:latin typeface="+mj-lt"/>
              </a:rPr>
              <a:t> </a:t>
            </a:r>
            <a:r>
              <a:rPr lang="pt-BR" sz="2800" dirty="0" err="1">
                <a:latin typeface="+mj-lt"/>
              </a:rPr>
              <a:t>Tree</a:t>
            </a:r>
            <a:r>
              <a:rPr lang="pt-BR" sz="2800" dirty="0">
                <a:latin typeface="+mj-lt"/>
              </a:rPr>
              <a:t> </a:t>
            </a:r>
            <a:r>
              <a:rPr lang="pt-BR" sz="2800" dirty="0" err="1">
                <a:latin typeface="+mj-lt"/>
              </a:rPr>
              <a:t>Algorithm</a:t>
            </a:r>
            <a:r>
              <a:rPr lang="pt-BR" sz="2800" dirty="0">
                <a:latin typeface="+mj-lt"/>
              </a:rPr>
              <a:t>)</a:t>
            </a:r>
            <a:endParaRPr lang="en-US" sz="2800" dirty="0">
              <a:latin typeface="+mj-lt"/>
            </a:endParaRPr>
          </a:p>
        </p:txBody>
      </p:sp>
      <p:sp>
        <p:nvSpPr>
          <p:cNvPr id="4" name="TextBox 3">
            <a:extLst>
              <a:ext uri="{FF2B5EF4-FFF2-40B4-BE49-F238E27FC236}">
                <a16:creationId xmlns:a16="http://schemas.microsoft.com/office/drawing/2014/main" id="{5861A99B-AB27-9505-DAFB-1067ABA95156}"/>
              </a:ext>
            </a:extLst>
          </p:cNvPr>
          <p:cNvSpPr txBox="1"/>
          <p:nvPr/>
        </p:nvSpPr>
        <p:spPr>
          <a:xfrm>
            <a:off x="828432" y="2153545"/>
            <a:ext cx="9253020" cy="3477875"/>
          </a:xfrm>
          <a:prstGeom prst="rect">
            <a:avLst/>
          </a:prstGeom>
          <a:noFill/>
        </p:spPr>
        <p:txBody>
          <a:bodyPr wrap="square" rtlCol="0">
            <a:spAutoFit/>
          </a:bodyPr>
          <a:lstStyle/>
          <a:p>
            <a:pPr marL="285750" indent="-285750">
              <a:buFontTx/>
              <a:buChar char="-"/>
            </a:pPr>
            <a:r>
              <a:rPr lang="pt-BR" sz="2000" dirty="0"/>
              <a:t>Método de resumo (</a:t>
            </a:r>
            <a:r>
              <a:rPr lang="pt-BR" sz="2000" dirty="0" err="1"/>
              <a:t>two</a:t>
            </a:r>
            <a:r>
              <a:rPr lang="pt-BR" sz="2000" dirty="0"/>
              <a:t>-step ou </a:t>
            </a:r>
            <a:r>
              <a:rPr lang="pt-BR" sz="2000" dirty="0" err="1"/>
              <a:t>summary</a:t>
            </a:r>
            <a:r>
              <a:rPr lang="pt-BR" sz="2000" dirty="0"/>
              <a:t>)</a:t>
            </a:r>
          </a:p>
          <a:p>
            <a:pPr marL="285750" indent="-285750">
              <a:buFontTx/>
              <a:buChar char="-"/>
            </a:pPr>
            <a:r>
              <a:rPr lang="pt-BR" sz="2000" dirty="0"/>
              <a:t>Primeira versão em 2014, atualmente na versão 4 (ASTRAL-IV)</a:t>
            </a:r>
          </a:p>
          <a:p>
            <a:pPr marL="285750" indent="-285750">
              <a:buFontTx/>
              <a:buChar char="-"/>
            </a:pPr>
            <a:endParaRPr lang="pt-BR" sz="2000" dirty="0"/>
          </a:p>
          <a:p>
            <a:pPr marL="285750" indent="-285750">
              <a:buFontTx/>
              <a:buChar char="-"/>
            </a:pPr>
            <a:r>
              <a:rPr lang="pt-BR" sz="2000" dirty="0"/>
              <a:t>Por quê se tornou o método mais usado</a:t>
            </a:r>
          </a:p>
          <a:p>
            <a:pPr marL="742950" lvl="1" indent="-285750">
              <a:buFontTx/>
              <a:buChar char="-"/>
            </a:pPr>
            <a:r>
              <a:rPr lang="pt-BR" sz="2000" dirty="0"/>
              <a:t>Simples de rodar o programa</a:t>
            </a:r>
          </a:p>
          <a:p>
            <a:pPr marL="742950" lvl="1" indent="-285750">
              <a:buFontTx/>
              <a:buChar char="-"/>
            </a:pPr>
            <a:r>
              <a:rPr lang="pt-BR" sz="2000" dirty="0"/>
              <a:t>Rápido</a:t>
            </a:r>
          </a:p>
          <a:p>
            <a:pPr marL="742950" lvl="1" indent="-285750">
              <a:buFontTx/>
              <a:buChar char="-"/>
            </a:pPr>
            <a:r>
              <a:rPr lang="pt-BR" sz="2000" dirty="0"/>
              <a:t>Permite o uso de milhares de árvores de genes com milhares de terminais</a:t>
            </a:r>
          </a:p>
          <a:p>
            <a:pPr marL="742950" lvl="1" indent="-285750">
              <a:buFontTx/>
              <a:buChar char="-"/>
            </a:pPr>
            <a:r>
              <a:rPr lang="pt-BR" sz="2000" dirty="0"/>
              <a:t>Evita problemas com a zona anômala </a:t>
            </a:r>
          </a:p>
          <a:p>
            <a:pPr marL="742950" lvl="1" indent="-285750">
              <a:buFontTx/>
              <a:buChar char="-"/>
            </a:pPr>
            <a:r>
              <a:rPr lang="pt-BR" sz="2000" dirty="0"/>
              <a:t>Estável mesmo em grupos com grande quantidade de ILS (por usar árvores de genes não-enraizadas)</a:t>
            </a:r>
          </a:p>
          <a:p>
            <a:pPr marL="742950" lvl="1" indent="-285750">
              <a:buFontTx/>
              <a:buChar char="-"/>
            </a:pPr>
            <a:endParaRPr lang="pt-BR" sz="2000" dirty="0"/>
          </a:p>
        </p:txBody>
      </p:sp>
    </p:spTree>
    <p:extLst>
      <p:ext uri="{BB962C8B-B14F-4D97-AF65-F5344CB8AC3E}">
        <p14:creationId xmlns:p14="http://schemas.microsoft.com/office/powerpoint/2010/main" val="1457450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F5D1-5D7F-011F-4AD3-68C6B636A4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8A1B6A-7248-E382-82B1-0B7F128C2F12}"/>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ASTRAL (</a:t>
            </a:r>
            <a:r>
              <a:rPr lang="pt-BR" sz="2800" dirty="0" err="1">
                <a:latin typeface="+mj-lt"/>
              </a:rPr>
              <a:t>Accurate</a:t>
            </a:r>
            <a:r>
              <a:rPr lang="pt-BR" sz="2800" dirty="0">
                <a:latin typeface="+mj-lt"/>
              </a:rPr>
              <a:t> </a:t>
            </a:r>
            <a:r>
              <a:rPr lang="pt-BR" sz="2800" dirty="0" err="1">
                <a:latin typeface="+mj-lt"/>
              </a:rPr>
              <a:t>Species</a:t>
            </a:r>
            <a:r>
              <a:rPr lang="pt-BR" sz="2800" dirty="0">
                <a:latin typeface="+mj-lt"/>
              </a:rPr>
              <a:t> </a:t>
            </a:r>
            <a:r>
              <a:rPr lang="pt-BR" sz="2800" dirty="0" err="1">
                <a:latin typeface="+mj-lt"/>
              </a:rPr>
              <a:t>Tree</a:t>
            </a:r>
            <a:r>
              <a:rPr lang="pt-BR" sz="2800" dirty="0">
                <a:latin typeface="+mj-lt"/>
              </a:rPr>
              <a:t> </a:t>
            </a:r>
            <a:r>
              <a:rPr lang="pt-BR" sz="2800" dirty="0" err="1">
                <a:latin typeface="+mj-lt"/>
              </a:rPr>
              <a:t>Algorithm</a:t>
            </a:r>
            <a:r>
              <a:rPr lang="pt-BR" sz="2800" dirty="0">
                <a:latin typeface="+mj-lt"/>
              </a:rPr>
              <a:t>)</a:t>
            </a:r>
            <a:endParaRPr lang="en-US" sz="2800" dirty="0">
              <a:latin typeface="+mj-lt"/>
            </a:endParaRPr>
          </a:p>
        </p:txBody>
      </p:sp>
      <p:sp>
        <p:nvSpPr>
          <p:cNvPr id="4" name="TextBox 3">
            <a:extLst>
              <a:ext uri="{FF2B5EF4-FFF2-40B4-BE49-F238E27FC236}">
                <a16:creationId xmlns:a16="http://schemas.microsoft.com/office/drawing/2014/main" id="{6277904A-8BE6-00DE-9C6F-D8E7932832D2}"/>
              </a:ext>
            </a:extLst>
          </p:cNvPr>
          <p:cNvSpPr txBox="1"/>
          <p:nvPr/>
        </p:nvSpPr>
        <p:spPr>
          <a:xfrm>
            <a:off x="759277" y="1612009"/>
            <a:ext cx="6639168" cy="4708981"/>
          </a:xfrm>
          <a:prstGeom prst="rect">
            <a:avLst/>
          </a:prstGeom>
          <a:noFill/>
        </p:spPr>
        <p:txBody>
          <a:bodyPr wrap="square" rtlCol="0">
            <a:spAutoFit/>
          </a:bodyPr>
          <a:lstStyle/>
          <a:p>
            <a:pPr marL="285750" indent="-285750">
              <a:buFontTx/>
              <a:buChar char="-"/>
            </a:pPr>
            <a:r>
              <a:rPr lang="pt-BR" sz="2000" dirty="0"/>
              <a:t>As árvores de genes tem que ser calculadas primeiro</a:t>
            </a:r>
          </a:p>
          <a:p>
            <a:pPr marL="285750" indent="-285750">
              <a:buFontTx/>
              <a:buChar char="-"/>
            </a:pPr>
            <a:endParaRPr lang="pt-BR" sz="2000" dirty="0"/>
          </a:p>
          <a:p>
            <a:pPr marL="285750" indent="-285750">
              <a:buFontTx/>
              <a:buChar char="-"/>
            </a:pPr>
            <a:r>
              <a:rPr lang="pt-BR" sz="2000" dirty="0"/>
              <a:t>Método fica ao gosto do freguês</a:t>
            </a:r>
          </a:p>
          <a:p>
            <a:pPr marL="285750" indent="-285750">
              <a:buFontTx/>
              <a:buChar char="-"/>
            </a:pPr>
            <a:endParaRPr lang="pt-BR" sz="2000" dirty="0"/>
          </a:p>
          <a:p>
            <a:pPr marL="285750" indent="-285750">
              <a:buFontTx/>
              <a:buChar char="-"/>
            </a:pPr>
            <a:r>
              <a:rPr lang="pt-BR" sz="2000" dirty="0"/>
              <a:t>Maioria dos trabalhos atuais usam ML, mais especificamente o programa IQ-TREE</a:t>
            </a:r>
          </a:p>
          <a:p>
            <a:pPr marL="285750" indent="-285750">
              <a:buFontTx/>
              <a:buChar char="-"/>
            </a:pPr>
            <a:endParaRPr lang="pt-BR" sz="2000" dirty="0"/>
          </a:p>
          <a:p>
            <a:pPr marL="285750" indent="-285750">
              <a:buFontTx/>
              <a:buChar char="-"/>
            </a:pPr>
            <a:r>
              <a:rPr lang="pt-BR" sz="2000" dirty="0"/>
              <a:t>Mais fácil e rápido do que obter árvores com análise bayesiana</a:t>
            </a:r>
          </a:p>
          <a:p>
            <a:pPr marL="285750" indent="-285750">
              <a:buFontTx/>
              <a:buChar char="-"/>
            </a:pPr>
            <a:endParaRPr lang="pt-BR" sz="2000" dirty="0"/>
          </a:p>
          <a:p>
            <a:pPr marL="285750" indent="-285750">
              <a:buFontTx/>
              <a:buChar char="-"/>
            </a:pPr>
            <a:r>
              <a:rPr lang="pt-BR" sz="2000" dirty="0"/>
              <a:t>Inicialmente ASTRAL usava só a </a:t>
            </a:r>
            <a:r>
              <a:rPr lang="pt-BR" sz="2000" u="sng" dirty="0"/>
              <a:t>topologia</a:t>
            </a:r>
            <a:r>
              <a:rPr lang="pt-BR" sz="2000" dirty="0"/>
              <a:t> das árvores de gene, versão mais recente tem um método que pesa os valores de suporte e comprimento dos ramos na estimativa também. </a:t>
            </a:r>
          </a:p>
          <a:p>
            <a:pPr marL="742950" lvl="1" indent="-285750">
              <a:buFontTx/>
              <a:buChar char="-"/>
            </a:pPr>
            <a:endParaRPr lang="pt-BR" sz="2000" dirty="0"/>
          </a:p>
        </p:txBody>
      </p:sp>
      <p:pic>
        <p:nvPicPr>
          <p:cNvPr id="5" name="Picture 4">
            <a:extLst>
              <a:ext uri="{FF2B5EF4-FFF2-40B4-BE49-F238E27FC236}">
                <a16:creationId xmlns:a16="http://schemas.microsoft.com/office/drawing/2014/main" id="{37862D72-5457-BA18-1160-BA11AFE78CAE}"/>
              </a:ext>
            </a:extLst>
          </p:cNvPr>
          <p:cNvPicPr>
            <a:picLocks noChangeAspect="1"/>
          </p:cNvPicPr>
          <p:nvPr/>
        </p:nvPicPr>
        <p:blipFill>
          <a:blip r:embed="rId2"/>
          <a:srcRect l="65245" t="30714"/>
          <a:stretch>
            <a:fillRect/>
          </a:stretch>
        </p:blipFill>
        <p:spPr>
          <a:xfrm>
            <a:off x="8247176" y="1674861"/>
            <a:ext cx="3185547" cy="3882771"/>
          </a:xfrm>
          <a:prstGeom prst="rect">
            <a:avLst/>
          </a:prstGeom>
        </p:spPr>
      </p:pic>
      <p:sp>
        <p:nvSpPr>
          <p:cNvPr id="6" name="TextBox 5">
            <a:extLst>
              <a:ext uri="{FF2B5EF4-FFF2-40B4-BE49-F238E27FC236}">
                <a16:creationId xmlns:a16="http://schemas.microsoft.com/office/drawing/2014/main" id="{20DD5528-6A44-558D-A4F8-42ECB2A9DD8C}"/>
              </a:ext>
            </a:extLst>
          </p:cNvPr>
          <p:cNvSpPr txBox="1"/>
          <p:nvPr/>
        </p:nvSpPr>
        <p:spPr>
          <a:xfrm>
            <a:off x="10920403" y="2692916"/>
            <a:ext cx="1024639" cy="923330"/>
          </a:xfrm>
          <a:prstGeom prst="rect">
            <a:avLst/>
          </a:prstGeom>
          <a:noFill/>
        </p:spPr>
        <p:txBody>
          <a:bodyPr wrap="none" rtlCol="0">
            <a:spAutoFit/>
          </a:bodyPr>
          <a:lstStyle/>
          <a:p>
            <a:r>
              <a:rPr lang="pt-BR" dirty="0"/>
              <a:t>IQ-</a:t>
            </a:r>
            <a:r>
              <a:rPr lang="pt-BR" dirty="0" err="1"/>
              <a:t>Tree</a:t>
            </a:r>
            <a:endParaRPr lang="pt-BR" dirty="0"/>
          </a:p>
          <a:p>
            <a:r>
              <a:rPr lang="pt-BR" dirty="0" err="1"/>
              <a:t>RAxML</a:t>
            </a:r>
            <a:endParaRPr lang="pt-BR" dirty="0"/>
          </a:p>
          <a:p>
            <a:r>
              <a:rPr lang="pt-BR" dirty="0"/>
              <a:t>Etc...</a:t>
            </a:r>
            <a:endParaRPr lang="en-US" dirty="0"/>
          </a:p>
        </p:txBody>
      </p:sp>
      <p:sp>
        <p:nvSpPr>
          <p:cNvPr id="8" name="TextBox 7">
            <a:extLst>
              <a:ext uri="{FF2B5EF4-FFF2-40B4-BE49-F238E27FC236}">
                <a16:creationId xmlns:a16="http://schemas.microsoft.com/office/drawing/2014/main" id="{14FCD480-B88F-C6C2-4050-67F73396BBB1}"/>
              </a:ext>
            </a:extLst>
          </p:cNvPr>
          <p:cNvSpPr txBox="1"/>
          <p:nvPr/>
        </p:nvSpPr>
        <p:spPr>
          <a:xfrm>
            <a:off x="10927564" y="4434419"/>
            <a:ext cx="1135247" cy="369332"/>
          </a:xfrm>
          <a:prstGeom prst="rect">
            <a:avLst/>
          </a:prstGeom>
          <a:noFill/>
        </p:spPr>
        <p:txBody>
          <a:bodyPr wrap="none" rtlCol="0">
            <a:spAutoFit/>
          </a:bodyPr>
          <a:lstStyle/>
          <a:p>
            <a:r>
              <a:rPr lang="pt-BR" dirty="0"/>
              <a:t>ASTRAL</a:t>
            </a:r>
            <a:endParaRPr lang="en-US" dirty="0"/>
          </a:p>
        </p:txBody>
      </p:sp>
    </p:spTree>
    <p:extLst>
      <p:ext uri="{BB962C8B-B14F-4D97-AF65-F5344CB8AC3E}">
        <p14:creationId xmlns:p14="http://schemas.microsoft.com/office/powerpoint/2010/main" val="393097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1AFF5-CF6F-E430-3BD6-BB06851F978D}"/>
              </a:ext>
            </a:extLst>
          </p:cNvPr>
          <p:cNvPicPr>
            <a:picLocks noChangeAspect="1"/>
          </p:cNvPicPr>
          <p:nvPr/>
        </p:nvPicPr>
        <p:blipFill>
          <a:blip r:embed="rId2"/>
          <a:stretch>
            <a:fillRect/>
          </a:stretch>
        </p:blipFill>
        <p:spPr>
          <a:xfrm>
            <a:off x="7885886" y="794551"/>
            <a:ext cx="3701983" cy="5268897"/>
          </a:xfrm>
          <a:prstGeom prst="rect">
            <a:avLst/>
          </a:prstGeom>
        </p:spPr>
      </p:pic>
      <p:sp>
        <p:nvSpPr>
          <p:cNvPr id="5" name="TextBox 4">
            <a:extLst>
              <a:ext uri="{FF2B5EF4-FFF2-40B4-BE49-F238E27FC236}">
                <a16:creationId xmlns:a16="http://schemas.microsoft.com/office/drawing/2014/main" id="{2B02F9CE-3948-41CA-49B2-04954848C48C}"/>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ASTRAL (</a:t>
            </a:r>
            <a:r>
              <a:rPr lang="pt-BR" sz="2800" dirty="0" err="1">
                <a:latin typeface="+mj-lt"/>
              </a:rPr>
              <a:t>Accurate</a:t>
            </a:r>
            <a:r>
              <a:rPr lang="pt-BR" sz="2800" dirty="0">
                <a:latin typeface="+mj-lt"/>
              </a:rPr>
              <a:t> </a:t>
            </a:r>
            <a:r>
              <a:rPr lang="pt-BR" sz="2800" dirty="0" err="1">
                <a:latin typeface="+mj-lt"/>
              </a:rPr>
              <a:t>Species</a:t>
            </a:r>
            <a:r>
              <a:rPr lang="pt-BR" sz="2800" dirty="0">
                <a:latin typeface="+mj-lt"/>
              </a:rPr>
              <a:t> </a:t>
            </a:r>
            <a:r>
              <a:rPr lang="pt-BR" sz="2800" dirty="0" err="1">
                <a:latin typeface="+mj-lt"/>
              </a:rPr>
              <a:t>Tree</a:t>
            </a:r>
            <a:r>
              <a:rPr lang="pt-BR" sz="2800" dirty="0">
                <a:latin typeface="+mj-lt"/>
              </a:rPr>
              <a:t> </a:t>
            </a:r>
            <a:r>
              <a:rPr lang="pt-BR" sz="2800" dirty="0" err="1">
                <a:latin typeface="+mj-lt"/>
              </a:rPr>
              <a:t>Algorithm</a:t>
            </a:r>
            <a:r>
              <a:rPr lang="pt-BR" sz="2800" dirty="0">
                <a:latin typeface="+mj-lt"/>
              </a:rPr>
              <a:t>)</a:t>
            </a:r>
            <a:endParaRPr lang="en-US" sz="2800" dirty="0">
              <a:latin typeface="+mj-lt"/>
            </a:endParaRPr>
          </a:p>
        </p:txBody>
      </p:sp>
      <p:sp>
        <p:nvSpPr>
          <p:cNvPr id="7" name="TextBox 6">
            <a:extLst>
              <a:ext uri="{FF2B5EF4-FFF2-40B4-BE49-F238E27FC236}">
                <a16:creationId xmlns:a16="http://schemas.microsoft.com/office/drawing/2014/main" id="{B75DC0EF-1590-F1D0-2CFF-ADB6D7840757}"/>
              </a:ext>
            </a:extLst>
          </p:cNvPr>
          <p:cNvSpPr txBox="1"/>
          <p:nvPr/>
        </p:nvSpPr>
        <p:spPr>
          <a:xfrm>
            <a:off x="759277" y="1820969"/>
            <a:ext cx="4293640" cy="3785652"/>
          </a:xfrm>
          <a:prstGeom prst="rect">
            <a:avLst/>
          </a:prstGeom>
          <a:noFill/>
        </p:spPr>
        <p:txBody>
          <a:bodyPr wrap="square" rtlCol="0">
            <a:spAutoFit/>
          </a:bodyPr>
          <a:lstStyle/>
          <a:p>
            <a:pPr marL="61913" lvl="1"/>
            <a:r>
              <a:rPr lang="en-US" sz="2000" dirty="0"/>
              <a:t>“The optimization problem solved by ASTRAL seeks to find the tree that maximizes the number of induced quartet trees in gene trees that are shared by the species tree. The optimization problem is solved exactly for a constrained version of the problem that restricts the search space. An exact solution to the unconstrained version is also implemented and can run on small datasets (less than 18 taxa).”</a:t>
            </a:r>
            <a:endParaRPr lang="pt-BR" sz="2400" dirty="0"/>
          </a:p>
        </p:txBody>
      </p:sp>
      <p:pic>
        <p:nvPicPr>
          <p:cNvPr id="9" name="Picture 8">
            <a:extLst>
              <a:ext uri="{FF2B5EF4-FFF2-40B4-BE49-F238E27FC236}">
                <a16:creationId xmlns:a16="http://schemas.microsoft.com/office/drawing/2014/main" id="{ED64044E-CC4F-B211-135C-154610AEA7EF}"/>
              </a:ext>
            </a:extLst>
          </p:cNvPr>
          <p:cNvPicPr>
            <a:picLocks noChangeAspect="1"/>
          </p:cNvPicPr>
          <p:nvPr/>
        </p:nvPicPr>
        <p:blipFill>
          <a:blip r:embed="rId3"/>
          <a:stretch>
            <a:fillRect/>
          </a:stretch>
        </p:blipFill>
        <p:spPr>
          <a:xfrm>
            <a:off x="5440653" y="2495409"/>
            <a:ext cx="2333951" cy="2019582"/>
          </a:xfrm>
          <a:prstGeom prst="rect">
            <a:avLst/>
          </a:prstGeom>
        </p:spPr>
      </p:pic>
    </p:spTree>
    <p:extLst>
      <p:ext uri="{BB962C8B-B14F-4D97-AF65-F5344CB8AC3E}">
        <p14:creationId xmlns:p14="http://schemas.microsoft.com/office/powerpoint/2010/main" val="3687580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60CE5-A0C8-DBD8-48A2-3C8A9C1A68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C954E2-DE12-D67D-E25C-BC92BA25D41B}"/>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ASTRAL (</a:t>
            </a:r>
            <a:r>
              <a:rPr lang="pt-BR" sz="2800" dirty="0" err="1">
                <a:latin typeface="+mj-lt"/>
              </a:rPr>
              <a:t>Accurate</a:t>
            </a:r>
            <a:r>
              <a:rPr lang="pt-BR" sz="2800" dirty="0">
                <a:latin typeface="+mj-lt"/>
              </a:rPr>
              <a:t> </a:t>
            </a:r>
            <a:r>
              <a:rPr lang="pt-BR" sz="2800" dirty="0" err="1">
                <a:latin typeface="+mj-lt"/>
              </a:rPr>
              <a:t>Species</a:t>
            </a:r>
            <a:r>
              <a:rPr lang="pt-BR" sz="2800" dirty="0">
                <a:latin typeface="+mj-lt"/>
              </a:rPr>
              <a:t> </a:t>
            </a:r>
            <a:r>
              <a:rPr lang="pt-BR" sz="2800" dirty="0" err="1">
                <a:latin typeface="+mj-lt"/>
              </a:rPr>
              <a:t>Tree</a:t>
            </a:r>
            <a:r>
              <a:rPr lang="pt-BR" sz="2800" dirty="0">
                <a:latin typeface="+mj-lt"/>
              </a:rPr>
              <a:t> </a:t>
            </a:r>
            <a:r>
              <a:rPr lang="pt-BR" sz="2800" dirty="0" err="1">
                <a:latin typeface="+mj-lt"/>
              </a:rPr>
              <a:t>Algorithm</a:t>
            </a:r>
            <a:r>
              <a:rPr lang="pt-BR" sz="2800" dirty="0">
                <a:latin typeface="+mj-lt"/>
              </a:rPr>
              <a:t>)</a:t>
            </a:r>
            <a:endParaRPr lang="en-US" sz="2800" dirty="0">
              <a:latin typeface="+mj-lt"/>
            </a:endParaRPr>
          </a:p>
        </p:txBody>
      </p:sp>
      <p:sp>
        <p:nvSpPr>
          <p:cNvPr id="7" name="TextBox 6">
            <a:extLst>
              <a:ext uri="{FF2B5EF4-FFF2-40B4-BE49-F238E27FC236}">
                <a16:creationId xmlns:a16="http://schemas.microsoft.com/office/drawing/2014/main" id="{28ADB941-22EC-6BC2-F898-1C11896F0466}"/>
              </a:ext>
            </a:extLst>
          </p:cNvPr>
          <p:cNvSpPr txBox="1"/>
          <p:nvPr/>
        </p:nvSpPr>
        <p:spPr>
          <a:xfrm>
            <a:off x="420308" y="1498623"/>
            <a:ext cx="6267634" cy="4524315"/>
          </a:xfrm>
          <a:prstGeom prst="rect">
            <a:avLst/>
          </a:prstGeom>
          <a:noFill/>
        </p:spPr>
        <p:txBody>
          <a:bodyPr wrap="square" rtlCol="0">
            <a:spAutoFit/>
          </a:bodyPr>
          <a:lstStyle/>
          <a:p>
            <a:pPr marL="742950" lvl="1" indent="-285750">
              <a:buFontTx/>
              <a:buChar char="-"/>
            </a:pPr>
            <a:r>
              <a:rPr lang="en-US" dirty="0"/>
              <a:t> Valores de </a:t>
            </a:r>
            <a:r>
              <a:rPr lang="en-US" dirty="0" err="1"/>
              <a:t>suporte</a:t>
            </a:r>
            <a:r>
              <a:rPr lang="en-US" dirty="0"/>
              <a:t> </a:t>
            </a:r>
            <a:r>
              <a:rPr lang="en-US" dirty="0" err="1"/>
              <a:t>são</a:t>
            </a:r>
            <a:r>
              <a:rPr lang="en-US" dirty="0"/>
              <a:t> dados </a:t>
            </a:r>
            <a:r>
              <a:rPr lang="en-US" dirty="0" err="1"/>
              <a:t>em</a:t>
            </a:r>
            <a:r>
              <a:rPr lang="en-US" dirty="0"/>
              <a:t> </a:t>
            </a:r>
            <a:r>
              <a:rPr lang="en-US" dirty="0" err="1"/>
              <a:t>probabilidade</a:t>
            </a:r>
            <a:r>
              <a:rPr lang="en-US" dirty="0"/>
              <a:t> posterior local (LPP)</a:t>
            </a:r>
          </a:p>
          <a:p>
            <a:pPr marL="742950" lvl="1" indent="-285750">
              <a:buFontTx/>
              <a:buChar char="-"/>
            </a:pPr>
            <a:endParaRPr lang="en-US" dirty="0"/>
          </a:p>
          <a:p>
            <a:pPr marL="742950" lvl="1" indent="-285750">
              <a:buFontTx/>
              <a:buChar char="-"/>
            </a:pPr>
            <a:r>
              <a:rPr lang="en-US" dirty="0"/>
              <a:t>The local PP is a function of the </a:t>
            </a:r>
            <a:r>
              <a:rPr lang="en-US" b="1" dirty="0"/>
              <a:t>number of gen</a:t>
            </a:r>
            <a:r>
              <a:rPr lang="en-US" dirty="0"/>
              <a:t>es and the </a:t>
            </a:r>
            <a:r>
              <a:rPr lang="en-US" b="1" dirty="0"/>
              <a:t>quartet frequency of a branch</a:t>
            </a:r>
            <a:r>
              <a:rPr lang="en-US" dirty="0"/>
              <a:t>. </a:t>
            </a:r>
            <a:r>
              <a:rPr lang="en-US" dirty="0" err="1"/>
              <a:t>Abranch</a:t>
            </a:r>
            <a:r>
              <a:rPr lang="en-US" dirty="0"/>
              <a:t> that appears in 40% of gene trees has a low 66.1% PP if 50 gene trees given (and alternative topologies are equally frequent); however, with 200 or 500 genes, the same branch will have 93.0% or 99.7% </a:t>
            </a:r>
          </a:p>
          <a:p>
            <a:pPr marL="742950" lvl="1" indent="-285750">
              <a:buFontTx/>
              <a:buChar char="-"/>
            </a:pPr>
            <a:endParaRPr lang="en-US" dirty="0"/>
          </a:p>
          <a:p>
            <a:pPr marL="742950" lvl="1" indent="-285750">
              <a:buFontTx/>
              <a:buChar char="-"/>
            </a:pPr>
            <a:r>
              <a:rPr lang="en-US" dirty="0"/>
              <a:t>Moreover, the PP is affected not just by the frequency of the topology being scored, but also by the frequency of the two alternatives. </a:t>
            </a:r>
          </a:p>
          <a:p>
            <a:pPr marL="742950" lvl="1" indent="-285750">
              <a:buFontTx/>
              <a:buChar char="-"/>
            </a:pPr>
            <a:endParaRPr lang="en-US" dirty="0"/>
          </a:p>
          <a:p>
            <a:pPr marL="742950" lvl="1" indent="-285750">
              <a:buFontTx/>
              <a:buChar char="-"/>
            </a:pPr>
            <a:r>
              <a:rPr lang="en-US" dirty="0"/>
              <a:t>The support of each branch is a function of that branch and the four branches around it.</a:t>
            </a:r>
          </a:p>
        </p:txBody>
      </p:sp>
      <p:grpSp>
        <p:nvGrpSpPr>
          <p:cNvPr id="35" name="Group 34">
            <a:extLst>
              <a:ext uri="{FF2B5EF4-FFF2-40B4-BE49-F238E27FC236}">
                <a16:creationId xmlns:a16="http://schemas.microsoft.com/office/drawing/2014/main" id="{CC46E160-853C-7A53-0BC6-ACD7A8B10467}"/>
              </a:ext>
            </a:extLst>
          </p:cNvPr>
          <p:cNvGrpSpPr/>
          <p:nvPr/>
        </p:nvGrpSpPr>
        <p:grpSpPr>
          <a:xfrm>
            <a:off x="8385583" y="1215191"/>
            <a:ext cx="1794691" cy="811648"/>
            <a:chOff x="500514" y="3895106"/>
            <a:chExt cx="1794691" cy="811648"/>
          </a:xfrm>
        </p:grpSpPr>
        <p:cxnSp>
          <p:nvCxnSpPr>
            <p:cNvPr id="36" name="Straight Connector 35">
              <a:extLst>
                <a:ext uri="{FF2B5EF4-FFF2-40B4-BE49-F238E27FC236}">
                  <a16:creationId xmlns:a16="http://schemas.microsoft.com/office/drawing/2014/main" id="{6C0CF1FC-CA93-B34A-2912-8B6A154B7C97}"/>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9C6EFCC-0D52-8284-49C2-D1BFE7068E4C}"/>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B7ED908-075A-1939-573E-96D979FF2FD7}"/>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BB8D91C-8B5C-5D09-3CEF-A04B0AD4C23B}"/>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BA85A9F-FA8F-0853-7181-2EB5BB09233B}"/>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1D4BEC5-893F-82A6-E9CC-D90E711AC424}"/>
              </a:ext>
            </a:extLst>
          </p:cNvPr>
          <p:cNvGrpSpPr/>
          <p:nvPr/>
        </p:nvGrpSpPr>
        <p:grpSpPr>
          <a:xfrm>
            <a:off x="8502586" y="3048179"/>
            <a:ext cx="1794691" cy="811648"/>
            <a:chOff x="500514" y="3895106"/>
            <a:chExt cx="1794691" cy="811648"/>
          </a:xfrm>
        </p:grpSpPr>
        <p:cxnSp>
          <p:nvCxnSpPr>
            <p:cNvPr id="42" name="Straight Connector 41">
              <a:extLst>
                <a:ext uri="{FF2B5EF4-FFF2-40B4-BE49-F238E27FC236}">
                  <a16:creationId xmlns:a16="http://schemas.microsoft.com/office/drawing/2014/main" id="{D4D2DD74-9E1D-F018-AF6A-12469DAB7E4C}"/>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0AA9D2B-81AB-C295-E919-B7846D25684C}"/>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EE64152-802D-5388-0608-017B26AF45A4}"/>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8950991-F31E-B917-53B0-6DD5EE69A995}"/>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FC6C3C5-7155-C037-6121-6A353B064467}"/>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D5D100E-18F4-AFBD-7440-B644FF9FE1A8}"/>
              </a:ext>
            </a:extLst>
          </p:cNvPr>
          <p:cNvGrpSpPr/>
          <p:nvPr/>
        </p:nvGrpSpPr>
        <p:grpSpPr>
          <a:xfrm>
            <a:off x="8547121" y="4762628"/>
            <a:ext cx="1794691" cy="811648"/>
            <a:chOff x="500514" y="3895106"/>
            <a:chExt cx="1794691" cy="811648"/>
          </a:xfrm>
        </p:grpSpPr>
        <p:cxnSp>
          <p:nvCxnSpPr>
            <p:cNvPr id="48" name="Straight Connector 47">
              <a:extLst>
                <a:ext uri="{FF2B5EF4-FFF2-40B4-BE49-F238E27FC236}">
                  <a16:creationId xmlns:a16="http://schemas.microsoft.com/office/drawing/2014/main" id="{2B4FDD1F-6FE1-52B2-2DBC-4977B2D06FCE}"/>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B88611D-4B0B-4024-493A-2B23DC9F9244}"/>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5402555-8B8A-2127-8402-EC7A18AE07BA}"/>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CF6C1-3D18-85F6-B424-EF224DC5208F}"/>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5A4B26D-AB74-952B-8710-1BDD5C563F30}"/>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1A2D4750-585F-447E-0354-0CBA46CEF768}"/>
              </a:ext>
            </a:extLst>
          </p:cNvPr>
          <p:cNvSpPr txBox="1"/>
          <p:nvPr/>
        </p:nvSpPr>
        <p:spPr>
          <a:xfrm>
            <a:off x="8140713" y="959922"/>
            <a:ext cx="317716" cy="369332"/>
          </a:xfrm>
          <a:prstGeom prst="rect">
            <a:avLst/>
          </a:prstGeom>
          <a:noFill/>
        </p:spPr>
        <p:txBody>
          <a:bodyPr wrap="none" rtlCol="0">
            <a:spAutoFit/>
          </a:bodyPr>
          <a:lstStyle/>
          <a:p>
            <a:r>
              <a:rPr lang="en-US" dirty="0"/>
              <a:t>A</a:t>
            </a:r>
          </a:p>
        </p:txBody>
      </p:sp>
      <p:sp>
        <p:nvSpPr>
          <p:cNvPr id="54" name="TextBox 53">
            <a:extLst>
              <a:ext uri="{FF2B5EF4-FFF2-40B4-BE49-F238E27FC236}">
                <a16:creationId xmlns:a16="http://schemas.microsoft.com/office/drawing/2014/main" id="{F46956DE-060B-5665-96E8-DFC9B43D9502}"/>
              </a:ext>
            </a:extLst>
          </p:cNvPr>
          <p:cNvSpPr txBox="1"/>
          <p:nvPr/>
        </p:nvSpPr>
        <p:spPr>
          <a:xfrm>
            <a:off x="8034929" y="1863983"/>
            <a:ext cx="309700" cy="369332"/>
          </a:xfrm>
          <a:prstGeom prst="rect">
            <a:avLst/>
          </a:prstGeom>
          <a:noFill/>
        </p:spPr>
        <p:txBody>
          <a:bodyPr wrap="none" rtlCol="0">
            <a:spAutoFit/>
          </a:bodyPr>
          <a:lstStyle/>
          <a:p>
            <a:r>
              <a:rPr lang="en-US" dirty="0"/>
              <a:t>B</a:t>
            </a:r>
          </a:p>
        </p:txBody>
      </p:sp>
      <p:sp>
        <p:nvSpPr>
          <p:cNvPr id="55" name="TextBox 54">
            <a:extLst>
              <a:ext uri="{FF2B5EF4-FFF2-40B4-BE49-F238E27FC236}">
                <a16:creationId xmlns:a16="http://schemas.microsoft.com/office/drawing/2014/main" id="{C955C04F-AEB8-DBB8-60E5-60A1311CCD5A}"/>
              </a:ext>
            </a:extLst>
          </p:cNvPr>
          <p:cNvSpPr txBox="1"/>
          <p:nvPr/>
        </p:nvSpPr>
        <p:spPr>
          <a:xfrm>
            <a:off x="10149047" y="970430"/>
            <a:ext cx="308098" cy="369332"/>
          </a:xfrm>
          <a:prstGeom prst="rect">
            <a:avLst/>
          </a:prstGeom>
          <a:noFill/>
        </p:spPr>
        <p:txBody>
          <a:bodyPr wrap="none" rtlCol="0">
            <a:spAutoFit/>
          </a:bodyPr>
          <a:lstStyle/>
          <a:p>
            <a:r>
              <a:rPr lang="en-US" dirty="0"/>
              <a:t>C</a:t>
            </a:r>
          </a:p>
        </p:txBody>
      </p:sp>
      <p:sp>
        <p:nvSpPr>
          <p:cNvPr id="56" name="TextBox 55">
            <a:extLst>
              <a:ext uri="{FF2B5EF4-FFF2-40B4-BE49-F238E27FC236}">
                <a16:creationId xmlns:a16="http://schemas.microsoft.com/office/drawing/2014/main" id="{069535C5-F797-F566-41DE-D8CD9F5CABDD}"/>
              </a:ext>
            </a:extLst>
          </p:cNvPr>
          <p:cNvSpPr txBox="1"/>
          <p:nvPr/>
        </p:nvSpPr>
        <p:spPr>
          <a:xfrm>
            <a:off x="10229272" y="1845096"/>
            <a:ext cx="327334" cy="369332"/>
          </a:xfrm>
          <a:prstGeom prst="rect">
            <a:avLst/>
          </a:prstGeom>
          <a:noFill/>
        </p:spPr>
        <p:txBody>
          <a:bodyPr wrap="none" rtlCol="0">
            <a:spAutoFit/>
          </a:bodyPr>
          <a:lstStyle/>
          <a:p>
            <a:r>
              <a:rPr lang="en-US" dirty="0"/>
              <a:t>D</a:t>
            </a:r>
          </a:p>
        </p:txBody>
      </p:sp>
      <p:sp>
        <p:nvSpPr>
          <p:cNvPr id="57" name="TextBox 56">
            <a:extLst>
              <a:ext uri="{FF2B5EF4-FFF2-40B4-BE49-F238E27FC236}">
                <a16:creationId xmlns:a16="http://schemas.microsoft.com/office/drawing/2014/main" id="{5A32BE81-B5EC-0757-1A36-BD8A8944A968}"/>
              </a:ext>
            </a:extLst>
          </p:cNvPr>
          <p:cNvSpPr txBox="1"/>
          <p:nvPr/>
        </p:nvSpPr>
        <p:spPr>
          <a:xfrm>
            <a:off x="8219787" y="2819545"/>
            <a:ext cx="317716" cy="369332"/>
          </a:xfrm>
          <a:prstGeom prst="rect">
            <a:avLst/>
          </a:prstGeom>
          <a:noFill/>
        </p:spPr>
        <p:txBody>
          <a:bodyPr wrap="none" rtlCol="0">
            <a:spAutoFit/>
          </a:bodyPr>
          <a:lstStyle/>
          <a:p>
            <a:r>
              <a:rPr lang="en-US" dirty="0"/>
              <a:t>A</a:t>
            </a:r>
          </a:p>
        </p:txBody>
      </p:sp>
      <p:sp>
        <p:nvSpPr>
          <p:cNvPr id="58" name="TextBox 57">
            <a:extLst>
              <a:ext uri="{FF2B5EF4-FFF2-40B4-BE49-F238E27FC236}">
                <a16:creationId xmlns:a16="http://schemas.microsoft.com/office/drawing/2014/main" id="{75839DB2-81DC-D298-43CE-A7090301CA6E}"/>
              </a:ext>
            </a:extLst>
          </p:cNvPr>
          <p:cNvSpPr txBox="1"/>
          <p:nvPr/>
        </p:nvSpPr>
        <p:spPr>
          <a:xfrm>
            <a:off x="10206257" y="2903005"/>
            <a:ext cx="309700" cy="369332"/>
          </a:xfrm>
          <a:prstGeom prst="rect">
            <a:avLst/>
          </a:prstGeom>
          <a:noFill/>
        </p:spPr>
        <p:txBody>
          <a:bodyPr wrap="none" rtlCol="0">
            <a:spAutoFit/>
          </a:bodyPr>
          <a:lstStyle/>
          <a:p>
            <a:r>
              <a:rPr lang="en-US" dirty="0"/>
              <a:t>B</a:t>
            </a:r>
          </a:p>
        </p:txBody>
      </p:sp>
      <p:sp>
        <p:nvSpPr>
          <p:cNvPr id="59" name="TextBox 58">
            <a:extLst>
              <a:ext uri="{FF2B5EF4-FFF2-40B4-BE49-F238E27FC236}">
                <a16:creationId xmlns:a16="http://schemas.microsoft.com/office/drawing/2014/main" id="{35A8AEC0-ABC4-2B14-F001-F6689E257786}"/>
              </a:ext>
            </a:extLst>
          </p:cNvPr>
          <p:cNvSpPr txBox="1"/>
          <p:nvPr/>
        </p:nvSpPr>
        <p:spPr>
          <a:xfrm>
            <a:off x="8156734" y="3703385"/>
            <a:ext cx="308098" cy="369332"/>
          </a:xfrm>
          <a:prstGeom prst="rect">
            <a:avLst/>
          </a:prstGeom>
          <a:noFill/>
        </p:spPr>
        <p:txBody>
          <a:bodyPr wrap="none" rtlCol="0">
            <a:spAutoFit/>
          </a:bodyPr>
          <a:lstStyle/>
          <a:p>
            <a:r>
              <a:rPr lang="en-US" dirty="0"/>
              <a:t>C</a:t>
            </a:r>
          </a:p>
        </p:txBody>
      </p:sp>
      <p:sp>
        <p:nvSpPr>
          <p:cNvPr id="60" name="TextBox 59">
            <a:extLst>
              <a:ext uri="{FF2B5EF4-FFF2-40B4-BE49-F238E27FC236}">
                <a16:creationId xmlns:a16="http://schemas.microsoft.com/office/drawing/2014/main" id="{8BAFE450-463F-6D44-09BC-8A7ABB9A8575}"/>
              </a:ext>
            </a:extLst>
          </p:cNvPr>
          <p:cNvSpPr txBox="1"/>
          <p:nvPr/>
        </p:nvSpPr>
        <p:spPr>
          <a:xfrm>
            <a:off x="10308346" y="3704719"/>
            <a:ext cx="327334" cy="369332"/>
          </a:xfrm>
          <a:prstGeom prst="rect">
            <a:avLst/>
          </a:prstGeom>
          <a:noFill/>
        </p:spPr>
        <p:txBody>
          <a:bodyPr wrap="none" rtlCol="0">
            <a:spAutoFit/>
          </a:bodyPr>
          <a:lstStyle/>
          <a:p>
            <a:r>
              <a:rPr lang="en-US" dirty="0"/>
              <a:t>D</a:t>
            </a:r>
          </a:p>
        </p:txBody>
      </p:sp>
      <p:sp>
        <p:nvSpPr>
          <p:cNvPr id="61" name="TextBox 60">
            <a:extLst>
              <a:ext uri="{FF2B5EF4-FFF2-40B4-BE49-F238E27FC236}">
                <a16:creationId xmlns:a16="http://schemas.microsoft.com/office/drawing/2014/main" id="{42A760FD-E004-E4BB-99C3-F156F5F0816A}"/>
              </a:ext>
            </a:extLst>
          </p:cNvPr>
          <p:cNvSpPr txBox="1"/>
          <p:nvPr/>
        </p:nvSpPr>
        <p:spPr>
          <a:xfrm>
            <a:off x="8253253" y="4539311"/>
            <a:ext cx="317716" cy="369332"/>
          </a:xfrm>
          <a:prstGeom prst="rect">
            <a:avLst/>
          </a:prstGeom>
          <a:noFill/>
        </p:spPr>
        <p:txBody>
          <a:bodyPr wrap="none" rtlCol="0">
            <a:spAutoFit/>
          </a:bodyPr>
          <a:lstStyle/>
          <a:p>
            <a:r>
              <a:rPr lang="en-US" dirty="0"/>
              <a:t>A</a:t>
            </a:r>
          </a:p>
        </p:txBody>
      </p:sp>
      <p:sp>
        <p:nvSpPr>
          <p:cNvPr id="62" name="TextBox 61">
            <a:extLst>
              <a:ext uri="{FF2B5EF4-FFF2-40B4-BE49-F238E27FC236}">
                <a16:creationId xmlns:a16="http://schemas.microsoft.com/office/drawing/2014/main" id="{DC8A2FCC-25FC-52E1-414C-FDC3B990279A}"/>
              </a:ext>
            </a:extLst>
          </p:cNvPr>
          <p:cNvSpPr txBox="1"/>
          <p:nvPr/>
        </p:nvSpPr>
        <p:spPr>
          <a:xfrm>
            <a:off x="10414118" y="5415140"/>
            <a:ext cx="309700" cy="369332"/>
          </a:xfrm>
          <a:prstGeom prst="rect">
            <a:avLst/>
          </a:prstGeom>
          <a:noFill/>
        </p:spPr>
        <p:txBody>
          <a:bodyPr wrap="none" rtlCol="0">
            <a:spAutoFit/>
          </a:bodyPr>
          <a:lstStyle/>
          <a:p>
            <a:r>
              <a:rPr lang="en-US" dirty="0"/>
              <a:t>B</a:t>
            </a:r>
          </a:p>
        </p:txBody>
      </p:sp>
      <p:sp>
        <p:nvSpPr>
          <p:cNvPr id="63" name="TextBox 62">
            <a:extLst>
              <a:ext uri="{FF2B5EF4-FFF2-40B4-BE49-F238E27FC236}">
                <a16:creationId xmlns:a16="http://schemas.microsoft.com/office/drawing/2014/main" id="{883FD774-A5B6-B402-C9DD-573BBCC2675A}"/>
              </a:ext>
            </a:extLst>
          </p:cNvPr>
          <p:cNvSpPr txBox="1"/>
          <p:nvPr/>
        </p:nvSpPr>
        <p:spPr>
          <a:xfrm>
            <a:off x="10261587" y="4549819"/>
            <a:ext cx="308098" cy="369332"/>
          </a:xfrm>
          <a:prstGeom prst="rect">
            <a:avLst/>
          </a:prstGeom>
          <a:noFill/>
        </p:spPr>
        <p:txBody>
          <a:bodyPr wrap="none" rtlCol="0">
            <a:spAutoFit/>
          </a:bodyPr>
          <a:lstStyle/>
          <a:p>
            <a:r>
              <a:rPr lang="en-US" dirty="0"/>
              <a:t>C</a:t>
            </a:r>
          </a:p>
        </p:txBody>
      </p:sp>
      <p:sp>
        <p:nvSpPr>
          <p:cNvPr id="64" name="TextBox 63">
            <a:extLst>
              <a:ext uri="{FF2B5EF4-FFF2-40B4-BE49-F238E27FC236}">
                <a16:creationId xmlns:a16="http://schemas.microsoft.com/office/drawing/2014/main" id="{DA95327A-0856-429A-5584-1B0D765AFC77}"/>
              </a:ext>
            </a:extLst>
          </p:cNvPr>
          <p:cNvSpPr txBox="1"/>
          <p:nvPr/>
        </p:nvSpPr>
        <p:spPr>
          <a:xfrm>
            <a:off x="8219787" y="5397379"/>
            <a:ext cx="327334" cy="369332"/>
          </a:xfrm>
          <a:prstGeom prst="rect">
            <a:avLst/>
          </a:prstGeom>
          <a:noFill/>
        </p:spPr>
        <p:txBody>
          <a:bodyPr wrap="none" rtlCol="0">
            <a:spAutoFit/>
          </a:bodyPr>
          <a:lstStyle/>
          <a:p>
            <a:r>
              <a:rPr lang="en-US" dirty="0"/>
              <a:t>D</a:t>
            </a:r>
          </a:p>
        </p:txBody>
      </p:sp>
    </p:spTree>
    <p:extLst>
      <p:ext uri="{BB962C8B-B14F-4D97-AF65-F5344CB8AC3E}">
        <p14:creationId xmlns:p14="http://schemas.microsoft.com/office/powerpoint/2010/main" val="2540822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1746-1934-4C46-011B-B8D9C380AD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7148616-7C2A-BDFE-11FE-9238036144A2}"/>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ASTRAL (</a:t>
            </a:r>
            <a:r>
              <a:rPr lang="pt-BR" sz="2800" dirty="0" err="1">
                <a:latin typeface="+mj-lt"/>
              </a:rPr>
              <a:t>Accurate</a:t>
            </a:r>
            <a:r>
              <a:rPr lang="pt-BR" sz="2800" dirty="0">
                <a:latin typeface="+mj-lt"/>
              </a:rPr>
              <a:t> </a:t>
            </a:r>
            <a:r>
              <a:rPr lang="pt-BR" sz="2800" dirty="0" err="1">
                <a:latin typeface="+mj-lt"/>
              </a:rPr>
              <a:t>Species</a:t>
            </a:r>
            <a:r>
              <a:rPr lang="pt-BR" sz="2800" dirty="0">
                <a:latin typeface="+mj-lt"/>
              </a:rPr>
              <a:t> </a:t>
            </a:r>
            <a:r>
              <a:rPr lang="pt-BR" sz="2800" dirty="0" err="1">
                <a:latin typeface="+mj-lt"/>
              </a:rPr>
              <a:t>Tree</a:t>
            </a:r>
            <a:r>
              <a:rPr lang="pt-BR" sz="2800" dirty="0">
                <a:latin typeface="+mj-lt"/>
              </a:rPr>
              <a:t> </a:t>
            </a:r>
            <a:r>
              <a:rPr lang="pt-BR" sz="2800" dirty="0" err="1">
                <a:latin typeface="+mj-lt"/>
              </a:rPr>
              <a:t>Algorithm</a:t>
            </a:r>
            <a:r>
              <a:rPr lang="pt-BR" sz="2800" dirty="0">
                <a:latin typeface="+mj-lt"/>
              </a:rPr>
              <a:t>)</a:t>
            </a:r>
            <a:endParaRPr lang="en-US" sz="2800" dirty="0">
              <a:latin typeface="+mj-lt"/>
            </a:endParaRPr>
          </a:p>
        </p:txBody>
      </p:sp>
      <p:sp>
        <p:nvSpPr>
          <p:cNvPr id="7" name="TextBox 6">
            <a:extLst>
              <a:ext uri="{FF2B5EF4-FFF2-40B4-BE49-F238E27FC236}">
                <a16:creationId xmlns:a16="http://schemas.microsoft.com/office/drawing/2014/main" id="{7398D408-C9D1-ED90-3801-DA3F25B413A7}"/>
              </a:ext>
            </a:extLst>
          </p:cNvPr>
          <p:cNvSpPr txBox="1"/>
          <p:nvPr/>
        </p:nvSpPr>
        <p:spPr>
          <a:xfrm>
            <a:off x="602294" y="1997839"/>
            <a:ext cx="6411873" cy="2862322"/>
          </a:xfrm>
          <a:prstGeom prst="rect">
            <a:avLst/>
          </a:prstGeom>
          <a:noFill/>
        </p:spPr>
        <p:txBody>
          <a:bodyPr wrap="square" rtlCol="0">
            <a:spAutoFit/>
          </a:bodyPr>
          <a:lstStyle/>
          <a:p>
            <a:pPr lvl="1"/>
            <a:endParaRPr lang="pt-BR" sz="2000" noProof="0" dirty="0"/>
          </a:p>
          <a:p>
            <a:pPr marL="742950" lvl="1" indent="-285750">
              <a:buFontTx/>
              <a:buChar char="-"/>
            </a:pPr>
            <a:r>
              <a:rPr lang="pt-BR" sz="2000" noProof="0" dirty="0"/>
              <a:t>Comprimento dos ramos é dado em unidades de coalescência</a:t>
            </a:r>
          </a:p>
          <a:p>
            <a:pPr marL="742950" lvl="1" indent="-285750">
              <a:buFontTx/>
              <a:buChar char="-"/>
            </a:pPr>
            <a:endParaRPr lang="pt-BR" sz="2000" noProof="0" dirty="0"/>
          </a:p>
          <a:p>
            <a:pPr marL="742950" lvl="1" indent="-285750">
              <a:buFontTx/>
              <a:buChar char="-"/>
            </a:pPr>
            <a:r>
              <a:rPr lang="pt-BR" sz="2000" noProof="0" dirty="0"/>
              <a:t>Medido apenas para ramos internos (ou seja, os ramos terminais não tem suporte)</a:t>
            </a:r>
          </a:p>
          <a:p>
            <a:pPr marL="742950" lvl="1" indent="-285750">
              <a:buFontTx/>
              <a:buChar char="-"/>
            </a:pPr>
            <a:endParaRPr lang="pt-BR" sz="2000" noProof="0" dirty="0"/>
          </a:p>
          <a:p>
            <a:pPr marL="742950" lvl="1" indent="-285750">
              <a:buFontTx/>
              <a:buChar char="-"/>
            </a:pPr>
            <a:r>
              <a:rPr lang="pt-BR" sz="2000" noProof="0" dirty="0"/>
              <a:t>É uma medida direta da quantidade de genes discordantes no conjunto </a:t>
            </a:r>
          </a:p>
        </p:txBody>
      </p:sp>
    </p:spTree>
    <p:extLst>
      <p:ext uri="{BB962C8B-B14F-4D97-AF65-F5344CB8AC3E}">
        <p14:creationId xmlns:p14="http://schemas.microsoft.com/office/powerpoint/2010/main" val="1762451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ECCE17-541E-9541-6B06-7EE0CC3885F0}"/>
              </a:ext>
            </a:extLst>
          </p:cNvPr>
          <p:cNvSpPr txBox="1"/>
          <p:nvPr/>
        </p:nvSpPr>
        <p:spPr>
          <a:xfrm>
            <a:off x="1211461" y="1443841"/>
            <a:ext cx="6094520" cy="3970318"/>
          </a:xfrm>
          <a:prstGeom prst="rect">
            <a:avLst/>
          </a:prstGeom>
          <a:noFill/>
        </p:spPr>
        <p:txBody>
          <a:bodyPr wrap="square">
            <a:spAutoFit/>
          </a:bodyPr>
          <a:lstStyle/>
          <a:p>
            <a:r>
              <a:rPr lang="en-US" sz="1800" b="0" i="0" dirty="0">
                <a:solidFill>
                  <a:schemeClr val="tx1"/>
                </a:solidFill>
                <a:effectLst/>
                <a:latin typeface="+mn-lt"/>
              </a:rPr>
              <a:t>“A widely cited rule of thumb, from Hillis and Bull’s 1993 simulation study, is that a bootstrap value of 70% or higher tends to correspond to a real probability of 95% or greater that the clade is correctly resolved. That figure gets repeated often enough in textbooks and lab meetings that it’s worth being precise about its limits: Hillis and Bull derived it under specific simulated conditions (symmetric trees, equal rates of change, and a modest amount of change between splits), and later work has shown it doesn’t hold uniformly across real datasets — under some conditions bootstrap support is conservative (understating real confidence), under others it isn’t. Treat “70%” as a widely used convention worth knowing, not a statistical law that converts a bootstrap value into a fixed confidence level.”</a:t>
            </a:r>
            <a:endParaRPr lang="en-US" dirty="0"/>
          </a:p>
        </p:txBody>
      </p:sp>
      <p:sp>
        <p:nvSpPr>
          <p:cNvPr id="4" name="TextBox 3">
            <a:extLst>
              <a:ext uri="{FF2B5EF4-FFF2-40B4-BE49-F238E27FC236}">
                <a16:creationId xmlns:a16="http://schemas.microsoft.com/office/drawing/2014/main" id="{4AE87481-E4EC-540A-34B6-1753C8940F57}"/>
              </a:ext>
            </a:extLst>
          </p:cNvPr>
          <p:cNvSpPr txBox="1"/>
          <p:nvPr/>
        </p:nvSpPr>
        <p:spPr>
          <a:xfrm>
            <a:off x="8185211" y="2551837"/>
            <a:ext cx="3222594" cy="1754326"/>
          </a:xfrm>
          <a:prstGeom prst="rect">
            <a:avLst/>
          </a:prstGeom>
          <a:solidFill>
            <a:schemeClr val="tx2">
              <a:lumMod val="10000"/>
              <a:lumOff val="90000"/>
            </a:schemeClr>
          </a:solidFill>
        </p:spPr>
        <p:txBody>
          <a:bodyPr wrap="square" rtlCol="0">
            <a:spAutoFit/>
          </a:bodyPr>
          <a:lstStyle/>
          <a:p>
            <a:r>
              <a:rPr lang="en-US" b="1" dirty="0"/>
              <a:t>LPP</a:t>
            </a:r>
          </a:p>
          <a:p>
            <a:r>
              <a:rPr lang="en-US" b="1" dirty="0"/>
              <a:t>Alto = </a:t>
            </a:r>
            <a:r>
              <a:rPr lang="en-US" b="1" dirty="0" err="1"/>
              <a:t>mais</a:t>
            </a:r>
            <a:r>
              <a:rPr lang="en-US" b="1" dirty="0"/>
              <a:t> de 0.95</a:t>
            </a:r>
          </a:p>
          <a:p>
            <a:r>
              <a:rPr lang="en-US" b="1" dirty="0" err="1"/>
              <a:t>Moderado</a:t>
            </a:r>
            <a:r>
              <a:rPr lang="en-US" b="1" dirty="0"/>
              <a:t> = entre 0.90 e 0.94</a:t>
            </a:r>
          </a:p>
          <a:p>
            <a:r>
              <a:rPr lang="en-US" b="1" dirty="0" err="1"/>
              <a:t>Baixo</a:t>
            </a:r>
            <a:r>
              <a:rPr lang="en-US" b="1" dirty="0"/>
              <a:t> = entre 0.80 e 0.89</a:t>
            </a:r>
          </a:p>
          <a:p>
            <a:r>
              <a:rPr lang="en-US" b="1" dirty="0"/>
              <a:t>Sem </a:t>
            </a:r>
            <a:r>
              <a:rPr lang="en-US" b="1" dirty="0" err="1"/>
              <a:t>suporte</a:t>
            </a:r>
            <a:r>
              <a:rPr lang="en-US" b="1" dirty="0"/>
              <a:t> = </a:t>
            </a:r>
            <a:r>
              <a:rPr lang="en-US" b="1" dirty="0" err="1"/>
              <a:t>abaixo</a:t>
            </a:r>
            <a:r>
              <a:rPr lang="en-US" b="1" dirty="0"/>
              <a:t> de 0.80</a:t>
            </a:r>
          </a:p>
          <a:p>
            <a:endParaRPr lang="en-US" b="1" dirty="0"/>
          </a:p>
        </p:txBody>
      </p:sp>
    </p:spTree>
    <p:extLst>
      <p:ext uri="{BB962C8B-B14F-4D97-AF65-F5344CB8AC3E}">
        <p14:creationId xmlns:p14="http://schemas.microsoft.com/office/powerpoint/2010/main" val="2142225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6CCC9A-5AAF-7C85-5518-57BF138213B5}"/>
              </a:ext>
            </a:extLst>
          </p:cNvPr>
          <p:cNvPicPr>
            <a:picLocks noChangeAspect="1"/>
          </p:cNvPicPr>
          <p:nvPr/>
        </p:nvPicPr>
        <p:blipFill>
          <a:blip r:embed="rId2"/>
          <a:stretch>
            <a:fillRect/>
          </a:stretch>
        </p:blipFill>
        <p:spPr>
          <a:xfrm>
            <a:off x="2053987" y="842878"/>
            <a:ext cx="8084025" cy="5172243"/>
          </a:xfrm>
          <a:prstGeom prst="rect">
            <a:avLst/>
          </a:prstGeom>
        </p:spPr>
      </p:pic>
      <p:sp>
        <p:nvSpPr>
          <p:cNvPr id="5" name="Rectangle 4">
            <a:extLst>
              <a:ext uri="{FF2B5EF4-FFF2-40B4-BE49-F238E27FC236}">
                <a16:creationId xmlns:a16="http://schemas.microsoft.com/office/drawing/2014/main" id="{9EAC65F4-A7DC-923B-2CE5-16732AEB314B}"/>
              </a:ext>
            </a:extLst>
          </p:cNvPr>
          <p:cNvSpPr/>
          <p:nvPr/>
        </p:nvSpPr>
        <p:spPr>
          <a:xfrm>
            <a:off x="2648505" y="842878"/>
            <a:ext cx="3512598" cy="4661277"/>
          </a:xfrm>
          <a:prstGeom prst="rect">
            <a:avLst/>
          </a:prstGeom>
          <a:noFill/>
          <a:ln w="571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EFD945-B9B2-7251-C559-1CBF1E6ED7CB}"/>
              </a:ext>
            </a:extLst>
          </p:cNvPr>
          <p:cNvSpPr/>
          <p:nvPr/>
        </p:nvSpPr>
        <p:spPr>
          <a:xfrm>
            <a:off x="6295604" y="842877"/>
            <a:ext cx="3247891" cy="4661277"/>
          </a:xfrm>
          <a:prstGeom prst="rect">
            <a:avLst/>
          </a:prstGeom>
          <a:noFill/>
          <a:ln w="57150" cap="flat" cmpd="sng" algn="ctr">
            <a:solidFill>
              <a:srgbClr val="00B0F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10" name="TextBox 9">
            <a:extLst>
              <a:ext uri="{FF2B5EF4-FFF2-40B4-BE49-F238E27FC236}">
                <a16:creationId xmlns:a16="http://schemas.microsoft.com/office/drawing/2014/main" id="{0733AEBB-875D-816C-ADAE-C70C5F38909F}"/>
              </a:ext>
            </a:extLst>
          </p:cNvPr>
          <p:cNvSpPr txBox="1"/>
          <p:nvPr/>
        </p:nvSpPr>
        <p:spPr>
          <a:xfrm>
            <a:off x="9745349" y="3634733"/>
            <a:ext cx="1716978" cy="1754326"/>
          </a:xfrm>
          <a:prstGeom prst="rect">
            <a:avLst/>
          </a:prstGeom>
          <a:noFill/>
        </p:spPr>
        <p:txBody>
          <a:bodyPr wrap="square" rtlCol="0">
            <a:spAutoFit/>
          </a:bodyPr>
          <a:lstStyle/>
          <a:p>
            <a:r>
              <a:rPr lang="en-US" dirty="0"/>
              <a:t>Bootstrap </a:t>
            </a:r>
            <a:r>
              <a:rPr lang="pt-BR" dirty="0"/>
              <a:t>é mais conservativo quando as suposições são corretas.</a:t>
            </a:r>
            <a:endParaRPr lang="en-US" dirty="0"/>
          </a:p>
        </p:txBody>
      </p:sp>
      <p:sp>
        <p:nvSpPr>
          <p:cNvPr id="12" name="TextBox 11">
            <a:extLst>
              <a:ext uri="{FF2B5EF4-FFF2-40B4-BE49-F238E27FC236}">
                <a16:creationId xmlns:a16="http://schemas.microsoft.com/office/drawing/2014/main" id="{1BB14EBD-FAB6-DE6E-6F1B-0D15C403E10E}"/>
              </a:ext>
            </a:extLst>
          </p:cNvPr>
          <p:cNvSpPr txBox="1"/>
          <p:nvPr/>
        </p:nvSpPr>
        <p:spPr>
          <a:xfrm>
            <a:off x="9745349" y="1021716"/>
            <a:ext cx="1716978" cy="1477328"/>
          </a:xfrm>
          <a:prstGeom prst="rect">
            <a:avLst/>
          </a:prstGeom>
          <a:noFill/>
        </p:spPr>
        <p:txBody>
          <a:bodyPr wrap="square" rtlCol="0">
            <a:spAutoFit/>
          </a:bodyPr>
          <a:lstStyle/>
          <a:p>
            <a:r>
              <a:rPr lang="pt-BR" dirty="0"/>
              <a:t>Relação linear entre PP e a probabilidade da árvore estar correta.</a:t>
            </a:r>
            <a:endParaRPr lang="en-US" dirty="0"/>
          </a:p>
        </p:txBody>
      </p:sp>
    </p:spTree>
    <p:extLst>
      <p:ext uri="{BB962C8B-B14F-4D97-AF65-F5344CB8AC3E}">
        <p14:creationId xmlns:p14="http://schemas.microsoft.com/office/powerpoint/2010/main" val="4251739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DBE48-4166-6AB6-EBAE-D820B522C5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BD12E0-62CC-DE76-4C52-7F6E689F0E61}"/>
              </a:ext>
            </a:extLst>
          </p:cNvPr>
          <p:cNvPicPr>
            <a:picLocks noChangeAspect="1"/>
          </p:cNvPicPr>
          <p:nvPr/>
        </p:nvPicPr>
        <p:blipFill>
          <a:blip r:embed="rId2">
            <a:alphaModFix amt="5000"/>
          </a:blip>
          <a:srcRect l="9236" t="24142" r="19653" b="35476"/>
          <a:stretch>
            <a:fillRect/>
          </a:stretch>
        </p:blipFill>
        <p:spPr>
          <a:xfrm>
            <a:off x="1" y="-65314"/>
            <a:ext cx="12191999" cy="6923314"/>
          </a:xfrm>
          <a:prstGeom prst="rect">
            <a:avLst/>
          </a:prstGeom>
        </p:spPr>
      </p:pic>
      <p:sp>
        <p:nvSpPr>
          <p:cNvPr id="5" name="TextBox 4">
            <a:extLst>
              <a:ext uri="{FF2B5EF4-FFF2-40B4-BE49-F238E27FC236}">
                <a16:creationId xmlns:a16="http://schemas.microsoft.com/office/drawing/2014/main" id="{E8841E09-2D07-0FDC-487A-3E985DAE99DE}"/>
              </a:ext>
            </a:extLst>
          </p:cNvPr>
          <p:cNvSpPr txBox="1"/>
          <p:nvPr/>
        </p:nvSpPr>
        <p:spPr>
          <a:xfrm>
            <a:off x="2037660" y="3134733"/>
            <a:ext cx="8177254" cy="646331"/>
          </a:xfrm>
          <a:prstGeom prst="rect">
            <a:avLst/>
          </a:prstGeom>
          <a:noFill/>
        </p:spPr>
        <p:txBody>
          <a:bodyPr wrap="square" rtlCol="0">
            <a:spAutoFit/>
          </a:bodyPr>
          <a:lstStyle/>
          <a:p>
            <a:pPr algn="ctr"/>
            <a:r>
              <a:rPr lang="pt-BR" sz="3600" dirty="0">
                <a:latin typeface="+mj-lt"/>
              </a:rPr>
              <a:t>ANÁLISES DE INCONGRUÊNCIA</a:t>
            </a:r>
            <a:endParaRPr lang="en-US" sz="3600" dirty="0">
              <a:latin typeface="+mj-lt"/>
            </a:endParaRPr>
          </a:p>
        </p:txBody>
      </p:sp>
    </p:spTree>
    <p:extLst>
      <p:ext uri="{BB962C8B-B14F-4D97-AF65-F5344CB8AC3E}">
        <p14:creationId xmlns:p14="http://schemas.microsoft.com/office/powerpoint/2010/main" val="4224501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CCD35-0560-FC44-ADAA-446E65B31942}"/>
              </a:ext>
            </a:extLst>
          </p:cNvPr>
          <p:cNvSpPr txBox="1"/>
          <p:nvPr/>
        </p:nvSpPr>
        <p:spPr>
          <a:xfrm>
            <a:off x="862760" y="947691"/>
            <a:ext cx="3722301" cy="461665"/>
          </a:xfrm>
          <a:prstGeom prst="rect">
            <a:avLst/>
          </a:prstGeom>
          <a:noFill/>
        </p:spPr>
        <p:txBody>
          <a:bodyPr wrap="none" rtlCol="0">
            <a:spAutoFit/>
          </a:bodyPr>
          <a:lstStyle/>
          <a:p>
            <a:r>
              <a:rPr lang="pt-BR" sz="2400" b="1" dirty="0"/>
              <a:t>Análises de incongruência</a:t>
            </a:r>
          </a:p>
        </p:txBody>
      </p:sp>
      <p:sp>
        <p:nvSpPr>
          <p:cNvPr id="3" name="TextBox 2">
            <a:extLst>
              <a:ext uri="{FF2B5EF4-FFF2-40B4-BE49-F238E27FC236}">
                <a16:creationId xmlns:a16="http://schemas.microsoft.com/office/drawing/2014/main" id="{EE9143AF-AA03-5A44-8715-851132EF1D54}"/>
              </a:ext>
            </a:extLst>
          </p:cNvPr>
          <p:cNvSpPr txBox="1"/>
          <p:nvPr/>
        </p:nvSpPr>
        <p:spPr>
          <a:xfrm>
            <a:off x="1508911" y="1348680"/>
            <a:ext cx="9144000" cy="1689309"/>
          </a:xfrm>
          <a:prstGeom prst="rect">
            <a:avLst/>
          </a:prstGeom>
          <a:noFill/>
        </p:spPr>
        <p:txBody>
          <a:bodyPr wrap="square" rtlCol="0">
            <a:spAutoFit/>
          </a:bodyPr>
          <a:lstStyle/>
          <a:p>
            <a:pPr marL="285750" indent="-285750">
              <a:lnSpc>
                <a:spcPct val="150000"/>
              </a:lnSpc>
              <a:buFontTx/>
              <a:buChar char="-"/>
            </a:pPr>
            <a:r>
              <a:rPr lang="pt-BR" sz="2400" dirty="0"/>
              <a:t>Análises que verificam a % das árvores de genes que concordam ou discordam com a topologia da árvore de espécie</a:t>
            </a:r>
          </a:p>
          <a:p>
            <a:pPr marL="285750" indent="-285750">
              <a:lnSpc>
                <a:spcPct val="150000"/>
              </a:lnSpc>
              <a:buFontTx/>
              <a:buChar char="-"/>
            </a:pPr>
            <a:r>
              <a:rPr lang="pt-BR" sz="2400" dirty="0"/>
              <a:t>Geralmente baseadas em análise de quartetos</a:t>
            </a:r>
          </a:p>
        </p:txBody>
      </p:sp>
      <p:grpSp>
        <p:nvGrpSpPr>
          <p:cNvPr id="27" name="Group 26">
            <a:extLst>
              <a:ext uri="{FF2B5EF4-FFF2-40B4-BE49-F238E27FC236}">
                <a16:creationId xmlns:a16="http://schemas.microsoft.com/office/drawing/2014/main" id="{8FDAE8F2-D298-6E41-8346-904C74354C09}"/>
              </a:ext>
            </a:extLst>
          </p:cNvPr>
          <p:cNvGrpSpPr/>
          <p:nvPr/>
        </p:nvGrpSpPr>
        <p:grpSpPr>
          <a:xfrm>
            <a:off x="2723911" y="3469420"/>
            <a:ext cx="1794691" cy="811648"/>
            <a:chOff x="500514" y="3895106"/>
            <a:chExt cx="1794691" cy="811648"/>
          </a:xfrm>
        </p:grpSpPr>
        <p:cxnSp>
          <p:nvCxnSpPr>
            <p:cNvPr id="12" name="Straight Connector 11">
              <a:extLst>
                <a:ext uri="{FF2B5EF4-FFF2-40B4-BE49-F238E27FC236}">
                  <a16:creationId xmlns:a16="http://schemas.microsoft.com/office/drawing/2014/main" id="{7A7E83E8-4CFF-9742-937C-A6F4E9D70DDA}"/>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958CCD-51EF-FA46-A44F-7C6FF5027DB9}"/>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126700-3CBB-4B47-8A0D-030F364C337B}"/>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5F07177-25E0-654A-8E46-C31849A8A9F2}"/>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503D6B7-512E-2448-B5F0-744E901CC2D9}"/>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CC573C8A-2EAC-894D-A052-DF8236BB9239}"/>
              </a:ext>
            </a:extLst>
          </p:cNvPr>
          <p:cNvGrpSpPr/>
          <p:nvPr/>
        </p:nvGrpSpPr>
        <p:grpSpPr>
          <a:xfrm>
            <a:off x="6251075" y="3533978"/>
            <a:ext cx="1794691" cy="811648"/>
            <a:chOff x="500514" y="3895106"/>
            <a:chExt cx="1794691" cy="811648"/>
          </a:xfrm>
        </p:grpSpPr>
        <p:cxnSp>
          <p:nvCxnSpPr>
            <p:cNvPr id="29" name="Straight Connector 28">
              <a:extLst>
                <a:ext uri="{FF2B5EF4-FFF2-40B4-BE49-F238E27FC236}">
                  <a16:creationId xmlns:a16="http://schemas.microsoft.com/office/drawing/2014/main" id="{1D3E9A2E-FC37-1448-B120-C54EF26B13DF}"/>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76BFC91-6E88-F843-BADA-86FB93EC5925}"/>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C107424-330E-464C-969E-3D50ABBE3237}"/>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E6E13C-0DF6-DC45-90E9-80E7055244F0}"/>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F314315-0017-994D-8AFB-A7E44EDD33C7}"/>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6F514678-DEFC-D840-93B4-DCF95E4B509A}"/>
              </a:ext>
            </a:extLst>
          </p:cNvPr>
          <p:cNvGrpSpPr/>
          <p:nvPr/>
        </p:nvGrpSpPr>
        <p:grpSpPr>
          <a:xfrm>
            <a:off x="4384078" y="5398786"/>
            <a:ext cx="1794691" cy="811648"/>
            <a:chOff x="500514" y="3895106"/>
            <a:chExt cx="1794691" cy="811648"/>
          </a:xfrm>
        </p:grpSpPr>
        <p:cxnSp>
          <p:nvCxnSpPr>
            <p:cNvPr id="35" name="Straight Connector 34">
              <a:extLst>
                <a:ext uri="{FF2B5EF4-FFF2-40B4-BE49-F238E27FC236}">
                  <a16:creationId xmlns:a16="http://schemas.microsoft.com/office/drawing/2014/main" id="{57B99DF6-9BA1-684F-B22D-EBE4C2925598}"/>
                </a:ext>
              </a:extLst>
            </p:cNvPr>
            <p:cNvCxnSpPr/>
            <p:nvPr/>
          </p:nvCxnSpPr>
          <p:spPr>
            <a:xfrm>
              <a:off x="617517" y="3895106"/>
              <a:ext cx="558140" cy="4987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DD76E8C-CE34-624E-90F9-B959B3F80938}"/>
                </a:ext>
              </a:extLst>
            </p:cNvPr>
            <p:cNvCxnSpPr>
              <a:cxnSpLocks/>
            </p:cNvCxnSpPr>
            <p:nvPr/>
          </p:nvCxnSpPr>
          <p:spPr>
            <a:xfrm flipV="1">
              <a:off x="500514" y="4393870"/>
              <a:ext cx="675143"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A719C30-3C76-8B45-9EF0-E1747CAD89B5}"/>
                </a:ext>
              </a:extLst>
            </p:cNvPr>
            <p:cNvCxnSpPr>
              <a:cxnSpLocks/>
            </p:cNvCxnSpPr>
            <p:nvPr/>
          </p:nvCxnSpPr>
          <p:spPr>
            <a:xfrm>
              <a:off x="1157844" y="4393870"/>
              <a:ext cx="5984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DE82A74-5AE0-9043-98F9-16E795C05D95}"/>
                </a:ext>
              </a:extLst>
            </p:cNvPr>
            <p:cNvCxnSpPr>
              <a:cxnSpLocks/>
            </p:cNvCxnSpPr>
            <p:nvPr/>
          </p:nvCxnSpPr>
          <p:spPr>
            <a:xfrm flipV="1">
              <a:off x="1756321" y="3975234"/>
              <a:ext cx="447864" cy="4186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AEADB57-7826-2945-9017-E458444F2EFB}"/>
                </a:ext>
              </a:extLst>
            </p:cNvPr>
            <p:cNvCxnSpPr>
              <a:cxnSpLocks/>
            </p:cNvCxnSpPr>
            <p:nvPr/>
          </p:nvCxnSpPr>
          <p:spPr>
            <a:xfrm flipH="1" flipV="1">
              <a:off x="1756321" y="4393870"/>
              <a:ext cx="538884" cy="3128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TextBox 39">
            <a:extLst>
              <a:ext uri="{FF2B5EF4-FFF2-40B4-BE49-F238E27FC236}">
                <a16:creationId xmlns:a16="http://schemas.microsoft.com/office/drawing/2014/main" id="{DE635D93-562F-5F4E-B0B1-D1F67AE465A9}"/>
              </a:ext>
            </a:extLst>
          </p:cNvPr>
          <p:cNvSpPr txBox="1"/>
          <p:nvPr/>
        </p:nvSpPr>
        <p:spPr>
          <a:xfrm>
            <a:off x="2479040" y="3214151"/>
            <a:ext cx="362600" cy="369332"/>
          </a:xfrm>
          <a:prstGeom prst="rect">
            <a:avLst/>
          </a:prstGeom>
          <a:noFill/>
        </p:spPr>
        <p:txBody>
          <a:bodyPr wrap="none" rtlCol="0">
            <a:spAutoFit/>
          </a:bodyPr>
          <a:lstStyle/>
          <a:p>
            <a:r>
              <a:rPr lang="en-US" dirty="0"/>
              <a:t>A</a:t>
            </a:r>
          </a:p>
        </p:txBody>
      </p:sp>
      <p:sp>
        <p:nvSpPr>
          <p:cNvPr id="41" name="TextBox 40">
            <a:extLst>
              <a:ext uri="{FF2B5EF4-FFF2-40B4-BE49-F238E27FC236}">
                <a16:creationId xmlns:a16="http://schemas.microsoft.com/office/drawing/2014/main" id="{261BA647-8963-4848-B57F-3773AC4AD02C}"/>
              </a:ext>
            </a:extLst>
          </p:cNvPr>
          <p:cNvSpPr txBox="1"/>
          <p:nvPr/>
        </p:nvSpPr>
        <p:spPr>
          <a:xfrm>
            <a:off x="2373256" y="4118212"/>
            <a:ext cx="333746" cy="369332"/>
          </a:xfrm>
          <a:prstGeom prst="rect">
            <a:avLst/>
          </a:prstGeom>
          <a:noFill/>
        </p:spPr>
        <p:txBody>
          <a:bodyPr wrap="none" rtlCol="0">
            <a:spAutoFit/>
          </a:bodyPr>
          <a:lstStyle/>
          <a:p>
            <a:r>
              <a:rPr lang="en-US" dirty="0"/>
              <a:t>B</a:t>
            </a:r>
          </a:p>
        </p:txBody>
      </p:sp>
      <p:sp>
        <p:nvSpPr>
          <p:cNvPr id="42" name="TextBox 41">
            <a:extLst>
              <a:ext uri="{FF2B5EF4-FFF2-40B4-BE49-F238E27FC236}">
                <a16:creationId xmlns:a16="http://schemas.microsoft.com/office/drawing/2014/main" id="{67F58FE1-006F-E44A-8328-2681EC4365E5}"/>
              </a:ext>
            </a:extLst>
          </p:cNvPr>
          <p:cNvSpPr txBox="1"/>
          <p:nvPr/>
        </p:nvSpPr>
        <p:spPr>
          <a:xfrm>
            <a:off x="4487374" y="3224659"/>
            <a:ext cx="351378" cy="369332"/>
          </a:xfrm>
          <a:prstGeom prst="rect">
            <a:avLst/>
          </a:prstGeom>
          <a:noFill/>
        </p:spPr>
        <p:txBody>
          <a:bodyPr wrap="none" rtlCol="0">
            <a:spAutoFit/>
          </a:bodyPr>
          <a:lstStyle/>
          <a:p>
            <a:r>
              <a:rPr lang="en-US" dirty="0"/>
              <a:t>C</a:t>
            </a:r>
          </a:p>
        </p:txBody>
      </p:sp>
      <p:sp>
        <p:nvSpPr>
          <p:cNvPr id="43" name="TextBox 42">
            <a:extLst>
              <a:ext uri="{FF2B5EF4-FFF2-40B4-BE49-F238E27FC236}">
                <a16:creationId xmlns:a16="http://schemas.microsoft.com/office/drawing/2014/main" id="{E7CE8232-AF62-3D43-9DE6-D381A74D83C7}"/>
              </a:ext>
            </a:extLst>
          </p:cNvPr>
          <p:cNvSpPr txBox="1"/>
          <p:nvPr/>
        </p:nvSpPr>
        <p:spPr>
          <a:xfrm>
            <a:off x="4567599" y="4099325"/>
            <a:ext cx="372218" cy="369332"/>
          </a:xfrm>
          <a:prstGeom prst="rect">
            <a:avLst/>
          </a:prstGeom>
          <a:noFill/>
        </p:spPr>
        <p:txBody>
          <a:bodyPr wrap="none" rtlCol="0">
            <a:spAutoFit/>
          </a:bodyPr>
          <a:lstStyle/>
          <a:p>
            <a:r>
              <a:rPr lang="en-US" dirty="0"/>
              <a:t>D</a:t>
            </a:r>
          </a:p>
        </p:txBody>
      </p:sp>
      <p:sp>
        <p:nvSpPr>
          <p:cNvPr id="44" name="TextBox 43">
            <a:extLst>
              <a:ext uri="{FF2B5EF4-FFF2-40B4-BE49-F238E27FC236}">
                <a16:creationId xmlns:a16="http://schemas.microsoft.com/office/drawing/2014/main" id="{F8E066E8-D64C-A545-8E76-523F217A645B}"/>
              </a:ext>
            </a:extLst>
          </p:cNvPr>
          <p:cNvSpPr txBox="1"/>
          <p:nvPr/>
        </p:nvSpPr>
        <p:spPr>
          <a:xfrm>
            <a:off x="5968275" y="3305344"/>
            <a:ext cx="362600" cy="369332"/>
          </a:xfrm>
          <a:prstGeom prst="rect">
            <a:avLst/>
          </a:prstGeom>
          <a:noFill/>
        </p:spPr>
        <p:txBody>
          <a:bodyPr wrap="none" rtlCol="0">
            <a:spAutoFit/>
          </a:bodyPr>
          <a:lstStyle/>
          <a:p>
            <a:r>
              <a:rPr lang="en-US" dirty="0"/>
              <a:t>A</a:t>
            </a:r>
          </a:p>
        </p:txBody>
      </p:sp>
      <p:sp>
        <p:nvSpPr>
          <p:cNvPr id="45" name="TextBox 44">
            <a:extLst>
              <a:ext uri="{FF2B5EF4-FFF2-40B4-BE49-F238E27FC236}">
                <a16:creationId xmlns:a16="http://schemas.microsoft.com/office/drawing/2014/main" id="{1323701F-0C55-284E-B1D1-14B926C1ECC5}"/>
              </a:ext>
            </a:extLst>
          </p:cNvPr>
          <p:cNvSpPr txBox="1"/>
          <p:nvPr/>
        </p:nvSpPr>
        <p:spPr>
          <a:xfrm>
            <a:off x="7954745" y="3388804"/>
            <a:ext cx="333746" cy="369332"/>
          </a:xfrm>
          <a:prstGeom prst="rect">
            <a:avLst/>
          </a:prstGeom>
          <a:noFill/>
        </p:spPr>
        <p:txBody>
          <a:bodyPr wrap="none" rtlCol="0">
            <a:spAutoFit/>
          </a:bodyPr>
          <a:lstStyle/>
          <a:p>
            <a:r>
              <a:rPr lang="en-US" dirty="0"/>
              <a:t>B</a:t>
            </a:r>
          </a:p>
        </p:txBody>
      </p:sp>
      <p:sp>
        <p:nvSpPr>
          <p:cNvPr id="46" name="TextBox 45">
            <a:extLst>
              <a:ext uri="{FF2B5EF4-FFF2-40B4-BE49-F238E27FC236}">
                <a16:creationId xmlns:a16="http://schemas.microsoft.com/office/drawing/2014/main" id="{60708F6E-70D0-3241-918E-E36219E9E394}"/>
              </a:ext>
            </a:extLst>
          </p:cNvPr>
          <p:cNvSpPr txBox="1"/>
          <p:nvPr/>
        </p:nvSpPr>
        <p:spPr>
          <a:xfrm>
            <a:off x="5905222" y="4189184"/>
            <a:ext cx="351378" cy="369332"/>
          </a:xfrm>
          <a:prstGeom prst="rect">
            <a:avLst/>
          </a:prstGeom>
          <a:noFill/>
        </p:spPr>
        <p:txBody>
          <a:bodyPr wrap="none" rtlCol="0">
            <a:spAutoFit/>
          </a:bodyPr>
          <a:lstStyle/>
          <a:p>
            <a:r>
              <a:rPr lang="en-US" dirty="0"/>
              <a:t>C</a:t>
            </a:r>
          </a:p>
        </p:txBody>
      </p:sp>
      <p:sp>
        <p:nvSpPr>
          <p:cNvPr id="47" name="TextBox 46">
            <a:extLst>
              <a:ext uri="{FF2B5EF4-FFF2-40B4-BE49-F238E27FC236}">
                <a16:creationId xmlns:a16="http://schemas.microsoft.com/office/drawing/2014/main" id="{67C304B3-97C0-2A4A-9898-80F08D17A3D0}"/>
              </a:ext>
            </a:extLst>
          </p:cNvPr>
          <p:cNvSpPr txBox="1"/>
          <p:nvPr/>
        </p:nvSpPr>
        <p:spPr>
          <a:xfrm>
            <a:off x="8056834" y="4190518"/>
            <a:ext cx="372218" cy="369332"/>
          </a:xfrm>
          <a:prstGeom prst="rect">
            <a:avLst/>
          </a:prstGeom>
          <a:noFill/>
        </p:spPr>
        <p:txBody>
          <a:bodyPr wrap="none" rtlCol="0">
            <a:spAutoFit/>
          </a:bodyPr>
          <a:lstStyle/>
          <a:p>
            <a:r>
              <a:rPr lang="en-US" dirty="0"/>
              <a:t>D</a:t>
            </a:r>
          </a:p>
        </p:txBody>
      </p:sp>
      <p:sp>
        <p:nvSpPr>
          <p:cNvPr id="48" name="TextBox 47">
            <a:extLst>
              <a:ext uri="{FF2B5EF4-FFF2-40B4-BE49-F238E27FC236}">
                <a16:creationId xmlns:a16="http://schemas.microsoft.com/office/drawing/2014/main" id="{273266E6-0571-2345-B6CA-77F7A6C4DFFC}"/>
              </a:ext>
            </a:extLst>
          </p:cNvPr>
          <p:cNvSpPr txBox="1"/>
          <p:nvPr/>
        </p:nvSpPr>
        <p:spPr>
          <a:xfrm>
            <a:off x="4090209" y="5175469"/>
            <a:ext cx="362600" cy="369332"/>
          </a:xfrm>
          <a:prstGeom prst="rect">
            <a:avLst/>
          </a:prstGeom>
          <a:noFill/>
        </p:spPr>
        <p:txBody>
          <a:bodyPr wrap="none" rtlCol="0">
            <a:spAutoFit/>
          </a:bodyPr>
          <a:lstStyle/>
          <a:p>
            <a:r>
              <a:rPr lang="en-US" dirty="0"/>
              <a:t>A</a:t>
            </a:r>
          </a:p>
        </p:txBody>
      </p:sp>
      <p:sp>
        <p:nvSpPr>
          <p:cNvPr id="49" name="TextBox 48">
            <a:extLst>
              <a:ext uri="{FF2B5EF4-FFF2-40B4-BE49-F238E27FC236}">
                <a16:creationId xmlns:a16="http://schemas.microsoft.com/office/drawing/2014/main" id="{3706E005-94B7-7845-89AB-E9D06F0C15C6}"/>
              </a:ext>
            </a:extLst>
          </p:cNvPr>
          <p:cNvSpPr txBox="1"/>
          <p:nvPr/>
        </p:nvSpPr>
        <p:spPr>
          <a:xfrm>
            <a:off x="6251074" y="6051298"/>
            <a:ext cx="333746" cy="369332"/>
          </a:xfrm>
          <a:prstGeom prst="rect">
            <a:avLst/>
          </a:prstGeom>
          <a:noFill/>
        </p:spPr>
        <p:txBody>
          <a:bodyPr wrap="none" rtlCol="0">
            <a:spAutoFit/>
          </a:bodyPr>
          <a:lstStyle/>
          <a:p>
            <a:r>
              <a:rPr lang="en-US" dirty="0"/>
              <a:t>B</a:t>
            </a:r>
          </a:p>
        </p:txBody>
      </p:sp>
      <p:sp>
        <p:nvSpPr>
          <p:cNvPr id="50" name="TextBox 49">
            <a:extLst>
              <a:ext uri="{FF2B5EF4-FFF2-40B4-BE49-F238E27FC236}">
                <a16:creationId xmlns:a16="http://schemas.microsoft.com/office/drawing/2014/main" id="{BFB3E158-E622-EC40-BE0E-AFDA7264CA3F}"/>
              </a:ext>
            </a:extLst>
          </p:cNvPr>
          <p:cNvSpPr txBox="1"/>
          <p:nvPr/>
        </p:nvSpPr>
        <p:spPr>
          <a:xfrm>
            <a:off x="6098543" y="5185977"/>
            <a:ext cx="351378" cy="369332"/>
          </a:xfrm>
          <a:prstGeom prst="rect">
            <a:avLst/>
          </a:prstGeom>
          <a:noFill/>
        </p:spPr>
        <p:txBody>
          <a:bodyPr wrap="none" rtlCol="0">
            <a:spAutoFit/>
          </a:bodyPr>
          <a:lstStyle/>
          <a:p>
            <a:r>
              <a:rPr lang="en-US" dirty="0"/>
              <a:t>C</a:t>
            </a:r>
          </a:p>
        </p:txBody>
      </p:sp>
      <p:sp>
        <p:nvSpPr>
          <p:cNvPr id="51" name="TextBox 50">
            <a:extLst>
              <a:ext uri="{FF2B5EF4-FFF2-40B4-BE49-F238E27FC236}">
                <a16:creationId xmlns:a16="http://schemas.microsoft.com/office/drawing/2014/main" id="{38EFAEA1-3F94-1D4D-82E2-A730CD1EDCB9}"/>
              </a:ext>
            </a:extLst>
          </p:cNvPr>
          <p:cNvSpPr txBox="1"/>
          <p:nvPr/>
        </p:nvSpPr>
        <p:spPr>
          <a:xfrm>
            <a:off x="4056743" y="6033537"/>
            <a:ext cx="372218" cy="369332"/>
          </a:xfrm>
          <a:prstGeom prst="rect">
            <a:avLst/>
          </a:prstGeom>
          <a:noFill/>
        </p:spPr>
        <p:txBody>
          <a:bodyPr wrap="none" rtlCol="0">
            <a:spAutoFit/>
          </a:bodyPr>
          <a:lstStyle/>
          <a:p>
            <a:r>
              <a:rPr lang="en-US" dirty="0"/>
              <a:t>D</a:t>
            </a:r>
          </a:p>
        </p:txBody>
      </p:sp>
    </p:spTree>
    <p:extLst>
      <p:ext uri="{BB962C8B-B14F-4D97-AF65-F5344CB8AC3E}">
        <p14:creationId xmlns:p14="http://schemas.microsoft.com/office/powerpoint/2010/main" val="248233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CCD35-0560-FC44-ADAA-446E65B31942}"/>
              </a:ext>
            </a:extLst>
          </p:cNvPr>
          <p:cNvSpPr txBox="1"/>
          <p:nvPr/>
        </p:nvSpPr>
        <p:spPr>
          <a:xfrm>
            <a:off x="836450" y="177478"/>
            <a:ext cx="3722301" cy="461665"/>
          </a:xfrm>
          <a:prstGeom prst="rect">
            <a:avLst/>
          </a:prstGeom>
          <a:noFill/>
        </p:spPr>
        <p:txBody>
          <a:bodyPr wrap="none" rtlCol="0">
            <a:spAutoFit/>
          </a:bodyPr>
          <a:lstStyle/>
          <a:p>
            <a:r>
              <a:rPr lang="pt-BR" sz="2400" b="1" dirty="0"/>
              <a:t>Análises de incongruência</a:t>
            </a:r>
          </a:p>
        </p:txBody>
      </p:sp>
      <p:cxnSp>
        <p:nvCxnSpPr>
          <p:cNvPr id="15" name="Straight Connector 14">
            <a:extLst>
              <a:ext uri="{FF2B5EF4-FFF2-40B4-BE49-F238E27FC236}">
                <a16:creationId xmlns:a16="http://schemas.microsoft.com/office/drawing/2014/main" id="{B92EF0BB-889C-3040-9502-9A7C92CB15CC}"/>
              </a:ext>
            </a:extLst>
          </p:cNvPr>
          <p:cNvCxnSpPr>
            <a:cxnSpLocks/>
          </p:cNvCxnSpPr>
          <p:nvPr/>
        </p:nvCxnSpPr>
        <p:spPr>
          <a:xfrm flipH="1">
            <a:off x="2518463" y="1779442"/>
            <a:ext cx="1841503" cy="82407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9B0E4E-43B7-D24B-AC98-6A86A9A1C991}"/>
              </a:ext>
            </a:extLst>
          </p:cNvPr>
          <p:cNvCxnSpPr>
            <a:cxnSpLocks/>
          </p:cNvCxnSpPr>
          <p:nvPr/>
        </p:nvCxnSpPr>
        <p:spPr>
          <a:xfrm flipH="1" flipV="1">
            <a:off x="2518461" y="2603517"/>
            <a:ext cx="1841504" cy="113974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EF9E61C-5C32-4E47-B004-BC6882490EEE}"/>
              </a:ext>
            </a:extLst>
          </p:cNvPr>
          <p:cNvCxnSpPr>
            <a:cxnSpLocks/>
          </p:cNvCxnSpPr>
          <p:nvPr/>
        </p:nvCxnSpPr>
        <p:spPr>
          <a:xfrm flipH="1">
            <a:off x="3165150" y="2332383"/>
            <a:ext cx="1322225" cy="64763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B47701B-988A-9C4F-9779-2E82E0864096}"/>
              </a:ext>
            </a:extLst>
          </p:cNvPr>
          <p:cNvCxnSpPr>
            <a:cxnSpLocks/>
          </p:cNvCxnSpPr>
          <p:nvPr/>
        </p:nvCxnSpPr>
        <p:spPr>
          <a:xfrm flipH="1">
            <a:off x="3623126" y="2981739"/>
            <a:ext cx="776260" cy="31105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F9D289C-E21A-B04C-AA8F-70241CC3881E}"/>
              </a:ext>
            </a:extLst>
          </p:cNvPr>
          <p:cNvSpPr txBox="1"/>
          <p:nvPr/>
        </p:nvSpPr>
        <p:spPr>
          <a:xfrm>
            <a:off x="4506643" y="1594776"/>
            <a:ext cx="362600" cy="369332"/>
          </a:xfrm>
          <a:prstGeom prst="rect">
            <a:avLst/>
          </a:prstGeom>
          <a:noFill/>
        </p:spPr>
        <p:txBody>
          <a:bodyPr wrap="none" rtlCol="0">
            <a:spAutoFit/>
          </a:bodyPr>
          <a:lstStyle/>
          <a:p>
            <a:r>
              <a:rPr lang="en-US" dirty="0"/>
              <a:t>A</a:t>
            </a:r>
          </a:p>
        </p:txBody>
      </p:sp>
      <p:sp>
        <p:nvSpPr>
          <p:cNvPr id="59" name="TextBox 58">
            <a:extLst>
              <a:ext uri="{FF2B5EF4-FFF2-40B4-BE49-F238E27FC236}">
                <a16:creationId xmlns:a16="http://schemas.microsoft.com/office/drawing/2014/main" id="{15B82DFF-A41D-E345-B216-5C64ED404459}"/>
              </a:ext>
            </a:extLst>
          </p:cNvPr>
          <p:cNvSpPr txBox="1"/>
          <p:nvPr/>
        </p:nvSpPr>
        <p:spPr>
          <a:xfrm>
            <a:off x="4576416" y="2160141"/>
            <a:ext cx="333746" cy="369332"/>
          </a:xfrm>
          <a:prstGeom prst="rect">
            <a:avLst/>
          </a:prstGeom>
          <a:noFill/>
        </p:spPr>
        <p:txBody>
          <a:bodyPr wrap="none" rtlCol="0">
            <a:spAutoFit/>
          </a:bodyPr>
          <a:lstStyle/>
          <a:p>
            <a:r>
              <a:rPr lang="en-US" dirty="0"/>
              <a:t>B</a:t>
            </a:r>
          </a:p>
        </p:txBody>
      </p:sp>
      <p:sp>
        <p:nvSpPr>
          <p:cNvPr id="60" name="TextBox 59">
            <a:extLst>
              <a:ext uri="{FF2B5EF4-FFF2-40B4-BE49-F238E27FC236}">
                <a16:creationId xmlns:a16="http://schemas.microsoft.com/office/drawing/2014/main" id="{65D943AA-5E18-4240-BD96-F606CA6651E7}"/>
              </a:ext>
            </a:extLst>
          </p:cNvPr>
          <p:cNvSpPr txBox="1"/>
          <p:nvPr/>
        </p:nvSpPr>
        <p:spPr>
          <a:xfrm>
            <a:off x="4567599" y="2767933"/>
            <a:ext cx="351378" cy="369332"/>
          </a:xfrm>
          <a:prstGeom prst="rect">
            <a:avLst/>
          </a:prstGeom>
          <a:noFill/>
        </p:spPr>
        <p:txBody>
          <a:bodyPr wrap="none" rtlCol="0">
            <a:spAutoFit/>
          </a:bodyPr>
          <a:lstStyle/>
          <a:p>
            <a:r>
              <a:rPr lang="en-US" dirty="0"/>
              <a:t>C</a:t>
            </a:r>
          </a:p>
        </p:txBody>
      </p:sp>
      <p:sp>
        <p:nvSpPr>
          <p:cNvPr id="61" name="TextBox 60">
            <a:extLst>
              <a:ext uri="{FF2B5EF4-FFF2-40B4-BE49-F238E27FC236}">
                <a16:creationId xmlns:a16="http://schemas.microsoft.com/office/drawing/2014/main" id="{12B904F8-A311-A643-9BFD-4262129C55A7}"/>
              </a:ext>
            </a:extLst>
          </p:cNvPr>
          <p:cNvSpPr txBox="1"/>
          <p:nvPr/>
        </p:nvSpPr>
        <p:spPr>
          <a:xfrm>
            <a:off x="4567599" y="3571758"/>
            <a:ext cx="372218" cy="369332"/>
          </a:xfrm>
          <a:prstGeom prst="rect">
            <a:avLst/>
          </a:prstGeom>
          <a:noFill/>
        </p:spPr>
        <p:txBody>
          <a:bodyPr wrap="none" rtlCol="0">
            <a:spAutoFit/>
          </a:bodyPr>
          <a:lstStyle/>
          <a:p>
            <a:r>
              <a:rPr lang="en-US" dirty="0"/>
              <a:t>D</a:t>
            </a:r>
          </a:p>
        </p:txBody>
      </p:sp>
      <p:graphicFrame>
        <p:nvGraphicFramePr>
          <p:cNvPr id="69" name="Chart 68">
            <a:extLst>
              <a:ext uri="{FF2B5EF4-FFF2-40B4-BE49-F238E27FC236}">
                <a16:creationId xmlns:a16="http://schemas.microsoft.com/office/drawing/2014/main" id="{7CCFD7DD-4785-4D41-A784-BC816AF148A6}"/>
              </a:ext>
            </a:extLst>
          </p:cNvPr>
          <p:cNvGraphicFramePr/>
          <p:nvPr/>
        </p:nvGraphicFramePr>
        <p:xfrm>
          <a:off x="2815887" y="2568843"/>
          <a:ext cx="767127" cy="824074"/>
        </p:xfrm>
        <a:graphic>
          <a:graphicData uri="http://schemas.openxmlformats.org/drawingml/2006/chart">
            <c:chart xmlns:c="http://schemas.openxmlformats.org/drawingml/2006/chart" xmlns:r="http://schemas.openxmlformats.org/officeDocument/2006/relationships" r:id="rId2"/>
          </a:graphicData>
        </a:graphic>
      </p:graphicFrame>
      <p:grpSp>
        <p:nvGrpSpPr>
          <p:cNvPr id="105" name="Group 104">
            <a:extLst>
              <a:ext uri="{FF2B5EF4-FFF2-40B4-BE49-F238E27FC236}">
                <a16:creationId xmlns:a16="http://schemas.microsoft.com/office/drawing/2014/main" id="{D6D4DD50-08F4-3D4E-8017-BC9E0735A87D}"/>
              </a:ext>
            </a:extLst>
          </p:cNvPr>
          <p:cNvGrpSpPr/>
          <p:nvPr/>
        </p:nvGrpSpPr>
        <p:grpSpPr>
          <a:xfrm>
            <a:off x="6446890" y="982433"/>
            <a:ext cx="1201574" cy="1156381"/>
            <a:chOff x="4922890" y="982432"/>
            <a:chExt cx="1201574" cy="1156381"/>
          </a:xfrm>
        </p:grpSpPr>
        <p:cxnSp>
          <p:nvCxnSpPr>
            <p:cNvPr id="70" name="Straight Connector 69">
              <a:extLst>
                <a:ext uri="{FF2B5EF4-FFF2-40B4-BE49-F238E27FC236}">
                  <a16:creationId xmlns:a16="http://schemas.microsoft.com/office/drawing/2014/main" id="{4F765B24-2F0E-0B43-A0B5-F7A1DA8C273E}"/>
                </a:ext>
              </a:extLst>
            </p:cNvPr>
            <p:cNvCxnSpPr>
              <a:cxnSpLocks/>
            </p:cNvCxnSpPr>
            <p:nvPr/>
          </p:nvCxnSpPr>
          <p:spPr>
            <a:xfrm flipH="1">
              <a:off x="4922892" y="982432"/>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65F3A41-5E40-BC41-9C25-D9F40866A10E}"/>
                </a:ext>
              </a:extLst>
            </p:cNvPr>
            <p:cNvCxnSpPr>
              <a:cxnSpLocks/>
            </p:cNvCxnSpPr>
            <p:nvPr/>
          </p:nvCxnSpPr>
          <p:spPr>
            <a:xfrm flipH="1" flipV="1">
              <a:off x="4922890" y="1456901"/>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3F58597-8C2F-354E-B4EE-697DAC1A1C27}"/>
                </a:ext>
              </a:extLst>
            </p:cNvPr>
            <p:cNvCxnSpPr>
              <a:cxnSpLocks/>
            </p:cNvCxnSpPr>
            <p:nvPr/>
          </p:nvCxnSpPr>
          <p:spPr>
            <a:xfrm flipH="1">
              <a:off x="5311100" y="1304089"/>
              <a:ext cx="813364" cy="38927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11608A9-BBB4-E04C-9F3D-57281715FB02}"/>
                </a:ext>
              </a:extLst>
            </p:cNvPr>
            <p:cNvCxnSpPr>
              <a:cxnSpLocks/>
            </p:cNvCxnSpPr>
            <p:nvPr/>
          </p:nvCxnSpPr>
          <p:spPr>
            <a:xfrm flipH="1">
              <a:off x="5671060" y="1744282"/>
              <a:ext cx="432259" cy="15552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7B2D9FF3-A194-7848-BAF8-9171F8911367}"/>
              </a:ext>
            </a:extLst>
          </p:cNvPr>
          <p:cNvSpPr txBox="1"/>
          <p:nvPr/>
        </p:nvSpPr>
        <p:spPr>
          <a:xfrm>
            <a:off x="7627319" y="770215"/>
            <a:ext cx="362600" cy="369332"/>
          </a:xfrm>
          <a:prstGeom prst="rect">
            <a:avLst/>
          </a:prstGeom>
          <a:noFill/>
        </p:spPr>
        <p:txBody>
          <a:bodyPr wrap="none" rtlCol="0">
            <a:spAutoFit/>
          </a:bodyPr>
          <a:lstStyle/>
          <a:p>
            <a:r>
              <a:rPr lang="en-US" dirty="0"/>
              <a:t>A</a:t>
            </a:r>
          </a:p>
        </p:txBody>
      </p:sp>
      <p:sp>
        <p:nvSpPr>
          <p:cNvPr id="75" name="TextBox 74">
            <a:extLst>
              <a:ext uri="{FF2B5EF4-FFF2-40B4-BE49-F238E27FC236}">
                <a16:creationId xmlns:a16="http://schemas.microsoft.com/office/drawing/2014/main" id="{F6A84A26-AF40-5E4E-A6B0-476D3EE920C3}"/>
              </a:ext>
            </a:extLst>
          </p:cNvPr>
          <p:cNvSpPr txBox="1"/>
          <p:nvPr/>
        </p:nvSpPr>
        <p:spPr>
          <a:xfrm>
            <a:off x="7674324" y="1113273"/>
            <a:ext cx="333746" cy="369332"/>
          </a:xfrm>
          <a:prstGeom prst="rect">
            <a:avLst/>
          </a:prstGeom>
          <a:noFill/>
        </p:spPr>
        <p:txBody>
          <a:bodyPr wrap="none" rtlCol="0">
            <a:spAutoFit/>
          </a:bodyPr>
          <a:lstStyle/>
          <a:p>
            <a:r>
              <a:rPr lang="en-US" dirty="0"/>
              <a:t>B</a:t>
            </a:r>
          </a:p>
        </p:txBody>
      </p:sp>
      <p:sp>
        <p:nvSpPr>
          <p:cNvPr id="76" name="TextBox 75">
            <a:extLst>
              <a:ext uri="{FF2B5EF4-FFF2-40B4-BE49-F238E27FC236}">
                <a16:creationId xmlns:a16="http://schemas.microsoft.com/office/drawing/2014/main" id="{805DAF75-0BA8-214C-B5BF-476356ECDC08}"/>
              </a:ext>
            </a:extLst>
          </p:cNvPr>
          <p:cNvSpPr txBox="1"/>
          <p:nvPr/>
        </p:nvSpPr>
        <p:spPr>
          <a:xfrm>
            <a:off x="7666298" y="1556586"/>
            <a:ext cx="351378" cy="369332"/>
          </a:xfrm>
          <a:prstGeom prst="rect">
            <a:avLst/>
          </a:prstGeom>
          <a:noFill/>
        </p:spPr>
        <p:txBody>
          <a:bodyPr wrap="none" rtlCol="0">
            <a:spAutoFit/>
          </a:bodyPr>
          <a:lstStyle/>
          <a:p>
            <a:r>
              <a:rPr lang="en-US" dirty="0"/>
              <a:t>C</a:t>
            </a:r>
          </a:p>
        </p:txBody>
      </p:sp>
      <p:sp>
        <p:nvSpPr>
          <p:cNvPr id="77" name="TextBox 76">
            <a:extLst>
              <a:ext uri="{FF2B5EF4-FFF2-40B4-BE49-F238E27FC236}">
                <a16:creationId xmlns:a16="http://schemas.microsoft.com/office/drawing/2014/main" id="{D6688F19-1E22-8C45-BC0B-ADF6777C16D1}"/>
              </a:ext>
            </a:extLst>
          </p:cNvPr>
          <p:cNvSpPr txBox="1"/>
          <p:nvPr/>
        </p:nvSpPr>
        <p:spPr>
          <a:xfrm>
            <a:off x="7648464" y="1963208"/>
            <a:ext cx="372218" cy="369332"/>
          </a:xfrm>
          <a:prstGeom prst="rect">
            <a:avLst/>
          </a:prstGeom>
          <a:noFill/>
        </p:spPr>
        <p:txBody>
          <a:bodyPr wrap="none" rtlCol="0">
            <a:spAutoFit/>
          </a:bodyPr>
          <a:lstStyle/>
          <a:p>
            <a:r>
              <a:rPr lang="en-US" dirty="0"/>
              <a:t>D</a:t>
            </a:r>
          </a:p>
        </p:txBody>
      </p:sp>
      <p:grpSp>
        <p:nvGrpSpPr>
          <p:cNvPr id="106" name="Group 105">
            <a:extLst>
              <a:ext uri="{FF2B5EF4-FFF2-40B4-BE49-F238E27FC236}">
                <a16:creationId xmlns:a16="http://schemas.microsoft.com/office/drawing/2014/main" id="{71669391-2E7B-B249-A149-E9C8DA11F3A7}"/>
              </a:ext>
            </a:extLst>
          </p:cNvPr>
          <p:cNvGrpSpPr/>
          <p:nvPr/>
        </p:nvGrpSpPr>
        <p:grpSpPr>
          <a:xfrm>
            <a:off x="8729748" y="991494"/>
            <a:ext cx="1201574" cy="1156381"/>
            <a:chOff x="4922890" y="982432"/>
            <a:chExt cx="1201574" cy="1156381"/>
          </a:xfrm>
        </p:grpSpPr>
        <p:cxnSp>
          <p:nvCxnSpPr>
            <p:cNvPr id="107" name="Straight Connector 106">
              <a:extLst>
                <a:ext uri="{FF2B5EF4-FFF2-40B4-BE49-F238E27FC236}">
                  <a16:creationId xmlns:a16="http://schemas.microsoft.com/office/drawing/2014/main" id="{F17DD35F-3D7F-244A-B216-34FBD3780FA9}"/>
                </a:ext>
              </a:extLst>
            </p:cNvPr>
            <p:cNvCxnSpPr>
              <a:cxnSpLocks/>
            </p:cNvCxnSpPr>
            <p:nvPr/>
          </p:nvCxnSpPr>
          <p:spPr>
            <a:xfrm flipH="1">
              <a:off x="4922892" y="982432"/>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4D67B8E-28E0-F640-8522-D54813122842}"/>
                </a:ext>
              </a:extLst>
            </p:cNvPr>
            <p:cNvCxnSpPr>
              <a:cxnSpLocks/>
            </p:cNvCxnSpPr>
            <p:nvPr/>
          </p:nvCxnSpPr>
          <p:spPr>
            <a:xfrm flipH="1" flipV="1">
              <a:off x="4922890" y="1456901"/>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42EC35F-A7E5-6349-800A-7C95A6395806}"/>
                </a:ext>
              </a:extLst>
            </p:cNvPr>
            <p:cNvCxnSpPr>
              <a:cxnSpLocks/>
            </p:cNvCxnSpPr>
            <p:nvPr/>
          </p:nvCxnSpPr>
          <p:spPr>
            <a:xfrm flipH="1">
              <a:off x="5311100" y="1304089"/>
              <a:ext cx="813364" cy="38927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3CB0219-166D-E84A-8967-A51DC0FB1D09}"/>
                </a:ext>
              </a:extLst>
            </p:cNvPr>
            <p:cNvCxnSpPr>
              <a:cxnSpLocks/>
            </p:cNvCxnSpPr>
            <p:nvPr/>
          </p:nvCxnSpPr>
          <p:spPr>
            <a:xfrm flipH="1">
              <a:off x="5671060" y="1744282"/>
              <a:ext cx="432259" cy="15552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TextBox 110">
            <a:extLst>
              <a:ext uri="{FF2B5EF4-FFF2-40B4-BE49-F238E27FC236}">
                <a16:creationId xmlns:a16="http://schemas.microsoft.com/office/drawing/2014/main" id="{4514D409-1376-3640-8076-5640A26BC4A1}"/>
              </a:ext>
            </a:extLst>
          </p:cNvPr>
          <p:cNvSpPr txBox="1"/>
          <p:nvPr/>
        </p:nvSpPr>
        <p:spPr>
          <a:xfrm>
            <a:off x="9958670" y="738462"/>
            <a:ext cx="362600" cy="369332"/>
          </a:xfrm>
          <a:prstGeom prst="rect">
            <a:avLst/>
          </a:prstGeom>
          <a:noFill/>
        </p:spPr>
        <p:txBody>
          <a:bodyPr wrap="none" rtlCol="0">
            <a:spAutoFit/>
          </a:bodyPr>
          <a:lstStyle/>
          <a:p>
            <a:r>
              <a:rPr lang="en-US" dirty="0"/>
              <a:t>A</a:t>
            </a:r>
          </a:p>
        </p:txBody>
      </p:sp>
      <p:sp>
        <p:nvSpPr>
          <p:cNvPr id="112" name="TextBox 111">
            <a:extLst>
              <a:ext uri="{FF2B5EF4-FFF2-40B4-BE49-F238E27FC236}">
                <a16:creationId xmlns:a16="http://schemas.microsoft.com/office/drawing/2014/main" id="{DA5C18E8-CBBB-0449-A2B9-A311FAA818A5}"/>
              </a:ext>
            </a:extLst>
          </p:cNvPr>
          <p:cNvSpPr txBox="1"/>
          <p:nvPr/>
        </p:nvSpPr>
        <p:spPr>
          <a:xfrm>
            <a:off x="9991718" y="1568677"/>
            <a:ext cx="333746" cy="369332"/>
          </a:xfrm>
          <a:prstGeom prst="rect">
            <a:avLst/>
          </a:prstGeom>
          <a:noFill/>
        </p:spPr>
        <p:txBody>
          <a:bodyPr wrap="none" rtlCol="0">
            <a:spAutoFit/>
          </a:bodyPr>
          <a:lstStyle/>
          <a:p>
            <a:r>
              <a:rPr lang="en-US" dirty="0"/>
              <a:t>B</a:t>
            </a:r>
          </a:p>
        </p:txBody>
      </p:sp>
      <p:sp>
        <p:nvSpPr>
          <p:cNvPr id="113" name="TextBox 112">
            <a:extLst>
              <a:ext uri="{FF2B5EF4-FFF2-40B4-BE49-F238E27FC236}">
                <a16:creationId xmlns:a16="http://schemas.microsoft.com/office/drawing/2014/main" id="{0EAB8077-7DF4-084D-B344-212574211908}"/>
              </a:ext>
            </a:extLst>
          </p:cNvPr>
          <p:cNvSpPr txBox="1"/>
          <p:nvPr/>
        </p:nvSpPr>
        <p:spPr>
          <a:xfrm>
            <a:off x="9954635" y="1117560"/>
            <a:ext cx="351378" cy="369332"/>
          </a:xfrm>
          <a:prstGeom prst="rect">
            <a:avLst/>
          </a:prstGeom>
          <a:noFill/>
        </p:spPr>
        <p:txBody>
          <a:bodyPr wrap="none" rtlCol="0">
            <a:spAutoFit/>
          </a:bodyPr>
          <a:lstStyle/>
          <a:p>
            <a:r>
              <a:rPr lang="en-US" dirty="0"/>
              <a:t>C</a:t>
            </a:r>
          </a:p>
        </p:txBody>
      </p:sp>
      <p:sp>
        <p:nvSpPr>
          <p:cNvPr id="114" name="TextBox 113">
            <a:extLst>
              <a:ext uri="{FF2B5EF4-FFF2-40B4-BE49-F238E27FC236}">
                <a16:creationId xmlns:a16="http://schemas.microsoft.com/office/drawing/2014/main" id="{CEFE5462-778C-2B4F-966E-E2418D55ECD6}"/>
              </a:ext>
            </a:extLst>
          </p:cNvPr>
          <p:cNvSpPr txBox="1"/>
          <p:nvPr/>
        </p:nvSpPr>
        <p:spPr>
          <a:xfrm>
            <a:off x="9991718" y="1972269"/>
            <a:ext cx="372218" cy="369332"/>
          </a:xfrm>
          <a:prstGeom prst="rect">
            <a:avLst/>
          </a:prstGeom>
          <a:noFill/>
        </p:spPr>
        <p:txBody>
          <a:bodyPr wrap="none" rtlCol="0">
            <a:spAutoFit/>
          </a:bodyPr>
          <a:lstStyle/>
          <a:p>
            <a:r>
              <a:rPr lang="en-US" dirty="0"/>
              <a:t>D</a:t>
            </a:r>
          </a:p>
        </p:txBody>
      </p:sp>
      <p:grpSp>
        <p:nvGrpSpPr>
          <p:cNvPr id="119" name="Group 118">
            <a:extLst>
              <a:ext uri="{FF2B5EF4-FFF2-40B4-BE49-F238E27FC236}">
                <a16:creationId xmlns:a16="http://schemas.microsoft.com/office/drawing/2014/main" id="{C1CC65EE-DC86-364F-8362-CC4F037A44FD}"/>
              </a:ext>
            </a:extLst>
          </p:cNvPr>
          <p:cNvGrpSpPr/>
          <p:nvPr/>
        </p:nvGrpSpPr>
        <p:grpSpPr>
          <a:xfrm>
            <a:off x="6584603" y="2961121"/>
            <a:ext cx="1201574" cy="1156381"/>
            <a:chOff x="4922890" y="982432"/>
            <a:chExt cx="1201574" cy="1156381"/>
          </a:xfrm>
        </p:grpSpPr>
        <p:cxnSp>
          <p:nvCxnSpPr>
            <p:cNvPr id="120" name="Straight Connector 119">
              <a:extLst>
                <a:ext uri="{FF2B5EF4-FFF2-40B4-BE49-F238E27FC236}">
                  <a16:creationId xmlns:a16="http://schemas.microsoft.com/office/drawing/2014/main" id="{158E95D0-9330-2C43-B854-49F604EAAA00}"/>
                </a:ext>
              </a:extLst>
            </p:cNvPr>
            <p:cNvCxnSpPr>
              <a:cxnSpLocks/>
            </p:cNvCxnSpPr>
            <p:nvPr/>
          </p:nvCxnSpPr>
          <p:spPr>
            <a:xfrm flipH="1">
              <a:off x="4922892" y="982432"/>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41D00D8E-081B-3446-933A-3D8549D2326A}"/>
                </a:ext>
              </a:extLst>
            </p:cNvPr>
            <p:cNvCxnSpPr>
              <a:cxnSpLocks/>
            </p:cNvCxnSpPr>
            <p:nvPr/>
          </p:nvCxnSpPr>
          <p:spPr>
            <a:xfrm flipH="1" flipV="1">
              <a:off x="4922890" y="1456901"/>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80D5B67-F60F-5F4A-A97E-03C4FC7F92B5}"/>
                </a:ext>
              </a:extLst>
            </p:cNvPr>
            <p:cNvCxnSpPr>
              <a:cxnSpLocks/>
            </p:cNvCxnSpPr>
            <p:nvPr/>
          </p:nvCxnSpPr>
          <p:spPr>
            <a:xfrm flipH="1">
              <a:off x="5311100" y="1304089"/>
              <a:ext cx="813364" cy="38927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E6146CF-FB8F-E649-BB15-ED682DFF1211}"/>
                </a:ext>
              </a:extLst>
            </p:cNvPr>
            <p:cNvCxnSpPr>
              <a:cxnSpLocks/>
            </p:cNvCxnSpPr>
            <p:nvPr/>
          </p:nvCxnSpPr>
          <p:spPr>
            <a:xfrm flipH="1">
              <a:off x="5671060" y="1744282"/>
              <a:ext cx="432259" cy="15552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4" name="TextBox 123">
            <a:extLst>
              <a:ext uri="{FF2B5EF4-FFF2-40B4-BE49-F238E27FC236}">
                <a16:creationId xmlns:a16="http://schemas.microsoft.com/office/drawing/2014/main" id="{31DD2103-605A-894F-862D-C32859A1B60D}"/>
              </a:ext>
            </a:extLst>
          </p:cNvPr>
          <p:cNvSpPr txBox="1"/>
          <p:nvPr/>
        </p:nvSpPr>
        <p:spPr>
          <a:xfrm>
            <a:off x="7810364" y="3105555"/>
            <a:ext cx="362600" cy="369332"/>
          </a:xfrm>
          <a:prstGeom prst="rect">
            <a:avLst/>
          </a:prstGeom>
          <a:noFill/>
        </p:spPr>
        <p:txBody>
          <a:bodyPr wrap="none" rtlCol="0">
            <a:spAutoFit/>
          </a:bodyPr>
          <a:lstStyle/>
          <a:p>
            <a:r>
              <a:rPr lang="en-US" dirty="0"/>
              <a:t>A</a:t>
            </a:r>
          </a:p>
        </p:txBody>
      </p:sp>
      <p:sp>
        <p:nvSpPr>
          <p:cNvPr id="125" name="TextBox 124">
            <a:extLst>
              <a:ext uri="{FF2B5EF4-FFF2-40B4-BE49-F238E27FC236}">
                <a16:creationId xmlns:a16="http://schemas.microsoft.com/office/drawing/2014/main" id="{FCC90728-E120-1141-91E9-2125834BF748}"/>
              </a:ext>
            </a:extLst>
          </p:cNvPr>
          <p:cNvSpPr txBox="1"/>
          <p:nvPr/>
        </p:nvSpPr>
        <p:spPr>
          <a:xfrm>
            <a:off x="7808820" y="2728779"/>
            <a:ext cx="333746" cy="369332"/>
          </a:xfrm>
          <a:prstGeom prst="rect">
            <a:avLst/>
          </a:prstGeom>
          <a:noFill/>
        </p:spPr>
        <p:txBody>
          <a:bodyPr wrap="none" rtlCol="0">
            <a:spAutoFit/>
          </a:bodyPr>
          <a:lstStyle/>
          <a:p>
            <a:r>
              <a:rPr lang="en-US" dirty="0"/>
              <a:t>B</a:t>
            </a:r>
          </a:p>
        </p:txBody>
      </p:sp>
      <p:sp>
        <p:nvSpPr>
          <p:cNvPr id="126" name="TextBox 125">
            <a:extLst>
              <a:ext uri="{FF2B5EF4-FFF2-40B4-BE49-F238E27FC236}">
                <a16:creationId xmlns:a16="http://schemas.microsoft.com/office/drawing/2014/main" id="{E84646C8-5298-9E4A-88E1-6265C8BB9048}"/>
              </a:ext>
            </a:extLst>
          </p:cNvPr>
          <p:cNvSpPr txBox="1"/>
          <p:nvPr/>
        </p:nvSpPr>
        <p:spPr>
          <a:xfrm>
            <a:off x="7808820" y="3549468"/>
            <a:ext cx="351378" cy="369332"/>
          </a:xfrm>
          <a:prstGeom prst="rect">
            <a:avLst/>
          </a:prstGeom>
          <a:noFill/>
        </p:spPr>
        <p:txBody>
          <a:bodyPr wrap="none" rtlCol="0">
            <a:spAutoFit/>
          </a:bodyPr>
          <a:lstStyle/>
          <a:p>
            <a:r>
              <a:rPr lang="en-US" dirty="0"/>
              <a:t>C</a:t>
            </a:r>
          </a:p>
        </p:txBody>
      </p:sp>
      <p:sp>
        <p:nvSpPr>
          <p:cNvPr id="127" name="TextBox 126">
            <a:extLst>
              <a:ext uri="{FF2B5EF4-FFF2-40B4-BE49-F238E27FC236}">
                <a16:creationId xmlns:a16="http://schemas.microsoft.com/office/drawing/2014/main" id="{5E19EB8D-2A17-AA4E-8D9B-FAC6078B64CD}"/>
              </a:ext>
            </a:extLst>
          </p:cNvPr>
          <p:cNvSpPr txBox="1"/>
          <p:nvPr/>
        </p:nvSpPr>
        <p:spPr>
          <a:xfrm>
            <a:off x="7820347" y="3924353"/>
            <a:ext cx="372218" cy="369332"/>
          </a:xfrm>
          <a:prstGeom prst="rect">
            <a:avLst/>
          </a:prstGeom>
          <a:noFill/>
        </p:spPr>
        <p:txBody>
          <a:bodyPr wrap="none" rtlCol="0">
            <a:spAutoFit/>
          </a:bodyPr>
          <a:lstStyle/>
          <a:p>
            <a:r>
              <a:rPr lang="en-US" dirty="0"/>
              <a:t>D</a:t>
            </a:r>
          </a:p>
        </p:txBody>
      </p:sp>
      <p:grpSp>
        <p:nvGrpSpPr>
          <p:cNvPr id="132" name="Group 131">
            <a:extLst>
              <a:ext uri="{FF2B5EF4-FFF2-40B4-BE49-F238E27FC236}">
                <a16:creationId xmlns:a16="http://schemas.microsoft.com/office/drawing/2014/main" id="{726C5B73-7F14-6245-AB51-2053BCFAFB45}"/>
              </a:ext>
            </a:extLst>
          </p:cNvPr>
          <p:cNvGrpSpPr/>
          <p:nvPr/>
        </p:nvGrpSpPr>
        <p:grpSpPr>
          <a:xfrm>
            <a:off x="8837501" y="2952639"/>
            <a:ext cx="1201574" cy="1156381"/>
            <a:chOff x="4922890" y="982432"/>
            <a:chExt cx="1201574" cy="1156381"/>
          </a:xfrm>
        </p:grpSpPr>
        <p:cxnSp>
          <p:nvCxnSpPr>
            <p:cNvPr id="133" name="Straight Connector 132">
              <a:extLst>
                <a:ext uri="{FF2B5EF4-FFF2-40B4-BE49-F238E27FC236}">
                  <a16:creationId xmlns:a16="http://schemas.microsoft.com/office/drawing/2014/main" id="{CE6627E1-3602-CE45-A4E1-F70C1B27F79A}"/>
                </a:ext>
              </a:extLst>
            </p:cNvPr>
            <p:cNvCxnSpPr>
              <a:cxnSpLocks/>
            </p:cNvCxnSpPr>
            <p:nvPr/>
          </p:nvCxnSpPr>
          <p:spPr>
            <a:xfrm flipH="1">
              <a:off x="4922892" y="982432"/>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F0B4960-9CA8-1A4E-A356-341EDFD2234B}"/>
                </a:ext>
              </a:extLst>
            </p:cNvPr>
            <p:cNvCxnSpPr>
              <a:cxnSpLocks/>
            </p:cNvCxnSpPr>
            <p:nvPr/>
          </p:nvCxnSpPr>
          <p:spPr>
            <a:xfrm flipH="1" flipV="1">
              <a:off x="4922890" y="1456901"/>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9C8231E-8D8A-A144-A0A3-FA9D3D249FA8}"/>
                </a:ext>
              </a:extLst>
            </p:cNvPr>
            <p:cNvCxnSpPr>
              <a:cxnSpLocks/>
            </p:cNvCxnSpPr>
            <p:nvPr/>
          </p:nvCxnSpPr>
          <p:spPr>
            <a:xfrm flipH="1">
              <a:off x="5311100" y="1304089"/>
              <a:ext cx="813364" cy="38927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F0636E6-A8D3-EC4C-8277-7B08025F4AAB}"/>
                </a:ext>
              </a:extLst>
            </p:cNvPr>
            <p:cNvCxnSpPr>
              <a:cxnSpLocks/>
            </p:cNvCxnSpPr>
            <p:nvPr/>
          </p:nvCxnSpPr>
          <p:spPr>
            <a:xfrm flipH="1">
              <a:off x="5671060" y="1744282"/>
              <a:ext cx="432259" cy="15552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7" name="TextBox 136">
            <a:extLst>
              <a:ext uri="{FF2B5EF4-FFF2-40B4-BE49-F238E27FC236}">
                <a16:creationId xmlns:a16="http://schemas.microsoft.com/office/drawing/2014/main" id="{1735F182-F776-F140-91DA-1B5C7AC3908A}"/>
              </a:ext>
            </a:extLst>
          </p:cNvPr>
          <p:cNvSpPr txBox="1"/>
          <p:nvPr/>
        </p:nvSpPr>
        <p:spPr>
          <a:xfrm>
            <a:off x="10052770" y="2738804"/>
            <a:ext cx="362600" cy="369332"/>
          </a:xfrm>
          <a:prstGeom prst="rect">
            <a:avLst/>
          </a:prstGeom>
          <a:noFill/>
        </p:spPr>
        <p:txBody>
          <a:bodyPr wrap="none" rtlCol="0">
            <a:spAutoFit/>
          </a:bodyPr>
          <a:lstStyle/>
          <a:p>
            <a:r>
              <a:rPr lang="en-US" dirty="0"/>
              <a:t>A</a:t>
            </a:r>
          </a:p>
        </p:txBody>
      </p:sp>
      <p:sp>
        <p:nvSpPr>
          <p:cNvPr id="138" name="TextBox 137">
            <a:extLst>
              <a:ext uri="{FF2B5EF4-FFF2-40B4-BE49-F238E27FC236}">
                <a16:creationId xmlns:a16="http://schemas.microsoft.com/office/drawing/2014/main" id="{4843D102-1820-7C4D-8259-5C706BA5795F}"/>
              </a:ext>
            </a:extLst>
          </p:cNvPr>
          <p:cNvSpPr txBox="1"/>
          <p:nvPr/>
        </p:nvSpPr>
        <p:spPr>
          <a:xfrm>
            <a:off x="10079964" y="3926244"/>
            <a:ext cx="333746" cy="369332"/>
          </a:xfrm>
          <a:prstGeom prst="rect">
            <a:avLst/>
          </a:prstGeom>
          <a:noFill/>
        </p:spPr>
        <p:txBody>
          <a:bodyPr wrap="none" rtlCol="0">
            <a:spAutoFit/>
          </a:bodyPr>
          <a:lstStyle/>
          <a:p>
            <a:r>
              <a:rPr lang="en-US" dirty="0"/>
              <a:t>B</a:t>
            </a:r>
          </a:p>
        </p:txBody>
      </p:sp>
      <p:sp>
        <p:nvSpPr>
          <p:cNvPr id="139" name="TextBox 138">
            <a:extLst>
              <a:ext uri="{FF2B5EF4-FFF2-40B4-BE49-F238E27FC236}">
                <a16:creationId xmlns:a16="http://schemas.microsoft.com/office/drawing/2014/main" id="{36C969CB-9DA4-5F48-8E1E-04EA2D43300F}"/>
              </a:ext>
            </a:extLst>
          </p:cNvPr>
          <p:cNvSpPr txBox="1"/>
          <p:nvPr/>
        </p:nvSpPr>
        <p:spPr>
          <a:xfrm>
            <a:off x="10062388" y="3556912"/>
            <a:ext cx="351378" cy="369332"/>
          </a:xfrm>
          <a:prstGeom prst="rect">
            <a:avLst/>
          </a:prstGeom>
          <a:noFill/>
        </p:spPr>
        <p:txBody>
          <a:bodyPr wrap="none" rtlCol="0">
            <a:spAutoFit/>
          </a:bodyPr>
          <a:lstStyle/>
          <a:p>
            <a:r>
              <a:rPr lang="en-US" dirty="0"/>
              <a:t>C</a:t>
            </a:r>
          </a:p>
        </p:txBody>
      </p:sp>
      <p:sp>
        <p:nvSpPr>
          <p:cNvPr id="140" name="TextBox 139">
            <a:extLst>
              <a:ext uri="{FF2B5EF4-FFF2-40B4-BE49-F238E27FC236}">
                <a16:creationId xmlns:a16="http://schemas.microsoft.com/office/drawing/2014/main" id="{518A23F0-31E4-834C-9186-3DA86262AA12}"/>
              </a:ext>
            </a:extLst>
          </p:cNvPr>
          <p:cNvSpPr txBox="1"/>
          <p:nvPr/>
        </p:nvSpPr>
        <p:spPr>
          <a:xfrm>
            <a:off x="10062330" y="3093749"/>
            <a:ext cx="372218" cy="369332"/>
          </a:xfrm>
          <a:prstGeom prst="rect">
            <a:avLst/>
          </a:prstGeom>
          <a:noFill/>
        </p:spPr>
        <p:txBody>
          <a:bodyPr wrap="none" rtlCol="0">
            <a:spAutoFit/>
          </a:bodyPr>
          <a:lstStyle/>
          <a:p>
            <a:r>
              <a:rPr lang="en-US" dirty="0"/>
              <a:t>D</a:t>
            </a:r>
          </a:p>
        </p:txBody>
      </p:sp>
      <p:sp>
        <p:nvSpPr>
          <p:cNvPr id="141" name="Rectangle 140">
            <a:extLst>
              <a:ext uri="{FF2B5EF4-FFF2-40B4-BE49-F238E27FC236}">
                <a16:creationId xmlns:a16="http://schemas.microsoft.com/office/drawing/2014/main" id="{6D2F0A4E-6405-0048-BD13-2F3C93C7681B}"/>
              </a:ext>
            </a:extLst>
          </p:cNvPr>
          <p:cNvSpPr/>
          <p:nvPr/>
        </p:nvSpPr>
        <p:spPr>
          <a:xfrm>
            <a:off x="6318980" y="764975"/>
            <a:ext cx="1916906" cy="1621303"/>
          </a:xfrm>
          <a:prstGeom prst="rect">
            <a:avLst/>
          </a:prstGeom>
          <a:noFill/>
          <a:ln w="539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28CB514A-8352-B84C-8835-06769284AC07}"/>
              </a:ext>
            </a:extLst>
          </p:cNvPr>
          <p:cNvSpPr/>
          <p:nvPr/>
        </p:nvSpPr>
        <p:spPr>
          <a:xfrm>
            <a:off x="8591750" y="745935"/>
            <a:ext cx="1916906" cy="1621303"/>
          </a:xfrm>
          <a:prstGeom prst="rect">
            <a:avLst/>
          </a:prstGeom>
          <a:noFill/>
          <a:ln w="539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0B62630D-826F-2C43-BB0A-76CAAECEA726}"/>
              </a:ext>
            </a:extLst>
          </p:cNvPr>
          <p:cNvSpPr/>
          <p:nvPr/>
        </p:nvSpPr>
        <p:spPr>
          <a:xfrm>
            <a:off x="6301509" y="2746261"/>
            <a:ext cx="4207147" cy="1621303"/>
          </a:xfrm>
          <a:prstGeom prst="rect">
            <a:avLst/>
          </a:prstGeom>
          <a:noFill/>
          <a:ln w="539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Straight Connector 144">
            <a:extLst>
              <a:ext uri="{FF2B5EF4-FFF2-40B4-BE49-F238E27FC236}">
                <a16:creationId xmlns:a16="http://schemas.microsoft.com/office/drawing/2014/main" id="{6DDE356F-5E53-9745-A3F6-C5402B3FD7EC}"/>
              </a:ext>
            </a:extLst>
          </p:cNvPr>
          <p:cNvCxnSpPr>
            <a:cxnSpLocks/>
          </p:cNvCxnSpPr>
          <p:nvPr/>
        </p:nvCxnSpPr>
        <p:spPr>
          <a:xfrm flipH="1">
            <a:off x="6563461" y="5031703"/>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5E5D884A-BBC0-D145-8F6E-63EE5B9299EC}"/>
              </a:ext>
            </a:extLst>
          </p:cNvPr>
          <p:cNvCxnSpPr>
            <a:cxnSpLocks/>
          </p:cNvCxnSpPr>
          <p:nvPr/>
        </p:nvCxnSpPr>
        <p:spPr>
          <a:xfrm flipH="1" flipV="1">
            <a:off x="6563459" y="5506172"/>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1A5F8638-EF85-DF4F-9441-2FC7DF0E17AE}"/>
              </a:ext>
            </a:extLst>
          </p:cNvPr>
          <p:cNvCxnSpPr>
            <a:cxnSpLocks/>
          </p:cNvCxnSpPr>
          <p:nvPr/>
        </p:nvCxnSpPr>
        <p:spPr>
          <a:xfrm flipH="1">
            <a:off x="7107096" y="5520467"/>
            <a:ext cx="701724" cy="30098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B81CF691-C164-C644-A2A6-4A2AC5081279}"/>
              </a:ext>
            </a:extLst>
          </p:cNvPr>
          <p:cNvSpPr txBox="1"/>
          <p:nvPr/>
        </p:nvSpPr>
        <p:spPr>
          <a:xfrm>
            <a:off x="7786177" y="4827641"/>
            <a:ext cx="362600" cy="369332"/>
          </a:xfrm>
          <a:prstGeom prst="rect">
            <a:avLst/>
          </a:prstGeom>
          <a:noFill/>
        </p:spPr>
        <p:txBody>
          <a:bodyPr wrap="none" rtlCol="0">
            <a:spAutoFit/>
          </a:bodyPr>
          <a:lstStyle/>
          <a:p>
            <a:r>
              <a:rPr lang="en-US" dirty="0"/>
              <a:t>A</a:t>
            </a:r>
          </a:p>
        </p:txBody>
      </p:sp>
      <p:sp>
        <p:nvSpPr>
          <p:cNvPr id="150" name="TextBox 149">
            <a:extLst>
              <a:ext uri="{FF2B5EF4-FFF2-40B4-BE49-F238E27FC236}">
                <a16:creationId xmlns:a16="http://schemas.microsoft.com/office/drawing/2014/main" id="{0B3BCBD6-E981-924A-A49D-3924B6EC7962}"/>
              </a:ext>
            </a:extLst>
          </p:cNvPr>
          <p:cNvSpPr txBox="1"/>
          <p:nvPr/>
        </p:nvSpPr>
        <p:spPr>
          <a:xfrm>
            <a:off x="7773776" y="5299186"/>
            <a:ext cx="333746" cy="369332"/>
          </a:xfrm>
          <a:prstGeom prst="rect">
            <a:avLst/>
          </a:prstGeom>
          <a:noFill/>
        </p:spPr>
        <p:txBody>
          <a:bodyPr wrap="none" rtlCol="0">
            <a:spAutoFit/>
          </a:bodyPr>
          <a:lstStyle/>
          <a:p>
            <a:r>
              <a:rPr lang="en-US" dirty="0"/>
              <a:t>B</a:t>
            </a:r>
          </a:p>
        </p:txBody>
      </p:sp>
      <p:sp>
        <p:nvSpPr>
          <p:cNvPr id="151" name="TextBox 150">
            <a:extLst>
              <a:ext uri="{FF2B5EF4-FFF2-40B4-BE49-F238E27FC236}">
                <a16:creationId xmlns:a16="http://schemas.microsoft.com/office/drawing/2014/main" id="{B0BE1DCB-5BF1-5544-BBBD-A63A9AC9889B}"/>
              </a:ext>
            </a:extLst>
          </p:cNvPr>
          <p:cNvSpPr txBox="1"/>
          <p:nvPr/>
        </p:nvSpPr>
        <p:spPr>
          <a:xfrm>
            <a:off x="7766411" y="5957897"/>
            <a:ext cx="351378" cy="369332"/>
          </a:xfrm>
          <a:prstGeom prst="rect">
            <a:avLst/>
          </a:prstGeom>
          <a:noFill/>
        </p:spPr>
        <p:txBody>
          <a:bodyPr wrap="none" rtlCol="0">
            <a:spAutoFit/>
          </a:bodyPr>
          <a:lstStyle/>
          <a:p>
            <a:r>
              <a:rPr lang="en-US" dirty="0"/>
              <a:t>C</a:t>
            </a:r>
          </a:p>
        </p:txBody>
      </p:sp>
      <p:cxnSp>
        <p:nvCxnSpPr>
          <p:cNvPr id="153" name="Straight Connector 152">
            <a:extLst>
              <a:ext uri="{FF2B5EF4-FFF2-40B4-BE49-F238E27FC236}">
                <a16:creationId xmlns:a16="http://schemas.microsoft.com/office/drawing/2014/main" id="{484AC325-7889-9445-A332-C5F01BF9CC40}"/>
              </a:ext>
            </a:extLst>
          </p:cNvPr>
          <p:cNvCxnSpPr>
            <a:cxnSpLocks/>
          </p:cNvCxnSpPr>
          <p:nvPr/>
        </p:nvCxnSpPr>
        <p:spPr>
          <a:xfrm flipH="1">
            <a:off x="8729749" y="5014739"/>
            <a:ext cx="1144775" cy="4744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A6F61881-5E4A-C34A-8855-DDF13043EE4E}"/>
              </a:ext>
            </a:extLst>
          </p:cNvPr>
          <p:cNvCxnSpPr>
            <a:cxnSpLocks/>
          </p:cNvCxnSpPr>
          <p:nvPr/>
        </p:nvCxnSpPr>
        <p:spPr>
          <a:xfrm flipH="1" flipV="1">
            <a:off x="8729747" y="5489208"/>
            <a:ext cx="1144777" cy="68191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2F5A093-62C8-FD42-ADC8-A75CCC892378}"/>
              </a:ext>
            </a:extLst>
          </p:cNvPr>
          <p:cNvCxnSpPr>
            <a:cxnSpLocks/>
          </p:cNvCxnSpPr>
          <p:nvPr/>
        </p:nvCxnSpPr>
        <p:spPr>
          <a:xfrm flipH="1">
            <a:off x="9273384" y="5503503"/>
            <a:ext cx="701724" cy="30098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60EF4C71-C76A-7B47-BE4B-973928B00238}"/>
              </a:ext>
            </a:extLst>
          </p:cNvPr>
          <p:cNvSpPr txBox="1"/>
          <p:nvPr/>
        </p:nvSpPr>
        <p:spPr>
          <a:xfrm>
            <a:off x="9952465" y="4810677"/>
            <a:ext cx="362600" cy="369332"/>
          </a:xfrm>
          <a:prstGeom prst="rect">
            <a:avLst/>
          </a:prstGeom>
          <a:noFill/>
        </p:spPr>
        <p:txBody>
          <a:bodyPr wrap="none" rtlCol="0">
            <a:spAutoFit/>
          </a:bodyPr>
          <a:lstStyle/>
          <a:p>
            <a:r>
              <a:rPr lang="en-US" dirty="0"/>
              <a:t>A</a:t>
            </a:r>
          </a:p>
        </p:txBody>
      </p:sp>
      <p:sp>
        <p:nvSpPr>
          <p:cNvPr id="157" name="TextBox 156">
            <a:extLst>
              <a:ext uri="{FF2B5EF4-FFF2-40B4-BE49-F238E27FC236}">
                <a16:creationId xmlns:a16="http://schemas.microsoft.com/office/drawing/2014/main" id="{5C867F87-73F0-4C4B-A37B-198AF00E4DFD}"/>
              </a:ext>
            </a:extLst>
          </p:cNvPr>
          <p:cNvSpPr txBox="1"/>
          <p:nvPr/>
        </p:nvSpPr>
        <p:spPr>
          <a:xfrm>
            <a:off x="9940064" y="5282222"/>
            <a:ext cx="372218" cy="369332"/>
          </a:xfrm>
          <a:prstGeom prst="rect">
            <a:avLst/>
          </a:prstGeom>
          <a:noFill/>
        </p:spPr>
        <p:txBody>
          <a:bodyPr wrap="none" rtlCol="0">
            <a:spAutoFit/>
          </a:bodyPr>
          <a:lstStyle/>
          <a:p>
            <a:r>
              <a:rPr lang="en-US" dirty="0"/>
              <a:t>D</a:t>
            </a:r>
          </a:p>
        </p:txBody>
      </p:sp>
      <p:sp>
        <p:nvSpPr>
          <p:cNvPr id="158" name="TextBox 157">
            <a:extLst>
              <a:ext uri="{FF2B5EF4-FFF2-40B4-BE49-F238E27FC236}">
                <a16:creationId xmlns:a16="http://schemas.microsoft.com/office/drawing/2014/main" id="{21945B66-9D1A-F74E-85C2-04236ED1CA2A}"/>
              </a:ext>
            </a:extLst>
          </p:cNvPr>
          <p:cNvSpPr txBox="1"/>
          <p:nvPr/>
        </p:nvSpPr>
        <p:spPr>
          <a:xfrm>
            <a:off x="9932699" y="5940933"/>
            <a:ext cx="351378" cy="369332"/>
          </a:xfrm>
          <a:prstGeom prst="rect">
            <a:avLst/>
          </a:prstGeom>
          <a:noFill/>
        </p:spPr>
        <p:txBody>
          <a:bodyPr wrap="none" rtlCol="0">
            <a:spAutoFit/>
          </a:bodyPr>
          <a:lstStyle/>
          <a:p>
            <a:r>
              <a:rPr lang="en-US" dirty="0"/>
              <a:t>C</a:t>
            </a:r>
          </a:p>
        </p:txBody>
      </p:sp>
      <p:sp>
        <p:nvSpPr>
          <p:cNvPr id="159" name="Rectangle 158">
            <a:extLst>
              <a:ext uri="{FF2B5EF4-FFF2-40B4-BE49-F238E27FC236}">
                <a16:creationId xmlns:a16="http://schemas.microsoft.com/office/drawing/2014/main" id="{F6364406-1CE6-9748-BB06-F361423E4C8A}"/>
              </a:ext>
            </a:extLst>
          </p:cNvPr>
          <p:cNvSpPr/>
          <p:nvPr/>
        </p:nvSpPr>
        <p:spPr>
          <a:xfrm>
            <a:off x="6301509" y="4734199"/>
            <a:ext cx="4207147" cy="1621303"/>
          </a:xfrm>
          <a:prstGeom prst="rect">
            <a:avLst/>
          </a:prstGeom>
          <a:noFill/>
          <a:ln w="539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TextBox 159">
            <a:extLst>
              <a:ext uri="{FF2B5EF4-FFF2-40B4-BE49-F238E27FC236}">
                <a16:creationId xmlns:a16="http://schemas.microsoft.com/office/drawing/2014/main" id="{A78EB422-836A-264A-96D2-46CA4EAAE7BD}"/>
              </a:ext>
            </a:extLst>
          </p:cNvPr>
          <p:cNvSpPr txBox="1"/>
          <p:nvPr/>
        </p:nvSpPr>
        <p:spPr>
          <a:xfrm>
            <a:off x="6244423" y="390581"/>
            <a:ext cx="1391728" cy="369332"/>
          </a:xfrm>
          <a:prstGeom prst="rect">
            <a:avLst/>
          </a:prstGeom>
          <a:noFill/>
        </p:spPr>
        <p:txBody>
          <a:bodyPr wrap="none" rtlCol="0">
            <a:spAutoFit/>
          </a:bodyPr>
          <a:lstStyle/>
          <a:p>
            <a:r>
              <a:rPr lang="pt-BR"/>
              <a:t>concordante</a:t>
            </a:r>
          </a:p>
        </p:txBody>
      </p:sp>
      <p:sp>
        <p:nvSpPr>
          <p:cNvPr id="161" name="TextBox 160">
            <a:extLst>
              <a:ext uri="{FF2B5EF4-FFF2-40B4-BE49-F238E27FC236}">
                <a16:creationId xmlns:a16="http://schemas.microsoft.com/office/drawing/2014/main" id="{E8FC8179-2ABA-7D45-8DB7-6DC67B33A538}"/>
              </a:ext>
            </a:extLst>
          </p:cNvPr>
          <p:cNvSpPr txBox="1"/>
          <p:nvPr/>
        </p:nvSpPr>
        <p:spPr>
          <a:xfrm>
            <a:off x="8496225" y="115924"/>
            <a:ext cx="1963387" cy="584775"/>
          </a:xfrm>
          <a:prstGeom prst="rect">
            <a:avLst/>
          </a:prstGeom>
          <a:noFill/>
        </p:spPr>
        <p:txBody>
          <a:bodyPr wrap="square" rtlCol="0">
            <a:spAutoFit/>
          </a:bodyPr>
          <a:lstStyle/>
          <a:p>
            <a:r>
              <a:rPr lang="pt-BR" sz="1600"/>
              <a:t>Partição alternativa mais comum</a:t>
            </a:r>
          </a:p>
        </p:txBody>
      </p:sp>
      <p:sp>
        <p:nvSpPr>
          <p:cNvPr id="162" name="TextBox 161">
            <a:extLst>
              <a:ext uri="{FF2B5EF4-FFF2-40B4-BE49-F238E27FC236}">
                <a16:creationId xmlns:a16="http://schemas.microsoft.com/office/drawing/2014/main" id="{4676D221-AD05-2349-8B0F-879DBF54D246}"/>
              </a:ext>
            </a:extLst>
          </p:cNvPr>
          <p:cNvSpPr txBox="1"/>
          <p:nvPr/>
        </p:nvSpPr>
        <p:spPr>
          <a:xfrm>
            <a:off x="6231496" y="2396607"/>
            <a:ext cx="2833937" cy="338554"/>
          </a:xfrm>
          <a:prstGeom prst="rect">
            <a:avLst/>
          </a:prstGeom>
          <a:noFill/>
        </p:spPr>
        <p:txBody>
          <a:bodyPr wrap="square" rtlCol="0">
            <a:spAutoFit/>
          </a:bodyPr>
          <a:lstStyle/>
          <a:p>
            <a:r>
              <a:rPr lang="pt-BR" sz="1600"/>
              <a:t>Todas as outras partições</a:t>
            </a:r>
          </a:p>
        </p:txBody>
      </p:sp>
      <p:sp>
        <p:nvSpPr>
          <p:cNvPr id="163" name="TextBox 162">
            <a:extLst>
              <a:ext uri="{FF2B5EF4-FFF2-40B4-BE49-F238E27FC236}">
                <a16:creationId xmlns:a16="http://schemas.microsoft.com/office/drawing/2014/main" id="{49DFA54B-D8A8-AE4E-8DD0-18DF29E1804D}"/>
              </a:ext>
            </a:extLst>
          </p:cNvPr>
          <p:cNvSpPr txBox="1"/>
          <p:nvPr/>
        </p:nvSpPr>
        <p:spPr>
          <a:xfrm>
            <a:off x="6210351" y="4400743"/>
            <a:ext cx="2833937" cy="338554"/>
          </a:xfrm>
          <a:prstGeom prst="rect">
            <a:avLst/>
          </a:prstGeom>
          <a:noFill/>
        </p:spPr>
        <p:txBody>
          <a:bodyPr wrap="square" rtlCol="0">
            <a:spAutoFit/>
          </a:bodyPr>
          <a:lstStyle/>
          <a:p>
            <a:r>
              <a:rPr lang="pt-BR" sz="1600"/>
              <a:t>Não informativas</a:t>
            </a:r>
          </a:p>
        </p:txBody>
      </p:sp>
      <p:sp>
        <p:nvSpPr>
          <p:cNvPr id="164" name="TextBox 163">
            <a:extLst>
              <a:ext uri="{FF2B5EF4-FFF2-40B4-BE49-F238E27FC236}">
                <a16:creationId xmlns:a16="http://schemas.microsoft.com/office/drawing/2014/main" id="{60E6700D-6978-AC45-83E6-48D2ABC64AB3}"/>
              </a:ext>
            </a:extLst>
          </p:cNvPr>
          <p:cNvSpPr txBox="1"/>
          <p:nvPr/>
        </p:nvSpPr>
        <p:spPr>
          <a:xfrm>
            <a:off x="1640670" y="1240779"/>
            <a:ext cx="1917513" cy="369332"/>
          </a:xfrm>
          <a:prstGeom prst="rect">
            <a:avLst/>
          </a:prstGeom>
          <a:noFill/>
        </p:spPr>
        <p:txBody>
          <a:bodyPr wrap="none" rtlCol="0">
            <a:spAutoFit/>
          </a:bodyPr>
          <a:lstStyle/>
          <a:p>
            <a:r>
              <a:rPr lang="en-US" dirty="0" err="1"/>
              <a:t>Árvore</a:t>
            </a:r>
            <a:r>
              <a:rPr lang="en-US" dirty="0"/>
              <a:t> de </a:t>
            </a:r>
            <a:r>
              <a:rPr lang="en-US" dirty="0" err="1"/>
              <a:t>espécie</a:t>
            </a:r>
            <a:endParaRPr lang="en-US" dirty="0"/>
          </a:p>
        </p:txBody>
      </p:sp>
    </p:spTree>
    <p:extLst>
      <p:ext uri="{BB962C8B-B14F-4D97-AF65-F5344CB8AC3E}">
        <p14:creationId xmlns:p14="http://schemas.microsoft.com/office/powerpoint/2010/main" val="3006094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2A0221-36B2-AF49-8D9A-80F757023A3E}"/>
              </a:ext>
            </a:extLst>
          </p:cNvPr>
          <p:cNvSpPr txBox="1"/>
          <p:nvPr/>
        </p:nvSpPr>
        <p:spPr>
          <a:xfrm>
            <a:off x="855785" y="214623"/>
            <a:ext cx="3722301" cy="461665"/>
          </a:xfrm>
          <a:prstGeom prst="rect">
            <a:avLst/>
          </a:prstGeom>
          <a:noFill/>
        </p:spPr>
        <p:txBody>
          <a:bodyPr wrap="none" rtlCol="0">
            <a:spAutoFit/>
          </a:bodyPr>
          <a:lstStyle/>
          <a:p>
            <a:r>
              <a:rPr lang="pt-BR" sz="2400" b="1" dirty="0"/>
              <a:t>Análises de incongruência</a:t>
            </a:r>
          </a:p>
        </p:txBody>
      </p:sp>
      <p:pic>
        <p:nvPicPr>
          <p:cNvPr id="3" name="Picture 2">
            <a:extLst>
              <a:ext uri="{FF2B5EF4-FFF2-40B4-BE49-F238E27FC236}">
                <a16:creationId xmlns:a16="http://schemas.microsoft.com/office/drawing/2014/main" id="{7CE72CB5-A94A-F041-AF49-3680A060C057}"/>
              </a:ext>
            </a:extLst>
          </p:cNvPr>
          <p:cNvPicPr>
            <a:picLocks noChangeAspect="1"/>
          </p:cNvPicPr>
          <p:nvPr/>
        </p:nvPicPr>
        <p:blipFill>
          <a:blip r:embed="rId2"/>
          <a:stretch>
            <a:fillRect/>
          </a:stretch>
        </p:blipFill>
        <p:spPr>
          <a:xfrm>
            <a:off x="6911931" y="0"/>
            <a:ext cx="3693226" cy="6865056"/>
          </a:xfrm>
          <a:prstGeom prst="rect">
            <a:avLst/>
          </a:prstGeom>
        </p:spPr>
      </p:pic>
      <p:pic>
        <p:nvPicPr>
          <p:cNvPr id="4" name="Picture 3">
            <a:extLst>
              <a:ext uri="{FF2B5EF4-FFF2-40B4-BE49-F238E27FC236}">
                <a16:creationId xmlns:a16="http://schemas.microsoft.com/office/drawing/2014/main" id="{DC716B89-5137-6A49-A4BF-6325389C35CA}"/>
              </a:ext>
            </a:extLst>
          </p:cNvPr>
          <p:cNvPicPr>
            <a:picLocks noChangeAspect="1"/>
          </p:cNvPicPr>
          <p:nvPr/>
        </p:nvPicPr>
        <p:blipFill>
          <a:blip r:embed="rId3"/>
          <a:stretch>
            <a:fillRect/>
          </a:stretch>
        </p:blipFill>
        <p:spPr>
          <a:xfrm>
            <a:off x="1854161" y="2779034"/>
            <a:ext cx="4638469" cy="3318737"/>
          </a:xfrm>
          <a:prstGeom prst="rect">
            <a:avLst/>
          </a:prstGeom>
        </p:spPr>
      </p:pic>
      <p:sp>
        <p:nvSpPr>
          <p:cNvPr id="5" name="TextBox 4">
            <a:extLst>
              <a:ext uri="{FF2B5EF4-FFF2-40B4-BE49-F238E27FC236}">
                <a16:creationId xmlns:a16="http://schemas.microsoft.com/office/drawing/2014/main" id="{7C0561E6-9862-ED47-8C5A-61C83097B91D}"/>
              </a:ext>
            </a:extLst>
          </p:cNvPr>
          <p:cNvSpPr txBox="1"/>
          <p:nvPr/>
        </p:nvSpPr>
        <p:spPr>
          <a:xfrm>
            <a:off x="1524001" y="6488668"/>
            <a:ext cx="4661661" cy="369332"/>
          </a:xfrm>
          <a:prstGeom prst="rect">
            <a:avLst/>
          </a:prstGeom>
          <a:noFill/>
        </p:spPr>
        <p:txBody>
          <a:bodyPr wrap="none" rtlCol="0">
            <a:spAutoFit/>
          </a:bodyPr>
          <a:lstStyle/>
          <a:p>
            <a:r>
              <a:rPr lang="en-US" dirty="0"/>
              <a:t>Jones et al 2019, </a:t>
            </a:r>
            <a:r>
              <a:rPr lang="en-US" dirty="0" err="1"/>
              <a:t>Herrando-Moraira</a:t>
            </a:r>
            <a:r>
              <a:rPr lang="en-US" dirty="0"/>
              <a:t> et al 2019</a:t>
            </a:r>
          </a:p>
        </p:txBody>
      </p:sp>
      <p:pic>
        <p:nvPicPr>
          <p:cNvPr id="7" name="Picture 6">
            <a:extLst>
              <a:ext uri="{FF2B5EF4-FFF2-40B4-BE49-F238E27FC236}">
                <a16:creationId xmlns:a16="http://schemas.microsoft.com/office/drawing/2014/main" id="{6C8C21B4-6D6A-5841-A46F-1567CEED6B6D}"/>
              </a:ext>
            </a:extLst>
          </p:cNvPr>
          <p:cNvPicPr>
            <a:picLocks noChangeAspect="1"/>
          </p:cNvPicPr>
          <p:nvPr/>
        </p:nvPicPr>
        <p:blipFill>
          <a:blip r:embed="rId4"/>
          <a:stretch>
            <a:fillRect/>
          </a:stretch>
        </p:blipFill>
        <p:spPr>
          <a:xfrm>
            <a:off x="1586844" y="852564"/>
            <a:ext cx="5387931" cy="1430613"/>
          </a:xfrm>
          <a:prstGeom prst="rect">
            <a:avLst/>
          </a:prstGeom>
        </p:spPr>
      </p:pic>
      <p:sp>
        <p:nvSpPr>
          <p:cNvPr id="8" name="TextBox 7">
            <a:extLst>
              <a:ext uri="{FF2B5EF4-FFF2-40B4-BE49-F238E27FC236}">
                <a16:creationId xmlns:a16="http://schemas.microsoft.com/office/drawing/2014/main" id="{8FBB4C2A-2885-FF46-8DB1-300F2D289DA5}"/>
              </a:ext>
            </a:extLst>
          </p:cNvPr>
          <p:cNvSpPr txBox="1"/>
          <p:nvPr/>
        </p:nvSpPr>
        <p:spPr>
          <a:xfrm>
            <a:off x="5290503" y="1567869"/>
            <a:ext cx="1429302" cy="369332"/>
          </a:xfrm>
          <a:prstGeom prst="rect">
            <a:avLst/>
          </a:prstGeom>
          <a:noFill/>
        </p:spPr>
        <p:txBody>
          <a:bodyPr wrap="none" rtlCol="0">
            <a:spAutoFit/>
          </a:bodyPr>
          <a:lstStyle/>
          <a:p>
            <a:r>
              <a:rPr lang="en-US" b="1" dirty="0"/>
              <a:t>PHYPARTS</a:t>
            </a:r>
          </a:p>
        </p:txBody>
      </p:sp>
    </p:spTree>
    <p:extLst>
      <p:ext uri="{BB962C8B-B14F-4D97-AF65-F5344CB8AC3E}">
        <p14:creationId xmlns:p14="http://schemas.microsoft.com/office/powerpoint/2010/main" val="1830979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1E0F5D-9865-2046-8636-5C4DBBA8B6A1}"/>
              </a:ext>
            </a:extLst>
          </p:cNvPr>
          <p:cNvPicPr>
            <a:picLocks noChangeAspect="1"/>
          </p:cNvPicPr>
          <p:nvPr/>
        </p:nvPicPr>
        <p:blipFill>
          <a:blip r:embed="rId2"/>
          <a:stretch>
            <a:fillRect/>
          </a:stretch>
        </p:blipFill>
        <p:spPr>
          <a:xfrm>
            <a:off x="6298223" y="2130383"/>
            <a:ext cx="5354516" cy="3652156"/>
          </a:xfrm>
          <a:prstGeom prst="rect">
            <a:avLst/>
          </a:prstGeom>
        </p:spPr>
      </p:pic>
      <p:sp>
        <p:nvSpPr>
          <p:cNvPr id="2" name="TextBox 1">
            <a:extLst>
              <a:ext uri="{FF2B5EF4-FFF2-40B4-BE49-F238E27FC236}">
                <a16:creationId xmlns:a16="http://schemas.microsoft.com/office/drawing/2014/main" id="{5C7F456F-89D5-4142-9594-2C8154619D19}"/>
              </a:ext>
            </a:extLst>
          </p:cNvPr>
          <p:cNvSpPr txBox="1"/>
          <p:nvPr/>
        </p:nvSpPr>
        <p:spPr>
          <a:xfrm>
            <a:off x="1524001" y="1"/>
            <a:ext cx="3722301" cy="461665"/>
          </a:xfrm>
          <a:prstGeom prst="rect">
            <a:avLst/>
          </a:prstGeom>
          <a:noFill/>
        </p:spPr>
        <p:txBody>
          <a:bodyPr wrap="none" rtlCol="0">
            <a:spAutoFit/>
          </a:bodyPr>
          <a:lstStyle/>
          <a:p>
            <a:r>
              <a:rPr lang="pt-BR" sz="2400" b="1" dirty="0"/>
              <a:t>Análises de incongruência</a:t>
            </a:r>
          </a:p>
        </p:txBody>
      </p:sp>
      <p:pic>
        <p:nvPicPr>
          <p:cNvPr id="3" name="Picture 2">
            <a:extLst>
              <a:ext uri="{FF2B5EF4-FFF2-40B4-BE49-F238E27FC236}">
                <a16:creationId xmlns:a16="http://schemas.microsoft.com/office/drawing/2014/main" id="{4BAB3E50-2CA6-4A4C-9C0E-8A1BACA9F857}"/>
              </a:ext>
            </a:extLst>
          </p:cNvPr>
          <p:cNvPicPr>
            <a:picLocks noChangeAspect="1"/>
          </p:cNvPicPr>
          <p:nvPr/>
        </p:nvPicPr>
        <p:blipFill>
          <a:blip r:embed="rId3"/>
          <a:stretch>
            <a:fillRect/>
          </a:stretch>
        </p:blipFill>
        <p:spPr>
          <a:xfrm>
            <a:off x="811825" y="869122"/>
            <a:ext cx="6424551" cy="1011622"/>
          </a:xfrm>
          <a:prstGeom prst="rect">
            <a:avLst/>
          </a:prstGeom>
        </p:spPr>
      </p:pic>
      <p:pic>
        <p:nvPicPr>
          <p:cNvPr id="4" name="Picture 3">
            <a:extLst>
              <a:ext uri="{FF2B5EF4-FFF2-40B4-BE49-F238E27FC236}">
                <a16:creationId xmlns:a16="http://schemas.microsoft.com/office/drawing/2014/main" id="{EC8B057E-8155-594A-9B43-9BFEC38A19C3}"/>
              </a:ext>
            </a:extLst>
          </p:cNvPr>
          <p:cNvPicPr>
            <a:picLocks noChangeAspect="1"/>
          </p:cNvPicPr>
          <p:nvPr/>
        </p:nvPicPr>
        <p:blipFill>
          <a:blip r:embed="rId4"/>
          <a:stretch>
            <a:fillRect/>
          </a:stretch>
        </p:blipFill>
        <p:spPr>
          <a:xfrm>
            <a:off x="811825" y="1972120"/>
            <a:ext cx="4718538" cy="4078737"/>
          </a:xfrm>
          <a:prstGeom prst="rect">
            <a:avLst/>
          </a:prstGeom>
        </p:spPr>
      </p:pic>
    </p:spTree>
    <p:extLst>
      <p:ext uri="{BB962C8B-B14F-4D97-AF65-F5344CB8AC3E}">
        <p14:creationId xmlns:p14="http://schemas.microsoft.com/office/powerpoint/2010/main" val="2285253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53DDB1-644E-DF6B-5134-3ADF51D91E3F}"/>
              </a:ext>
            </a:extLst>
          </p:cNvPr>
          <p:cNvPicPr>
            <a:picLocks noChangeAspect="1"/>
          </p:cNvPicPr>
          <p:nvPr/>
        </p:nvPicPr>
        <p:blipFill>
          <a:blip r:embed="rId2">
            <a:alphaModFix amt="5000"/>
          </a:blip>
          <a:srcRect l="9236" t="24142" r="19653" b="35476"/>
          <a:stretch>
            <a:fillRect/>
          </a:stretch>
        </p:blipFill>
        <p:spPr>
          <a:xfrm>
            <a:off x="1" y="-65314"/>
            <a:ext cx="12191999" cy="6923314"/>
          </a:xfrm>
          <a:prstGeom prst="rect">
            <a:avLst/>
          </a:prstGeom>
        </p:spPr>
      </p:pic>
      <p:sp>
        <p:nvSpPr>
          <p:cNvPr id="5" name="TextBox 4">
            <a:extLst>
              <a:ext uri="{FF2B5EF4-FFF2-40B4-BE49-F238E27FC236}">
                <a16:creationId xmlns:a16="http://schemas.microsoft.com/office/drawing/2014/main" id="{2D4A0237-12D4-50E9-1E11-2CC5D318854F}"/>
              </a:ext>
            </a:extLst>
          </p:cNvPr>
          <p:cNvSpPr txBox="1"/>
          <p:nvPr/>
        </p:nvSpPr>
        <p:spPr>
          <a:xfrm>
            <a:off x="2037660" y="3134733"/>
            <a:ext cx="8177254" cy="646331"/>
          </a:xfrm>
          <a:prstGeom prst="rect">
            <a:avLst/>
          </a:prstGeom>
          <a:noFill/>
        </p:spPr>
        <p:txBody>
          <a:bodyPr wrap="square" rtlCol="0">
            <a:spAutoFit/>
          </a:bodyPr>
          <a:lstStyle/>
          <a:p>
            <a:pPr algn="ctr"/>
            <a:r>
              <a:rPr lang="pt-BR" sz="3600" dirty="0">
                <a:latin typeface="+mj-lt"/>
              </a:rPr>
              <a:t>OUTRAS CAUSAS DE INCONGRUÊNCIA</a:t>
            </a:r>
            <a:endParaRPr lang="en-US" sz="3600" dirty="0">
              <a:latin typeface="+mj-lt"/>
            </a:endParaRPr>
          </a:p>
        </p:txBody>
      </p:sp>
    </p:spTree>
    <p:extLst>
      <p:ext uri="{BB962C8B-B14F-4D97-AF65-F5344CB8AC3E}">
        <p14:creationId xmlns:p14="http://schemas.microsoft.com/office/powerpoint/2010/main" val="3166794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59516C-5F08-ACA5-0F21-40327EA3514D}"/>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Outras causas de incongruência</a:t>
            </a:r>
            <a:endParaRPr lang="en-US" sz="2800" dirty="0">
              <a:latin typeface="+mj-lt"/>
            </a:endParaRPr>
          </a:p>
        </p:txBody>
      </p:sp>
      <p:sp>
        <p:nvSpPr>
          <p:cNvPr id="5" name="TextBox 4">
            <a:extLst>
              <a:ext uri="{FF2B5EF4-FFF2-40B4-BE49-F238E27FC236}">
                <a16:creationId xmlns:a16="http://schemas.microsoft.com/office/drawing/2014/main" id="{3C35D927-3AF0-72E0-8C49-9C5FAA473D25}"/>
              </a:ext>
            </a:extLst>
          </p:cNvPr>
          <p:cNvSpPr txBox="1"/>
          <p:nvPr/>
        </p:nvSpPr>
        <p:spPr>
          <a:xfrm>
            <a:off x="271004" y="2064770"/>
            <a:ext cx="5490604" cy="3170099"/>
          </a:xfrm>
          <a:prstGeom prst="rect">
            <a:avLst/>
          </a:prstGeom>
          <a:noFill/>
        </p:spPr>
        <p:txBody>
          <a:bodyPr wrap="square" rtlCol="0">
            <a:spAutoFit/>
          </a:bodyPr>
          <a:lstStyle/>
          <a:p>
            <a:pPr marL="800100" lvl="1" indent="-342900">
              <a:buFont typeface="Arial" panose="020B0604020202020204" pitchFamily="34" charset="0"/>
              <a:buChar char="•"/>
            </a:pPr>
            <a:r>
              <a:rPr lang="pt-BR" sz="2000" dirty="0"/>
              <a:t>Há outros processos evolutivos que podem causar incongruência, além de ILS</a:t>
            </a:r>
            <a:r>
              <a:rPr lang="en-US" sz="2000" dirty="0"/>
              <a:t>:</a:t>
            </a:r>
            <a:endParaRPr lang="pt-BR" sz="2000" dirty="0"/>
          </a:p>
          <a:p>
            <a:pPr marL="800100" lvl="1" indent="-342900">
              <a:buFont typeface="Arial" panose="020B0604020202020204" pitchFamily="34" charset="0"/>
              <a:buChar char="•"/>
            </a:pPr>
            <a:endParaRPr lang="pt-BR" sz="2000" dirty="0"/>
          </a:p>
          <a:p>
            <a:pPr marL="1257300" lvl="2" indent="-342900">
              <a:buFont typeface="Arial" panose="020B0604020202020204" pitchFamily="34" charset="0"/>
              <a:buChar char="•"/>
            </a:pPr>
            <a:r>
              <a:rPr lang="pt-BR" sz="2000" dirty="0"/>
              <a:t>Hibridização</a:t>
            </a:r>
            <a:r>
              <a:rPr lang="en-US" sz="2000" dirty="0"/>
              <a:t>/</a:t>
            </a:r>
            <a:r>
              <a:rPr lang="pt-BR" sz="2000" dirty="0"/>
              <a:t>introgressão</a:t>
            </a:r>
          </a:p>
          <a:p>
            <a:pPr marL="1257300" lvl="2" indent="-342900">
              <a:buFont typeface="Arial" panose="020B0604020202020204" pitchFamily="34" charset="0"/>
              <a:buChar char="•"/>
            </a:pPr>
            <a:r>
              <a:rPr lang="pt-BR" sz="2000" dirty="0"/>
              <a:t>Transferência horizontal de genes</a:t>
            </a:r>
          </a:p>
          <a:p>
            <a:pPr marL="1257300" lvl="2" indent="-342900">
              <a:buFont typeface="Arial" panose="020B0604020202020204" pitchFamily="34" charset="0"/>
              <a:buChar char="•"/>
            </a:pPr>
            <a:r>
              <a:rPr lang="pt-BR" sz="2000" dirty="0"/>
              <a:t>Poliploidia e multiplicações genômicas ancestrais</a:t>
            </a:r>
          </a:p>
          <a:p>
            <a:pPr marL="800100" lvl="1" indent="-342900">
              <a:buFont typeface="Arial" panose="020B0604020202020204" pitchFamily="34" charset="0"/>
              <a:buChar char="•"/>
            </a:pPr>
            <a:endParaRPr lang="pt-BR" sz="2000" noProof="0" dirty="0"/>
          </a:p>
          <a:p>
            <a:pPr marL="800100" lvl="1" indent="-342900">
              <a:buFont typeface="Arial" panose="020B0604020202020204" pitchFamily="34" charset="0"/>
              <a:buChar char="•"/>
            </a:pPr>
            <a:endParaRPr lang="pt-BR" sz="2000" noProof="0" dirty="0"/>
          </a:p>
        </p:txBody>
      </p:sp>
      <p:pic>
        <p:nvPicPr>
          <p:cNvPr id="7" name="Picture 6">
            <a:extLst>
              <a:ext uri="{FF2B5EF4-FFF2-40B4-BE49-F238E27FC236}">
                <a16:creationId xmlns:a16="http://schemas.microsoft.com/office/drawing/2014/main" id="{AD91AF00-5A7D-B42C-020E-61C4F6E640CF}"/>
              </a:ext>
            </a:extLst>
          </p:cNvPr>
          <p:cNvPicPr>
            <a:picLocks noChangeAspect="1"/>
          </p:cNvPicPr>
          <p:nvPr/>
        </p:nvPicPr>
        <p:blipFill>
          <a:blip r:embed="rId2"/>
          <a:stretch>
            <a:fillRect/>
          </a:stretch>
        </p:blipFill>
        <p:spPr>
          <a:xfrm>
            <a:off x="6588291" y="1633287"/>
            <a:ext cx="4696480" cy="3591426"/>
          </a:xfrm>
          <a:prstGeom prst="rect">
            <a:avLst/>
          </a:prstGeom>
        </p:spPr>
      </p:pic>
    </p:spTree>
    <p:extLst>
      <p:ext uri="{BB962C8B-B14F-4D97-AF65-F5344CB8AC3E}">
        <p14:creationId xmlns:p14="http://schemas.microsoft.com/office/powerpoint/2010/main" val="656527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CC5EF-A419-F8B4-B8F7-AF4410B671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CDBA78-B96D-F04F-B182-D6D4043F08AA}"/>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Transferência horizontal de genes</a:t>
            </a:r>
          </a:p>
        </p:txBody>
      </p:sp>
      <p:sp>
        <p:nvSpPr>
          <p:cNvPr id="5" name="TextBox 4">
            <a:extLst>
              <a:ext uri="{FF2B5EF4-FFF2-40B4-BE49-F238E27FC236}">
                <a16:creationId xmlns:a16="http://schemas.microsoft.com/office/drawing/2014/main" id="{1E107E9D-22FB-3B51-41FC-FFFCD6873019}"/>
              </a:ext>
            </a:extLst>
          </p:cNvPr>
          <p:cNvSpPr txBox="1"/>
          <p:nvPr/>
        </p:nvSpPr>
        <p:spPr>
          <a:xfrm>
            <a:off x="220062" y="1887983"/>
            <a:ext cx="5384072" cy="3785652"/>
          </a:xfrm>
          <a:prstGeom prst="rect">
            <a:avLst/>
          </a:prstGeom>
          <a:noFill/>
        </p:spPr>
        <p:txBody>
          <a:bodyPr wrap="square" rtlCol="0">
            <a:spAutoFit/>
          </a:bodyPr>
          <a:lstStyle/>
          <a:p>
            <a:pPr marL="800100" lvl="1" indent="-342900">
              <a:buFont typeface="Arial" panose="020B0604020202020204" pitchFamily="34" charset="0"/>
              <a:buChar char="•"/>
            </a:pPr>
            <a:r>
              <a:rPr lang="pt-BR" sz="2000" noProof="0" dirty="0"/>
              <a:t>Transferência horizontal de genes é o processo no qual informação genética é transmitida para outras linhagens, independente de barreiras reprodutivas.</a:t>
            </a:r>
          </a:p>
          <a:p>
            <a:pPr marL="800100" lvl="1" indent="-342900">
              <a:buFont typeface="Arial" panose="020B0604020202020204" pitchFamily="34" charset="0"/>
              <a:buChar char="•"/>
            </a:pPr>
            <a:endParaRPr lang="pt-BR" sz="2000" dirty="0"/>
          </a:p>
          <a:p>
            <a:pPr marL="800100" lvl="1" indent="-342900">
              <a:buFont typeface="Arial" panose="020B0604020202020204" pitchFamily="34" charset="0"/>
              <a:buChar char="•"/>
            </a:pPr>
            <a:r>
              <a:rPr lang="pt-BR" sz="2000" noProof="0" dirty="0"/>
              <a:t>Pode levar a ganho de função e novidades evolutivas</a:t>
            </a:r>
          </a:p>
          <a:p>
            <a:pPr marL="800100" lvl="1" indent="-342900">
              <a:buFont typeface="Arial" panose="020B0604020202020204" pitchFamily="34" charset="0"/>
              <a:buChar char="•"/>
            </a:pPr>
            <a:endParaRPr lang="pt-BR" sz="2000" dirty="0"/>
          </a:p>
          <a:p>
            <a:pPr marL="800100" lvl="1" indent="-342900">
              <a:buFont typeface="Arial" panose="020B0604020202020204" pitchFamily="34" charset="0"/>
              <a:buChar char="•"/>
            </a:pPr>
            <a:r>
              <a:rPr lang="pt-BR" sz="2000" dirty="0" err="1"/>
              <a:t>Transposons</a:t>
            </a:r>
            <a:r>
              <a:rPr lang="pt-BR" sz="2000" dirty="0"/>
              <a:t> podem levar a transferência de genes, assim como parasitismo (também há casos de origem desconhecida)</a:t>
            </a:r>
            <a:endParaRPr lang="pt-BR" sz="2000" noProof="0" dirty="0"/>
          </a:p>
        </p:txBody>
      </p:sp>
      <p:pic>
        <p:nvPicPr>
          <p:cNvPr id="2" name="Picture 1" descr="Description unavailable">
            <a:extLst>
              <a:ext uri="{FF2B5EF4-FFF2-40B4-BE49-F238E27FC236}">
                <a16:creationId xmlns:a16="http://schemas.microsoft.com/office/drawing/2014/main" id="{F4A54E72-B4BB-E882-6BB5-490B0033E3C6}"/>
              </a:ext>
            </a:extLst>
          </p:cNvPr>
          <p:cNvPicPr>
            <a:picLocks noChangeAspect="1"/>
          </p:cNvPicPr>
          <p:nvPr/>
        </p:nvPicPr>
        <p:blipFill>
          <a:blip r:embed="rId2"/>
          <a:stretch>
            <a:fillRect/>
          </a:stretch>
        </p:blipFill>
        <p:spPr>
          <a:xfrm>
            <a:off x="6134100" y="1693595"/>
            <a:ext cx="5837838" cy="3872432"/>
          </a:xfrm>
          <a:prstGeom prst="rect">
            <a:avLst/>
          </a:prstGeom>
        </p:spPr>
      </p:pic>
      <p:sp>
        <p:nvSpPr>
          <p:cNvPr id="6" name="TextBox 5">
            <a:extLst>
              <a:ext uri="{FF2B5EF4-FFF2-40B4-BE49-F238E27FC236}">
                <a16:creationId xmlns:a16="http://schemas.microsoft.com/office/drawing/2014/main" id="{B5D47A6C-C864-9D22-8BF0-A18D9F9B98B8}"/>
              </a:ext>
            </a:extLst>
          </p:cNvPr>
          <p:cNvSpPr txBox="1"/>
          <p:nvPr/>
        </p:nvSpPr>
        <p:spPr>
          <a:xfrm>
            <a:off x="8600260" y="5673635"/>
            <a:ext cx="3297378" cy="338554"/>
          </a:xfrm>
          <a:prstGeom prst="rect">
            <a:avLst/>
          </a:prstGeom>
          <a:noFill/>
        </p:spPr>
        <p:txBody>
          <a:bodyPr wrap="none" rtlCol="0">
            <a:spAutoFit/>
          </a:bodyPr>
          <a:lstStyle/>
          <a:p>
            <a:r>
              <a:rPr lang="en-US" sz="1600"/>
              <a:t>https://doi.org/10.1111/jipb.13407</a:t>
            </a:r>
            <a:endParaRPr lang="en-US" sz="1600" dirty="0"/>
          </a:p>
        </p:txBody>
      </p:sp>
    </p:spTree>
    <p:extLst>
      <p:ext uri="{BB962C8B-B14F-4D97-AF65-F5344CB8AC3E}">
        <p14:creationId xmlns:p14="http://schemas.microsoft.com/office/powerpoint/2010/main" val="1510261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E81A25-AB72-C7FF-4C2D-6B547C884919}"/>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Duplicações ou multiplicações genômicas</a:t>
            </a:r>
          </a:p>
        </p:txBody>
      </p:sp>
      <p:sp>
        <p:nvSpPr>
          <p:cNvPr id="5" name="TextBox 4">
            <a:extLst>
              <a:ext uri="{FF2B5EF4-FFF2-40B4-BE49-F238E27FC236}">
                <a16:creationId xmlns:a16="http://schemas.microsoft.com/office/drawing/2014/main" id="{09C360D0-8DC3-D0B6-7D3E-C088E788CEBA}"/>
              </a:ext>
            </a:extLst>
          </p:cNvPr>
          <p:cNvSpPr txBox="1"/>
          <p:nvPr/>
        </p:nvSpPr>
        <p:spPr>
          <a:xfrm>
            <a:off x="848055" y="2020756"/>
            <a:ext cx="5286045" cy="2862322"/>
          </a:xfrm>
          <a:prstGeom prst="rect">
            <a:avLst/>
          </a:prstGeom>
          <a:noFill/>
        </p:spPr>
        <p:txBody>
          <a:bodyPr wrap="square" rtlCol="0">
            <a:spAutoFit/>
          </a:bodyPr>
          <a:lstStyle/>
          <a:p>
            <a:pPr marL="342900" indent="-342900">
              <a:buFontTx/>
              <a:buChar char="-"/>
            </a:pPr>
            <a:r>
              <a:rPr lang="pt-BR" sz="2000" dirty="0"/>
              <a:t>Outro processo muito comum entre plantas</a:t>
            </a:r>
          </a:p>
          <a:p>
            <a:pPr marL="342900" indent="-342900">
              <a:buFontTx/>
              <a:buChar char="-"/>
            </a:pPr>
            <a:endParaRPr lang="pt-BR" sz="2000" dirty="0"/>
          </a:p>
          <a:p>
            <a:pPr marL="342900" indent="-342900">
              <a:buFontTx/>
              <a:buChar char="-"/>
            </a:pPr>
            <a:r>
              <a:rPr lang="pt-BR" sz="2000" dirty="0"/>
              <a:t>Ocorrências detectadas na maioria das famílias e ordens mais diversas </a:t>
            </a:r>
          </a:p>
          <a:p>
            <a:pPr marL="342900" indent="-342900">
              <a:buFontTx/>
              <a:buChar char="-"/>
            </a:pPr>
            <a:endParaRPr lang="pt-BR" sz="2000" dirty="0"/>
          </a:p>
          <a:p>
            <a:pPr marL="342900" indent="-342900">
              <a:buFontTx/>
              <a:buChar char="-"/>
            </a:pPr>
            <a:r>
              <a:rPr lang="pt-BR" sz="2000" dirty="0"/>
              <a:t>Principal efeito em análises filogenômicas – ocorrência de paralogia</a:t>
            </a:r>
          </a:p>
          <a:p>
            <a:pPr marL="342900" indent="-342900">
              <a:buFontTx/>
              <a:buChar char="-"/>
            </a:pPr>
            <a:endParaRPr lang="pt-BR" sz="2000" noProof="0" dirty="0"/>
          </a:p>
          <a:p>
            <a:pPr marL="342900" indent="-342900">
              <a:buFontTx/>
              <a:buChar char="-"/>
            </a:pPr>
            <a:endParaRPr lang="pt-BR" sz="2000" noProof="0" dirty="0"/>
          </a:p>
        </p:txBody>
      </p:sp>
      <p:pic>
        <p:nvPicPr>
          <p:cNvPr id="6" name="Picture 5" descr="Details are in the caption following the image">
            <a:extLst>
              <a:ext uri="{FF2B5EF4-FFF2-40B4-BE49-F238E27FC236}">
                <a16:creationId xmlns:a16="http://schemas.microsoft.com/office/drawing/2014/main" id="{11224A3A-9B5B-EB39-6470-D7663FCBEDB8}"/>
              </a:ext>
            </a:extLst>
          </p:cNvPr>
          <p:cNvPicPr>
            <a:picLocks noChangeAspect="1"/>
          </p:cNvPicPr>
          <p:nvPr/>
        </p:nvPicPr>
        <p:blipFill>
          <a:blip r:embed="rId2"/>
          <a:stretch>
            <a:fillRect/>
          </a:stretch>
        </p:blipFill>
        <p:spPr>
          <a:xfrm>
            <a:off x="6717520" y="840923"/>
            <a:ext cx="5231824" cy="5221989"/>
          </a:xfrm>
          <a:prstGeom prst="rect">
            <a:avLst/>
          </a:prstGeom>
        </p:spPr>
      </p:pic>
    </p:spTree>
    <p:extLst>
      <p:ext uri="{BB962C8B-B14F-4D97-AF65-F5344CB8AC3E}">
        <p14:creationId xmlns:p14="http://schemas.microsoft.com/office/powerpoint/2010/main" val="3408251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F2A9-2F21-01B4-A4B7-9A9152D67D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3D7FA5-49F1-C2E8-8366-BF264669D0DA}"/>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Duplicações ou multiplicações genômicas</a:t>
            </a:r>
          </a:p>
        </p:txBody>
      </p:sp>
      <p:sp>
        <p:nvSpPr>
          <p:cNvPr id="5" name="TextBox 4">
            <a:extLst>
              <a:ext uri="{FF2B5EF4-FFF2-40B4-BE49-F238E27FC236}">
                <a16:creationId xmlns:a16="http://schemas.microsoft.com/office/drawing/2014/main" id="{AEF8A9F7-6153-7015-1947-0CB1F237E8E1}"/>
              </a:ext>
            </a:extLst>
          </p:cNvPr>
          <p:cNvSpPr txBox="1"/>
          <p:nvPr/>
        </p:nvSpPr>
        <p:spPr>
          <a:xfrm>
            <a:off x="676790" y="1791540"/>
            <a:ext cx="5286045" cy="3785652"/>
          </a:xfrm>
          <a:prstGeom prst="rect">
            <a:avLst/>
          </a:prstGeom>
          <a:noFill/>
        </p:spPr>
        <p:txBody>
          <a:bodyPr wrap="square" rtlCol="0">
            <a:spAutoFit/>
          </a:bodyPr>
          <a:lstStyle/>
          <a:p>
            <a:pPr marL="342900" indent="-342900">
              <a:buFontTx/>
              <a:buChar char="-"/>
            </a:pPr>
            <a:r>
              <a:rPr lang="pt-BR" sz="2000" dirty="0"/>
              <a:t>Paralogia – quando um gene possui mais de uma cópia no genoma</a:t>
            </a:r>
          </a:p>
          <a:p>
            <a:endParaRPr lang="pt-BR" sz="2000" dirty="0"/>
          </a:p>
          <a:p>
            <a:pPr marL="342900" indent="-342900">
              <a:buFontTx/>
              <a:buChar char="-"/>
            </a:pPr>
            <a:r>
              <a:rPr lang="pt-BR" sz="2000" dirty="0"/>
              <a:t>Dependendo de quando na história evolutiva a duplicação ocorreu, os genes </a:t>
            </a:r>
            <a:r>
              <a:rPr lang="pt-BR" sz="2000" dirty="0" err="1"/>
              <a:t>parálogos</a:t>
            </a:r>
            <a:r>
              <a:rPr lang="pt-BR" sz="2000" dirty="0"/>
              <a:t> podem ser compartilhados por uma ou mais linhagens</a:t>
            </a:r>
          </a:p>
          <a:p>
            <a:pPr marL="342900" indent="-342900">
              <a:buFontTx/>
              <a:buChar char="-"/>
            </a:pPr>
            <a:endParaRPr lang="pt-BR" sz="2000" dirty="0"/>
          </a:p>
          <a:p>
            <a:pPr marL="342900" indent="-342900">
              <a:buFontTx/>
              <a:buChar char="-"/>
            </a:pPr>
            <a:r>
              <a:rPr lang="pt-BR" sz="2000" dirty="0"/>
              <a:t>É um problema difícil de tratar e muito comum</a:t>
            </a:r>
          </a:p>
          <a:p>
            <a:pPr marL="342900" indent="-342900">
              <a:buFontTx/>
              <a:buChar char="-"/>
            </a:pPr>
            <a:endParaRPr lang="pt-BR" sz="2000" noProof="0" dirty="0"/>
          </a:p>
          <a:p>
            <a:pPr marL="342900" indent="-342900">
              <a:buFontTx/>
              <a:buChar char="-"/>
            </a:pPr>
            <a:endParaRPr lang="pt-BR" sz="2000" noProof="0" dirty="0"/>
          </a:p>
        </p:txBody>
      </p:sp>
      <p:pic>
        <p:nvPicPr>
          <p:cNvPr id="2" name="Picture 1" descr="Paralogy_figure.jpg">
            <a:extLst>
              <a:ext uri="{FF2B5EF4-FFF2-40B4-BE49-F238E27FC236}">
                <a16:creationId xmlns:a16="http://schemas.microsoft.com/office/drawing/2014/main" id="{BFDA4B9B-52DC-169A-9172-B59535BCD9CE}"/>
              </a:ext>
            </a:extLst>
          </p:cNvPr>
          <p:cNvPicPr>
            <a:picLocks noChangeAspect="1"/>
          </p:cNvPicPr>
          <p:nvPr/>
        </p:nvPicPr>
        <p:blipFill>
          <a:blip r:embed="rId2"/>
          <a:stretch>
            <a:fillRect/>
          </a:stretch>
        </p:blipFill>
        <p:spPr>
          <a:xfrm>
            <a:off x="6443465" y="1761343"/>
            <a:ext cx="5530347" cy="4255734"/>
          </a:xfrm>
          <a:prstGeom prst="rect">
            <a:avLst/>
          </a:prstGeom>
        </p:spPr>
      </p:pic>
    </p:spTree>
    <p:extLst>
      <p:ext uri="{BB962C8B-B14F-4D97-AF65-F5344CB8AC3E}">
        <p14:creationId xmlns:p14="http://schemas.microsoft.com/office/powerpoint/2010/main" val="460100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4030CD-E626-0315-922F-23164DD1D87B}"/>
              </a:ext>
            </a:extLst>
          </p:cNvPr>
          <p:cNvPicPr>
            <a:picLocks noChangeAspect="1"/>
          </p:cNvPicPr>
          <p:nvPr/>
        </p:nvPicPr>
        <p:blipFill>
          <a:blip r:embed="rId2"/>
          <a:stretch>
            <a:fillRect/>
          </a:stretch>
        </p:blipFill>
        <p:spPr>
          <a:xfrm>
            <a:off x="4914185" y="1499904"/>
            <a:ext cx="6781834" cy="4245428"/>
          </a:xfrm>
          <a:prstGeom prst="rect">
            <a:avLst/>
          </a:prstGeom>
        </p:spPr>
      </p:pic>
      <p:sp>
        <p:nvSpPr>
          <p:cNvPr id="4" name="TextBox 3">
            <a:extLst>
              <a:ext uri="{FF2B5EF4-FFF2-40B4-BE49-F238E27FC236}">
                <a16:creationId xmlns:a16="http://schemas.microsoft.com/office/drawing/2014/main" id="{17FD6AAE-9DBA-2A2B-B57A-6816483EFDDC}"/>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Duplicações ou multiplicações genômicas</a:t>
            </a:r>
          </a:p>
        </p:txBody>
      </p:sp>
      <p:sp>
        <p:nvSpPr>
          <p:cNvPr id="6" name="TextBox 5">
            <a:extLst>
              <a:ext uri="{FF2B5EF4-FFF2-40B4-BE49-F238E27FC236}">
                <a16:creationId xmlns:a16="http://schemas.microsoft.com/office/drawing/2014/main" id="{82CA3A48-245C-B601-DBDA-93042604FBA9}"/>
              </a:ext>
            </a:extLst>
          </p:cNvPr>
          <p:cNvSpPr txBox="1"/>
          <p:nvPr/>
        </p:nvSpPr>
        <p:spPr>
          <a:xfrm>
            <a:off x="667913" y="1770903"/>
            <a:ext cx="5286045" cy="2246769"/>
          </a:xfrm>
          <a:prstGeom prst="rect">
            <a:avLst/>
          </a:prstGeom>
          <a:noFill/>
        </p:spPr>
        <p:txBody>
          <a:bodyPr wrap="square" rtlCol="0">
            <a:spAutoFit/>
          </a:bodyPr>
          <a:lstStyle/>
          <a:p>
            <a:pPr marL="342900" indent="-342900">
              <a:buFontTx/>
              <a:buChar char="-"/>
            </a:pPr>
            <a:r>
              <a:rPr lang="pt-BR" sz="2000" dirty="0"/>
              <a:t>Paralogia – quando um gene possui mais de uma cópia no genoma</a:t>
            </a:r>
          </a:p>
          <a:p>
            <a:pPr marL="342900" indent="-342900">
              <a:buFontTx/>
              <a:buChar char="-"/>
            </a:pPr>
            <a:endParaRPr lang="pt-BR" sz="2000" dirty="0"/>
          </a:p>
          <a:p>
            <a:pPr marL="342900" indent="-342900">
              <a:buFontTx/>
              <a:buChar char="-"/>
            </a:pPr>
            <a:r>
              <a:rPr lang="pt-BR" sz="2000" dirty="0"/>
              <a:t>Essas cópias podem evoluir de forma diferente, ou perder</a:t>
            </a:r>
            <a:r>
              <a:rPr lang="en-US" sz="2000" dirty="0"/>
              <a:t>/</a:t>
            </a:r>
            <a:r>
              <a:rPr lang="pt-BR" sz="2000" dirty="0"/>
              <a:t>ganhar funções</a:t>
            </a:r>
          </a:p>
          <a:p>
            <a:endParaRPr lang="pt-BR" sz="2000" noProof="0" dirty="0"/>
          </a:p>
          <a:p>
            <a:pPr marL="342900" indent="-342900">
              <a:buFontTx/>
              <a:buChar char="-"/>
            </a:pPr>
            <a:endParaRPr lang="pt-BR" sz="2000" noProof="0" dirty="0"/>
          </a:p>
        </p:txBody>
      </p:sp>
    </p:spTree>
    <p:extLst>
      <p:ext uri="{BB962C8B-B14F-4D97-AF65-F5344CB8AC3E}">
        <p14:creationId xmlns:p14="http://schemas.microsoft.com/office/powerpoint/2010/main" val="611889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0C81B-783E-38DE-645B-3E2CF3AF29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AF1C59-D220-91D4-851D-C3F4292AFF34}"/>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Paralogia e filogenômica</a:t>
            </a:r>
          </a:p>
        </p:txBody>
      </p:sp>
      <p:sp>
        <p:nvSpPr>
          <p:cNvPr id="5" name="TextBox 4">
            <a:extLst>
              <a:ext uri="{FF2B5EF4-FFF2-40B4-BE49-F238E27FC236}">
                <a16:creationId xmlns:a16="http://schemas.microsoft.com/office/drawing/2014/main" id="{DA9A3C34-4340-BD49-E6B7-AFF98F3D9E48}"/>
              </a:ext>
            </a:extLst>
          </p:cNvPr>
          <p:cNvSpPr txBox="1"/>
          <p:nvPr/>
        </p:nvSpPr>
        <p:spPr>
          <a:xfrm>
            <a:off x="685668" y="1533465"/>
            <a:ext cx="6034728" cy="4401205"/>
          </a:xfrm>
          <a:prstGeom prst="rect">
            <a:avLst/>
          </a:prstGeom>
          <a:noFill/>
        </p:spPr>
        <p:txBody>
          <a:bodyPr wrap="square" rtlCol="0">
            <a:spAutoFit/>
          </a:bodyPr>
          <a:lstStyle/>
          <a:p>
            <a:endParaRPr lang="pt-BR" sz="2000" dirty="0"/>
          </a:p>
          <a:p>
            <a:pPr marL="342900" indent="-342900">
              <a:buFontTx/>
              <a:buChar char="-"/>
            </a:pPr>
            <a:r>
              <a:rPr lang="pt-BR" sz="2000" dirty="0"/>
              <a:t>Mais comum é que o método usado para montagem e extração já tenha alguma avaliação, baseado no número e comprimento dos </a:t>
            </a:r>
            <a:r>
              <a:rPr lang="pt-BR" sz="2000" dirty="0" err="1"/>
              <a:t>contigs</a:t>
            </a:r>
            <a:r>
              <a:rPr lang="pt-BR" sz="2000" dirty="0"/>
              <a:t> recuperados</a:t>
            </a:r>
          </a:p>
          <a:p>
            <a:pPr marL="342900" indent="-342900">
              <a:buFontTx/>
              <a:buChar char="-"/>
            </a:pPr>
            <a:endParaRPr lang="pt-BR" sz="2000" dirty="0"/>
          </a:p>
          <a:p>
            <a:pPr marL="342900" indent="-342900">
              <a:buFontTx/>
              <a:buChar char="-"/>
            </a:pPr>
            <a:r>
              <a:rPr lang="pt-BR" sz="2000" dirty="0" err="1"/>
              <a:t>HybPiper</a:t>
            </a:r>
            <a:r>
              <a:rPr lang="pt-BR" sz="2000" dirty="0"/>
              <a:t>: seleciona o </a:t>
            </a:r>
            <a:r>
              <a:rPr lang="pt-BR" sz="2000" dirty="0" err="1"/>
              <a:t>contig</a:t>
            </a:r>
            <a:r>
              <a:rPr lang="pt-BR" sz="2000" dirty="0"/>
              <a:t> com maior profundidade ou o </a:t>
            </a:r>
            <a:r>
              <a:rPr lang="pt-BR" sz="2000" dirty="0" err="1"/>
              <a:t>contig</a:t>
            </a:r>
            <a:r>
              <a:rPr lang="pt-BR" sz="2000" dirty="0"/>
              <a:t> mais similar com a referência</a:t>
            </a:r>
          </a:p>
          <a:p>
            <a:pPr marL="342900" indent="-342900">
              <a:buFontTx/>
              <a:buChar char="-"/>
            </a:pPr>
            <a:endParaRPr lang="pt-BR" sz="2000" dirty="0"/>
          </a:p>
          <a:p>
            <a:pPr marL="342900" indent="-342900">
              <a:buFontTx/>
              <a:buChar char="-"/>
            </a:pPr>
            <a:r>
              <a:rPr lang="pt-BR" sz="2000" dirty="0" err="1"/>
              <a:t>Captus</a:t>
            </a:r>
            <a:r>
              <a:rPr lang="pt-BR" sz="2000" dirty="0"/>
              <a:t>: dois modos</a:t>
            </a:r>
          </a:p>
          <a:p>
            <a:pPr marL="800100" lvl="1" indent="-342900">
              <a:buFontTx/>
              <a:buChar char="-"/>
            </a:pPr>
            <a:r>
              <a:rPr lang="pt-BR" sz="2000" dirty="0" err="1"/>
              <a:t>Naive</a:t>
            </a:r>
            <a:r>
              <a:rPr lang="pt-BR" sz="2000" dirty="0"/>
              <a:t>, mantém o </a:t>
            </a:r>
            <a:r>
              <a:rPr lang="pt-BR" sz="2000" dirty="0" err="1"/>
              <a:t>contig</a:t>
            </a:r>
            <a:r>
              <a:rPr lang="pt-BR" sz="2000" dirty="0"/>
              <a:t> com o melhor hit</a:t>
            </a:r>
          </a:p>
          <a:p>
            <a:pPr marL="800100" lvl="1" indent="-342900">
              <a:buFontTx/>
              <a:buChar char="-"/>
            </a:pPr>
            <a:r>
              <a:rPr lang="pt-BR" sz="2000" dirty="0" err="1"/>
              <a:t>Informed</a:t>
            </a:r>
            <a:r>
              <a:rPr lang="pt-BR" sz="2000" dirty="0"/>
              <a:t>, mantém o </a:t>
            </a:r>
            <a:r>
              <a:rPr lang="pt-BR" sz="2000" dirty="0" err="1"/>
              <a:t>contig</a:t>
            </a:r>
            <a:r>
              <a:rPr lang="pt-BR" sz="2000" dirty="0"/>
              <a:t> com a maior similaridade com a referência mais usada</a:t>
            </a:r>
          </a:p>
        </p:txBody>
      </p:sp>
      <p:grpSp>
        <p:nvGrpSpPr>
          <p:cNvPr id="2" name="Group 1">
            <a:extLst>
              <a:ext uri="{FF2B5EF4-FFF2-40B4-BE49-F238E27FC236}">
                <a16:creationId xmlns:a16="http://schemas.microsoft.com/office/drawing/2014/main" id="{47DBE739-05CE-6697-121B-D7E8D808E3EF}"/>
              </a:ext>
            </a:extLst>
          </p:cNvPr>
          <p:cNvGrpSpPr/>
          <p:nvPr/>
        </p:nvGrpSpPr>
        <p:grpSpPr>
          <a:xfrm>
            <a:off x="7395009" y="1760285"/>
            <a:ext cx="3859145" cy="3620475"/>
            <a:chOff x="5284855" y="309554"/>
            <a:chExt cx="3859145" cy="3620475"/>
          </a:xfrm>
        </p:grpSpPr>
        <p:sp>
          <p:nvSpPr>
            <p:cNvPr id="4" name="Rectangle 3">
              <a:extLst>
                <a:ext uri="{FF2B5EF4-FFF2-40B4-BE49-F238E27FC236}">
                  <a16:creationId xmlns:a16="http://schemas.microsoft.com/office/drawing/2014/main" id="{8BBE4644-52B9-D4F5-BECB-0061B3A70557}"/>
                </a:ext>
              </a:extLst>
            </p:cNvPr>
            <p:cNvSpPr/>
            <p:nvPr/>
          </p:nvSpPr>
          <p:spPr>
            <a:xfrm>
              <a:off x="5612189" y="1640831"/>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D4728E-C34B-D8FA-7D63-9A2D72AA8F31}"/>
                </a:ext>
              </a:extLst>
            </p:cNvPr>
            <p:cNvSpPr/>
            <p:nvPr/>
          </p:nvSpPr>
          <p:spPr>
            <a:xfrm>
              <a:off x="5612189" y="705101"/>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E7F8009-0F35-03AA-8E0C-397B4D537D88}"/>
                </a:ext>
              </a:extLst>
            </p:cNvPr>
            <p:cNvSpPr/>
            <p:nvPr/>
          </p:nvSpPr>
          <p:spPr>
            <a:xfrm>
              <a:off x="5612189" y="980466"/>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EB55C70-6396-4CB5-137D-3B86C47AB06B}"/>
                </a:ext>
              </a:extLst>
            </p:cNvPr>
            <p:cNvSpPr/>
            <p:nvPr/>
          </p:nvSpPr>
          <p:spPr>
            <a:xfrm>
              <a:off x="5612189" y="1255831"/>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48637F6-0878-C2CE-B8C5-031456F4CD2C}"/>
                </a:ext>
              </a:extLst>
            </p:cNvPr>
            <p:cNvSpPr/>
            <p:nvPr/>
          </p:nvSpPr>
          <p:spPr>
            <a:xfrm>
              <a:off x="5612189" y="1531196"/>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1C5515-086E-3BD5-A550-D593DDB197A1}"/>
                </a:ext>
              </a:extLst>
            </p:cNvPr>
            <p:cNvSpPr/>
            <p:nvPr/>
          </p:nvSpPr>
          <p:spPr>
            <a:xfrm>
              <a:off x="6832994" y="705101"/>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F13E3B-2B60-2F34-71EB-584F1C8093C7}"/>
                </a:ext>
              </a:extLst>
            </p:cNvPr>
            <p:cNvSpPr/>
            <p:nvPr/>
          </p:nvSpPr>
          <p:spPr>
            <a:xfrm>
              <a:off x="6832994" y="980466"/>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768F114-7893-F03A-9EBE-E139DE85B2EC}"/>
                </a:ext>
              </a:extLst>
            </p:cNvPr>
            <p:cNvSpPr/>
            <p:nvPr/>
          </p:nvSpPr>
          <p:spPr>
            <a:xfrm>
              <a:off x="6832994" y="1255831"/>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D27182A-9642-93F1-F135-F3437CF0A4D3}"/>
                </a:ext>
              </a:extLst>
            </p:cNvPr>
            <p:cNvSpPr/>
            <p:nvPr/>
          </p:nvSpPr>
          <p:spPr>
            <a:xfrm>
              <a:off x="6832994" y="1531196"/>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E8E41CC-15F5-670C-A39B-50E149EDAD0D}"/>
                </a:ext>
              </a:extLst>
            </p:cNvPr>
            <p:cNvSpPr/>
            <p:nvPr/>
          </p:nvSpPr>
          <p:spPr>
            <a:xfrm>
              <a:off x="6832994" y="1084804"/>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9C45A2-895C-2532-6008-08AE8B73DC99}"/>
                </a:ext>
              </a:extLst>
            </p:cNvPr>
            <p:cNvSpPr/>
            <p:nvPr/>
          </p:nvSpPr>
          <p:spPr>
            <a:xfrm>
              <a:off x="8016901" y="705101"/>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EF1188-AA23-E18B-1759-0550B321D9B2}"/>
                </a:ext>
              </a:extLst>
            </p:cNvPr>
            <p:cNvSpPr/>
            <p:nvPr/>
          </p:nvSpPr>
          <p:spPr>
            <a:xfrm>
              <a:off x="8016901" y="980466"/>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92F750E-CB92-F14B-8780-BD18EE717D0C}"/>
                </a:ext>
              </a:extLst>
            </p:cNvPr>
            <p:cNvSpPr/>
            <p:nvPr/>
          </p:nvSpPr>
          <p:spPr>
            <a:xfrm>
              <a:off x="8016901" y="1255831"/>
              <a:ext cx="937904" cy="95693"/>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9CA4E47-B24F-92D0-19FD-D5862145F54A}"/>
                </a:ext>
              </a:extLst>
            </p:cNvPr>
            <p:cNvSpPr/>
            <p:nvPr/>
          </p:nvSpPr>
          <p:spPr>
            <a:xfrm>
              <a:off x="8016901" y="1531196"/>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A2CB4DA-3AD4-4BE7-A32E-248950E62C10}"/>
                </a:ext>
              </a:extLst>
            </p:cNvPr>
            <p:cNvSpPr txBox="1"/>
            <p:nvPr/>
          </p:nvSpPr>
          <p:spPr>
            <a:xfrm>
              <a:off x="5284855" y="551880"/>
              <a:ext cx="317716" cy="369332"/>
            </a:xfrm>
            <a:prstGeom prst="rect">
              <a:avLst/>
            </a:prstGeom>
            <a:noFill/>
          </p:spPr>
          <p:txBody>
            <a:bodyPr wrap="none" rtlCol="0">
              <a:spAutoFit/>
            </a:bodyPr>
            <a:lstStyle/>
            <a:p>
              <a:r>
                <a:rPr lang="en-US" dirty="0"/>
                <a:t>A</a:t>
              </a:r>
            </a:p>
          </p:txBody>
        </p:sp>
        <p:sp>
          <p:nvSpPr>
            <p:cNvPr id="20" name="TextBox 19">
              <a:extLst>
                <a:ext uri="{FF2B5EF4-FFF2-40B4-BE49-F238E27FC236}">
                  <a16:creationId xmlns:a16="http://schemas.microsoft.com/office/drawing/2014/main" id="{DE5DD338-9A4A-FD96-D88F-9B5A4B2CB210}"/>
                </a:ext>
              </a:extLst>
            </p:cNvPr>
            <p:cNvSpPr txBox="1"/>
            <p:nvPr/>
          </p:nvSpPr>
          <p:spPr>
            <a:xfrm>
              <a:off x="5284855" y="825519"/>
              <a:ext cx="309700" cy="369332"/>
            </a:xfrm>
            <a:prstGeom prst="rect">
              <a:avLst/>
            </a:prstGeom>
            <a:noFill/>
          </p:spPr>
          <p:txBody>
            <a:bodyPr wrap="none" rtlCol="0">
              <a:spAutoFit/>
            </a:bodyPr>
            <a:lstStyle/>
            <a:p>
              <a:r>
                <a:rPr lang="en-US" dirty="0"/>
                <a:t>B</a:t>
              </a:r>
            </a:p>
          </p:txBody>
        </p:sp>
        <p:sp>
          <p:nvSpPr>
            <p:cNvPr id="21" name="TextBox 20">
              <a:extLst>
                <a:ext uri="{FF2B5EF4-FFF2-40B4-BE49-F238E27FC236}">
                  <a16:creationId xmlns:a16="http://schemas.microsoft.com/office/drawing/2014/main" id="{A875395D-2F27-22D4-7273-D4BE38429CBF}"/>
                </a:ext>
              </a:extLst>
            </p:cNvPr>
            <p:cNvSpPr txBox="1"/>
            <p:nvPr/>
          </p:nvSpPr>
          <p:spPr>
            <a:xfrm>
              <a:off x="5284855" y="1104944"/>
              <a:ext cx="308098" cy="369332"/>
            </a:xfrm>
            <a:prstGeom prst="rect">
              <a:avLst/>
            </a:prstGeom>
            <a:noFill/>
          </p:spPr>
          <p:txBody>
            <a:bodyPr wrap="none" rtlCol="0">
              <a:spAutoFit/>
            </a:bodyPr>
            <a:lstStyle/>
            <a:p>
              <a:r>
                <a:rPr lang="en-US" dirty="0"/>
                <a:t>C</a:t>
              </a:r>
            </a:p>
          </p:txBody>
        </p:sp>
        <p:sp>
          <p:nvSpPr>
            <p:cNvPr id="22" name="TextBox 21">
              <a:extLst>
                <a:ext uri="{FF2B5EF4-FFF2-40B4-BE49-F238E27FC236}">
                  <a16:creationId xmlns:a16="http://schemas.microsoft.com/office/drawing/2014/main" id="{22E1B9DE-0CEC-2F4A-2250-6401669C5039}"/>
                </a:ext>
              </a:extLst>
            </p:cNvPr>
            <p:cNvSpPr txBox="1"/>
            <p:nvPr/>
          </p:nvSpPr>
          <p:spPr>
            <a:xfrm>
              <a:off x="5284855" y="1424095"/>
              <a:ext cx="327334" cy="369332"/>
            </a:xfrm>
            <a:prstGeom prst="rect">
              <a:avLst/>
            </a:prstGeom>
            <a:noFill/>
          </p:spPr>
          <p:txBody>
            <a:bodyPr wrap="none" rtlCol="0">
              <a:spAutoFit/>
            </a:bodyPr>
            <a:lstStyle/>
            <a:p>
              <a:r>
                <a:rPr lang="en-US" dirty="0"/>
                <a:t>D</a:t>
              </a:r>
            </a:p>
          </p:txBody>
        </p:sp>
        <p:sp>
          <p:nvSpPr>
            <p:cNvPr id="23" name="Rectangle 22">
              <a:extLst>
                <a:ext uri="{FF2B5EF4-FFF2-40B4-BE49-F238E27FC236}">
                  <a16:creationId xmlns:a16="http://schemas.microsoft.com/office/drawing/2014/main" id="{7F82B68B-79E0-8B90-67A4-304BB14CAF4B}"/>
                </a:ext>
              </a:extLst>
            </p:cNvPr>
            <p:cNvSpPr/>
            <p:nvPr/>
          </p:nvSpPr>
          <p:spPr>
            <a:xfrm>
              <a:off x="8016901" y="1355199"/>
              <a:ext cx="937904" cy="95693"/>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81FA0CB-B1ED-24BE-5C16-455680356146}"/>
                </a:ext>
              </a:extLst>
            </p:cNvPr>
            <p:cNvSpPr txBox="1"/>
            <p:nvPr/>
          </p:nvSpPr>
          <p:spPr>
            <a:xfrm>
              <a:off x="5760389" y="328491"/>
              <a:ext cx="761899" cy="307777"/>
            </a:xfrm>
            <a:prstGeom prst="rect">
              <a:avLst/>
            </a:prstGeom>
            <a:noFill/>
          </p:spPr>
          <p:txBody>
            <a:bodyPr wrap="square" rtlCol="0">
              <a:spAutoFit/>
            </a:bodyPr>
            <a:lstStyle/>
            <a:p>
              <a:r>
                <a:rPr lang="en-US" sz="1400" dirty="0"/>
                <a:t>gene 1</a:t>
              </a:r>
            </a:p>
          </p:txBody>
        </p:sp>
        <p:sp>
          <p:nvSpPr>
            <p:cNvPr id="25" name="TextBox 24">
              <a:extLst>
                <a:ext uri="{FF2B5EF4-FFF2-40B4-BE49-F238E27FC236}">
                  <a16:creationId xmlns:a16="http://schemas.microsoft.com/office/drawing/2014/main" id="{06626485-C7B2-0B1C-7CFC-345ACFAC98F2}"/>
                </a:ext>
              </a:extLst>
            </p:cNvPr>
            <p:cNvSpPr txBox="1"/>
            <p:nvPr/>
          </p:nvSpPr>
          <p:spPr>
            <a:xfrm>
              <a:off x="6900312" y="309554"/>
              <a:ext cx="761899" cy="307777"/>
            </a:xfrm>
            <a:prstGeom prst="rect">
              <a:avLst/>
            </a:prstGeom>
            <a:noFill/>
          </p:spPr>
          <p:txBody>
            <a:bodyPr wrap="square" rtlCol="0">
              <a:spAutoFit/>
            </a:bodyPr>
            <a:lstStyle/>
            <a:p>
              <a:r>
                <a:rPr lang="en-US" sz="1400" dirty="0"/>
                <a:t>gene 2</a:t>
              </a:r>
            </a:p>
          </p:txBody>
        </p:sp>
        <p:sp>
          <p:nvSpPr>
            <p:cNvPr id="26" name="TextBox 25">
              <a:extLst>
                <a:ext uri="{FF2B5EF4-FFF2-40B4-BE49-F238E27FC236}">
                  <a16:creationId xmlns:a16="http://schemas.microsoft.com/office/drawing/2014/main" id="{ADB85023-2104-D50D-8B4B-31F41615575B}"/>
                </a:ext>
              </a:extLst>
            </p:cNvPr>
            <p:cNvSpPr txBox="1"/>
            <p:nvPr/>
          </p:nvSpPr>
          <p:spPr>
            <a:xfrm>
              <a:off x="8143271" y="309554"/>
              <a:ext cx="761899" cy="307777"/>
            </a:xfrm>
            <a:prstGeom prst="rect">
              <a:avLst/>
            </a:prstGeom>
            <a:noFill/>
          </p:spPr>
          <p:txBody>
            <a:bodyPr wrap="square" rtlCol="0">
              <a:spAutoFit/>
            </a:bodyPr>
            <a:lstStyle/>
            <a:p>
              <a:r>
                <a:rPr lang="en-US" sz="1400" dirty="0"/>
                <a:t>gene 3</a:t>
              </a:r>
            </a:p>
          </p:txBody>
        </p:sp>
        <p:sp>
          <p:nvSpPr>
            <p:cNvPr id="27" name="TextBox 26">
              <a:extLst>
                <a:ext uri="{FF2B5EF4-FFF2-40B4-BE49-F238E27FC236}">
                  <a16:creationId xmlns:a16="http://schemas.microsoft.com/office/drawing/2014/main" id="{7E4ECC56-0A45-7AD3-CD7F-B55045F2CB4F}"/>
                </a:ext>
              </a:extLst>
            </p:cNvPr>
            <p:cNvSpPr txBox="1"/>
            <p:nvPr/>
          </p:nvSpPr>
          <p:spPr>
            <a:xfrm>
              <a:off x="7505758" y="916277"/>
              <a:ext cx="312906" cy="338554"/>
            </a:xfrm>
            <a:prstGeom prst="rect">
              <a:avLst/>
            </a:prstGeom>
            <a:noFill/>
          </p:spPr>
          <p:txBody>
            <a:bodyPr wrap="none" rtlCol="0">
              <a:spAutoFit/>
            </a:bodyPr>
            <a:lstStyle/>
            <a:p>
              <a:r>
                <a:rPr lang="en-US" sz="800" dirty="0"/>
                <a:t>2.1</a:t>
              </a:r>
            </a:p>
            <a:p>
              <a:r>
                <a:rPr lang="en-US" sz="800" dirty="0"/>
                <a:t>2.2</a:t>
              </a:r>
            </a:p>
          </p:txBody>
        </p:sp>
        <p:sp>
          <p:nvSpPr>
            <p:cNvPr id="28" name="TextBox 27">
              <a:extLst>
                <a:ext uri="{FF2B5EF4-FFF2-40B4-BE49-F238E27FC236}">
                  <a16:creationId xmlns:a16="http://schemas.microsoft.com/office/drawing/2014/main" id="{9C854737-4267-9A31-017D-0FD1644950C2}"/>
                </a:ext>
              </a:extLst>
            </p:cNvPr>
            <p:cNvSpPr txBox="1"/>
            <p:nvPr/>
          </p:nvSpPr>
          <p:spPr>
            <a:xfrm>
              <a:off x="8695984" y="1189217"/>
              <a:ext cx="312906" cy="338554"/>
            </a:xfrm>
            <a:prstGeom prst="rect">
              <a:avLst/>
            </a:prstGeom>
            <a:noFill/>
          </p:spPr>
          <p:txBody>
            <a:bodyPr wrap="none" rtlCol="0">
              <a:spAutoFit/>
            </a:bodyPr>
            <a:lstStyle/>
            <a:p>
              <a:r>
                <a:rPr lang="en-US" sz="800" dirty="0"/>
                <a:t>3.1</a:t>
              </a:r>
            </a:p>
            <a:p>
              <a:r>
                <a:rPr lang="en-US" sz="800" dirty="0"/>
                <a:t>3.2</a:t>
              </a:r>
            </a:p>
          </p:txBody>
        </p:sp>
        <p:sp>
          <p:nvSpPr>
            <p:cNvPr id="29" name="TextBox 28">
              <a:extLst>
                <a:ext uri="{FF2B5EF4-FFF2-40B4-BE49-F238E27FC236}">
                  <a16:creationId xmlns:a16="http://schemas.microsoft.com/office/drawing/2014/main" id="{14F41AC9-9D99-9526-B1C6-8279FD2742F8}"/>
                </a:ext>
              </a:extLst>
            </p:cNvPr>
            <p:cNvSpPr txBox="1"/>
            <p:nvPr/>
          </p:nvSpPr>
          <p:spPr>
            <a:xfrm>
              <a:off x="6291272" y="1472457"/>
              <a:ext cx="312906" cy="338554"/>
            </a:xfrm>
            <a:prstGeom prst="rect">
              <a:avLst/>
            </a:prstGeom>
            <a:noFill/>
          </p:spPr>
          <p:txBody>
            <a:bodyPr wrap="none" rtlCol="0">
              <a:spAutoFit/>
            </a:bodyPr>
            <a:lstStyle/>
            <a:p>
              <a:r>
                <a:rPr lang="en-US" sz="800" dirty="0">
                  <a:solidFill>
                    <a:schemeClr val="tx2">
                      <a:lumMod val="20000"/>
                      <a:lumOff val="80000"/>
                    </a:schemeClr>
                  </a:solidFill>
                </a:rPr>
                <a:t>1.1</a:t>
              </a:r>
            </a:p>
            <a:p>
              <a:r>
                <a:rPr lang="en-US" sz="800" dirty="0">
                  <a:solidFill>
                    <a:schemeClr val="tx2">
                      <a:lumMod val="20000"/>
                      <a:lumOff val="80000"/>
                    </a:schemeClr>
                  </a:solidFill>
                </a:rPr>
                <a:t>1.2</a:t>
              </a:r>
            </a:p>
          </p:txBody>
        </p:sp>
        <p:sp>
          <p:nvSpPr>
            <p:cNvPr id="30" name="Rectangle 29">
              <a:extLst>
                <a:ext uri="{FF2B5EF4-FFF2-40B4-BE49-F238E27FC236}">
                  <a16:creationId xmlns:a16="http://schemas.microsoft.com/office/drawing/2014/main" id="{63242C43-F390-2235-DB8D-9BE39A6E266F}"/>
                </a:ext>
              </a:extLst>
            </p:cNvPr>
            <p:cNvSpPr/>
            <p:nvPr/>
          </p:nvSpPr>
          <p:spPr>
            <a:xfrm>
              <a:off x="5747136" y="2841703"/>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EDC0789-0257-E1A1-311E-99DF7E0B6A4E}"/>
                </a:ext>
              </a:extLst>
            </p:cNvPr>
            <p:cNvSpPr/>
            <p:nvPr/>
          </p:nvSpPr>
          <p:spPr>
            <a:xfrm>
              <a:off x="5747136" y="3117068"/>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59271F-DFB3-A1B7-6CC7-C8D55D74B78B}"/>
                </a:ext>
              </a:extLst>
            </p:cNvPr>
            <p:cNvSpPr/>
            <p:nvPr/>
          </p:nvSpPr>
          <p:spPr>
            <a:xfrm>
              <a:off x="5747136" y="3392433"/>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67A5904-6634-3816-5A63-FB02C91D8027}"/>
                </a:ext>
              </a:extLst>
            </p:cNvPr>
            <p:cNvSpPr/>
            <p:nvPr/>
          </p:nvSpPr>
          <p:spPr>
            <a:xfrm>
              <a:off x="5747136" y="3667798"/>
              <a:ext cx="937904" cy="95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A43D18A-98C0-C9FF-84B6-23B203676569}"/>
                </a:ext>
              </a:extLst>
            </p:cNvPr>
            <p:cNvSpPr/>
            <p:nvPr/>
          </p:nvSpPr>
          <p:spPr>
            <a:xfrm>
              <a:off x="6967941" y="2841703"/>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34760D9-5293-E428-BF4B-4098CB654EC1}"/>
                </a:ext>
              </a:extLst>
            </p:cNvPr>
            <p:cNvSpPr/>
            <p:nvPr/>
          </p:nvSpPr>
          <p:spPr>
            <a:xfrm>
              <a:off x="6967941" y="3392433"/>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58718D8-0441-0951-D6D2-A27EBD0B475B}"/>
                </a:ext>
              </a:extLst>
            </p:cNvPr>
            <p:cNvSpPr/>
            <p:nvPr/>
          </p:nvSpPr>
          <p:spPr>
            <a:xfrm>
              <a:off x="6967941" y="3667798"/>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07A6E60-D815-5839-D5B1-77CA231E9D04}"/>
                </a:ext>
              </a:extLst>
            </p:cNvPr>
            <p:cNvSpPr/>
            <p:nvPr/>
          </p:nvSpPr>
          <p:spPr>
            <a:xfrm>
              <a:off x="6967941" y="3221406"/>
              <a:ext cx="937904" cy="95693"/>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92CF951-B309-DEF8-84C8-2A6ED7786E9D}"/>
                </a:ext>
              </a:extLst>
            </p:cNvPr>
            <p:cNvSpPr/>
            <p:nvPr/>
          </p:nvSpPr>
          <p:spPr>
            <a:xfrm>
              <a:off x="8151848" y="2841703"/>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CE408D2-2957-B9DB-381F-58868C4A66BC}"/>
                </a:ext>
              </a:extLst>
            </p:cNvPr>
            <p:cNvSpPr/>
            <p:nvPr/>
          </p:nvSpPr>
          <p:spPr>
            <a:xfrm>
              <a:off x="8151848" y="3117068"/>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196E61-9466-1631-FD04-38A280857D14}"/>
                </a:ext>
              </a:extLst>
            </p:cNvPr>
            <p:cNvSpPr/>
            <p:nvPr/>
          </p:nvSpPr>
          <p:spPr>
            <a:xfrm>
              <a:off x="8151848" y="3667798"/>
              <a:ext cx="937904" cy="9569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0435EFA-3274-CD45-C56D-E0375DDEC8C6}"/>
                </a:ext>
              </a:extLst>
            </p:cNvPr>
            <p:cNvSpPr txBox="1"/>
            <p:nvPr/>
          </p:nvSpPr>
          <p:spPr>
            <a:xfrm>
              <a:off x="5419802" y="2688482"/>
              <a:ext cx="317716" cy="369332"/>
            </a:xfrm>
            <a:prstGeom prst="rect">
              <a:avLst/>
            </a:prstGeom>
            <a:noFill/>
          </p:spPr>
          <p:txBody>
            <a:bodyPr wrap="none" rtlCol="0">
              <a:spAutoFit/>
            </a:bodyPr>
            <a:lstStyle/>
            <a:p>
              <a:r>
                <a:rPr lang="en-US" dirty="0"/>
                <a:t>A</a:t>
              </a:r>
            </a:p>
          </p:txBody>
        </p:sp>
        <p:sp>
          <p:nvSpPr>
            <p:cNvPr id="42" name="TextBox 41">
              <a:extLst>
                <a:ext uri="{FF2B5EF4-FFF2-40B4-BE49-F238E27FC236}">
                  <a16:creationId xmlns:a16="http://schemas.microsoft.com/office/drawing/2014/main" id="{71B787F2-A06B-778F-6167-5CE2FCC055D3}"/>
                </a:ext>
              </a:extLst>
            </p:cNvPr>
            <p:cNvSpPr txBox="1"/>
            <p:nvPr/>
          </p:nvSpPr>
          <p:spPr>
            <a:xfrm>
              <a:off x="5419802" y="2962121"/>
              <a:ext cx="309700" cy="369332"/>
            </a:xfrm>
            <a:prstGeom prst="rect">
              <a:avLst/>
            </a:prstGeom>
            <a:noFill/>
          </p:spPr>
          <p:txBody>
            <a:bodyPr wrap="none" rtlCol="0">
              <a:spAutoFit/>
            </a:bodyPr>
            <a:lstStyle/>
            <a:p>
              <a:r>
                <a:rPr lang="en-US" dirty="0"/>
                <a:t>B</a:t>
              </a:r>
            </a:p>
          </p:txBody>
        </p:sp>
        <p:sp>
          <p:nvSpPr>
            <p:cNvPr id="43" name="TextBox 42">
              <a:extLst>
                <a:ext uri="{FF2B5EF4-FFF2-40B4-BE49-F238E27FC236}">
                  <a16:creationId xmlns:a16="http://schemas.microsoft.com/office/drawing/2014/main" id="{02A2BEE3-866A-30EE-DF04-A1DC5113D14D}"/>
                </a:ext>
              </a:extLst>
            </p:cNvPr>
            <p:cNvSpPr txBox="1"/>
            <p:nvPr/>
          </p:nvSpPr>
          <p:spPr>
            <a:xfrm>
              <a:off x="5419802" y="3241546"/>
              <a:ext cx="308098" cy="369332"/>
            </a:xfrm>
            <a:prstGeom prst="rect">
              <a:avLst/>
            </a:prstGeom>
            <a:noFill/>
          </p:spPr>
          <p:txBody>
            <a:bodyPr wrap="none" rtlCol="0">
              <a:spAutoFit/>
            </a:bodyPr>
            <a:lstStyle/>
            <a:p>
              <a:r>
                <a:rPr lang="en-US" dirty="0"/>
                <a:t>C</a:t>
              </a:r>
            </a:p>
          </p:txBody>
        </p:sp>
        <p:sp>
          <p:nvSpPr>
            <p:cNvPr id="44" name="TextBox 43">
              <a:extLst>
                <a:ext uri="{FF2B5EF4-FFF2-40B4-BE49-F238E27FC236}">
                  <a16:creationId xmlns:a16="http://schemas.microsoft.com/office/drawing/2014/main" id="{A0ADD1B7-A76B-A27C-524E-500D09C6603F}"/>
                </a:ext>
              </a:extLst>
            </p:cNvPr>
            <p:cNvSpPr txBox="1"/>
            <p:nvPr/>
          </p:nvSpPr>
          <p:spPr>
            <a:xfrm>
              <a:off x="5419802" y="3560697"/>
              <a:ext cx="327334" cy="369332"/>
            </a:xfrm>
            <a:prstGeom prst="rect">
              <a:avLst/>
            </a:prstGeom>
            <a:noFill/>
          </p:spPr>
          <p:txBody>
            <a:bodyPr wrap="none" rtlCol="0">
              <a:spAutoFit/>
            </a:bodyPr>
            <a:lstStyle/>
            <a:p>
              <a:r>
                <a:rPr lang="en-US" dirty="0"/>
                <a:t>D</a:t>
              </a:r>
            </a:p>
          </p:txBody>
        </p:sp>
        <p:sp>
          <p:nvSpPr>
            <p:cNvPr id="45" name="Rectangle 44">
              <a:extLst>
                <a:ext uri="{FF2B5EF4-FFF2-40B4-BE49-F238E27FC236}">
                  <a16:creationId xmlns:a16="http://schemas.microsoft.com/office/drawing/2014/main" id="{897711AE-FBE0-4179-8292-A00FC494C678}"/>
                </a:ext>
              </a:extLst>
            </p:cNvPr>
            <p:cNvSpPr/>
            <p:nvPr/>
          </p:nvSpPr>
          <p:spPr>
            <a:xfrm>
              <a:off x="8151848" y="3491801"/>
              <a:ext cx="937904" cy="95693"/>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1B2E3D1-6D48-7734-407F-E3493CADD6E9}"/>
                </a:ext>
              </a:extLst>
            </p:cNvPr>
            <p:cNvSpPr txBox="1"/>
            <p:nvPr/>
          </p:nvSpPr>
          <p:spPr>
            <a:xfrm>
              <a:off x="5895336" y="2465093"/>
              <a:ext cx="761899" cy="307777"/>
            </a:xfrm>
            <a:prstGeom prst="rect">
              <a:avLst/>
            </a:prstGeom>
            <a:noFill/>
          </p:spPr>
          <p:txBody>
            <a:bodyPr wrap="square" rtlCol="0">
              <a:spAutoFit/>
            </a:bodyPr>
            <a:lstStyle/>
            <a:p>
              <a:r>
                <a:rPr lang="en-US" sz="1400" dirty="0"/>
                <a:t>gene 1</a:t>
              </a:r>
            </a:p>
          </p:txBody>
        </p:sp>
        <p:sp>
          <p:nvSpPr>
            <p:cNvPr id="47" name="TextBox 46">
              <a:extLst>
                <a:ext uri="{FF2B5EF4-FFF2-40B4-BE49-F238E27FC236}">
                  <a16:creationId xmlns:a16="http://schemas.microsoft.com/office/drawing/2014/main" id="{C0B6FEC5-1D81-06FF-D514-E4190DD9720C}"/>
                </a:ext>
              </a:extLst>
            </p:cNvPr>
            <p:cNvSpPr txBox="1"/>
            <p:nvPr/>
          </p:nvSpPr>
          <p:spPr>
            <a:xfrm>
              <a:off x="7035259" y="2446156"/>
              <a:ext cx="761899" cy="307777"/>
            </a:xfrm>
            <a:prstGeom prst="rect">
              <a:avLst/>
            </a:prstGeom>
            <a:noFill/>
          </p:spPr>
          <p:txBody>
            <a:bodyPr wrap="square" rtlCol="0">
              <a:spAutoFit/>
            </a:bodyPr>
            <a:lstStyle/>
            <a:p>
              <a:r>
                <a:rPr lang="en-US" sz="1400" dirty="0"/>
                <a:t>gene 2</a:t>
              </a:r>
            </a:p>
          </p:txBody>
        </p:sp>
        <p:sp>
          <p:nvSpPr>
            <p:cNvPr id="48" name="TextBox 47">
              <a:extLst>
                <a:ext uri="{FF2B5EF4-FFF2-40B4-BE49-F238E27FC236}">
                  <a16:creationId xmlns:a16="http://schemas.microsoft.com/office/drawing/2014/main" id="{EEABCA6D-2470-6E81-661F-B8D6D6FD3A33}"/>
                </a:ext>
              </a:extLst>
            </p:cNvPr>
            <p:cNvSpPr txBox="1"/>
            <p:nvPr/>
          </p:nvSpPr>
          <p:spPr>
            <a:xfrm>
              <a:off x="8278218" y="2446156"/>
              <a:ext cx="761899" cy="307777"/>
            </a:xfrm>
            <a:prstGeom prst="rect">
              <a:avLst/>
            </a:prstGeom>
            <a:noFill/>
          </p:spPr>
          <p:txBody>
            <a:bodyPr wrap="square" rtlCol="0">
              <a:spAutoFit/>
            </a:bodyPr>
            <a:lstStyle/>
            <a:p>
              <a:r>
                <a:rPr lang="en-US" sz="1400" dirty="0"/>
                <a:t>gene 3</a:t>
              </a:r>
            </a:p>
          </p:txBody>
        </p:sp>
        <p:sp>
          <p:nvSpPr>
            <p:cNvPr id="49" name="TextBox 48">
              <a:extLst>
                <a:ext uri="{FF2B5EF4-FFF2-40B4-BE49-F238E27FC236}">
                  <a16:creationId xmlns:a16="http://schemas.microsoft.com/office/drawing/2014/main" id="{CD31E4B7-EB55-793A-742D-397B36D0F17B}"/>
                </a:ext>
              </a:extLst>
            </p:cNvPr>
            <p:cNvSpPr txBox="1"/>
            <p:nvPr/>
          </p:nvSpPr>
          <p:spPr>
            <a:xfrm>
              <a:off x="7640705" y="3052879"/>
              <a:ext cx="312906" cy="338554"/>
            </a:xfrm>
            <a:prstGeom prst="rect">
              <a:avLst/>
            </a:prstGeom>
            <a:noFill/>
          </p:spPr>
          <p:txBody>
            <a:bodyPr wrap="none" rtlCol="0">
              <a:spAutoFit/>
            </a:bodyPr>
            <a:lstStyle/>
            <a:p>
              <a:endParaRPr lang="en-US" sz="800" dirty="0"/>
            </a:p>
            <a:p>
              <a:r>
                <a:rPr lang="en-US" sz="800" dirty="0"/>
                <a:t>2.2</a:t>
              </a:r>
            </a:p>
          </p:txBody>
        </p:sp>
        <p:sp>
          <p:nvSpPr>
            <p:cNvPr id="50" name="TextBox 49">
              <a:extLst>
                <a:ext uri="{FF2B5EF4-FFF2-40B4-BE49-F238E27FC236}">
                  <a16:creationId xmlns:a16="http://schemas.microsoft.com/office/drawing/2014/main" id="{71B5B87E-F3E1-9BE2-104E-84E75A59B574}"/>
                </a:ext>
              </a:extLst>
            </p:cNvPr>
            <p:cNvSpPr txBox="1"/>
            <p:nvPr/>
          </p:nvSpPr>
          <p:spPr>
            <a:xfrm>
              <a:off x="6426219" y="3609059"/>
              <a:ext cx="312906" cy="215444"/>
            </a:xfrm>
            <a:prstGeom prst="rect">
              <a:avLst/>
            </a:prstGeom>
            <a:noFill/>
          </p:spPr>
          <p:txBody>
            <a:bodyPr wrap="none" rtlCol="0">
              <a:spAutoFit/>
            </a:bodyPr>
            <a:lstStyle/>
            <a:p>
              <a:r>
                <a:rPr lang="en-US" sz="800" dirty="0">
                  <a:solidFill>
                    <a:schemeClr val="tx2">
                      <a:lumMod val="20000"/>
                      <a:lumOff val="80000"/>
                    </a:schemeClr>
                  </a:solidFill>
                </a:rPr>
                <a:t>1.1</a:t>
              </a:r>
            </a:p>
          </p:txBody>
        </p:sp>
        <p:sp>
          <p:nvSpPr>
            <p:cNvPr id="51" name="TextBox 50">
              <a:extLst>
                <a:ext uri="{FF2B5EF4-FFF2-40B4-BE49-F238E27FC236}">
                  <a16:creationId xmlns:a16="http://schemas.microsoft.com/office/drawing/2014/main" id="{6C72D037-89AC-E32D-A48D-48DE531B3CD7}"/>
                </a:ext>
              </a:extLst>
            </p:cNvPr>
            <p:cNvSpPr txBox="1"/>
            <p:nvPr/>
          </p:nvSpPr>
          <p:spPr>
            <a:xfrm>
              <a:off x="8831094" y="3314857"/>
              <a:ext cx="312906" cy="338554"/>
            </a:xfrm>
            <a:prstGeom prst="rect">
              <a:avLst/>
            </a:prstGeom>
            <a:noFill/>
          </p:spPr>
          <p:txBody>
            <a:bodyPr wrap="none" rtlCol="0">
              <a:spAutoFit/>
            </a:bodyPr>
            <a:lstStyle/>
            <a:p>
              <a:endParaRPr lang="en-US" sz="800" dirty="0"/>
            </a:p>
            <a:p>
              <a:r>
                <a:rPr lang="en-US" sz="800" dirty="0"/>
                <a:t>3.2</a:t>
              </a:r>
            </a:p>
          </p:txBody>
        </p:sp>
        <p:sp>
          <p:nvSpPr>
            <p:cNvPr id="52" name="Down Arrow 63">
              <a:extLst>
                <a:ext uri="{FF2B5EF4-FFF2-40B4-BE49-F238E27FC236}">
                  <a16:creationId xmlns:a16="http://schemas.microsoft.com/office/drawing/2014/main" id="{2919BAF1-14A7-ECFF-57C1-C20471F01C4B}"/>
                </a:ext>
              </a:extLst>
            </p:cNvPr>
            <p:cNvSpPr/>
            <p:nvPr/>
          </p:nvSpPr>
          <p:spPr>
            <a:xfrm>
              <a:off x="7301946" y="1888597"/>
              <a:ext cx="338759" cy="535257"/>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483222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D8C310-8137-B6AE-F840-397C11FB173B}"/>
              </a:ext>
            </a:extLst>
          </p:cNvPr>
          <p:cNvPicPr>
            <a:picLocks noChangeAspect="1"/>
          </p:cNvPicPr>
          <p:nvPr/>
        </p:nvPicPr>
        <p:blipFill>
          <a:blip r:embed="rId2"/>
          <a:stretch>
            <a:fillRect/>
          </a:stretch>
        </p:blipFill>
        <p:spPr>
          <a:xfrm>
            <a:off x="4847904" y="1102533"/>
            <a:ext cx="7144121" cy="4675821"/>
          </a:xfrm>
          <a:prstGeom prst="rect">
            <a:avLst/>
          </a:prstGeom>
        </p:spPr>
      </p:pic>
      <p:sp>
        <p:nvSpPr>
          <p:cNvPr id="5" name="TextBox 4">
            <a:extLst>
              <a:ext uri="{FF2B5EF4-FFF2-40B4-BE49-F238E27FC236}">
                <a16:creationId xmlns:a16="http://schemas.microsoft.com/office/drawing/2014/main" id="{FBF1453C-501E-26B0-594B-545B11B710E2}"/>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Paralogia e filogenômica</a:t>
            </a:r>
          </a:p>
        </p:txBody>
      </p:sp>
      <p:sp>
        <p:nvSpPr>
          <p:cNvPr id="7" name="TextBox 6">
            <a:extLst>
              <a:ext uri="{FF2B5EF4-FFF2-40B4-BE49-F238E27FC236}">
                <a16:creationId xmlns:a16="http://schemas.microsoft.com/office/drawing/2014/main" id="{2925D1A7-01EB-413B-7655-FAF9E1575831}"/>
              </a:ext>
            </a:extLst>
          </p:cNvPr>
          <p:cNvSpPr txBox="1"/>
          <p:nvPr/>
        </p:nvSpPr>
        <p:spPr>
          <a:xfrm>
            <a:off x="685668" y="1364143"/>
            <a:ext cx="4162236" cy="4708981"/>
          </a:xfrm>
          <a:prstGeom prst="rect">
            <a:avLst/>
          </a:prstGeom>
          <a:noFill/>
        </p:spPr>
        <p:txBody>
          <a:bodyPr wrap="square" rtlCol="0">
            <a:spAutoFit/>
          </a:bodyPr>
          <a:lstStyle/>
          <a:p>
            <a:endParaRPr lang="pt-BR" sz="2000" dirty="0"/>
          </a:p>
          <a:p>
            <a:pPr marL="342900" indent="-342900">
              <a:buFontTx/>
              <a:buChar char="-"/>
            </a:pPr>
            <a:r>
              <a:rPr lang="pt-BR" sz="2000" dirty="0"/>
              <a:t>Outra opção mais trabalhosa é analisar a posição de grupos de </a:t>
            </a:r>
            <a:r>
              <a:rPr lang="pt-BR" sz="2000" dirty="0" err="1"/>
              <a:t>parálogos</a:t>
            </a:r>
            <a:r>
              <a:rPr lang="pt-BR" sz="2000" dirty="0"/>
              <a:t> nas árvores de genes e então filtrar os </a:t>
            </a:r>
            <a:r>
              <a:rPr lang="pt-BR" sz="2000" dirty="0" err="1"/>
              <a:t>ortólogos</a:t>
            </a:r>
            <a:endParaRPr lang="pt-BR" sz="2000" dirty="0"/>
          </a:p>
          <a:p>
            <a:pPr marL="342900" indent="-342900">
              <a:buFontTx/>
              <a:buChar char="-"/>
            </a:pPr>
            <a:endParaRPr lang="pt-BR" sz="2000" dirty="0"/>
          </a:p>
          <a:p>
            <a:pPr marL="342900" indent="-342900">
              <a:buFontTx/>
              <a:buChar char="-"/>
            </a:pPr>
            <a:r>
              <a:rPr lang="pt-BR" sz="2000" dirty="0"/>
              <a:t>Pode não trazer muita resolução em árvores muito grandes com um escopo amplo</a:t>
            </a:r>
          </a:p>
          <a:p>
            <a:pPr marL="342900" indent="-342900">
              <a:buFontTx/>
              <a:buChar char="-"/>
            </a:pPr>
            <a:endParaRPr lang="pt-BR" sz="2000" dirty="0"/>
          </a:p>
          <a:p>
            <a:pPr marL="342900" indent="-342900">
              <a:buFontTx/>
              <a:buChar char="-"/>
            </a:pPr>
            <a:r>
              <a:rPr lang="pt-BR" sz="2000" dirty="0"/>
              <a:t>Descrito por Yang &amp; Smith 2014, pipeline disponível aqui https://github.com/LarsNauheimer/Yang-and-Smith-paralogy-resolution-tutorial  </a:t>
            </a:r>
          </a:p>
        </p:txBody>
      </p:sp>
    </p:spTree>
    <p:extLst>
      <p:ext uri="{BB962C8B-B14F-4D97-AF65-F5344CB8AC3E}">
        <p14:creationId xmlns:p14="http://schemas.microsoft.com/office/powerpoint/2010/main" val="1236612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A139-EFE9-4366-4470-E664E4C29D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202390-E2A8-E098-C77B-D11C637EB759}"/>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Paralogia e filogenômica</a:t>
            </a:r>
          </a:p>
        </p:txBody>
      </p:sp>
      <p:sp>
        <p:nvSpPr>
          <p:cNvPr id="7" name="TextBox 6">
            <a:extLst>
              <a:ext uri="{FF2B5EF4-FFF2-40B4-BE49-F238E27FC236}">
                <a16:creationId xmlns:a16="http://schemas.microsoft.com/office/drawing/2014/main" id="{4F36A7E2-3A7C-90E8-6B2D-14BBE60A9704}"/>
              </a:ext>
            </a:extLst>
          </p:cNvPr>
          <p:cNvSpPr txBox="1"/>
          <p:nvPr/>
        </p:nvSpPr>
        <p:spPr>
          <a:xfrm>
            <a:off x="653011" y="1690061"/>
            <a:ext cx="5111450" cy="3477875"/>
          </a:xfrm>
          <a:prstGeom prst="rect">
            <a:avLst/>
          </a:prstGeom>
          <a:noFill/>
        </p:spPr>
        <p:txBody>
          <a:bodyPr wrap="square" rtlCol="0">
            <a:spAutoFit/>
          </a:bodyPr>
          <a:lstStyle/>
          <a:p>
            <a:endParaRPr lang="pt-BR" sz="2000" dirty="0"/>
          </a:p>
          <a:p>
            <a:pPr marL="342900" indent="-342900">
              <a:buFontTx/>
              <a:buChar char="-"/>
            </a:pPr>
            <a:r>
              <a:rPr lang="pt-BR" sz="2000" dirty="0"/>
              <a:t>Outra opção ainda mais trabalhosa e drástica é desenhar o conjunto de genes alvo tendo como alvo genes de poucas cópias</a:t>
            </a:r>
          </a:p>
          <a:p>
            <a:pPr marL="342900" indent="-342900">
              <a:buFontTx/>
              <a:buChar char="-"/>
            </a:pPr>
            <a:endParaRPr lang="pt-BR" sz="2000" dirty="0"/>
          </a:p>
          <a:p>
            <a:pPr marL="342900" indent="-342900">
              <a:buFontTx/>
              <a:buChar char="-"/>
            </a:pPr>
            <a:r>
              <a:rPr lang="pt-BR" sz="2000" dirty="0"/>
              <a:t>Isso pode ter consequências significativas, pois muitos desses genes mantidos em baixa cópia provavelmente estão sob pressão seletiva alta (em teoria preferimos genes neutros em filogenias)</a:t>
            </a:r>
          </a:p>
        </p:txBody>
      </p:sp>
      <p:pic>
        <p:nvPicPr>
          <p:cNvPr id="8" name="Picture 7">
            <a:extLst>
              <a:ext uri="{FF2B5EF4-FFF2-40B4-BE49-F238E27FC236}">
                <a16:creationId xmlns:a16="http://schemas.microsoft.com/office/drawing/2014/main" id="{AB5EF047-19FD-E707-DFCA-44D4226241CD}"/>
              </a:ext>
            </a:extLst>
          </p:cNvPr>
          <p:cNvPicPr>
            <a:picLocks noChangeAspect="1"/>
          </p:cNvPicPr>
          <p:nvPr/>
        </p:nvPicPr>
        <p:blipFill>
          <a:blip r:embed="rId2"/>
          <a:stretch>
            <a:fillRect/>
          </a:stretch>
        </p:blipFill>
        <p:spPr>
          <a:xfrm>
            <a:off x="6240029" y="1102533"/>
            <a:ext cx="5605538" cy="4851365"/>
          </a:xfrm>
          <a:prstGeom prst="rect">
            <a:avLst/>
          </a:prstGeom>
        </p:spPr>
      </p:pic>
    </p:spTree>
    <p:extLst>
      <p:ext uri="{BB962C8B-B14F-4D97-AF65-F5344CB8AC3E}">
        <p14:creationId xmlns:p14="http://schemas.microsoft.com/office/powerpoint/2010/main" val="1135753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6E5F-6F6A-24D6-036C-9F194914838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75B527A-551A-0753-53CD-D3CE907C686E}"/>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Paralogia e filogenômica</a:t>
            </a:r>
          </a:p>
        </p:txBody>
      </p:sp>
      <p:sp>
        <p:nvSpPr>
          <p:cNvPr id="7" name="TextBox 6">
            <a:extLst>
              <a:ext uri="{FF2B5EF4-FFF2-40B4-BE49-F238E27FC236}">
                <a16:creationId xmlns:a16="http://schemas.microsoft.com/office/drawing/2014/main" id="{DB00599F-3A2E-A350-5368-55353B75C8A1}"/>
              </a:ext>
            </a:extLst>
          </p:cNvPr>
          <p:cNvSpPr txBox="1"/>
          <p:nvPr/>
        </p:nvSpPr>
        <p:spPr>
          <a:xfrm>
            <a:off x="653010" y="1690061"/>
            <a:ext cx="4006075" cy="3477875"/>
          </a:xfrm>
          <a:prstGeom prst="rect">
            <a:avLst/>
          </a:prstGeom>
          <a:noFill/>
        </p:spPr>
        <p:txBody>
          <a:bodyPr wrap="square" rtlCol="0">
            <a:spAutoFit/>
          </a:bodyPr>
          <a:lstStyle/>
          <a:p>
            <a:pPr marL="342900" indent="-342900">
              <a:buFontTx/>
              <a:buChar char="-"/>
            </a:pPr>
            <a:r>
              <a:rPr lang="pt-BR" sz="2000" dirty="0"/>
              <a:t>Porém, há uma situação onde queremos </a:t>
            </a:r>
            <a:r>
              <a:rPr lang="pt-BR" sz="2000" dirty="0" err="1"/>
              <a:t>parálogos</a:t>
            </a:r>
            <a:r>
              <a:rPr lang="pt-BR" sz="2000" dirty="0"/>
              <a:t> – quando estamos estudando onde e quando duplicações genômicas ocorreram</a:t>
            </a:r>
          </a:p>
          <a:p>
            <a:pPr marL="342900" indent="-342900">
              <a:buFontTx/>
              <a:buChar char="-"/>
            </a:pPr>
            <a:endParaRPr lang="pt-BR" sz="2000" dirty="0"/>
          </a:p>
          <a:p>
            <a:pPr marL="342900" indent="-342900">
              <a:buFontTx/>
              <a:buChar char="-"/>
            </a:pPr>
            <a:r>
              <a:rPr lang="pt-BR" sz="2000" dirty="0"/>
              <a:t>Geralmente esses estudos são feitos com transcriptomas ou genomas, são necessários muito genes (mais de 10 mil) para obter sinal estatístico confiável </a:t>
            </a:r>
          </a:p>
        </p:txBody>
      </p:sp>
      <p:grpSp>
        <p:nvGrpSpPr>
          <p:cNvPr id="6" name="Group 5">
            <a:extLst>
              <a:ext uri="{FF2B5EF4-FFF2-40B4-BE49-F238E27FC236}">
                <a16:creationId xmlns:a16="http://schemas.microsoft.com/office/drawing/2014/main" id="{9D03F525-0E31-7220-E9BB-82585750E6A1}"/>
              </a:ext>
            </a:extLst>
          </p:cNvPr>
          <p:cNvGrpSpPr/>
          <p:nvPr/>
        </p:nvGrpSpPr>
        <p:grpSpPr>
          <a:xfrm>
            <a:off x="5470547" y="1364143"/>
            <a:ext cx="6212395" cy="4156968"/>
            <a:chOff x="5470547" y="1364143"/>
            <a:chExt cx="6212395" cy="4156968"/>
          </a:xfrm>
        </p:grpSpPr>
        <p:pic>
          <p:nvPicPr>
            <p:cNvPr id="3" name="Picture 2">
              <a:extLst>
                <a:ext uri="{FF2B5EF4-FFF2-40B4-BE49-F238E27FC236}">
                  <a16:creationId xmlns:a16="http://schemas.microsoft.com/office/drawing/2014/main" id="{27978AF4-9F56-F35F-F0A5-E6E08E9906A3}"/>
                </a:ext>
              </a:extLst>
            </p:cNvPr>
            <p:cNvPicPr>
              <a:picLocks noChangeAspect="1"/>
            </p:cNvPicPr>
            <p:nvPr/>
          </p:nvPicPr>
          <p:blipFill>
            <a:blip r:embed="rId2"/>
            <a:stretch>
              <a:fillRect/>
            </a:stretch>
          </p:blipFill>
          <p:spPr>
            <a:xfrm>
              <a:off x="5470547" y="1364143"/>
              <a:ext cx="6212395" cy="4156968"/>
            </a:xfrm>
            <a:prstGeom prst="rect">
              <a:avLst/>
            </a:prstGeom>
          </p:spPr>
        </p:pic>
        <p:sp>
          <p:nvSpPr>
            <p:cNvPr id="4" name="Rectangle 3">
              <a:extLst>
                <a:ext uri="{FF2B5EF4-FFF2-40B4-BE49-F238E27FC236}">
                  <a16:creationId xmlns:a16="http://schemas.microsoft.com/office/drawing/2014/main" id="{71A5D627-AA04-B847-A07E-9BEC8F315689}"/>
                </a:ext>
              </a:extLst>
            </p:cNvPr>
            <p:cNvSpPr/>
            <p:nvPr/>
          </p:nvSpPr>
          <p:spPr>
            <a:xfrm>
              <a:off x="9799320" y="5173980"/>
              <a:ext cx="1851660" cy="327660"/>
            </a:xfrm>
            <a:prstGeom prst="rect">
              <a:avLst/>
            </a:prstGeom>
            <a:solidFill>
              <a:srgbClr val="222A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222659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97E50-EA5A-9AB9-866F-9764A189AA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DC3C46-E473-18F3-891F-0180C8B00D8E}"/>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Hibridização/introgressão</a:t>
            </a:r>
          </a:p>
        </p:txBody>
      </p:sp>
      <p:sp>
        <p:nvSpPr>
          <p:cNvPr id="5" name="TextBox 4">
            <a:extLst>
              <a:ext uri="{FF2B5EF4-FFF2-40B4-BE49-F238E27FC236}">
                <a16:creationId xmlns:a16="http://schemas.microsoft.com/office/drawing/2014/main" id="{342BE089-B5E5-699D-E6CB-C9284B536016}"/>
              </a:ext>
            </a:extLst>
          </p:cNvPr>
          <p:cNvSpPr txBox="1"/>
          <p:nvPr/>
        </p:nvSpPr>
        <p:spPr>
          <a:xfrm>
            <a:off x="350903" y="1834718"/>
            <a:ext cx="5384072" cy="3785652"/>
          </a:xfrm>
          <a:prstGeom prst="rect">
            <a:avLst/>
          </a:prstGeom>
          <a:noFill/>
        </p:spPr>
        <p:txBody>
          <a:bodyPr wrap="square" rtlCol="0">
            <a:spAutoFit/>
          </a:bodyPr>
          <a:lstStyle/>
          <a:p>
            <a:pPr marL="800100" lvl="1" indent="-342900">
              <a:buFont typeface="Arial" panose="020B0604020202020204" pitchFamily="34" charset="0"/>
              <a:buChar char="•"/>
            </a:pPr>
            <a:r>
              <a:rPr lang="pt-BR" sz="2000" noProof="0" dirty="0"/>
              <a:t>Linhagens com origens hibridas pode levar a uma mistura de genes das populações parentais </a:t>
            </a:r>
          </a:p>
          <a:p>
            <a:pPr marL="800100" lvl="1" indent="-342900">
              <a:buFont typeface="Arial" panose="020B0604020202020204" pitchFamily="34" charset="0"/>
              <a:buChar char="•"/>
            </a:pPr>
            <a:r>
              <a:rPr lang="pt-BR" sz="2000" dirty="0"/>
              <a:t>Confunde a história evolutiva dependendo dos genes amostrados</a:t>
            </a:r>
          </a:p>
          <a:p>
            <a:pPr marL="800100" lvl="1" indent="-342900">
              <a:buFont typeface="Arial" panose="020B0604020202020204" pitchFamily="34" charset="0"/>
              <a:buChar char="•"/>
            </a:pPr>
            <a:r>
              <a:rPr lang="pt-BR" sz="2000" dirty="0"/>
              <a:t>Definição imprecisa de hibridização antiga ou recente na literatura</a:t>
            </a:r>
          </a:p>
          <a:p>
            <a:pPr marL="800100" lvl="1" indent="-342900">
              <a:buFont typeface="Arial" panose="020B0604020202020204" pitchFamily="34" charset="0"/>
              <a:buChar char="•"/>
            </a:pPr>
            <a:r>
              <a:rPr lang="pt-BR" sz="2000" dirty="0"/>
              <a:t>Estudos vêm demonstrando que hibridização teve um papel fundamental na evolução das plantas – revisão em </a:t>
            </a:r>
            <a:r>
              <a:rPr lang="pt-BR" sz="2000" dirty="0" err="1"/>
              <a:t>Stull</a:t>
            </a:r>
            <a:r>
              <a:rPr lang="pt-BR" sz="2000" dirty="0"/>
              <a:t> et al. 2023 (</a:t>
            </a:r>
            <a:r>
              <a:rPr lang="fr-FR" sz="2000" dirty="0"/>
              <a:t>https://doi.org/10.1111/tpj.16142)</a:t>
            </a:r>
            <a:endParaRPr lang="pt-BR" sz="2000" noProof="0" dirty="0"/>
          </a:p>
        </p:txBody>
      </p:sp>
      <p:pic>
        <p:nvPicPr>
          <p:cNvPr id="4" name="Picture 3">
            <a:extLst>
              <a:ext uri="{FF2B5EF4-FFF2-40B4-BE49-F238E27FC236}">
                <a16:creationId xmlns:a16="http://schemas.microsoft.com/office/drawing/2014/main" id="{1109E6F9-129E-0826-269E-7B121DE08E93}"/>
              </a:ext>
            </a:extLst>
          </p:cNvPr>
          <p:cNvPicPr>
            <a:picLocks noChangeAspect="1"/>
          </p:cNvPicPr>
          <p:nvPr/>
        </p:nvPicPr>
        <p:blipFill>
          <a:blip r:embed="rId2"/>
          <a:stretch>
            <a:fillRect/>
          </a:stretch>
        </p:blipFill>
        <p:spPr>
          <a:xfrm>
            <a:off x="5947243" y="1834718"/>
            <a:ext cx="5978576" cy="3493364"/>
          </a:xfrm>
          <a:prstGeom prst="rect">
            <a:avLst/>
          </a:prstGeom>
        </p:spPr>
      </p:pic>
    </p:spTree>
    <p:extLst>
      <p:ext uri="{BB962C8B-B14F-4D97-AF65-F5344CB8AC3E}">
        <p14:creationId xmlns:p14="http://schemas.microsoft.com/office/powerpoint/2010/main" val="3218746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5BA8-2C69-DC80-5E1D-E1B7CED4BF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C0D796-132E-8D2D-48F7-EDFD2376B6EB}"/>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Hibridização antiga (ou ancestral)</a:t>
            </a:r>
          </a:p>
        </p:txBody>
      </p:sp>
      <p:sp>
        <p:nvSpPr>
          <p:cNvPr id="5" name="TextBox 4">
            <a:extLst>
              <a:ext uri="{FF2B5EF4-FFF2-40B4-BE49-F238E27FC236}">
                <a16:creationId xmlns:a16="http://schemas.microsoft.com/office/drawing/2014/main" id="{82588FD9-F989-7914-C2A6-0049CE71272D}"/>
              </a:ext>
            </a:extLst>
          </p:cNvPr>
          <p:cNvSpPr txBox="1"/>
          <p:nvPr/>
        </p:nvSpPr>
        <p:spPr>
          <a:xfrm>
            <a:off x="350903" y="2105560"/>
            <a:ext cx="5384072" cy="3170099"/>
          </a:xfrm>
          <a:prstGeom prst="rect">
            <a:avLst/>
          </a:prstGeom>
          <a:noFill/>
        </p:spPr>
        <p:txBody>
          <a:bodyPr wrap="square" rtlCol="0">
            <a:spAutoFit/>
          </a:bodyPr>
          <a:lstStyle/>
          <a:p>
            <a:pPr marL="800100" lvl="1" indent="-342900">
              <a:buFont typeface="Arial" panose="020B0604020202020204" pitchFamily="34" charset="0"/>
              <a:buChar char="•"/>
            </a:pPr>
            <a:r>
              <a:rPr lang="pt-BR" sz="2000" noProof="0" dirty="0"/>
              <a:t>(i) Fluxo gênico entre as linhagens encerrado</a:t>
            </a:r>
          </a:p>
          <a:p>
            <a:pPr marL="800100" lvl="1" indent="-342900">
              <a:buFont typeface="Arial" panose="020B0604020202020204" pitchFamily="34" charset="0"/>
              <a:buChar char="•"/>
            </a:pPr>
            <a:endParaRPr lang="pt-BR" sz="2000" noProof="0" dirty="0"/>
          </a:p>
          <a:p>
            <a:pPr marL="800100" lvl="1" indent="-342900">
              <a:buFont typeface="Arial" panose="020B0604020202020204" pitchFamily="34" charset="0"/>
              <a:buChar char="•"/>
            </a:pPr>
            <a:r>
              <a:rPr lang="pt-BR" sz="2000" noProof="0" dirty="0"/>
              <a:t>(</a:t>
            </a:r>
            <a:r>
              <a:rPr lang="pt-BR" sz="2000" noProof="0" dirty="0" err="1"/>
              <a:t>ii</a:t>
            </a:r>
            <a:r>
              <a:rPr lang="pt-BR" sz="2000" noProof="0" dirty="0"/>
              <a:t>) os genomas nas populações híbridas foi estabilizado </a:t>
            </a:r>
          </a:p>
          <a:p>
            <a:pPr marL="800100" lvl="1" indent="-342900">
              <a:buFont typeface="Arial" panose="020B0604020202020204" pitchFamily="34" charset="0"/>
              <a:buChar char="•"/>
            </a:pPr>
            <a:endParaRPr lang="pt-BR" sz="2000" noProof="0" dirty="0"/>
          </a:p>
          <a:p>
            <a:pPr marL="800100" lvl="1" indent="-342900">
              <a:buFont typeface="Arial" panose="020B0604020202020204" pitchFamily="34" charset="0"/>
              <a:buChar char="•"/>
            </a:pPr>
            <a:r>
              <a:rPr lang="pt-BR" sz="2000" noProof="0" dirty="0"/>
              <a:t>(</a:t>
            </a:r>
            <a:r>
              <a:rPr lang="pt-BR" sz="2000" noProof="0" dirty="0" err="1"/>
              <a:t>iii</a:t>
            </a:r>
            <a:r>
              <a:rPr lang="pt-BR" sz="2000" noProof="0" dirty="0"/>
              <a:t>) a linhagem de origem híbrida subsequentemente diversificou ou passou por um período de </a:t>
            </a:r>
            <a:r>
              <a:rPr lang="pt-BR" sz="2000" dirty="0"/>
              <a:t>a</a:t>
            </a:r>
            <a:r>
              <a:rPr lang="pt-BR" sz="2000" noProof="0" dirty="0" err="1"/>
              <a:t>nagênese</a:t>
            </a:r>
            <a:r>
              <a:rPr lang="pt-BR" sz="2000" noProof="0" dirty="0"/>
              <a:t> apos estabilização genômica/evolutiva</a:t>
            </a:r>
            <a:endParaRPr lang="pt-BR" sz="2400" noProof="0" dirty="0"/>
          </a:p>
        </p:txBody>
      </p:sp>
      <p:pic>
        <p:nvPicPr>
          <p:cNvPr id="2" name="Picture 1" descr="Details are in the caption following the image">
            <a:extLst>
              <a:ext uri="{FF2B5EF4-FFF2-40B4-BE49-F238E27FC236}">
                <a16:creationId xmlns:a16="http://schemas.microsoft.com/office/drawing/2014/main" id="{5E7B0604-4438-1CF2-0D61-B319077FE08E}"/>
              </a:ext>
            </a:extLst>
          </p:cNvPr>
          <p:cNvPicPr>
            <a:picLocks noChangeAspect="1"/>
          </p:cNvPicPr>
          <p:nvPr/>
        </p:nvPicPr>
        <p:blipFill>
          <a:blip r:embed="rId2"/>
          <a:stretch>
            <a:fillRect/>
          </a:stretch>
        </p:blipFill>
        <p:spPr>
          <a:xfrm>
            <a:off x="7129969" y="870246"/>
            <a:ext cx="3894899" cy="5146831"/>
          </a:xfrm>
          <a:prstGeom prst="rect">
            <a:avLst/>
          </a:prstGeom>
        </p:spPr>
      </p:pic>
    </p:spTree>
    <p:extLst>
      <p:ext uri="{BB962C8B-B14F-4D97-AF65-F5344CB8AC3E}">
        <p14:creationId xmlns:p14="http://schemas.microsoft.com/office/powerpoint/2010/main" val="1550886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5E34-0FF7-E992-EF29-11C38C9A62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66BFF7-36C9-016E-CA4D-6075861A1B86}"/>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Hibridização antiga (ou ancestral)</a:t>
            </a:r>
          </a:p>
        </p:txBody>
      </p:sp>
      <p:pic>
        <p:nvPicPr>
          <p:cNvPr id="4" name="Picture 3" descr="Details are in the caption following the image">
            <a:extLst>
              <a:ext uri="{FF2B5EF4-FFF2-40B4-BE49-F238E27FC236}">
                <a16:creationId xmlns:a16="http://schemas.microsoft.com/office/drawing/2014/main" id="{62581D0D-9BD6-0272-D638-80B980207FD3}"/>
              </a:ext>
            </a:extLst>
          </p:cNvPr>
          <p:cNvPicPr>
            <a:picLocks noChangeAspect="1"/>
          </p:cNvPicPr>
          <p:nvPr/>
        </p:nvPicPr>
        <p:blipFill>
          <a:blip r:embed="rId2"/>
          <a:stretch>
            <a:fillRect/>
          </a:stretch>
        </p:blipFill>
        <p:spPr>
          <a:xfrm>
            <a:off x="4687410" y="1435086"/>
            <a:ext cx="7251340" cy="4664984"/>
          </a:xfrm>
          <a:prstGeom prst="rect">
            <a:avLst/>
          </a:prstGeom>
        </p:spPr>
      </p:pic>
      <p:sp>
        <p:nvSpPr>
          <p:cNvPr id="6" name="TextBox 5">
            <a:extLst>
              <a:ext uri="{FF2B5EF4-FFF2-40B4-BE49-F238E27FC236}">
                <a16:creationId xmlns:a16="http://schemas.microsoft.com/office/drawing/2014/main" id="{2BEDEB63-2E06-D43C-B0FF-73FBEA39CB89}"/>
              </a:ext>
            </a:extLst>
          </p:cNvPr>
          <p:cNvSpPr txBox="1"/>
          <p:nvPr/>
        </p:nvSpPr>
        <p:spPr>
          <a:xfrm>
            <a:off x="830299" y="2228296"/>
            <a:ext cx="3266983" cy="2554545"/>
          </a:xfrm>
          <a:prstGeom prst="rect">
            <a:avLst/>
          </a:prstGeom>
          <a:noFill/>
        </p:spPr>
        <p:txBody>
          <a:bodyPr wrap="square" rtlCol="0">
            <a:spAutoFit/>
          </a:bodyPr>
          <a:lstStyle/>
          <a:p>
            <a:r>
              <a:rPr lang="pt-BR" sz="2000" noProof="0" dirty="0"/>
              <a:t>A detecção de evidências de hibridização antiga pode ser feita devido à diferente expectativa da distribuição de topologias alternativas nas árvores de genes sob ILS e introgressão.</a:t>
            </a:r>
          </a:p>
          <a:p>
            <a:endParaRPr lang="pt-BR" sz="2000" dirty="0"/>
          </a:p>
        </p:txBody>
      </p:sp>
    </p:spTree>
    <p:extLst>
      <p:ext uri="{BB962C8B-B14F-4D97-AF65-F5344CB8AC3E}">
        <p14:creationId xmlns:p14="http://schemas.microsoft.com/office/powerpoint/2010/main" val="1467086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966EE-0C33-6201-AC53-1E7C3E7BF9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A493B1-5C94-7DCB-B941-207B8F86EAD0}"/>
              </a:ext>
            </a:extLst>
          </p:cNvPr>
          <p:cNvSpPr txBox="1"/>
          <p:nvPr/>
        </p:nvSpPr>
        <p:spPr>
          <a:xfrm>
            <a:off x="759277" y="840923"/>
            <a:ext cx="8177254" cy="523220"/>
          </a:xfrm>
          <a:prstGeom prst="rect">
            <a:avLst/>
          </a:prstGeom>
          <a:noFill/>
        </p:spPr>
        <p:txBody>
          <a:bodyPr wrap="square" rtlCol="0">
            <a:spAutoFit/>
          </a:bodyPr>
          <a:lstStyle/>
          <a:p>
            <a:r>
              <a:rPr lang="pt-BR" sz="2800" dirty="0">
                <a:latin typeface="+mj-lt"/>
              </a:rPr>
              <a:t>Hibridização antiga (ou ancestral)</a:t>
            </a:r>
          </a:p>
        </p:txBody>
      </p:sp>
      <p:pic>
        <p:nvPicPr>
          <p:cNvPr id="4" name="Picture 3" descr="Details are in the caption following the image">
            <a:extLst>
              <a:ext uri="{FF2B5EF4-FFF2-40B4-BE49-F238E27FC236}">
                <a16:creationId xmlns:a16="http://schemas.microsoft.com/office/drawing/2014/main" id="{D43D0B4B-E0E3-DCA3-E83A-C59BF82838B5}"/>
              </a:ext>
            </a:extLst>
          </p:cNvPr>
          <p:cNvPicPr>
            <a:picLocks noChangeAspect="1"/>
          </p:cNvPicPr>
          <p:nvPr/>
        </p:nvPicPr>
        <p:blipFill>
          <a:blip r:embed="rId2"/>
          <a:stretch>
            <a:fillRect/>
          </a:stretch>
        </p:blipFill>
        <p:spPr>
          <a:xfrm>
            <a:off x="4687410" y="1435086"/>
            <a:ext cx="7251340" cy="4664984"/>
          </a:xfrm>
          <a:prstGeom prst="rect">
            <a:avLst/>
          </a:prstGeom>
        </p:spPr>
      </p:pic>
      <p:sp>
        <p:nvSpPr>
          <p:cNvPr id="6" name="TextBox 5">
            <a:extLst>
              <a:ext uri="{FF2B5EF4-FFF2-40B4-BE49-F238E27FC236}">
                <a16:creationId xmlns:a16="http://schemas.microsoft.com/office/drawing/2014/main" id="{4A8B180F-DEFE-A9A5-B84D-8CEAA739CF85}"/>
              </a:ext>
            </a:extLst>
          </p:cNvPr>
          <p:cNvSpPr txBox="1"/>
          <p:nvPr/>
        </p:nvSpPr>
        <p:spPr>
          <a:xfrm>
            <a:off x="830299" y="2228296"/>
            <a:ext cx="3266983" cy="2554545"/>
          </a:xfrm>
          <a:prstGeom prst="rect">
            <a:avLst/>
          </a:prstGeom>
          <a:noFill/>
        </p:spPr>
        <p:txBody>
          <a:bodyPr wrap="square" rtlCol="0">
            <a:spAutoFit/>
          </a:bodyPr>
          <a:lstStyle/>
          <a:p>
            <a:r>
              <a:rPr lang="pt-BR" sz="2000" noProof="0" dirty="0"/>
              <a:t>A detecção de evidências de hibridização antiga pode ser feita devido à diferente expectativa da distribuição de topologias alternativas nas árvores de genes sob ILS e introgressão.</a:t>
            </a:r>
          </a:p>
          <a:p>
            <a:endParaRPr lang="pt-BR" sz="2000" dirty="0"/>
          </a:p>
        </p:txBody>
      </p:sp>
    </p:spTree>
    <p:extLst>
      <p:ext uri="{BB962C8B-B14F-4D97-AF65-F5344CB8AC3E}">
        <p14:creationId xmlns:p14="http://schemas.microsoft.com/office/powerpoint/2010/main" val="3535626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2E481-687D-6434-2BED-97CC1F156AEF}"/>
              </a:ext>
            </a:extLst>
          </p:cNvPr>
          <p:cNvPicPr>
            <a:picLocks noChangeAspect="1"/>
          </p:cNvPicPr>
          <p:nvPr/>
        </p:nvPicPr>
        <p:blipFill>
          <a:blip r:embed="rId2"/>
          <a:stretch>
            <a:fillRect/>
          </a:stretch>
        </p:blipFill>
        <p:spPr>
          <a:xfrm>
            <a:off x="835270" y="893209"/>
            <a:ext cx="9144000" cy="992459"/>
          </a:xfrm>
          <a:prstGeom prst="rect">
            <a:avLst/>
          </a:prstGeom>
        </p:spPr>
      </p:pic>
      <p:pic>
        <p:nvPicPr>
          <p:cNvPr id="5" name="Picture 4">
            <a:extLst>
              <a:ext uri="{FF2B5EF4-FFF2-40B4-BE49-F238E27FC236}">
                <a16:creationId xmlns:a16="http://schemas.microsoft.com/office/drawing/2014/main" id="{CB987EBF-F1B5-1688-3789-12D6CEC07AFB}"/>
              </a:ext>
            </a:extLst>
          </p:cNvPr>
          <p:cNvPicPr>
            <a:picLocks noChangeAspect="1"/>
          </p:cNvPicPr>
          <p:nvPr/>
        </p:nvPicPr>
        <p:blipFill>
          <a:blip r:embed="rId3"/>
          <a:stretch>
            <a:fillRect/>
          </a:stretch>
        </p:blipFill>
        <p:spPr>
          <a:xfrm>
            <a:off x="965899" y="1885668"/>
            <a:ext cx="3654220" cy="4182052"/>
          </a:xfrm>
          <a:prstGeom prst="rect">
            <a:avLst/>
          </a:prstGeom>
        </p:spPr>
      </p:pic>
      <p:pic>
        <p:nvPicPr>
          <p:cNvPr id="7" name="Picture 6">
            <a:extLst>
              <a:ext uri="{FF2B5EF4-FFF2-40B4-BE49-F238E27FC236}">
                <a16:creationId xmlns:a16="http://schemas.microsoft.com/office/drawing/2014/main" id="{B7600627-9D3B-5247-1EE7-8974D5CE2C34}"/>
              </a:ext>
            </a:extLst>
          </p:cNvPr>
          <p:cNvPicPr>
            <a:picLocks noChangeAspect="1"/>
          </p:cNvPicPr>
          <p:nvPr/>
        </p:nvPicPr>
        <p:blipFill>
          <a:blip r:embed="rId4"/>
          <a:stretch>
            <a:fillRect/>
          </a:stretch>
        </p:blipFill>
        <p:spPr>
          <a:xfrm>
            <a:off x="4750543" y="2059797"/>
            <a:ext cx="5228727" cy="4007923"/>
          </a:xfrm>
          <a:prstGeom prst="rect">
            <a:avLst/>
          </a:prstGeom>
        </p:spPr>
      </p:pic>
    </p:spTree>
    <p:extLst>
      <p:ext uri="{BB962C8B-B14F-4D97-AF65-F5344CB8AC3E}">
        <p14:creationId xmlns:p14="http://schemas.microsoft.com/office/powerpoint/2010/main" val="29670136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29856F-864A-C945-D9F5-4B99DB8F69B6}"/>
              </a:ext>
            </a:extLst>
          </p:cNvPr>
          <p:cNvSpPr txBox="1"/>
          <p:nvPr/>
        </p:nvSpPr>
        <p:spPr>
          <a:xfrm>
            <a:off x="723951" y="1052081"/>
            <a:ext cx="10820297" cy="3785652"/>
          </a:xfrm>
          <a:prstGeom prst="rect">
            <a:avLst/>
          </a:prstGeom>
          <a:noFill/>
        </p:spPr>
        <p:txBody>
          <a:bodyPr wrap="square" rtlCol="0">
            <a:spAutoFit/>
          </a:bodyPr>
          <a:lstStyle/>
          <a:p>
            <a:pPr marL="285750" indent="-285750">
              <a:buFont typeface="Arial" panose="020B0604020202020204" pitchFamily="34" charset="0"/>
              <a:buChar char="•"/>
            </a:pPr>
            <a:r>
              <a:rPr lang="pt-BR" sz="2400" noProof="0" dirty="0"/>
              <a:t>Calcular redes filogenéticas é mais complicado do que calcular árvores bifurcadas, computacionalmente e estatisticamente</a:t>
            </a:r>
          </a:p>
          <a:p>
            <a:pPr marL="285750" indent="-285750">
              <a:buFont typeface="Arial" panose="020B0604020202020204" pitchFamily="34" charset="0"/>
              <a:buChar char="•"/>
            </a:pPr>
            <a:endParaRPr lang="pt-BR" sz="2400" noProof="0" dirty="0"/>
          </a:p>
          <a:p>
            <a:pPr marL="285750" indent="-285750">
              <a:buFont typeface="Arial" panose="020B0604020202020204" pitchFamily="34" charset="0"/>
              <a:buChar char="•"/>
            </a:pPr>
            <a:r>
              <a:rPr lang="pt-BR" sz="2400" noProof="0" dirty="0"/>
              <a:t>Modelos que levam em conta reticulação tem que acomodar outras causas de discordância, aumentando a complexidade</a:t>
            </a:r>
          </a:p>
          <a:p>
            <a:pPr marL="285750" indent="-285750">
              <a:buFont typeface="Arial" panose="020B0604020202020204" pitchFamily="34" charset="0"/>
              <a:buChar char="•"/>
            </a:pPr>
            <a:endParaRPr lang="pt-BR" sz="2400" noProof="0" dirty="0"/>
          </a:p>
          <a:p>
            <a:pPr marL="285750" indent="-285750">
              <a:buFont typeface="Arial" panose="020B0604020202020204" pitchFamily="34" charset="0"/>
              <a:buChar char="•"/>
            </a:pPr>
            <a:r>
              <a:rPr lang="pt-BR" sz="2400" noProof="0" dirty="0"/>
              <a:t>Maioria dos métodos são restritos no número de terminais que conseguem acomodar</a:t>
            </a:r>
          </a:p>
          <a:p>
            <a:pPr marL="285750" indent="-285750">
              <a:buFont typeface="Arial" panose="020B0604020202020204" pitchFamily="34" charset="0"/>
              <a:buChar char="•"/>
            </a:pPr>
            <a:endParaRPr lang="pt-BR" sz="2400" noProof="0" dirty="0"/>
          </a:p>
          <a:p>
            <a:pPr marL="285750" indent="-285750">
              <a:buFont typeface="Arial" panose="020B0604020202020204" pitchFamily="34" charset="0"/>
              <a:buChar char="•"/>
            </a:pPr>
            <a:r>
              <a:rPr lang="pt-BR" sz="2400" noProof="0" dirty="0"/>
              <a:t>A interpretação nem sempre é trivial</a:t>
            </a:r>
          </a:p>
        </p:txBody>
      </p:sp>
      <p:pic>
        <p:nvPicPr>
          <p:cNvPr id="4" name="Picture 3">
            <a:extLst>
              <a:ext uri="{FF2B5EF4-FFF2-40B4-BE49-F238E27FC236}">
                <a16:creationId xmlns:a16="http://schemas.microsoft.com/office/drawing/2014/main" id="{27B0647D-60FB-3DD0-CA43-B364A2741A04}"/>
              </a:ext>
            </a:extLst>
          </p:cNvPr>
          <p:cNvPicPr>
            <a:picLocks noChangeAspect="1"/>
          </p:cNvPicPr>
          <p:nvPr/>
        </p:nvPicPr>
        <p:blipFill>
          <a:blip r:embed="rId3"/>
          <a:stretch>
            <a:fillRect/>
          </a:stretch>
        </p:blipFill>
        <p:spPr>
          <a:xfrm>
            <a:off x="4090998" y="5008507"/>
            <a:ext cx="7405921" cy="1551795"/>
          </a:xfrm>
          <a:prstGeom prst="rect">
            <a:avLst/>
          </a:prstGeom>
        </p:spPr>
      </p:pic>
      <p:pic>
        <p:nvPicPr>
          <p:cNvPr id="6" name="Picture 5">
            <a:extLst>
              <a:ext uri="{FF2B5EF4-FFF2-40B4-BE49-F238E27FC236}">
                <a16:creationId xmlns:a16="http://schemas.microsoft.com/office/drawing/2014/main" id="{EE64955F-5BA4-A33F-5F1E-53DF4D70B300}"/>
              </a:ext>
            </a:extLst>
          </p:cNvPr>
          <p:cNvPicPr>
            <a:picLocks noChangeAspect="1"/>
          </p:cNvPicPr>
          <p:nvPr/>
        </p:nvPicPr>
        <p:blipFill>
          <a:blip r:embed="rId4"/>
          <a:stretch>
            <a:fillRect/>
          </a:stretch>
        </p:blipFill>
        <p:spPr>
          <a:xfrm>
            <a:off x="821012" y="5008507"/>
            <a:ext cx="3269986" cy="1803590"/>
          </a:xfrm>
          <a:prstGeom prst="rect">
            <a:avLst/>
          </a:prstGeom>
        </p:spPr>
      </p:pic>
    </p:spTree>
    <p:extLst>
      <p:ext uri="{BB962C8B-B14F-4D97-AF65-F5344CB8AC3E}">
        <p14:creationId xmlns:p14="http://schemas.microsoft.com/office/powerpoint/2010/main" val="174401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A8C6D9-911B-E6A5-85EE-0E7C5D00373F}"/>
              </a:ext>
            </a:extLst>
          </p:cNvPr>
          <p:cNvPicPr>
            <a:picLocks noChangeAspect="1"/>
          </p:cNvPicPr>
          <p:nvPr/>
        </p:nvPicPr>
        <p:blipFill>
          <a:blip r:embed="rId2"/>
          <a:stretch>
            <a:fillRect/>
          </a:stretch>
        </p:blipFill>
        <p:spPr>
          <a:xfrm>
            <a:off x="2811620" y="1478890"/>
            <a:ext cx="7106642" cy="4115374"/>
          </a:xfrm>
          <a:prstGeom prst="rect">
            <a:avLst/>
          </a:prstGeom>
        </p:spPr>
      </p:pic>
    </p:spTree>
    <p:extLst>
      <p:ext uri="{BB962C8B-B14F-4D97-AF65-F5344CB8AC3E}">
        <p14:creationId xmlns:p14="http://schemas.microsoft.com/office/powerpoint/2010/main" val="1766483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82E5F2-DA78-34EF-EFBC-2D5EC8CD4494}"/>
              </a:ext>
            </a:extLst>
          </p:cNvPr>
          <p:cNvPicPr>
            <a:picLocks noChangeAspect="1"/>
          </p:cNvPicPr>
          <p:nvPr/>
        </p:nvPicPr>
        <p:blipFill>
          <a:blip r:embed="rId2"/>
          <a:stretch>
            <a:fillRect/>
          </a:stretch>
        </p:blipFill>
        <p:spPr>
          <a:xfrm>
            <a:off x="2973425" y="1366221"/>
            <a:ext cx="8929851" cy="3475690"/>
          </a:xfrm>
          <a:prstGeom prst="rect">
            <a:avLst/>
          </a:prstGeom>
        </p:spPr>
      </p:pic>
      <p:pic>
        <p:nvPicPr>
          <p:cNvPr id="5" name="Picture 4">
            <a:extLst>
              <a:ext uri="{FF2B5EF4-FFF2-40B4-BE49-F238E27FC236}">
                <a16:creationId xmlns:a16="http://schemas.microsoft.com/office/drawing/2014/main" id="{EAEE3EBB-40F0-6495-D823-5ACCC30DBACC}"/>
              </a:ext>
            </a:extLst>
          </p:cNvPr>
          <p:cNvPicPr>
            <a:picLocks noChangeAspect="1"/>
          </p:cNvPicPr>
          <p:nvPr/>
        </p:nvPicPr>
        <p:blipFill>
          <a:blip r:embed="rId3"/>
          <a:stretch>
            <a:fillRect/>
          </a:stretch>
        </p:blipFill>
        <p:spPr>
          <a:xfrm>
            <a:off x="0" y="4297392"/>
            <a:ext cx="4421791" cy="2560608"/>
          </a:xfrm>
          <a:prstGeom prst="rect">
            <a:avLst/>
          </a:prstGeom>
        </p:spPr>
      </p:pic>
    </p:spTree>
    <p:extLst>
      <p:ext uri="{BB962C8B-B14F-4D97-AF65-F5344CB8AC3E}">
        <p14:creationId xmlns:p14="http://schemas.microsoft.com/office/powerpoint/2010/main" val="29696854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BC30665E-D592-446F-98EB-15F172A2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F8051CE-D26F-0645-8882-59967A0605B6}"/>
              </a:ext>
            </a:extLst>
          </p:cNvPr>
          <p:cNvSpPr txBox="1"/>
          <p:nvPr/>
        </p:nvSpPr>
        <p:spPr>
          <a:xfrm>
            <a:off x="703400" y="4702835"/>
            <a:ext cx="10801350" cy="978772"/>
          </a:xfrm>
          <a:prstGeom prst="rect">
            <a:avLst/>
          </a:prstGeom>
        </p:spPr>
        <p:txBody>
          <a:bodyPr vert="horz" lIns="91440" tIns="45720" rIns="91440" bIns="45720" rtlCol="0">
            <a:normAutofit/>
          </a:bodyPr>
          <a:lstStyle/>
          <a:p>
            <a:pPr>
              <a:lnSpc>
                <a:spcPct val="90000"/>
              </a:lnSpc>
              <a:spcBef>
                <a:spcPct val="0"/>
              </a:spcBef>
              <a:spcAft>
                <a:spcPts val="600"/>
              </a:spcAft>
            </a:pPr>
            <a:r>
              <a:rPr lang="en-US" sz="4200" b="1" cap="all" spc="30" dirty="0">
                <a:latin typeface="+mj-lt"/>
                <a:ea typeface="+mj-ea"/>
                <a:cs typeface="+mj-cs"/>
              </a:rPr>
              <a:t>Thinking beyond the bifurcating tree</a:t>
            </a:r>
          </a:p>
        </p:txBody>
      </p:sp>
      <p:pic>
        <p:nvPicPr>
          <p:cNvPr id="8" name="Picture 7">
            <a:extLst>
              <a:ext uri="{FF2B5EF4-FFF2-40B4-BE49-F238E27FC236}">
                <a16:creationId xmlns:a16="http://schemas.microsoft.com/office/drawing/2014/main" id="{84973A1D-C7BC-3E40-8B18-3152390AC911}"/>
              </a:ext>
            </a:extLst>
          </p:cNvPr>
          <p:cNvPicPr>
            <a:picLocks noChangeAspect="1"/>
          </p:cNvPicPr>
          <p:nvPr/>
        </p:nvPicPr>
        <p:blipFill>
          <a:blip r:embed="rId2">
            <a:extLst>
              <a:ext uri="{28A0092B-C50C-407E-A947-70E740481C1C}">
                <a14:useLocalDpi xmlns:a14="http://schemas.microsoft.com/office/drawing/2010/main" val="0"/>
              </a:ext>
            </a:extLst>
          </a:blip>
          <a:srcRect r="2" b="10163"/>
          <a:stretch>
            <a:fillRect/>
          </a:stretch>
        </p:blipFill>
        <p:spPr>
          <a:xfrm>
            <a:off x="800100" y="357912"/>
            <a:ext cx="10591800" cy="3806202"/>
          </a:xfrm>
          <a:prstGeom prst="rect">
            <a:avLst/>
          </a:prstGeom>
        </p:spPr>
      </p:pic>
      <p:cxnSp>
        <p:nvCxnSpPr>
          <p:cNvPr id="22" name="Straight Connector 2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53984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8631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3712</TotalTime>
  <Words>2178</Words>
  <Application>Microsoft Office PowerPoint</Application>
  <PresentationFormat>Widescreen</PresentationFormat>
  <Paragraphs>295</Paragraphs>
  <Slides>47</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Calisto MT</vt:lpstr>
      <vt:lpstr>Univers Condensed</vt:lpstr>
      <vt:lpstr>ChronicleVTI</vt:lpstr>
      <vt:lpstr>O modelo de coalescência multiespécies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reviewer</dc:creator>
  <cp:lastModifiedBy>reviewer</cp:lastModifiedBy>
  <cp:revision>19</cp:revision>
  <dcterms:created xsi:type="dcterms:W3CDTF">2026-10-07T19:37:58Z</dcterms:created>
  <dcterms:modified xsi:type="dcterms:W3CDTF">2026-10-21T22:54:36Z</dcterms:modified>
</cp:coreProperties>
</file>