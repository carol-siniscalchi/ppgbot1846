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77" r:id="rId11"/>
    <p:sldId id="278" r:id="rId12"/>
    <p:sldId id="279" r:id="rId13"/>
    <p:sldId id="280" r:id="rId14"/>
    <p:sldId id="370" r:id="rId15"/>
    <p:sldId id="266" r:id="rId16"/>
    <p:sldId id="350" r:id="rId17"/>
    <p:sldId id="351" r:id="rId18"/>
    <p:sldId id="352" r:id="rId19"/>
    <p:sldId id="353" r:id="rId20"/>
    <p:sldId id="371" r:id="rId21"/>
    <p:sldId id="354" r:id="rId22"/>
    <p:sldId id="356" r:id="rId23"/>
    <p:sldId id="357" r:id="rId24"/>
    <p:sldId id="358" r:id="rId25"/>
    <p:sldId id="359" r:id="rId26"/>
    <p:sldId id="360" r:id="rId27"/>
    <p:sldId id="36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40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26432-BBF4-4D9F-B141-87737D6733F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6ACCE-E5BF-4E38-A4C8-AC0C8AB1C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35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80EB50-C2C1-436F-81B0-DA5649B64E26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80EB50-C2C1-436F-81B0-DA5649B64E26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80EB50-C2C1-436F-81B0-DA5649B64E26}" type="slidenum">
              <a:rPr lang="fr-FR" smtClean="0"/>
              <a:pPr/>
              <a:t>10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80EB50-C2C1-436F-81B0-DA5649B64E26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17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21</a:t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D5BC-B451-4E41-A06C-DDA62657C087}" type="slidenum">
              <a:rPr lang="fr-FR" smtClean="0"/>
              <a:pPr/>
              <a:t>22</a:t>
            </a:fld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D5BC-B451-4E41-A06C-DDA62657C087}" type="slidenum">
              <a:rPr lang="fr-FR" smtClean="0"/>
              <a:pPr/>
              <a:t>23</a:t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D5BC-B451-4E41-A06C-DDA62657C087}" type="slidenum">
              <a:rPr lang="fr-FR" smtClean="0"/>
              <a:pPr/>
              <a:t>24</a:t>
            </a:fld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25</a:t>
            </a:fld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A8B-B6B7-497C-B3EE-139E52F42CC0}" type="slidenum">
              <a:rPr lang="fr-FR" smtClean="0"/>
              <a:pPr/>
              <a:t>26</a:t>
            </a:fld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D5BC-B451-4E41-A06C-DDA62657C087}" type="slidenum">
              <a:rPr lang="fr-FR" smtClean="0"/>
              <a:pPr/>
              <a:t>27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435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933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49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903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72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56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57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59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479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222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08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1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12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gif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0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AC4440-8C11-4E3A-9756-5BFDA56C5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933A5F-47AC-1045-11BD-C3F640ABB04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7690" b="4761"/>
          <a:stretch>
            <a:fillRect/>
          </a:stretch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EDEDEA-7C1A-2839-4316-A4174E873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>
            <a:normAutofit/>
          </a:bodyPr>
          <a:lstStyle/>
          <a:p>
            <a:pPr algn="r"/>
            <a:r>
              <a:rPr lang="pt-BR" sz="4200" noProof="0" dirty="0">
                <a:solidFill>
                  <a:srgbClr val="FFFFFF"/>
                </a:solidFill>
              </a:rPr>
              <a:t>Introdução à Filogenômica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1BEFDF-6B64-509B-78F1-0134660E6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r>
              <a:rPr lang="pt-BR" sz="4400" noProof="0" dirty="0">
                <a:solidFill>
                  <a:srgbClr val="FFFFFF"/>
                </a:solidFill>
              </a:rPr>
              <a:t>Carolina M. Siniscalchi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614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AE9BB6-4495-FA36-EB3B-66E6468BEC97}"/>
              </a:ext>
            </a:extLst>
          </p:cNvPr>
          <p:cNvSpPr txBox="1"/>
          <p:nvPr/>
        </p:nvSpPr>
        <p:spPr>
          <a:xfrm>
            <a:off x="958361" y="606669"/>
            <a:ext cx="2916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noProof="0" dirty="0">
                <a:latin typeface="+mj-lt"/>
              </a:rPr>
              <a:t>Filogenômica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5903E-4DB1-EFF5-A37A-E3450A219754}"/>
              </a:ext>
            </a:extLst>
          </p:cNvPr>
          <p:cNvSpPr txBox="1"/>
          <p:nvPr/>
        </p:nvSpPr>
        <p:spPr>
          <a:xfrm>
            <a:off x="1723649" y="2057399"/>
            <a:ext cx="874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noProof="0" dirty="0"/>
              <a:t>Intersecção das áreas de estudo da evolução e genômica</a:t>
            </a:r>
          </a:p>
        </p:txBody>
      </p:sp>
    </p:spTree>
    <p:extLst>
      <p:ext uri="{BB962C8B-B14F-4D97-AF65-F5344CB8AC3E}">
        <p14:creationId xmlns:p14="http://schemas.microsoft.com/office/powerpoint/2010/main" val="4133346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9487B-C8E5-302A-6563-308AE5B3B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4C8FAC-DEB5-D629-8B7F-83364A107455}"/>
              </a:ext>
            </a:extLst>
          </p:cNvPr>
          <p:cNvSpPr txBox="1"/>
          <p:nvPr/>
        </p:nvSpPr>
        <p:spPr>
          <a:xfrm>
            <a:off x="958361" y="606669"/>
            <a:ext cx="2916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noProof="0" dirty="0">
                <a:latin typeface="+mj-lt"/>
              </a:rPr>
              <a:t>Filogenômica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87949-88E1-5620-7FC5-241306987F1F}"/>
              </a:ext>
            </a:extLst>
          </p:cNvPr>
          <p:cNvSpPr txBox="1"/>
          <p:nvPr/>
        </p:nvSpPr>
        <p:spPr>
          <a:xfrm>
            <a:off x="1723649" y="1890346"/>
            <a:ext cx="874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noProof="0" dirty="0"/>
              <a:t>Intersecção das áreas de estudo da </a:t>
            </a:r>
            <a:r>
              <a:rPr lang="pt-BR" sz="2400" b="1" noProof="0" dirty="0"/>
              <a:t>evolução</a:t>
            </a:r>
            <a:r>
              <a:rPr lang="pt-BR" sz="2400" noProof="0" dirty="0"/>
              <a:t> e </a:t>
            </a:r>
            <a:r>
              <a:rPr lang="pt-BR" sz="2400" b="1" noProof="0" dirty="0"/>
              <a:t>genômica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A095CD-5DE3-00F0-82AD-F70B4508B203}"/>
              </a:ext>
            </a:extLst>
          </p:cNvPr>
          <p:cNvSpPr txBox="1"/>
          <p:nvPr/>
        </p:nvSpPr>
        <p:spPr>
          <a:xfrm>
            <a:off x="1960685" y="2848708"/>
            <a:ext cx="923192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t-BR" sz="2000" noProof="0" dirty="0"/>
              <a:t>Termo criado por Jonathan </a:t>
            </a:r>
            <a:r>
              <a:rPr lang="pt-BR" sz="2000" noProof="0" dirty="0" err="1"/>
              <a:t>Eisen</a:t>
            </a:r>
            <a:r>
              <a:rPr lang="pt-BR" sz="2000" noProof="0" dirty="0"/>
              <a:t> (UC-Davis), em 1998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t-BR" sz="2000" noProof="0" dirty="0"/>
              <a:t>Inicialmente aplicado à predição da função de genes com uso de árvores filogenéticas de famílias gênicas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t-BR" sz="2000" noProof="0" dirty="0"/>
              <a:t>Atualmente mais usado em relação a estudos filogenéticos usando grandes quantidades de marcadores (ou genomas completos), tanto para entender relações evolutivas quanto para esclarecer outros fenômenos evolutivos, como transferência de genes, ganho e perda de função, etc.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pt-BR" sz="2000" noProof="0" dirty="0"/>
          </a:p>
        </p:txBody>
      </p:sp>
    </p:spTree>
    <p:extLst>
      <p:ext uri="{BB962C8B-B14F-4D97-AF65-F5344CB8AC3E}">
        <p14:creationId xmlns:p14="http://schemas.microsoft.com/office/powerpoint/2010/main" val="3964749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56AE1B2-3354-430B-9E05-2241C72EE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0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B8FAC4A-BF07-675B-DC4D-CF9AB722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449" y="509954"/>
            <a:ext cx="9970876" cy="60227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238E7C-9B2D-31E1-A287-1881A48B03A7}"/>
              </a:ext>
            </a:extLst>
          </p:cNvPr>
          <p:cNvSpPr txBox="1"/>
          <p:nvPr/>
        </p:nvSpPr>
        <p:spPr>
          <a:xfrm>
            <a:off x="0" y="6466660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* Includes </a:t>
            </a:r>
            <a:r>
              <a:rPr lang="pt-BR" noProof="0" dirty="0" err="1"/>
              <a:t>only</a:t>
            </a:r>
            <a:r>
              <a:rPr lang="pt-BR" noProof="0" dirty="0"/>
              <a:t> </a:t>
            </a:r>
            <a:r>
              <a:rPr lang="pt-BR" noProof="0" dirty="0" err="1"/>
              <a:t>articles</a:t>
            </a:r>
            <a:r>
              <a:rPr lang="pt-BR" noProof="0" dirty="0"/>
              <a:t> </a:t>
            </a:r>
            <a:r>
              <a:rPr lang="pt-BR" noProof="0" dirty="0" err="1"/>
              <a:t>available</a:t>
            </a:r>
            <a:r>
              <a:rPr lang="pt-BR" noProof="0" dirty="0"/>
              <a:t> </a:t>
            </a:r>
            <a:r>
              <a:rPr lang="pt-BR" noProof="0" dirty="0" err="1"/>
              <a:t>on</a:t>
            </a:r>
            <a:r>
              <a:rPr lang="pt-BR" noProof="0" dirty="0"/>
              <a:t> </a:t>
            </a:r>
            <a:r>
              <a:rPr lang="pt-BR" noProof="0" dirty="0" err="1"/>
              <a:t>PubMed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7254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8989-3B64-FBDA-859E-9DAE2AC93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877E0-8544-0A9C-E34B-997826BEB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449" y="509954"/>
            <a:ext cx="9970876" cy="60227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F33D4E-9958-9180-B08E-C66624EB9CDB}"/>
              </a:ext>
            </a:extLst>
          </p:cNvPr>
          <p:cNvSpPr txBox="1"/>
          <p:nvPr/>
        </p:nvSpPr>
        <p:spPr>
          <a:xfrm>
            <a:off x="0" y="6466660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* Includes </a:t>
            </a:r>
            <a:r>
              <a:rPr lang="pt-BR" noProof="0" dirty="0" err="1"/>
              <a:t>only</a:t>
            </a:r>
            <a:r>
              <a:rPr lang="pt-BR" noProof="0" dirty="0"/>
              <a:t> </a:t>
            </a:r>
            <a:r>
              <a:rPr lang="pt-BR" noProof="0" dirty="0" err="1"/>
              <a:t>articles</a:t>
            </a:r>
            <a:r>
              <a:rPr lang="pt-BR" noProof="0" dirty="0"/>
              <a:t> </a:t>
            </a:r>
            <a:r>
              <a:rPr lang="pt-BR" noProof="0" dirty="0" err="1"/>
              <a:t>available</a:t>
            </a:r>
            <a:r>
              <a:rPr lang="pt-BR" noProof="0" dirty="0"/>
              <a:t> </a:t>
            </a:r>
            <a:r>
              <a:rPr lang="pt-BR" noProof="0" dirty="0" err="1"/>
              <a:t>on</a:t>
            </a:r>
            <a:r>
              <a:rPr lang="pt-BR" noProof="0" dirty="0"/>
              <a:t> </a:t>
            </a:r>
            <a:r>
              <a:rPr lang="pt-BR" noProof="0" dirty="0" err="1"/>
              <a:t>PubMed</a:t>
            </a:r>
            <a:endParaRPr lang="pt-BR" noProof="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B11FD84-6465-2F16-37A7-3ADBAA71FE68}"/>
              </a:ext>
            </a:extLst>
          </p:cNvPr>
          <p:cNvSpPr/>
          <p:nvPr/>
        </p:nvSpPr>
        <p:spPr>
          <a:xfrm>
            <a:off x="4413738" y="4721467"/>
            <a:ext cx="782516" cy="808893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2D104-C6A1-4E03-B571-0C50521132EE}"/>
              </a:ext>
            </a:extLst>
          </p:cNvPr>
          <p:cNvSpPr txBox="1"/>
          <p:nvPr/>
        </p:nvSpPr>
        <p:spPr>
          <a:xfrm>
            <a:off x="4246686" y="3429000"/>
            <a:ext cx="1415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 err="1"/>
              <a:t>First</a:t>
            </a:r>
            <a:r>
              <a:rPr lang="pt-BR" noProof="0" dirty="0"/>
              <a:t> </a:t>
            </a:r>
            <a:r>
              <a:rPr lang="pt-BR" noProof="0" dirty="0" err="1"/>
              <a:t>Illumina</a:t>
            </a:r>
            <a:r>
              <a:rPr lang="pt-BR" noProof="0" dirty="0"/>
              <a:t> </a:t>
            </a:r>
            <a:r>
              <a:rPr lang="pt-BR" noProof="0" dirty="0" err="1"/>
              <a:t>sequencer</a:t>
            </a:r>
            <a:r>
              <a:rPr lang="pt-BR" noProof="0" dirty="0"/>
              <a:t> </a:t>
            </a:r>
            <a:r>
              <a:rPr lang="pt-BR" noProof="0" dirty="0" err="1"/>
              <a:t>released</a:t>
            </a:r>
            <a:endParaRPr lang="pt-BR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A56388-4F78-C9AA-9BF4-04B7B0C3638F}"/>
              </a:ext>
            </a:extLst>
          </p:cNvPr>
          <p:cNvSpPr/>
          <p:nvPr/>
        </p:nvSpPr>
        <p:spPr>
          <a:xfrm>
            <a:off x="6517514" y="4156690"/>
            <a:ext cx="782516" cy="808893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A3F7E-CADF-2D1D-7FA0-986099DC6058}"/>
              </a:ext>
            </a:extLst>
          </p:cNvPr>
          <p:cNvSpPr txBox="1"/>
          <p:nvPr/>
        </p:nvSpPr>
        <p:spPr>
          <a:xfrm>
            <a:off x="6200991" y="3382833"/>
            <a:ext cx="1415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“$1000 </a:t>
            </a:r>
            <a:r>
              <a:rPr lang="pt-BR" noProof="0" dirty="0" err="1"/>
              <a:t>genome</a:t>
            </a:r>
            <a:r>
              <a:rPr lang="pt-BR" noProof="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3724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90933-B30E-6976-1923-D0B9A078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1EC36A-7E16-DB07-B59F-4E9C548AC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449" y="509954"/>
            <a:ext cx="9970876" cy="60227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9B73C2-CD38-9FD9-18B6-6D79295A1994}"/>
              </a:ext>
            </a:extLst>
          </p:cNvPr>
          <p:cNvSpPr txBox="1"/>
          <p:nvPr/>
        </p:nvSpPr>
        <p:spPr>
          <a:xfrm>
            <a:off x="0" y="6466660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noProof="0" dirty="0"/>
              <a:t>* Includes </a:t>
            </a:r>
            <a:r>
              <a:rPr lang="pt-BR" noProof="0" dirty="0" err="1"/>
              <a:t>only</a:t>
            </a:r>
            <a:r>
              <a:rPr lang="pt-BR" noProof="0" dirty="0"/>
              <a:t> </a:t>
            </a:r>
            <a:r>
              <a:rPr lang="pt-BR" noProof="0" dirty="0" err="1"/>
              <a:t>articles</a:t>
            </a:r>
            <a:r>
              <a:rPr lang="pt-BR" noProof="0" dirty="0"/>
              <a:t> </a:t>
            </a:r>
            <a:r>
              <a:rPr lang="pt-BR" noProof="0" dirty="0" err="1"/>
              <a:t>available</a:t>
            </a:r>
            <a:r>
              <a:rPr lang="pt-BR" noProof="0" dirty="0"/>
              <a:t> </a:t>
            </a:r>
            <a:r>
              <a:rPr lang="pt-BR" noProof="0" dirty="0" err="1"/>
              <a:t>on</a:t>
            </a:r>
            <a:r>
              <a:rPr lang="pt-BR" noProof="0" dirty="0"/>
              <a:t> </a:t>
            </a:r>
            <a:r>
              <a:rPr lang="pt-BR" noProof="0" dirty="0" err="1"/>
              <a:t>PubMed</a:t>
            </a:r>
            <a:endParaRPr lang="pt-BR" noProof="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C2FB44A-8713-D463-A098-B989BF2CB7C3}"/>
              </a:ext>
            </a:extLst>
          </p:cNvPr>
          <p:cNvSpPr/>
          <p:nvPr/>
        </p:nvSpPr>
        <p:spPr>
          <a:xfrm>
            <a:off x="4413738" y="4721467"/>
            <a:ext cx="782516" cy="808893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74489-E445-4238-B0DA-A3910C700114}"/>
              </a:ext>
            </a:extLst>
          </p:cNvPr>
          <p:cNvSpPr txBox="1"/>
          <p:nvPr/>
        </p:nvSpPr>
        <p:spPr>
          <a:xfrm>
            <a:off x="4246686" y="3429000"/>
            <a:ext cx="1415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 err="1"/>
              <a:t>First</a:t>
            </a:r>
            <a:r>
              <a:rPr lang="pt-BR" noProof="0" dirty="0"/>
              <a:t> </a:t>
            </a:r>
            <a:r>
              <a:rPr lang="pt-BR" noProof="0" dirty="0" err="1"/>
              <a:t>Illumina</a:t>
            </a:r>
            <a:r>
              <a:rPr lang="pt-BR" noProof="0" dirty="0"/>
              <a:t> </a:t>
            </a:r>
            <a:r>
              <a:rPr lang="pt-BR" noProof="0" dirty="0" err="1"/>
              <a:t>sequencer</a:t>
            </a:r>
            <a:r>
              <a:rPr lang="pt-BR" noProof="0" dirty="0"/>
              <a:t> </a:t>
            </a:r>
            <a:r>
              <a:rPr lang="pt-BR" noProof="0" dirty="0" err="1"/>
              <a:t>released</a:t>
            </a:r>
            <a:endParaRPr lang="pt-BR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ED1B8F-A0F5-AA84-7823-A2A99B5A0AE3}"/>
              </a:ext>
            </a:extLst>
          </p:cNvPr>
          <p:cNvSpPr/>
          <p:nvPr/>
        </p:nvSpPr>
        <p:spPr>
          <a:xfrm>
            <a:off x="6517514" y="4156690"/>
            <a:ext cx="782516" cy="808893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5EF2E-AE9D-8774-DBDF-BD9F4F81F74A}"/>
              </a:ext>
            </a:extLst>
          </p:cNvPr>
          <p:cNvSpPr txBox="1"/>
          <p:nvPr/>
        </p:nvSpPr>
        <p:spPr>
          <a:xfrm>
            <a:off x="6200991" y="3382833"/>
            <a:ext cx="1415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noProof="0" dirty="0"/>
              <a:t>“$1000 </a:t>
            </a:r>
            <a:r>
              <a:rPr lang="pt-BR" noProof="0" dirty="0" err="1"/>
              <a:t>genome</a:t>
            </a:r>
            <a:r>
              <a:rPr lang="pt-BR" noProof="0" dirty="0"/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1DDA3-6CE9-AF39-0594-816D4E7C4569}"/>
              </a:ext>
            </a:extLst>
          </p:cNvPr>
          <p:cNvSpPr txBox="1"/>
          <p:nvPr/>
        </p:nvSpPr>
        <p:spPr>
          <a:xfrm>
            <a:off x="8382464" y="3705998"/>
            <a:ext cx="3706450" cy="30469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400" noProof="0" dirty="0"/>
              <a:t>O crescimento da filogenômica está diretamente ligado com a popularização e barateamento de técnicas de sequenciamento de segunda geração!</a:t>
            </a:r>
          </a:p>
        </p:txBody>
      </p:sp>
    </p:spTree>
    <p:extLst>
      <p:ext uri="{BB962C8B-B14F-4D97-AF65-F5344CB8AC3E}">
        <p14:creationId xmlns:p14="http://schemas.microsoft.com/office/powerpoint/2010/main" val="271670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9C60ED7-11F7-478C-AC8E-0865FABDA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!!Rectangle">
            <a:extLst>
              <a:ext uri="{FF2B5EF4-FFF2-40B4-BE49-F238E27FC236}">
                <a16:creationId xmlns:a16="http://schemas.microsoft.com/office/drawing/2014/main" id="{D472C551-D440-40DF-9260-BDB9AC409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" name="Picture 4" descr="Close up of a molecular model">
            <a:extLst>
              <a:ext uri="{FF2B5EF4-FFF2-40B4-BE49-F238E27FC236}">
                <a16:creationId xmlns:a16="http://schemas.microsoft.com/office/drawing/2014/main" id="{EC044EAA-6979-4B48-165D-D38298C4901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5277" b="19723"/>
          <a:stretch>
            <a:fillRect/>
          </a:stretch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DB0236-EB01-C981-0F50-DB2C6E6A8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873" y="2271449"/>
            <a:ext cx="6347918" cy="36700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6100" b="1" i="0" kern="1200" cap="all" baseline="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Breve histórico da biologia molecular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82953-E727-141C-341A-0257D8F9F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49798" y="3544059"/>
            <a:ext cx="3633923" cy="239748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pt-BR" sz="2400" kern="1200" noProof="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340" y="122578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4855" y="168586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87962" y="2175690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606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32958" y="116633"/>
            <a:ext cx="8229600" cy="2880319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2500" b="1" noProof="0" dirty="0">
                <a:latin typeface="Arial" pitchFamily="34" charset="0"/>
                <a:cs typeface="Arial" pitchFamily="34" charset="0"/>
              </a:rPr>
              <a:t>Evolução </a:t>
            </a:r>
          </a:p>
          <a:p>
            <a:pPr algn="ctr">
              <a:buNone/>
            </a:pPr>
            <a:r>
              <a:rPr lang="pt-BR" sz="2500" noProof="0" dirty="0">
                <a:latin typeface="Arial" pitchFamily="34" charset="0"/>
                <a:cs typeface="Arial" pitchFamily="34" charset="0"/>
              </a:rPr>
              <a:t>mudanças temporais na composição</a:t>
            </a:r>
          </a:p>
          <a:p>
            <a:pPr algn="ctr">
              <a:buNone/>
            </a:pPr>
            <a:r>
              <a:rPr lang="pt-BR" sz="2500" noProof="0" dirty="0">
                <a:latin typeface="Arial" pitchFamily="34" charset="0"/>
                <a:cs typeface="Arial" pitchFamily="34" charset="0"/>
              </a:rPr>
              <a:t>genética das populações</a:t>
            </a:r>
          </a:p>
          <a:p>
            <a:pPr algn="ctr">
              <a:buNone/>
            </a:pPr>
            <a:r>
              <a:rPr lang="pt-BR" sz="1800" noProof="0" dirty="0">
                <a:latin typeface="Arial" pitchFamily="34" charset="0"/>
                <a:cs typeface="Arial" pitchFamily="34" charset="0"/>
              </a:rPr>
              <a:t>(</a:t>
            </a:r>
            <a:r>
              <a:rPr lang="pt-BR" sz="1800" noProof="0" dirty="0" err="1">
                <a:latin typeface="Arial" pitchFamily="34" charset="0"/>
                <a:cs typeface="Arial" pitchFamily="34" charset="0"/>
              </a:rPr>
              <a:t>Dobzhansky</a:t>
            </a:r>
            <a:r>
              <a:rPr lang="pt-BR" sz="1800" noProof="0" dirty="0">
                <a:latin typeface="Arial" pitchFamily="34" charset="0"/>
                <a:cs typeface="Arial" pitchFamily="34" charset="0"/>
              </a:rPr>
              <a:t> 1937)</a:t>
            </a:r>
          </a:p>
          <a:p>
            <a:pPr algn="ctr">
              <a:buNone/>
            </a:pPr>
            <a:endParaRPr lang="pt-BR" sz="2500" noProof="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pt-BR" noProof="0" dirty="0"/>
          </a:p>
        </p:txBody>
      </p:sp>
      <p:pic>
        <p:nvPicPr>
          <p:cNvPr id="44034" name="Picture 2" descr="http://ihm2.nlm.nih.gov/MediaManager/srvr?mediafile=/Size2/D1018/b07246.jpg&amp;userid=3&amp;username=nlmadmin&amp;resolution=2&amp;servertype=JVA&amp;cid=1&amp;iid=NLMNLM&amp;vcid=NA&amp;usergroup=Images_from_the_History_of_Medicine-1-Admin&amp;profileid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79569" y="143854"/>
            <a:ext cx="1979712" cy="242105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087888" y="2072462"/>
            <a:ext cx="4733988" cy="492443"/>
          </a:xfrm>
          <a:prstGeom prst="rect">
            <a:avLst/>
          </a:prstGeom>
          <a:ln w="63500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pt-BR" sz="2600" noProof="0" dirty="0">
                <a:latin typeface="Arial" pitchFamily="34" charset="0"/>
                <a:cs typeface="Arial" pitchFamily="34" charset="0"/>
              </a:rPr>
              <a:t>Interesse na variação genética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6753238" y="5108992"/>
            <a:ext cx="42484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400" noProof="0" dirty="0">
                <a:latin typeface="Arial" pitchFamily="34" charset="0"/>
                <a:cs typeface="Arial" pitchFamily="34" charset="0"/>
              </a:rPr>
              <a:t>Até o meado dos anos 1960:</a:t>
            </a:r>
          </a:p>
          <a:p>
            <a:pPr algn="ctr">
              <a:buNone/>
            </a:pPr>
            <a:r>
              <a:rPr lang="pt-BR" sz="2400" noProof="0" dirty="0">
                <a:latin typeface="Arial" pitchFamily="34" charset="0"/>
                <a:cs typeface="Arial" pitchFamily="34" charset="0"/>
              </a:rPr>
              <a:t>somente acesso a variação fenotípica </a:t>
            </a:r>
          </a:p>
        </p:txBody>
      </p:sp>
      <p:grpSp>
        <p:nvGrpSpPr>
          <p:cNvPr id="12" name="Groupe 11"/>
          <p:cNvGrpSpPr/>
          <p:nvPr/>
        </p:nvGrpSpPr>
        <p:grpSpPr>
          <a:xfrm>
            <a:off x="2576774" y="4509120"/>
            <a:ext cx="3600400" cy="2376264"/>
            <a:chOff x="-36512" y="3908398"/>
            <a:chExt cx="5184576" cy="2976986"/>
          </a:xfrm>
        </p:grpSpPr>
        <p:pic>
          <p:nvPicPr>
            <p:cNvPr id="44036" name="Picture 4" descr="http://www.takdangaralin.com/wp-content/uploads/2010/02/image18.png?9d7bd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-36512" y="3908398"/>
              <a:ext cx="4716016" cy="2976986"/>
            </a:xfrm>
            <a:prstGeom prst="rect">
              <a:avLst/>
            </a:prstGeom>
            <a:noFill/>
          </p:spPr>
        </p:pic>
        <p:pic>
          <p:nvPicPr>
            <p:cNvPr id="44038" name="Picture 6" descr="http://www.joannabarnum.com/gallery/albums/portraits/mendel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982106" y="3908398"/>
              <a:ext cx="2165958" cy="2924944"/>
            </a:xfrm>
            <a:prstGeom prst="rect">
              <a:avLst/>
            </a:prstGeom>
            <a:noFill/>
          </p:spPr>
        </p:pic>
      </p:grpSp>
      <p:sp>
        <p:nvSpPr>
          <p:cNvPr id="11" name="Rectangle 10"/>
          <p:cNvSpPr/>
          <p:nvPr/>
        </p:nvSpPr>
        <p:spPr>
          <a:xfrm>
            <a:off x="2541278" y="2928426"/>
            <a:ext cx="9144000" cy="1292662"/>
          </a:xfrm>
          <a:prstGeom prst="rect">
            <a:avLst/>
          </a:prstGeom>
          <a:ln w="63500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600" u="sng" noProof="0" dirty="0">
                <a:latin typeface="Arial" pitchFamily="34" charset="0"/>
                <a:cs typeface="Arial" pitchFamily="34" charset="0"/>
              </a:rPr>
              <a:t>Quantificação da variabilidade genética</a:t>
            </a:r>
            <a:r>
              <a:rPr lang="pt-BR" sz="2600" noProof="0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ctr"/>
            <a:r>
              <a:rPr lang="pt-BR" sz="2600" noProof="0" dirty="0">
                <a:latin typeface="Arial" pitchFamily="34" charset="0"/>
                <a:cs typeface="Arial" pitchFamily="34" charset="0"/>
                <a:sym typeface="Wingdings"/>
              </a:rPr>
              <a:t>estudar o funcionamento das forças evolutivas </a:t>
            </a:r>
          </a:p>
          <a:p>
            <a:pPr algn="ctr"/>
            <a:r>
              <a:rPr lang="pt-BR" sz="2600" noProof="0" dirty="0">
                <a:latin typeface="Arial" pitchFamily="34" charset="0"/>
                <a:cs typeface="Arial" pitchFamily="34" charset="0"/>
                <a:sym typeface="Wingdings"/>
              </a:rPr>
              <a:t>(seleção, mutação, deriva genética etc.)</a:t>
            </a:r>
            <a:endParaRPr lang="pt-BR" sz="2600" noProof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3BEE42-D38C-F7C6-DD13-122287A3C0FB}"/>
              </a:ext>
            </a:extLst>
          </p:cNvPr>
          <p:cNvSpPr txBox="1"/>
          <p:nvPr/>
        </p:nvSpPr>
        <p:spPr>
          <a:xfrm>
            <a:off x="127290" y="2622528"/>
            <a:ext cx="2994281" cy="1569660"/>
          </a:xfrm>
          <a:prstGeom prst="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noProof="0" dirty="0"/>
              <a:t>Motivação para  desenvolvimento de técnicas moleculares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e 5"/>
          <p:cNvSpPr/>
          <p:nvPr/>
        </p:nvSpPr>
        <p:spPr>
          <a:xfrm>
            <a:off x="1703512" y="2708920"/>
            <a:ext cx="8892480" cy="648072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noProof="0" dirty="0">
                <a:solidFill>
                  <a:schemeClr val="tx1"/>
                </a:solidFill>
              </a:rPr>
              <a:t>         </a:t>
            </a:r>
            <a:r>
              <a:rPr lang="pt-BR" b="1" noProof="0" dirty="0">
                <a:solidFill>
                  <a:schemeClr val="tx1"/>
                </a:solidFill>
              </a:rPr>
              <a:t>1944                        1953                                1963    1968       1975    1977 </a:t>
            </a:r>
          </a:p>
        </p:txBody>
      </p:sp>
      <p:sp>
        <p:nvSpPr>
          <p:cNvPr id="22540" name="AutoShape 12" descr="data:image/jpeg;base64,/9j/4AAQSkZJRgABAQAAAQABAAD/2wCEAAkGBxQTEhUUEBQVFBUUFRQVFRYVFBQWFBcXFBUWFxcUFRQYHCggGBwlHBQUITEhJSkrLi4uFx8zODMsNygtLisBCgoKDQ0MFA0MFCwZFBksLCsrLCwrKyssLDcsKywsNyssNzcsNywrNyw3LCs3KywrLDcrKywrNysrKysrNysrK//AABEIAPoAyQMBIgACEQEDEQH/xAAcAAAABwEBAAAAAAAAAAAAAAABAgMEBQYHAAj/xABDEAABAwIEAwUEBwYFAwUAAAABAAIDBBEFEiExBkFREyJhcYEHkaGxFDJSwdHh8CNCYmNyghUzkqKyJHPxFjRDU1T/xAAWAQEBAQAAAAAAAAAAAAAAAAAAAQL/xAAWEQEBAQAAAAAAAAAAAAAAAAAAARH/2gAMAwEAAhEDEQA/AM4RgFwCVY1GQMalGtR2NSgagI1KBHbGlBGgK1qVZDdHZGntLDdUGw+lUo6l0StJCAE77NBFilT2CBDMWsGZ7g1otck2AvtqmFXxRTRD6/aO5NZr73bBFT0MCUfTrO6/juYuBha1jRyIzE+aZ1PGtW7/AOQN8Gsb94Kg0gsCAQBZHJjM5IJmkuDcd4pxFxPVN2mdvfXKfmEGqviAGyYVAVRouO5Np2B46t7rvdsVN0uPQTfVflcf3XaH8CqDShMZWKRlCYzHVENLIXPsEqI0SSnJUEXKS4o0UCkWUlkMkdlRGyMSeTwTuVI3QICJHEaIHJaMoBaxKtCUaxdlQC1qWDEWMJwxiDoo7qWooU1p41LUwQHaEcuSrURlP2zgxri0g3JHIboKnjdBLOcz3ZYwLADa99ARz1tqq/8ARm37MDW4ueumg9SQth/9OmUa3DRcWv3jcWN00k9nzQ8PYb63t0ty8kVj8tA4PsRuAfebfNFNAS0kcjz6Xt71q2McHEEljbZufO/j4KIHDJG7C4DvEWsNiHNH+1QZwKV2umxsfP8AQSbIb3WhT4QcsjXNsHkPvbnd3eHTR5Pp4KCxDCgyIOJ75eTYaWay7ffoUFYLLaItk+NO48khK0g2QTOCcQuZZk13M+1u5v4hWdrA4BzSCDqCOazklPsOxiWHRju7vlIuPyQXtsCUEKa4DjTKgEWyvG7fDqOoUtIAqiNlCZ1BUhMo+rCCLlkSOdLOhKL2SBq1yWjcmoclGFBJwyJxmuo2N6cxuQOmFO4kyiTyFA6jUpRJjSxkqYgpbaoFHQm2mvgpvBsGyd55u86m2w8ElhFKSQ92w28SrFGxFKQtsnbXJuxiUARRpGgjVMZaZvSyeFIyXQRc+GsNwR+XkqzjOCRgaC+/S+vgrfUyaKDxJ97jl080RRMRw5oaSyw0+9UyvpLDN1O3Qg63WjYhTAnp8P1yVaxGgJuMpIOpI8N7+YKClPaiKQrKcDb9efQpm5igGkqXRva9hsWm4/A+C0nDa0Txh7eehHQ8ws0y/gpzhDEuymDHfUkNj4O/dP3ILg+Mon0W+6fVDrJu15KqGU1MAmvYKWlGia3QVAJVqTslGBQLxJ1GE3hCk6SK6oNTxEqZoqElHpYAFJQOQOKSlDQnjbe5Mi8ri86eJA95QW2iZ3W3002UtTsUfSBSsQ0RooGoCxdmQ3RSLo00lCfSJlJsiGEx5KOrYPkVOdkCmdXDoRy6IiqVNMToeSaMpw0jMOfy30U3UxD9fgouoacwB0/XREVDi3Do26tAGbptpz/XRUh7dVc+KanuNbvr8LH8VTnjVRSbjv8ArZADbZHcL3REGqYU/toI3nct18xofklhTWSPs/ZeiaT9uQfH81LVLQqiFq2phl/V1J1QTLIEFOujsSIKWjKKe04U1RBQsD1K0UiImBLZLwSqPGpThl0EiZ06oWF72AfaCqVc6tDz2UbSz907ki3PXTmpTh7iR8Mg+kxEG2mUA+F7Zr+4FFatTU6eAWVWo+OKYmz3hnnce8OAI9QrDTVjJBmjcHNPNpBHwRTgFGCK080JcEUlMUweU/lsmUzAf0fuRCZkPP4IssgtrqE3njLdWuPkdfmm0ktxayBrUWzaajb9H3KOxKA3bp19LDr00CkgwXv4/FJVrM1ulvldEZnjUQc/ra9rDf8AKwsqxWxWOy0Wow8G7tr3JtuABoL+oKpWIRkHbckDyUEGUBSsrLFJuQad7P3EUYudC9xA+B+Sk6mRRvDHco4h1bm/1G6dym6qGkwukOzS9Q6ya9sgpYSrEQBKMQO4WqZoGKKpQpqmIAQPGsT+ijuo4ShP6KcIJWaOwFgbWVU42w8OYJAPqWv5XKvLCJIm23bcH12UrRYEySK0ozBw1H3IrCJHzsY10lxG8EsD2lzXWGgAO1+osrBwPiU0LnPjjc5pb348xDCL/WHMG9h6+K1mfBAGBhjZI1ujQ9t8ultPgm2GYHmkOZkbGNAFmCxdrfKfC4B9ECuJ8QSsZE+OneWSBh1c3TMNja9txqqtJxhXA5nxRRtO2d7tuROVhV6xw/syG20LbDl9YX+CrmOQF4yvAs5lwdhY7HzQVyr4+qNx9Gdb+a/5FjUjTe1Gdp/aU8bx/Lfr7rlQVbwk9zy1ge5wFxYA318+75aqvyYNUtf2bon3vs5p+ZQa1hntGpahwY9r4nuNrOGhJ0sHD77Jc43Tk9yaN3Tvt926qWB08D7RSw5ZWDNaQ5tW2N43728LlTJwKleLPhbfnbTfnogskBBF2kHyQzNJZpv+X5KtjgimAvGZYz/Llc370sOF5G/5VfUt/qLHj/cEDiqp2iwIvdp96o2L0gBItcjUfrzVjqKGsYf/AHgksDbNA0HQHTukKuVNNVP1ux5A1tcEjQ6IitVVOLE8xuop4U/PUh+jWOznRwA0FrpGmwKQysztLGFwu52gAvzUVfMKpssETRfRjd99gnJhUj2IAA6BN59lUQNaLmyadgU/mbcoMiCjApWNNQ5KxuUVJwFP2SaKIgcpAOVQ4dMl6SYqOG6lKRqCxYNXFjtRcOsCL29y0qmcA0cvNZXhZ/aMH8TfmtXp2i2qLB3O0/JFtlCFsQvmAGnNNKyYaookzRIC07EEKv4bA6Rzo5T3ou6RzLbktcPA3Uk2osd03qYS+RssRDZWixv9WRv2XeI5FESGHYWxnLXxSeI4ZmN7p1HORbtBlNtRr89inIbm22RVaqMJaQRzIIzDcX5gqPgwiSM6nOBzOhVy+igG+6a1hFkTEQzQa3TeSXe1/wA04qyOSjnu96BrUVHqb7pWmpgYyXWGY6eSaTau8lLR0eZjWg2J7t97eiIjKbDohKwBtsxJJsOW6fY9RMJewXaQLtNz05jZQP8AjktNMYatjXOYbNlAy3bfQlo0T/iqvztbLDa8oEemwc4ht/S90Uhh1TmgYT0/8Ir5LptEAxgYDoNB6AD7kpG66IAQruxTljEbs1Rkl0o1ySsjBZU8hksnrJFFsKdRAqiShKkqZ1lF07FKU7ERLYZL+0Z/U35rVu1s1ZNRQd9p6OB+K1TLcAIsMK3GDCxz3tcY76ubrl8T4eKiHYw6Q5mWItcFxDW+ABVtYABYKNqsEYSXNAaTvYKqr9LjjXOMc8bopOQdsfFp2cPEFOROQQW/aGqc1mCsfbO3Nl2vy8kaOj2AFgERYaaTM0HqlHAJpRHK23RDLPZRQzusFC1sxKcTzF2gTGqdZUMHvum8slh811Q/oo+pJ81GSsGrlPQzhgbzIsbfiq5C8jz5eKf1eFdsGlz3g82629wRUL7R8QbLJG2MAya3tqe9pZLSUlmRQ84wC4/xOGvuCk56NjP8pjRJa2cgXA6l33JOClytudSeu+u5PifwQRE7LIYAUtURElKwx2RAiWwSf0kIK1mmiicjlRQSVwKISjBZUsxPYHpg1LMcglopk9pZjdQTJFIUkiqLPRP1BWrQOu0HwHyWOU09lpuE1meCMjW7R8BZFhvWY3OHu7GAvY3QvNhc9GtOpRTxzE1o7Zj43nQtLSPmpeQgN0UfU4jBLZk7Gu5We0Ob8Roii0vFNPIbCRoPRxsVIR1THfVIPqqtW8OUb75WNjJ2yZgPcDZMYeFp43B1PUuAGuUgkHwNyiNAa/RNZ3FI0bn5QH2zW16X8ENS7RVSDn6JlVSoJH6pnUzfFEIzOGqYOcCjzP5qKrKkBpUQrFibWTxh5sCTry0G3xVujlvbI4u5jKP+R5LNsPcJKiMSODW5rnMQNtbX8bLQYeIabNk7aPN0zBFPGw63da+9htfr4oZIwjiQHUG480UuQMZoQo+dwapKr0UDUy6qoNJOkbhJyJOyDNSjNKTJXZ1lThqVamgmRHzkoHxkA3KWixBreZUNdHQS1VixIszQdea1H2WVuemDSbmNzm+hOYfNYzdXj2VYnkqTETYSt0/qbqPhdBtYhuExqMIDjqE+pZwlxMFpUIzBw0p01ttAnUsibvksgRlfYKLq6hOqucdVBVNSP0UQeWRMamcBFqKsW3GygKyu1sEDutrgBqoOVxfqdAk5XknUoRJ7lEV/GpLuA9VG3S9dJd7j4puoqWwriSop9I5Dl+y7VvuOyt2G+0gbTxerD9xWdLkGtDjSll/fLf6gQmkmIROPdkafULMF11dGrMcCNDdFzLMIqp7fqucPIlO/8Xm/+x3vTUwzcioxRVFcUCFAgFCECFAIS9JUOje17DZzSCD0ISCM1BvNFWVH0OKqMedr4w93Z6lvm3e3ldMI+OIyN7HxVn9mFQH4ZT/wtcw/2vcFGcacLRy37oaTq14AvfoTzVVHt4qZ1+IRJOJQeazzEMGqIHEbgc01YZjsB8QiL1W42CN1Ez4rc6KsulmB7zUvDM48kEpVVR6lNXS6IoYSuyAIhNqc0NE+olbDHu65J5NaBcuPgAE2mk3O3zVzw+k/w/DJ6uTSaoZ2cQO7Wv0Hqb5vQIrJKgWcbG4ubHrrukkd6KoClchKBBy5cuQcEdECOgFyBC5FKAVyBcgFqFAFyAbowRUIQbf7DcTzU8sBOsb84/pkH4tPvWk1EDXtLXC4K88+yrFTBXxi9my/s3f3fVP+oD3r0S0qxVGx7BC3R2rTs75A9CqjVYUGk20WzyxBzS1wBB3BVL4i4fewF0QzN5jcj0VSxnEsdtHbJsYmqSqSbkEEG/RItoyVERz/AA+KLlPS/wCuim6fCXOOVjS5x5AXP5K98O8FtZaSpAc7cM3aPPqUVW+CeCjK4T1QPZg3Yw/vnqR9n5qL9tmM5pY6Zp0jGdwG2Z2jR6D5rX8Rq2wxPkfo2NpcfANC8wY5iLqieSZ+8jy7yB2HoLD0SqjygQlAogFy5cg5AuXIOCOiBGQC5AhcioBQLlyAy5FuhugMuQLggmeFX2qofF4Hry+Nl6ghNwD1AXk+hlyyMd9lzT7iCvVGFy54WOGt2hWLD4IURpTDiDE/o9PLMBmLGOLW9TbQeV1VVXi/EsNjqWxVLjHJlzucwaC+wdYHU77KvVvFuEMBEfbzHq1uW9uhdb5LKq+rdLK+SV2Z73FzieZKTpKR8rwyJpc48h0G5PQeKmsvTPCdVTTUzJaQAMcNR+8HD6zXn7QUuVi/swr/AKDUthmf3arQtH1GvH1HX6nVvuWxSHkqsZn7Z+IssbaVh1k7z/6GnQep+SxglWLj7EDNXTu5NeWN8Azu/ME+qrhWUAgQoEHIEKBByBcuQCEZFCMg5yBC5Ag5cgXIBXIEIQCEKKhQHavS3AFX2lFCf5bffax+IXmgLdPYxXZqTJfVjnN9L5h/yVitHChOJWdrTys5Fjh8FKVEmlhuo2ZuZpa4/W096o821FE505ijaXOdJkaBzJNgFrzeFI8Ow95uO3e0dpJ1cdBG3oLm3inFHw/GK20FmOibLI9+Vpc10lmx2zXF9Hn08VmfEuN1oqOzrpXS9hKHZCGhjsrgQbNABBA59VEaxivA0ctLGxvdmiaCyTnn3N/C6mcFxUy0okkGWSMObM07h8Ys4fC/qE+w2tbNEySM3bI1rmnwcLqt8bVLaSnqZm6GZmQgc5HDK1/nY2PkOiKwGtlzvc47uc5x/uJP3psUo9JlRALly5AC5cgQcuXLkAhGRQjIOciozkVBy5cuQcFyBCgFCgXXQGWlexaqeJpGtF2WDna7HUD3/cs0CvfsfrclaWHaWNw9W94feg2ThmZ8kcjpR3zNID5B1mgeAFkbF3tZ33nK1nfcfAalSFGywNuZusx9sPEhjP0aP95rS8+BJNh52VVWcF47fBXzTSXMVQ6z282tB7jh4tB253KtHGeAsr4hNAQZA3NG4bPbvlJ+XRZHUuzaqy8B8Wmlf2UxJgedf5ZP7w8Oo9URoHsexNzqeSnkuHU7yADuGu1sR4ODgkPbRWWpomfblv6MafvIVgoKCJlQZ49DNHZ1vqvym7Xeeu/is69sNdmqY4gf8uO583n8GhFZ+4ohQuKKogVyBcUHFAuQoAXIUCAQjIgR0HEIqWKBAlZdZKoECVkNkohCBOy6yVXIE7Kb4Lq+yrYH8s4B/uBb96iEtR/5jP6m/MIPU9E67brAvanPnxCX+HK33NC3TAz+wb5Lz7x0f+vqP+45Wqrl0DmpRy4KI0b2S4vI95gebsijLmE7gFzRl8lTeL63tqyeTcGQgeTe6PkrB7Kz/wBRNb/87/8Ak1Ux2/qgQIQWSy5AjZAQl0VAlZDZKhcUCJCCyWKBAmAjWRkZB//Z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noProof="0" dirty="0"/>
          </a:p>
        </p:txBody>
      </p:sp>
      <p:grpSp>
        <p:nvGrpSpPr>
          <p:cNvPr id="26" name="Groupe 25"/>
          <p:cNvGrpSpPr/>
          <p:nvPr/>
        </p:nvGrpSpPr>
        <p:grpSpPr>
          <a:xfrm>
            <a:off x="1055440" y="-27383"/>
            <a:ext cx="4248472" cy="2924943"/>
            <a:chOff x="-468560" y="-27383"/>
            <a:chExt cx="4248472" cy="2924943"/>
          </a:xfrm>
        </p:grpSpPr>
        <p:sp>
          <p:nvSpPr>
            <p:cNvPr id="12" name="Rectangle 11"/>
            <p:cNvSpPr/>
            <p:nvPr/>
          </p:nvSpPr>
          <p:spPr>
            <a:xfrm>
              <a:off x="-468560" y="1484784"/>
              <a:ext cx="424847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pt-BR" b="1" noProof="0" dirty="0">
                  <a:latin typeface="Arial" pitchFamily="34" charset="0"/>
                  <a:cs typeface="Arial" pitchFamily="34" charset="0"/>
                </a:rPr>
                <a:t>Avery, </a:t>
              </a:r>
              <a:r>
                <a:rPr lang="pt-BR" b="1" noProof="0" dirty="0" err="1">
                  <a:latin typeface="Arial" pitchFamily="34" charset="0"/>
                  <a:cs typeface="Arial" pitchFamily="34" charset="0"/>
                </a:rPr>
                <a:t>MacLead</a:t>
              </a:r>
              <a:r>
                <a:rPr lang="pt-BR" b="1" noProof="0" dirty="0">
                  <a:latin typeface="Arial" pitchFamily="34" charset="0"/>
                  <a:cs typeface="Arial" pitchFamily="34" charset="0"/>
                </a:rPr>
                <a:t> &amp; </a:t>
              </a:r>
              <a:r>
                <a:rPr lang="pt-BR" b="1" noProof="0" dirty="0" err="1">
                  <a:latin typeface="Arial" pitchFamily="34" charset="0"/>
                  <a:cs typeface="Arial" pitchFamily="34" charset="0"/>
                </a:rPr>
                <a:t>McCarty</a:t>
              </a:r>
              <a:endParaRPr lang="pt-BR" b="1" noProof="0" dirty="0">
                <a:latin typeface="Arial" pitchFamily="34" charset="0"/>
                <a:cs typeface="Arial" pitchFamily="34" charset="0"/>
              </a:endParaRPr>
            </a:p>
            <a:p>
              <a:pPr algn="ctr">
                <a:buNone/>
              </a:pPr>
              <a:r>
                <a:rPr lang="pt-BR" noProof="0" dirty="0">
                  <a:latin typeface="Arial" pitchFamily="34" charset="0"/>
                  <a:cs typeface="Arial" pitchFamily="34" charset="0"/>
                </a:rPr>
                <a:t>Evidência experimental: </a:t>
              </a:r>
            </a:p>
            <a:p>
              <a:pPr algn="ctr">
                <a:buNone/>
              </a:pPr>
              <a:r>
                <a:rPr lang="pt-BR" noProof="0" dirty="0">
                  <a:latin typeface="Arial" pitchFamily="34" charset="0"/>
                  <a:cs typeface="Arial" pitchFamily="34" charset="0"/>
                </a:rPr>
                <a:t>DNA = material genético</a:t>
              </a:r>
            </a:p>
            <a:p>
              <a:pPr algn="ctr">
                <a:buNone/>
              </a:pPr>
              <a:r>
                <a:rPr lang="pt-BR" noProof="0" dirty="0">
                  <a:latin typeface="Arial" pitchFamily="34" charset="0"/>
                  <a:cs typeface="Arial" pitchFamily="34" charset="0"/>
                </a:rPr>
                <a:t>(transformação de bactérias)</a:t>
              </a:r>
            </a:p>
          </p:txBody>
        </p:sp>
        <p:grpSp>
          <p:nvGrpSpPr>
            <p:cNvPr id="13" name="Groupe 12"/>
            <p:cNvGrpSpPr/>
            <p:nvPr/>
          </p:nvGrpSpPr>
          <p:grpSpPr>
            <a:xfrm>
              <a:off x="143508" y="-27383"/>
              <a:ext cx="3024336" cy="1512168"/>
              <a:chOff x="47638" y="-20091"/>
              <a:chExt cx="2759658" cy="1296144"/>
            </a:xfrm>
          </p:grpSpPr>
          <p:pic>
            <p:nvPicPr>
              <p:cNvPr id="14" name="Picture 6" descr="File:Oswald T. Avery portrait 1937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7638" y="-20091"/>
                <a:ext cx="923962" cy="1296144"/>
              </a:xfrm>
              <a:prstGeom prst="rect">
                <a:avLst/>
              </a:prstGeom>
              <a:noFill/>
            </p:spPr>
          </p:pic>
          <p:pic>
            <p:nvPicPr>
              <p:cNvPr id="15" name="Picture 8" descr="File:ColinMacCleod.jp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899592" y="-20091"/>
                <a:ext cx="1045277" cy="1296144"/>
              </a:xfrm>
              <a:prstGeom prst="rect">
                <a:avLst/>
              </a:prstGeom>
              <a:noFill/>
            </p:spPr>
          </p:pic>
          <p:pic>
            <p:nvPicPr>
              <p:cNvPr id="16" name="Picture 2" descr="http://graphics8.nytimes.com/images/2005/01/06/nyregion/06mccarty184.jp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907704" y="0"/>
                <a:ext cx="899592" cy="1276053"/>
              </a:xfrm>
              <a:prstGeom prst="rect">
                <a:avLst/>
              </a:prstGeom>
              <a:noFill/>
            </p:spPr>
          </p:pic>
        </p:grpSp>
        <p:cxnSp>
          <p:nvCxnSpPr>
            <p:cNvPr id="17" name="Connecteur droit 16"/>
            <p:cNvCxnSpPr/>
            <p:nvPr/>
          </p:nvCxnSpPr>
          <p:spPr>
            <a:xfrm>
              <a:off x="971600" y="2492896"/>
              <a:ext cx="0" cy="40466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e 24"/>
          <p:cNvGrpSpPr/>
          <p:nvPr/>
        </p:nvGrpSpPr>
        <p:grpSpPr>
          <a:xfrm>
            <a:off x="983432" y="3284984"/>
            <a:ext cx="4248472" cy="3600400"/>
            <a:chOff x="-540568" y="3284984"/>
            <a:chExt cx="4248472" cy="3600400"/>
          </a:xfrm>
        </p:grpSpPr>
        <p:pic>
          <p:nvPicPr>
            <p:cNvPr id="22542" name="Picture 14" descr="http://www.thehistoryblog.com/wp-content/uploads/2013/05/Watson-Crick-DNA-model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21804" y="4758541"/>
              <a:ext cx="2123728" cy="2126843"/>
            </a:xfrm>
            <a:prstGeom prst="rect">
              <a:avLst/>
            </a:prstGeom>
            <a:noFill/>
          </p:spPr>
        </p:pic>
        <p:cxnSp>
          <p:nvCxnSpPr>
            <p:cNvPr id="21" name="Connecteur droit 20"/>
            <p:cNvCxnSpPr/>
            <p:nvPr/>
          </p:nvCxnSpPr>
          <p:spPr>
            <a:xfrm>
              <a:off x="2627784" y="3284984"/>
              <a:ext cx="0" cy="50405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-540568" y="3645024"/>
              <a:ext cx="4248472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pt-BR" sz="2000" b="1" noProof="0" dirty="0">
                  <a:latin typeface="Arial" pitchFamily="34" charset="0"/>
                  <a:cs typeface="Arial" pitchFamily="34" charset="0"/>
                </a:rPr>
                <a:t>Watson &amp; Crick</a:t>
              </a:r>
            </a:p>
            <a:p>
              <a:pPr algn="ctr">
                <a:buNone/>
              </a:pPr>
              <a:r>
                <a:rPr lang="pt-BR" sz="2000" noProof="0" dirty="0">
                  <a:latin typeface="Arial" pitchFamily="34" charset="0"/>
                  <a:cs typeface="Arial" pitchFamily="34" charset="0"/>
                </a:rPr>
                <a:t>Modelo molecular</a:t>
              </a:r>
            </a:p>
            <a:p>
              <a:pPr algn="ctr">
                <a:buNone/>
              </a:pPr>
              <a:r>
                <a:rPr lang="pt-BR" sz="2000" noProof="0" dirty="0">
                  <a:latin typeface="Arial" pitchFamily="34" charset="0"/>
                  <a:cs typeface="Arial" pitchFamily="34" charset="0"/>
                </a:rPr>
                <a:t>p/ estrutura do DNA</a:t>
              </a:r>
            </a:p>
          </p:txBody>
        </p:sp>
      </p:grpSp>
      <p:cxnSp>
        <p:nvCxnSpPr>
          <p:cNvPr id="27" name="Connecteur droit 26"/>
          <p:cNvCxnSpPr>
            <a:stCxn id="29" idx="2"/>
          </p:cNvCxnSpPr>
          <p:nvPr/>
        </p:nvCxnSpPr>
        <p:spPr>
          <a:xfrm>
            <a:off x="6312024" y="1512080"/>
            <a:ext cx="0" cy="126884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655840" y="188641"/>
            <a:ext cx="331236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b="1" noProof="0" dirty="0" err="1">
                <a:latin typeface="Arial" pitchFamily="34" charset="0"/>
                <a:cs typeface="Arial" pitchFamily="34" charset="0"/>
              </a:rPr>
              <a:t>Margoliash</a:t>
            </a:r>
            <a:endParaRPr lang="pt-BR" sz="2000" b="1" noProof="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pt-BR" sz="2000" noProof="0" dirty="0">
                <a:latin typeface="Arial" pitchFamily="34" charset="0"/>
                <a:cs typeface="Arial" pitchFamily="34" charset="0"/>
              </a:rPr>
              <a:t>Primeira filogenia </a:t>
            </a:r>
          </a:p>
          <a:p>
            <a:pPr algn="ctr">
              <a:buNone/>
            </a:pPr>
            <a:r>
              <a:rPr lang="pt-BR" sz="2000" noProof="0" dirty="0">
                <a:latin typeface="Arial" pitchFamily="34" charset="0"/>
                <a:cs typeface="Arial" pitchFamily="34" charset="0"/>
              </a:rPr>
              <a:t>baseada nas sequências </a:t>
            </a:r>
          </a:p>
          <a:p>
            <a:pPr algn="ctr">
              <a:buNone/>
            </a:pPr>
            <a:r>
              <a:rPr lang="pt-BR" sz="2000" noProof="0" dirty="0">
                <a:latin typeface="Arial" pitchFamily="34" charset="0"/>
                <a:cs typeface="Arial" pitchFamily="34" charset="0"/>
              </a:rPr>
              <a:t>de a.a. do citocromo c</a:t>
            </a:r>
          </a:p>
        </p:txBody>
      </p:sp>
      <p:grpSp>
        <p:nvGrpSpPr>
          <p:cNvPr id="36" name="Groupe 35"/>
          <p:cNvGrpSpPr/>
          <p:nvPr/>
        </p:nvGrpSpPr>
        <p:grpSpPr>
          <a:xfrm>
            <a:off x="4511824" y="3853496"/>
            <a:ext cx="3384376" cy="2887872"/>
            <a:chOff x="3059832" y="3501007"/>
            <a:chExt cx="3384376" cy="2887872"/>
          </a:xfrm>
        </p:grpSpPr>
        <p:grpSp>
          <p:nvGrpSpPr>
            <p:cNvPr id="35" name="Groupe 34"/>
            <p:cNvGrpSpPr/>
            <p:nvPr/>
          </p:nvGrpSpPr>
          <p:grpSpPr>
            <a:xfrm>
              <a:off x="3527884" y="3501007"/>
              <a:ext cx="2448272" cy="1728193"/>
              <a:chOff x="3635896" y="3501007"/>
              <a:chExt cx="2448272" cy="1728193"/>
            </a:xfrm>
          </p:grpSpPr>
          <p:pic>
            <p:nvPicPr>
              <p:cNvPr id="22545" name="Picture 17" descr="http://library.cshl.edu/Meetings/restriction-enzymes/speaker-pix/img_3608.jpg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4932040" y="3501007"/>
                <a:ext cx="1152128" cy="1728191"/>
              </a:xfrm>
              <a:prstGeom prst="rect">
                <a:avLst/>
              </a:prstGeom>
              <a:noFill/>
            </p:spPr>
          </p:pic>
          <p:pic>
            <p:nvPicPr>
              <p:cNvPr id="22547" name="Picture 19" descr="http://www.niehs.nih.gov/news/newsletter/2007/march/images/march-image-26.jpg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3635896" y="3501008"/>
                <a:ext cx="1324285" cy="1728192"/>
              </a:xfrm>
              <a:prstGeom prst="rect">
                <a:avLst/>
              </a:prstGeom>
              <a:noFill/>
            </p:spPr>
          </p:pic>
        </p:grpSp>
        <p:sp>
          <p:nvSpPr>
            <p:cNvPr id="34" name="Rectangle 33"/>
            <p:cNvSpPr/>
            <p:nvPr/>
          </p:nvSpPr>
          <p:spPr>
            <a:xfrm>
              <a:off x="3059832" y="5373216"/>
              <a:ext cx="3384376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pt-BR" sz="2000" b="1" noProof="0" dirty="0" err="1">
                  <a:latin typeface="Arial" pitchFamily="34" charset="0"/>
                  <a:cs typeface="Arial" pitchFamily="34" charset="0"/>
                </a:rPr>
                <a:t>Meselson</a:t>
              </a:r>
              <a:r>
                <a:rPr lang="pt-BR" sz="2000" b="1" noProof="0" dirty="0">
                  <a:latin typeface="Arial" pitchFamily="34" charset="0"/>
                  <a:cs typeface="Arial" pitchFamily="34" charset="0"/>
                </a:rPr>
                <a:t> &amp; Yuan</a:t>
              </a:r>
            </a:p>
            <a:p>
              <a:pPr algn="ctr">
                <a:buNone/>
              </a:pPr>
              <a:r>
                <a:rPr lang="pt-BR" sz="2000" noProof="0" dirty="0">
                  <a:latin typeface="Arial" pitchFamily="34" charset="0"/>
                  <a:cs typeface="Arial" pitchFamily="34" charset="0"/>
                </a:rPr>
                <a:t>Primeira enzima </a:t>
              </a:r>
            </a:p>
            <a:p>
              <a:pPr algn="ctr">
                <a:buNone/>
              </a:pPr>
              <a:r>
                <a:rPr lang="pt-BR" sz="2000" noProof="0" dirty="0">
                  <a:latin typeface="Arial" pitchFamily="34" charset="0"/>
                  <a:cs typeface="Arial" pitchFamily="34" charset="0"/>
                </a:rPr>
                <a:t>de restrição específica</a:t>
              </a:r>
            </a:p>
          </p:txBody>
        </p:sp>
      </p:grpSp>
      <p:cxnSp>
        <p:nvCxnSpPr>
          <p:cNvPr id="37" name="Connecteur droit 36"/>
          <p:cNvCxnSpPr/>
          <p:nvPr/>
        </p:nvCxnSpPr>
        <p:spPr>
          <a:xfrm>
            <a:off x="7032104" y="3240360"/>
            <a:ext cx="0" cy="4046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e 41"/>
          <p:cNvGrpSpPr/>
          <p:nvPr/>
        </p:nvGrpSpPr>
        <p:grpSpPr>
          <a:xfrm>
            <a:off x="7464152" y="-27384"/>
            <a:ext cx="3312368" cy="2165376"/>
            <a:chOff x="5868144" y="-1"/>
            <a:chExt cx="3312368" cy="2165376"/>
          </a:xfrm>
        </p:grpSpPr>
        <p:sp>
          <p:nvSpPr>
            <p:cNvPr id="39" name="Rectangle 38"/>
            <p:cNvSpPr/>
            <p:nvPr/>
          </p:nvSpPr>
          <p:spPr>
            <a:xfrm>
              <a:off x="5868144" y="1457489"/>
              <a:ext cx="331236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pt-BR" sz="2000" b="1" noProof="0" dirty="0">
                  <a:latin typeface="Arial" pitchFamily="34" charset="0"/>
                  <a:cs typeface="Arial" pitchFamily="34" charset="0"/>
                </a:rPr>
                <a:t>Edwin Southern </a:t>
              </a:r>
            </a:p>
            <a:p>
              <a:pPr algn="ctr">
                <a:buNone/>
              </a:pPr>
              <a:r>
                <a:rPr lang="pt-BR" sz="2000" noProof="0" dirty="0">
                  <a:latin typeface="Arial" pitchFamily="34" charset="0"/>
                  <a:cs typeface="Arial" pitchFamily="34" charset="0"/>
                </a:rPr>
                <a:t>Técnica do Southern </a:t>
              </a:r>
              <a:r>
                <a:rPr lang="pt-BR" sz="2000" noProof="0" dirty="0" err="1">
                  <a:latin typeface="Arial" pitchFamily="34" charset="0"/>
                  <a:cs typeface="Arial" pitchFamily="34" charset="0"/>
                </a:rPr>
                <a:t>Blot</a:t>
              </a:r>
              <a:endParaRPr lang="pt-BR" sz="2000" noProof="0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1" name="Groupe 40"/>
            <p:cNvGrpSpPr/>
            <p:nvPr/>
          </p:nvGrpSpPr>
          <p:grpSpPr>
            <a:xfrm>
              <a:off x="6256609" y="-1"/>
              <a:ext cx="2535438" cy="1341717"/>
              <a:chOff x="6300192" y="-1"/>
              <a:chExt cx="2535438" cy="1341717"/>
            </a:xfrm>
          </p:grpSpPr>
          <p:pic>
            <p:nvPicPr>
              <p:cNvPr id="22549" name="Picture 21" descr="http://www.nature.com/nprot/journal/v5/n9/images/nprot.2010.124-F8.jpg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6300192" y="-1"/>
                <a:ext cx="1728192" cy="1335791"/>
              </a:xfrm>
              <a:prstGeom prst="rect">
                <a:avLst/>
              </a:prstGeom>
              <a:noFill/>
            </p:spPr>
          </p:pic>
          <p:pic>
            <p:nvPicPr>
              <p:cNvPr id="22551" name="Picture 23" descr="http://upload.wikimedia.org/wikipedia/commons/thumb/f/f3/Edwin_Mellor_Southern_-_journal.pgen.1003344.g001.png/200px-Edwin_Mellor_Southern_-_journal.pgen.1003344.g001.png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7740352" y="0"/>
                <a:ext cx="1095278" cy="1341716"/>
              </a:xfrm>
              <a:prstGeom prst="rect">
                <a:avLst/>
              </a:prstGeom>
              <a:noFill/>
            </p:spPr>
          </p:pic>
        </p:grpSp>
      </p:grpSp>
      <p:cxnSp>
        <p:nvCxnSpPr>
          <p:cNvPr id="43" name="Connecteur droit 42"/>
          <p:cNvCxnSpPr/>
          <p:nvPr/>
        </p:nvCxnSpPr>
        <p:spPr>
          <a:xfrm>
            <a:off x="7896200" y="2132856"/>
            <a:ext cx="0" cy="7200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e 48"/>
          <p:cNvGrpSpPr/>
          <p:nvPr/>
        </p:nvGrpSpPr>
        <p:grpSpPr>
          <a:xfrm>
            <a:off x="7860196" y="5201816"/>
            <a:ext cx="2448272" cy="1656185"/>
            <a:chOff x="6948264" y="3717031"/>
            <a:chExt cx="2088232" cy="1350151"/>
          </a:xfrm>
        </p:grpSpPr>
        <p:pic>
          <p:nvPicPr>
            <p:cNvPr id="22553" name="Picture 25" descr="WalterGilbert2.jpg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7956376" y="3717032"/>
              <a:ext cx="1080120" cy="1350150"/>
            </a:xfrm>
            <a:prstGeom prst="rect">
              <a:avLst/>
            </a:prstGeom>
            <a:noFill/>
          </p:spPr>
        </p:pic>
        <p:pic>
          <p:nvPicPr>
            <p:cNvPr id="22555" name="Picture 27" descr="https://encrypted-tbn0.gstatic.com/images?q=tbn:ANd9GcQhSwpARxEvG5FE0Kqpltr6MiwifyL1BBOKu5u7c9eA1kA8hhY4lQ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6948264" y="3717031"/>
              <a:ext cx="1080120" cy="1331435"/>
            </a:xfrm>
            <a:prstGeom prst="rect">
              <a:avLst/>
            </a:prstGeom>
            <a:noFill/>
          </p:spPr>
        </p:pic>
      </p:grpSp>
      <p:sp>
        <p:nvSpPr>
          <p:cNvPr id="50" name="Rectangle 49"/>
          <p:cNvSpPr/>
          <p:nvPr/>
        </p:nvSpPr>
        <p:spPr>
          <a:xfrm>
            <a:off x="7392144" y="4069521"/>
            <a:ext cx="33843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b="1" noProof="0" dirty="0">
                <a:latin typeface="Arial" pitchFamily="34" charset="0"/>
                <a:cs typeface="Arial" pitchFamily="34" charset="0"/>
              </a:rPr>
              <a:t>Sanger, Gilbert &amp; </a:t>
            </a:r>
            <a:r>
              <a:rPr lang="pt-BR" sz="2000" b="1" noProof="0" dirty="0" err="1">
                <a:latin typeface="Arial" pitchFamily="34" charset="0"/>
                <a:cs typeface="Arial" pitchFamily="34" charset="0"/>
              </a:rPr>
              <a:t>Maxam</a:t>
            </a:r>
            <a:endParaRPr lang="pt-BR" sz="2000" b="1" noProof="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pt-BR" sz="2000" noProof="0" dirty="0">
                <a:latin typeface="Arial" pitchFamily="34" charset="0"/>
                <a:cs typeface="Arial" pitchFamily="34" charset="0"/>
              </a:rPr>
              <a:t>Sequenciamento DNA</a:t>
            </a:r>
          </a:p>
        </p:txBody>
      </p:sp>
      <p:cxnSp>
        <p:nvCxnSpPr>
          <p:cNvPr id="52" name="Connecteur droit 51"/>
          <p:cNvCxnSpPr/>
          <p:nvPr/>
        </p:nvCxnSpPr>
        <p:spPr>
          <a:xfrm>
            <a:off x="8544272" y="3212976"/>
            <a:ext cx="0" cy="7920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e 5"/>
          <p:cNvSpPr/>
          <p:nvPr/>
        </p:nvSpPr>
        <p:spPr>
          <a:xfrm>
            <a:off x="1703512" y="2708920"/>
            <a:ext cx="8892480" cy="648072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noProof="0" dirty="0">
                <a:solidFill>
                  <a:schemeClr val="tx1"/>
                </a:solidFill>
              </a:rPr>
              <a:t>     1978          1981         1983-1985         1989                                    2003        2005</a:t>
            </a:r>
          </a:p>
        </p:txBody>
      </p:sp>
      <p:grpSp>
        <p:nvGrpSpPr>
          <p:cNvPr id="10" name="Groupe 9"/>
          <p:cNvGrpSpPr/>
          <p:nvPr/>
        </p:nvGrpSpPr>
        <p:grpSpPr>
          <a:xfrm>
            <a:off x="1199456" y="-10700"/>
            <a:ext cx="3384376" cy="2439139"/>
            <a:chOff x="35496" y="68859"/>
            <a:chExt cx="3384376" cy="2439139"/>
          </a:xfrm>
        </p:grpSpPr>
        <p:pic>
          <p:nvPicPr>
            <p:cNvPr id="54276" name="Picture 4" descr="https://www.mcb.harvard.edu/mcb_files/media/editor_uploads/2004/11/Maniatis1980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87624" y="68859"/>
              <a:ext cx="1130819" cy="1351468"/>
            </a:xfrm>
            <a:prstGeom prst="rect">
              <a:avLst/>
            </a:prstGeom>
            <a:noFill/>
          </p:spPr>
        </p:pic>
        <p:sp>
          <p:nvSpPr>
            <p:cNvPr id="9" name="Rectangle 8"/>
            <p:cNvSpPr/>
            <p:nvPr/>
          </p:nvSpPr>
          <p:spPr>
            <a:xfrm>
              <a:off x="35496" y="1492335"/>
              <a:ext cx="3384376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pt-BR" sz="2000" b="1" noProof="0" dirty="0" err="1">
                  <a:latin typeface="Arial" pitchFamily="34" charset="0"/>
                  <a:cs typeface="Arial" pitchFamily="34" charset="0"/>
                </a:rPr>
                <a:t>Maniatis</a:t>
              </a:r>
              <a:r>
                <a:rPr lang="pt-BR" sz="2000" b="1" noProof="0" dirty="0">
                  <a:latin typeface="Arial" pitchFamily="34" charset="0"/>
                  <a:cs typeface="Arial" pitchFamily="34" charset="0"/>
                </a:rPr>
                <a:t> et al.</a:t>
              </a:r>
            </a:p>
            <a:p>
              <a:pPr algn="ctr">
                <a:buNone/>
              </a:pPr>
              <a:r>
                <a:rPr lang="pt-BR" sz="2000" noProof="0" dirty="0">
                  <a:latin typeface="Arial" pitchFamily="34" charset="0"/>
                  <a:cs typeface="Arial" pitchFamily="34" charset="0"/>
                </a:rPr>
                <a:t>Isolamento de gene via clonagem</a:t>
              </a:r>
            </a:p>
          </p:txBody>
        </p:sp>
      </p:grpSp>
      <p:cxnSp>
        <p:nvCxnSpPr>
          <p:cNvPr id="11" name="Connecteur droit 10"/>
          <p:cNvCxnSpPr/>
          <p:nvPr/>
        </p:nvCxnSpPr>
        <p:spPr>
          <a:xfrm>
            <a:off x="2711624" y="2448272"/>
            <a:ext cx="0" cy="4046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278" name="Picture 6" descr="http://images.the-scientist.com/content/figures/images/yr2000/aug21/palme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5641" y="3789040"/>
            <a:ext cx="1003595" cy="1440160"/>
          </a:xfrm>
          <a:prstGeom prst="rect">
            <a:avLst/>
          </a:prstGeom>
          <a:noFill/>
        </p:spPr>
      </p:pic>
      <p:sp>
        <p:nvSpPr>
          <p:cNvPr id="13" name="Rectangle 12"/>
          <p:cNvSpPr/>
          <p:nvPr/>
        </p:nvSpPr>
        <p:spPr>
          <a:xfrm>
            <a:off x="1703512" y="5373217"/>
            <a:ext cx="33843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b="1" noProof="0" dirty="0">
                <a:latin typeface="Arial" pitchFamily="34" charset="0"/>
                <a:cs typeface="Arial" pitchFamily="34" charset="0"/>
              </a:rPr>
              <a:t>Palmer et al.</a:t>
            </a:r>
          </a:p>
          <a:p>
            <a:pPr algn="ctr">
              <a:buNone/>
            </a:pPr>
            <a:r>
              <a:rPr lang="pt-BR" sz="2000" noProof="0" dirty="0">
                <a:latin typeface="Arial" pitchFamily="34" charset="0"/>
                <a:cs typeface="Arial" pitchFamily="34" charset="0"/>
              </a:rPr>
              <a:t>Uso do </a:t>
            </a:r>
            <a:r>
              <a:rPr lang="pt-BR" sz="2000" noProof="0" dirty="0" err="1">
                <a:latin typeface="Arial" pitchFamily="34" charset="0"/>
                <a:cs typeface="Arial" pitchFamily="34" charset="0"/>
              </a:rPr>
              <a:t>cpDNA</a:t>
            </a:r>
            <a:r>
              <a:rPr lang="pt-BR" sz="2000" noProof="0" dirty="0">
                <a:latin typeface="Arial" pitchFamily="34" charset="0"/>
                <a:cs typeface="Arial" pitchFamily="34" charset="0"/>
              </a:rPr>
              <a:t> para reconstrução filogenética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3647728" y="3240360"/>
            <a:ext cx="0" cy="4046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e 18"/>
          <p:cNvGrpSpPr/>
          <p:nvPr/>
        </p:nvGrpSpPr>
        <p:grpSpPr>
          <a:xfrm>
            <a:off x="4007768" y="144016"/>
            <a:ext cx="3384376" cy="2060848"/>
            <a:chOff x="2483768" y="332656"/>
            <a:chExt cx="3384376" cy="2060848"/>
          </a:xfrm>
        </p:grpSpPr>
        <p:grpSp>
          <p:nvGrpSpPr>
            <p:cNvPr id="17" name="Groupe 16"/>
            <p:cNvGrpSpPr/>
            <p:nvPr/>
          </p:nvGrpSpPr>
          <p:grpSpPr>
            <a:xfrm>
              <a:off x="2865533" y="1268760"/>
              <a:ext cx="2620846" cy="1124744"/>
              <a:chOff x="3059832" y="-37444"/>
              <a:chExt cx="2620846" cy="1124744"/>
            </a:xfrm>
          </p:grpSpPr>
          <p:pic>
            <p:nvPicPr>
              <p:cNvPr id="54280" name="Picture 8" descr="File:Baby Blue - a prototype polymerase chain reaction (PCR), c 1986. (9663810586).jp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059832" y="-27384"/>
                <a:ext cx="1728192" cy="1114684"/>
              </a:xfrm>
              <a:prstGeom prst="rect">
                <a:avLst/>
              </a:prstGeom>
              <a:noFill/>
            </p:spPr>
          </p:pic>
          <p:pic>
            <p:nvPicPr>
              <p:cNvPr id="54282" name="Picture 10" descr="http://www.nobelprize.org/nobel_prizes/chemistry/laureates/1993/illpres/index-2.gif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788024" y="-37444"/>
                <a:ext cx="892654" cy="1124744"/>
              </a:xfrm>
              <a:prstGeom prst="rect">
                <a:avLst/>
              </a:prstGeom>
              <a:noFill/>
            </p:spPr>
          </p:pic>
        </p:grpSp>
        <p:sp>
          <p:nvSpPr>
            <p:cNvPr id="18" name="Rectangle 17"/>
            <p:cNvSpPr/>
            <p:nvPr/>
          </p:nvSpPr>
          <p:spPr>
            <a:xfrm>
              <a:off x="2483768" y="332656"/>
              <a:ext cx="3384376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pt-BR" sz="2000" b="1" noProof="0" dirty="0">
                  <a:latin typeface="Arial" pitchFamily="34" charset="0"/>
                  <a:cs typeface="Arial" pitchFamily="34" charset="0"/>
                </a:rPr>
                <a:t>Mullis</a:t>
              </a:r>
            </a:p>
            <a:p>
              <a:pPr algn="ctr">
                <a:buNone/>
              </a:pPr>
              <a:r>
                <a:rPr lang="pt-BR" sz="2000" noProof="0" dirty="0">
                  <a:latin typeface="Arial" pitchFamily="34" charset="0"/>
                  <a:cs typeface="Arial" pitchFamily="34" charset="0"/>
                </a:rPr>
                <a:t>Desenvolvimento da PCR</a:t>
              </a:r>
            </a:p>
          </p:txBody>
        </p:sp>
      </p:grpSp>
      <p:cxnSp>
        <p:nvCxnSpPr>
          <p:cNvPr id="20" name="Connecteur droit 19"/>
          <p:cNvCxnSpPr/>
          <p:nvPr/>
        </p:nvCxnSpPr>
        <p:spPr>
          <a:xfrm>
            <a:off x="5087888" y="2376264"/>
            <a:ext cx="0" cy="4046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e 26"/>
          <p:cNvGrpSpPr/>
          <p:nvPr/>
        </p:nvGrpSpPr>
        <p:grpSpPr>
          <a:xfrm>
            <a:off x="4986462" y="3924322"/>
            <a:ext cx="2736304" cy="2464556"/>
            <a:chOff x="3603136" y="3924322"/>
            <a:chExt cx="2736304" cy="2464556"/>
          </a:xfrm>
        </p:grpSpPr>
        <p:pic>
          <p:nvPicPr>
            <p:cNvPr id="54286" name="Picture 14" descr="Tom Kocher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496669" y="5055835"/>
              <a:ext cx="867960" cy="1333043"/>
            </a:xfrm>
            <a:prstGeom prst="rect">
              <a:avLst/>
            </a:prstGeom>
            <a:noFill/>
          </p:spPr>
        </p:pic>
        <p:sp>
          <p:nvSpPr>
            <p:cNvPr id="26" name="Rectangle 25"/>
            <p:cNvSpPr/>
            <p:nvPr/>
          </p:nvSpPr>
          <p:spPr>
            <a:xfrm>
              <a:off x="3603136" y="3924322"/>
              <a:ext cx="2736304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pt-BR" sz="2000" b="1" noProof="0" dirty="0" err="1">
                  <a:latin typeface="Arial" pitchFamily="34" charset="0"/>
                  <a:cs typeface="Arial" pitchFamily="34" charset="0"/>
                </a:rPr>
                <a:t>Kocher</a:t>
              </a:r>
              <a:r>
                <a:rPr lang="pt-BR" sz="2000" b="1" noProof="0" dirty="0">
                  <a:latin typeface="Arial" pitchFamily="34" charset="0"/>
                  <a:cs typeface="Arial" pitchFamily="34" charset="0"/>
                </a:rPr>
                <a:t> et al.</a:t>
              </a:r>
            </a:p>
            <a:p>
              <a:pPr algn="ctr">
                <a:buNone/>
              </a:pPr>
              <a:r>
                <a:rPr lang="pt-BR" sz="2000" noProof="0" dirty="0">
                  <a:latin typeface="Arial" pitchFamily="34" charset="0"/>
                  <a:cs typeface="Arial" pitchFamily="34" charset="0"/>
                </a:rPr>
                <a:t>Desenvolvimento microssatélite</a:t>
              </a:r>
            </a:p>
          </p:txBody>
        </p:sp>
      </p:grpSp>
      <p:cxnSp>
        <p:nvCxnSpPr>
          <p:cNvPr id="28" name="Connecteur droit 27"/>
          <p:cNvCxnSpPr>
            <a:cxnSpLocks/>
          </p:cNvCxnSpPr>
          <p:nvPr/>
        </p:nvCxnSpPr>
        <p:spPr>
          <a:xfrm flipH="1">
            <a:off x="6423379" y="3229434"/>
            <a:ext cx="703" cy="46021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e 31"/>
          <p:cNvGrpSpPr/>
          <p:nvPr/>
        </p:nvGrpSpPr>
        <p:grpSpPr>
          <a:xfrm>
            <a:off x="8084623" y="3501008"/>
            <a:ext cx="2736304" cy="3332112"/>
            <a:chOff x="6156176" y="3501008"/>
            <a:chExt cx="2736304" cy="3332112"/>
          </a:xfrm>
        </p:grpSpPr>
        <p:pic>
          <p:nvPicPr>
            <p:cNvPr id="54288" name="Picture 16" descr="http://www.pressebox.de/attachment/31428/GS20.JPG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496713" y="3501008"/>
              <a:ext cx="2055230" cy="2016224"/>
            </a:xfrm>
            <a:prstGeom prst="rect">
              <a:avLst/>
            </a:prstGeom>
            <a:noFill/>
          </p:spPr>
        </p:pic>
        <p:sp>
          <p:nvSpPr>
            <p:cNvPr id="31" name="Rectangle 30"/>
            <p:cNvSpPr/>
            <p:nvPr/>
          </p:nvSpPr>
          <p:spPr>
            <a:xfrm>
              <a:off x="6156176" y="5509681"/>
              <a:ext cx="273630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pt-BR" sz="2000" b="1" noProof="0" dirty="0">
                  <a:latin typeface="Arial" pitchFamily="34" charset="0"/>
                  <a:cs typeface="Arial" pitchFamily="34" charset="0"/>
                </a:rPr>
                <a:t>454 Life </a:t>
              </a:r>
              <a:r>
                <a:rPr lang="pt-BR" sz="2000" b="1" noProof="0" dirty="0" err="1">
                  <a:latin typeface="Arial" pitchFamily="34" charset="0"/>
                  <a:cs typeface="Arial" pitchFamily="34" charset="0"/>
                </a:rPr>
                <a:t>Sciences</a:t>
              </a:r>
              <a:endParaRPr lang="pt-BR" sz="2000" b="1" noProof="0" dirty="0">
                <a:latin typeface="Arial" pitchFamily="34" charset="0"/>
                <a:cs typeface="Arial" pitchFamily="34" charset="0"/>
              </a:endParaRPr>
            </a:p>
            <a:p>
              <a:pPr algn="ctr">
                <a:buNone/>
              </a:pPr>
              <a:r>
                <a:rPr lang="pt-BR" sz="2000" noProof="0" dirty="0">
                  <a:latin typeface="Arial" pitchFamily="34" charset="0"/>
                  <a:cs typeface="Arial" pitchFamily="34" charset="0"/>
                </a:rPr>
                <a:t>Primeiro sequenciador de nova geração comercializado</a:t>
              </a:r>
            </a:p>
          </p:txBody>
        </p:sp>
      </p:grpSp>
      <p:cxnSp>
        <p:nvCxnSpPr>
          <p:cNvPr id="33" name="Connecteur droit 32"/>
          <p:cNvCxnSpPr/>
          <p:nvPr/>
        </p:nvCxnSpPr>
        <p:spPr>
          <a:xfrm>
            <a:off x="10028839" y="3221360"/>
            <a:ext cx="0" cy="7837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32"/>
          <p:cNvCxnSpPr/>
          <p:nvPr/>
        </p:nvCxnSpPr>
        <p:spPr>
          <a:xfrm>
            <a:off x="9106535" y="2376264"/>
            <a:ext cx="0" cy="47667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104148" y="1186447"/>
            <a:ext cx="192166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noProof="0" dirty="0">
                <a:latin typeface="Arial" pitchFamily="34" charset="0"/>
                <a:cs typeface="Arial" pitchFamily="34" charset="0"/>
              </a:rPr>
              <a:t>Publicação do genoma humano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0A93-39F7-E3BB-4962-41176723C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Entendendo a variação genética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C8F79-3009-96F1-6D3D-86CB1F1B4AF7}"/>
              </a:ext>
            </a:extLst>
          </p:cNvPr>
          <p:cNvSpPr txBox="1"/>
          <p:nvPr/>
        </p:nvSpPr>
        <p:spPr>
          <a:xfrm>
            <a:off x="1380392" y="2101362"/>
            <a:ext cx="96187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noProof="0" dirty="0"/>
              <a:t>Busca e desenvolvimento de métodos que permitam a comparação de partes semelhantes (homólogas) do material genético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noProof="0" dirty="0"/>
              <a:t>De marcadores anônimos que não dependem do sequenciamento ao desenvolvimento de técnicas que permitem a seleção de partes específicas do DNA</a:t>
            </a:r>
          </a:p>
        </p:txBody>
      </p:sp>
    </p:spTree>
    <p:extLst>
      <p:ext uri="{BB962C8B-B14F-4D97-AF65-F5344CB8AC3E}">
        <p14:creationId xmlns:p14="http://schemas.microsoft.com/office/powerpoint/2010/main" val="3635735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F5125-11F3-B21F-A6A6-0E7D4F70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0F10-DAFA-11C5-8423-D65B7445D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Entendendo a variação genética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FFCA8-C780-54DC-7057-E9569C368491}"/>
              </a:ext>
            </a:extLst>
          </p:cNvPr>
          <p:cNvSpPr txBox="1"/>
          <p:nvPr/>
        </p:nvSpPr>
        <p:spPr>
          <a:xfrm>
            <a:off x="1380392" y="2101362"/>
            <a:ext cx="1012168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noProof="0" dirty="0"/>
              <a:t>Distância imunológica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noProof="0" dirty="0"/>
              <a:t>Eletroforese de proteínas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noProof="0" dirty="0"/>
              <a:t>Polimorfismo de comprimento de fragmentos de restrição (RLFP)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noProof="0" dirty="0" err="1"/>
              <a:t>DNAs</a:t>
            </a:r>
            <a:r>
              <a:rPr lang="pt-BR" sz="2400" noProof="0" dirty="0"/>
              <a:t> polimórficos amplificados aleatoriamente (RAPD)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noProof="0" dirty="0"/>
              <a:t>Polimorfismo de comprimento de fragmentos amplificados (AFLP)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noProof="0" dirty="0" err="1"/>
              <a:t>Microsatélites</a:t>
            </a:r>
            <a:endParaRPr lang="pt-BR" sz="2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noProof="0" dirty="0"/>
              <a:t>Sequenciamento de Sanger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noProof="0" dirty="0"/>
              <a:t>Sequenciamento de segunda geração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noProof="0" dirty="0"/>
              <a:t>Sequenciamento de terceira geração</a:t>
            </a:r>
          </a:p>
        </p:txBody>
      </p:sp>
    </p:spTree>
    <p:extLst>
      <p:ext uri="{BB962C8B-B14F-4D97-AF65-F5344CB8AC3E}">
        <p14:creationId xmlns:p14="http://schemas.microsoft.com/office/powerpoint/2010/main" val="828475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617A-7608-97E5-E5DA-3D1F5EAC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 up of a molecular model">
            <a:extLst>
              <a:ext uri="{FF2B5EF4-FFF2-40B4-BE49-F238E27FC236}">
                <a16:creationId xmlns:a16="http://schemas.microsoft.com/office/drawing/2014/main" id="{DA35C234-906E-D9A9-6866-C19BB22B52F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5277" b="19723"/>
          <a:stretch>
            <a:fillRect/>
          </a:stretch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16814A-32AE-7449-BCB9-434591BA5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873" y="2271449"/>
            <a:ext cx="6347918" cy="36700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6100" dirty="0">
                <a:solidFill>
                  <a:schemeClr val="tx2">
                    <a:lumMod val="75000"/>
                  </a:schemeClr>
                </a:solidFill>
              </a:rPr>
              <a:t>Revisão sobre </a:t>
            </a:r>
            <a:r>
              <a:rPr lang="pt-BR" sz="6100" b="1" i="0" kern="1200" cap="all" baseline="0" noProof="0" dirty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Técnicas essenciais</a:t>
            </a:r>
          </a:p>
        </p:txBody>
      </p:sp>
    </p:spTree>
    <p:extLst>
      <p:ext uri="{BB962C8B-B14F-4D97-AF65-F5344CB8AC3E}">
        <p14:creationId xmlns:p14="http://schemas.microsoft.com/office/powerpoint/2010/main" val="4126906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8FF816-84A1-1740-8D5C-6C570BD88FEB}"/>
              </a:ext>
            </a:extLst>
          </p:cNvPr>
          <p:cNvSpPr txBox="1">
            <a:spLocks/>
          </p:cNvSpPr>
          <p:nvPr/>
        </p:nvSpPr>
        <p:spPr>
          <a:xfrm>
            <a:off x="852853" y="32488"/>
            <a:ext cx="10357338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PCR: </a:t>
            </a:r>
            <a:r>
              <a:rPr lang="fr-FR" dirty="0" err="1"/>
              <a:t>reação</a:t>
            </a:r>
            <a:r>
              <a:rPr lang="fr-FR" dirty="0"/>
              <a:t> </a:t>
            </a:r>
            <a:r>
              <a:rPr lang="fr-FR" dirty="0" err="1"/>
              <a:t>em</a:t>
            </a:r>
            <a:r>
              <a:rPr lang="fr-FR" dirty="0"/>
              <a:t> </a:t>
            </a:r>
            <a:r>
              <a:rPr lang="fr-FR" dirty="0" err="1"/>
              <a:t>cadeia</a:t>
            </a:r>
            <a:r>
              <a:rPr lang="fr-FR" dirty="0"/>
              <a:t> da </a:t>
            </a:r>
            <a:r>
              <a:rPr lang="fr-FR" dirty="0" err="1"/>
              <a:t>polimerase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DB250-C4D0-E14A-B429-94794CE45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951" y="1556792"/>
            <a:ext cx="4418411" cy="37444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CC67C71-BE00-E244-9F07-CC3080626F73}"/>
              </a:ext>
            </a:extLst>
          </p:cNvPr>
          <p:cNvSpPr/>
          <p:nvPr/>
        </p:nvSpPr>
        <p:spPr>
          <a:xfrm>
            <a:off x="1199456" y="1043608"/>
            <a:ext cx="4896544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Amplificação (multiplicação do número de cópias) de um fragmento de DNA</a:t>
            </a:r>
          </a:p>
          <a:p>
            <a:pPr marL="457200">
              <a:spcBef>
                <a:spcPct val="0"/>
              </a:spcBef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457200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Exige o uso de uma DNA polimerase</a:t>
            </a:r>
          </a:p>
          <a:p>
            <a:pPr marL="457200">
              <a:spcBef>
                <a:spcPct val="0"/>
              </a:spcBef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457200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O desenvolvimento foi inicialmente limitado pela diferença na temperatura necessária para desnaturação do DNA (~95ºC) e a temperatura em que a polimerase para de funcionar (~60ºC)</a:t>
            </a:r>
          </a:p>
        </p:txBody>
      </p:sp>
    </p:spTree>
    <p:extLst>
      <p:ext uri="{BB962C8B-B14F-4D97-AF65-F5344CB8AC3E}">
        <p14:creationId xmlns:p14="http://schemas.microsoft.com/office/powerpoint/2010/main" val="2225034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6188" y="31570"/>
            <a:ext cx="9879623" cy="1143000"/>
          </a:xfrm>
        </p:spPr>
        <p:txBody>
          <a:bodyPr>
            <a:normAutofit fontScale="90000"/>
          </a:bodyPr>
          <a:lstStyle/>
          <a:p>
            <a:r>
              <a:rPr lang="fr-FR" dirty="0"/>
              <a:t>PCR: reação em </a:t>
            </a:r>
            <a:r>
              <a:rPr lang="fr-FR" dirty="0" err="1"/>
              <a:t>cadeia</a:t>
            </a:r>
            <a:r>
              <a:rPr lang="fr-FR" dirty="0"/>
              <a:t> da polimerase</a:t>
            </a:r>
          </a:p>
        </p:txBody>
      </p:sp>
      <p:pic>
        <p:nvPicPr>
          <p:cNvPr id="10242" name="Picture 2" descr="Tdb-at-yellowstone-2002b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5173" y="1268760"/>
            <a:ext cx="1565656" cy="2400672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3127874" y="1497640"/>
            <a:ext cx="40747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itchFamily="34" charset="0"/>
                <a:cs typeface="Arial" pitchFamily="34" charset="0"/>
              </a:rPr>
              <a:t>T. </a:t>
            </a:r>
            <a:r>
              <a:rPr lang="pt-BR" b="1" dirty="0" err="1">
                <a:latin typeface="Arial" pitchFamily="34" charset="0"/>
                <a:cs typeface="Arial" pitchFamily="34" charset="0"/>
              </a:rPr>
              <a:t>Brock</a:t>
            </a:r>
            <a:r>
              <a:rPr lang="pt-BR" b="1" dirty="0">
                <a:latin typeface="Arial" pitchFamily="34" charset="0"/>
                <a:cs typeface="Arial" pitchFamily="34" charset="0"/>
              </a:rPr>
              <a:t> (1965)</a:t>
            </a:r>
          </a:p>
          <a:p>
            <a:r>
              <a:rPr lang="pt-BR" dirty="0">
                <a:latin typeface="Arial" pitchFamily="34" charset="0"/>
                <a:cs typeface="Arial" pitchFamily="34" charset="0"/>
              </a:rPr>
              <a:t>Descoberta da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Taq</a:t>
            </a:r>
            <a:r>
              <a:rPr lang="pt-BR" dirty="0">
                <a:latin typeface="Arial" pitchFamily="34" charset="0"/>
                <a:cs typeface="Arial" pitchFamily="34" charset="0"/>
              </a:rPr>
              <a:t>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polymerase</a:t>
            </a:r>
            <a:r>
              <a:rPr lang="pt-BR" dirty="0">
                <a:latin typeface="Arial" pitchFamily="34" charset="0"/>
                <a:cs typeface="Arial" pitchFamily="34" charset="0"/>
              </a:rPr>
              <a:t>, isolada de </a:t>
            </a:r>
            <a:r>
              <a:rPr lang="pt-BR" i="1" dirty="0" err="1">
                <a:latin typeface="Arial" pitchFamily="34" charset="0"/>
                <a:cs typeface="Arial" pitchFamily="34" charset="0"/>
              </a:rPr>
              <a:t>Thermus</a:t>
            </a:r>
            <a:r>
              <a:rPr lang="pt-BR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i="1" dirty="0" err="1">
                <a:latin typeface="Arial" pitchFamily="34" charset="0"/>
                <a:cs typeface="Arial" pitchFamily="34" charset="0"/>
              </a:rPr>
              <a:t>aquaticus</a:t>
            </a:r>
            <a:r>
              <a:rPr lang="pt-BR" i="1" dirty="0">
                <a:latin typeface="Arial" pitchFamily="34" charset="0"/>
                <a:cs typeface="Arial" pitchFamily="34" charset="0"/>
              </a:rPr>
              <a:t>, </a:t>
            </a:r>
            <a:r>
              <a:rPr lang="pt-BR" dirty="0">
                <a:latin typeface="Arial" pitchFamily="34" charset="0"/>
                <a:cs typeface="Arial" pitchFamily="34" charset="0"/>
              </a:rPr>
              <a:t>uma bactéria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termófila</a:t>
            </a:r>
            <a:r>
              <a:rPr lang="pt-BR" dirty="0">
                <a:latin typeface="Arial" pitchFamily="34" charset="0"/>
                <a:cs typeface="Arial" pitchFamily="34" charset="0"/>
              </a:rPr>
              <a:t> encontrada nos gêiseres de Yellowstone, EUA</a:t>
            </a:r>
            <a:endParaRPr lang="fr-FR" b="1" i="1" dirty="0"/>
          </a:p>
        </p:txBody>
      </p:sp>
      <p:pic>
        <p:nvPicPr>
          <p:cNvPr id="10244" name="Picture 4" descr="File:PDB 1ktq EBI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31904" y="3255480"/>
            <a:ext cx="2160240" cy="1620179"/>
          </a:xfrm>
          <a:prstGeom prst="rect">
            <a:avLst/>
          </a:prstGeom>
          <a:noFill/>
        </p:spPr>
      </p:pic>
      <p:pic>
        <p:nvPicPr>
          <p:cNvPr id="10246" name="Picture 6" descr="Ficheiro:Churning Caldr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60021" y="1015224"/>
            <a:ext cx="3293604" cy="2794432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5" t="4475" r="3193" b="4475"/>
          <a:stretch/>
        </p:blipFill>
        <p:spPr>
          <a:xfrm>
            <a:off x="8976320" y="4221088"/>
            <a:ext cx="1455408" cy="1953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430" y="4189779"/>
            <a:ext cx="3346488" cy="23795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32F4CC-5F0E-9343-87E7-B9E9153BF0EE}"/>
              </a:ext>
            </a:extLst>
          </p:cNvPr>
          <p:cNvSpPr/>
          <p:nvPr/>
        </p:nvSpPr>
        <p:spPr>
          <a:xfrm>
            <a:off x="5463266" y="4867228"/>
            <a:ext cx="35130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itchFamily="34" charset="0"/>
                <a:cs typeface="Arial" pitchFamily="34" charset="0"/>
              </a:rPr>
              <a:t>Alice </a:t>
            </a:r>
            <a:r>
              <a:rPr lang="pt-BR" b="1" dirty="0" err="1">
                <a:latin typeface="Arial" pitchFamily="34" charset="0"/>
                <a:cs typeface="Arial" pitchFamily="34" charset="0"/>
              </a:rPr>
              <a:t>Chien</a:t>
            </a:r>
            <a:r>
              <a:rPr lang="pt-BR" b="1" dirty="0">
                <a:latin typeface="Arial" pitchFamily="34" charset="0"/>
                <a:cs typeface="Arial" pitchFamily="34" charset="0"/>
              </a:rPr>
              <a:t> (1976)</a:t>
            </a:r>
          </a:p>
          <a:p>
            <a:r>
              <a:rPr lang="pt-BR" dirty="0">
                <a:latin typeface="Arial" pitchFamily="34" charset="0"/>
                <a:cs typeface="Arial" pitchFamily="34" charset="0"/>
              </a:rPr>
              <a:t>Isolamento e purificação da polimerase </a:t>
            </a:r>
            <a:r>
              <a:rPr lang="pt-BR" dirty="0" err="1">
                <a:latin typeface="Arial" pitchFamily="34" charset="0"/>
                <a:cs typeface="Arial" pitchFamily="34" charset="0"/>
              </a:rPr>
              <a:t>termo-estável</a:t>
            </a:r>
            <a:r>
              <a:rPr lang="pt-BR" dirty="0">
                <a:latin typeface="Arial" pitchFamily="34" charset="0"/>
                <a:cs typeface="Arial" pitchFamily="34" charset="0"/>
              </a:rPr>
              <a:t> de </a:t>
            </a:r>
            <a:r>
              <a:rPr lang="pt-BR" i="1" dirty="0" err="1">
                <a:latin typeface="Arial" pitchFamily="34" charset="0"/>
                <a:cs typeface="Arial" pitchFamily="34" charset="0"/>
              </a:rPr>
              <a:t>Thermus</a:t>
            </a:r>
            <a:r>
              <a:rPr lang="pt-BR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i="1" dirty="0" err="1">
                <a:latin typeface="Arial" pitchFamily="34" charset="0"/>
                <a:cs typeface="Arial" pitchFamily="34" charset="0"/>
              </a:rPr>
              <a:t>aquaticus</a:t>
            </a:r>
            <a:endParaRPr lang="fr-FR" b="1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9657" y="1152128"/>
            <a:ext cx="6878471" cy="5517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1055440" y="165772"/>
            <a:ext cx="7056784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ctr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1986: primeiro artigo sobre PCR por Mullis</a:t>
            </a:r>
            <a:r>
              <a:rPr lang="pt-BR" sz="2300" i="1" dirty="0">
                <a:latin typeface="Arial" pitchFamily="34" charset="0"/>
                <a:cs typeface="Arial" pitchFamily="34" charset="0"/>
              </a:rPr>
              <a:t> et al.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457200" algn="ctr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7648" y="3501008"/>
            <a:ext cx="6768752" cy="3356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5807968" y="2276872"/>
            <a:ext cx="15121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Denaturação</a:t>
            </a:r>
          </a:p>
        </p:txBody>
      </p:sp>
      <p:pic>
        <p:nvPicPr>
          <p:cNvPr id="7" name="Picture 10" descr="http://www.nobelprize.org/nobel_prizes/chemistry/laureates/1993/illpres/index-2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50073" y="0"/>
            <a:ext cx="1464146" cy="1844824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C71454-275F-74EF-2A29-B2EDE3B6C9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2694" y="4447019"/>
            <a:ext cx="6369306" cy="231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68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9657" y="1152128"/>
            <a:ext cx="6878471" cy="5517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1055440" y="122194"/>
            <a:ext cx="7056784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ctr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1986: primeiro artigo sobre PCR por Mullis</a:t>
            </a:r>
            <a:r>
              <a:rPr lang="pt-BR" sz="2300" i="1" dirty="0">
                <a:latin typeface="Arial" pitchFamily="34" charset="0"/>
                <a:cs typeface="Arial" pitchFamily="34" charset="0"/>
              </a:rPr>
              <a:t> et al.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457200" algn="ctr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7648" y="5013176"/>
            <a:ext cx="6768752" cy="3356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5807968" y="2276872"/>
            <a:ext cx="15121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Denaturação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5760" y="4869160"/>
            <a:ext cx="2511896" cy="2717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5807968" y="3522494"/>
            <a:ext cx="338437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Adição dos iniciadores (primers)</a:t>
            </a:r>
          </a:p>
        </p:txBody>
      </p:sp>
      <p:pic>
        <p:nvPicPr>
          <p:cNvPr id="9" name="Picture 10" descr="http://www.nobelprize.org/nobel_prizes/chemistry/laureates/1993/illpres/index-2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50073" y="0"/>
            <a:ext cx="1464146" cy="1844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40356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9657" y="1152128"/>
            <a:ext cx="6878471" cy="5517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1055440" y="111817"/>
            <a:ext cx="7056784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ctr">
              <a:spcBef>
                <a:spcPct val="0"/>
              </a:spcBef>
              <a:defRPr/>
            </a:pPr>
            <a:r>
              <a:rPr lang="pt-BR" sz="2300">
                <a:latin typeface="Arial" pitchFamily="34" charset="0"/>
                <a:cs typeface="Arial" pitchFamily="34" charset="0"/>
              </a:rPr>
              <a:t>1986: primeiro artigo sobre PCR por Mullis</a:t>
            </a:r>
            <a:r>
              <a:rPr lang="pt-BR" sz="2300" i="1">
                <a:latin typeface="Arial" pitchFamily="34" charset="0"/>
                <a:cs typeface="Arial" pitchFamily="34" charset="0"/>
              </a:rPr>
              <a:t> et al.</a:t>
            </a:r>
            <a:r>
              <a:rPr lang="pt-BR" sz="2300">
                <a:latin typeface="Arial" pitchFamily="34" charset="0"/>
                <a:cs typeface="Arial" pitchFamily="34" charset="0"/>
              </a:rPr>
              <a:t> </a:t>
            </a:r>
          </a:p>
          <a:p>
            <a:pPr marL="457200" algn="ctr">
              <a:spcBef>
                <a:spcPct val="0"/>
              </a:spcBef>
              <a:defRPr/>
            </a:pPr>
            <a:r>
              <a:rPr lang="pt-BR" sz="230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5807968" y="2276872"/>
            <a:ext cx="151216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Denaturação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807968" y="3522494"/>
            <a:ext cx="338437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Adição dos iniciadores (primers)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5807968" y="5013176"/>
            <a:ext cx="187220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DNA polymerase</a:t>
            </a:r>
          </a:p>
        </p:txBody>
      </p:sp>
      <p:pic>
        <p:nvPicPr>
          <p:cNvPr id="10" name="Picture 10" descr="http://www.nobelprize.org/nobel_prizes/chemistry/laureates/1993/illpres/index-2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50073" y="0"/>
            <a:ext cx="1464146" cy="1844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34363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24000" y="1005697"/>
            <a:ext cx="8820472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300">
                <a:latin typeface="Arial" pitchFamily="34" charset="0"/>
                <a:cs typeface="Arial" pitchFamily="34" charset="0"/>
              </a:rPr>
              <a:t>Dois grandes avanços explicam o sucesso do método:</a:t>
            </a:r>
          </a:p>
          <a:p>
            <a:pPr marL="457200" indent="-457200">
              <a:spcBef>
                <a:spcPct val="0"/>
              </a:spcBef>
              <a:defRPr/>
            </a:pPr>
            <a:r>
              <a:rPr lang="pt-BR" sz="2300">
                <a:latin typeface="Arial" pitchFamily="34" charset="0"/>
                <a:cs typeface="Arial" pitchFamily="34" charset="0"/>
              </a:rPr>
              <a:t>	- invenção da PCR</a:t>
            </a:r>
          </a:p>
          <a:p>
            <a:pPr marL="457200" indent="-457200">
              <a:spcBef>
                <a:spcPct val="0"/>
              </a:spcBef>
              <a:defRPr/>
            </a:pPr>
            <a:r>
              <a:rPr lang="pt-BR" sz="2300">
                <a:latin typeface="Arial" pitchFamily="34" charset="0"/>
                <a:cs typeface="Arial" pitchFamily="34" charset="0"/>
              </a:rPr>
              <a:t>	- automatização da eletroforese e visualisação </a:t>
            </a:r>
          </a:p>
          <a:p>
            <a:pPr marL="457200" indent="-457200" algn="ctr">
              <a:spcBef>
                <a:spcPct val="0"/>
              </a:spcBef>
              <a:defRPr/>
            </a:pPr>
            <a:r>
              <a:rPr lang="pt-BR" sz="230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2050" name="Picture 2" descr="http://upload.wikimedia.org/wikipedia/commons/7/74/PCR_basic_principle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381000"/>
            <a:ext cx="9144000" cy="6477000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8F5068-F07F-C347-9FCE-B8C208A3F650}"/>
              </a:ext>
            </a:extLst>
          </p:cNvPr>
          <p:cNvSpPr/>
          <p:nvPr/>
        </p:nvSpPr>
        <p:spPr>
          <a:xfrm>
            <a:off x="1127448" y="116633"/>
            <a:ext cx="7056784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Aumento exponencial do número de fragmentos</a:t>
            </a:r>
          </a:p>
          <a:p>
            <a:pPr marL="457200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7272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6F7DA4-EE61-1748-8010-56ADF6587044}"/>
              </a:ext>
            </a:extLst>
          </p:cNvPr>
          <p:cNvSpPr/>
          <p:nvPr/>
        </p:nvSpPr>
        <p:spPr>
          <a:xfrm>
            <a:off x="1667508" y="116632"/>
            <a:ext cx="8856984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spcBef>
                <a:spcPct val="0"/>
              </a:spcBef>
              <a:defRPr/>
            </a:pPr>
            <a:r>
              <a:rPr lang="pt-BR" sz="2800" b="1" dirty="0" err="1">
                <a:latin typeface="Arial" pitchFamily="34" charset="0"/>
                <a:cs typeface="Arial" pitchFamily="34" charset="0"/>
              </a:rPr>
              <a:t>Primers</a:t>
            </a:r>
            <a:r>
              <a:rPr lang="pt-BR" sz="2800" b="1" dirty="0">
                <a:latin typeface="Arial" pitchFamily="34" charset="0"/>
                <a:cs typeface="Arial" pitchFamily="34" charset="0"/>
              </a:rPr>
              <a:t> (iniciadores):</a:t>
            </a:r>
          </a:p>
          <a:p>
            <a:pPr marL="457200">
              <a:spcBef>
                <a:spcPct val="0"/>
              </a:spcBef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457200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- Pequeno fragmento de DNA (18–24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bp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) que se liga à sequência complementar na fita simples do DNA desnaturado</a:t>
            </a:r>
          </a:p>
          <a:p>
            <a:pPr marL="457200">
              <a:spcBef>
                <a:spcPct val="0"/>
              </a:spcBef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800100" indent="-342900"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Marca o local onde a DNA polimerase irá iniciar o processo de replicação</a:t>
            </a:r>
          </a:p>
          <a:p>
            <a:pPr marL="800100" indent="-342900">
              <a:spcBef>
                <a:spcPct val="0"/>
              </a:spcBef>
              <a:buFontTx/>
              <a:buChar char="-"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800100" indent="-342900"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Permite a seleção prévia de uma parte específica do DNA para amplificação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3C1898-79FA-E542-8F9E-E2950CE300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671" y="3833900"/>
            <a:ext cx="5870659" cy="306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987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15880" y="1327696"/>
            <a:ext cx="5652120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Revolução na aquisição de marcadores moleculares:</a:t>
            </a:r>
          </a:p>
          <a:p>
            <a:pPr marL="457200">
              <a:spcBef>
                <a:spcPct val="0"/>
              </a:spcBef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45720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Amplificação de sequências de DNA a partir de pequena quantidade de tecido</a:t>
            </a:r>
          </a:p>
          <a:p>
            <a:pPr marL="457200"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45720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Associada a desenvolvimento de iniciadores de amplificação (</a:t>
            </a:r>
            <a:r>
              <a:rPr lang="pt-BR" sz="2300" i="1" dirty="0" err="1">
                <a:latin typeface="Arial" pitchFamily="34" charset="0"/>
                <a:cs typeface="Arial" pitchFamily="34" charset="0"/>
              </a:rPr>
              <a:t>primers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) + sequenciamento de Sanger </a:t>
            </a:r>
          </a:p>
          <a:p>
            <a:pPr marL="457200">
              <a:spcBef>
                <a:spcPct val="0"/>
              </a:spcBef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457200">
              <a:spcBef>
                <a:spcPct val="0"/>
              </a:spcBef>
              <a:defRPr/>
            </a:pPr>
            <a:r>
              <a:rPr lang="pt-BR" sz="2300" b="1" dirty="0">
                <a:latin typeface="Arial" pitchFamily="34" charset="0"/>
                <a:cs typeface="Arial" pitchFamily="34" charset="0"/>
                <a:sym typeface="Wingdings"/>
              </a:rPr>
              <a:t>Acesso a informação filogenética contida nas sequências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89090" name="Picture 2" descr="http://hydrology1.nmsu.edu/teaching/soil698/Student_Reports/bcr-thermcycler/pcr_files/image00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563535"/>
            <a:ext cx="3744416" cy="4221915"/>
          </a:xfrm>
          <a:prstGeom prst="rect">
            <a:avLst/>
          </a:prstGeom>
          <a:noFill/>
        </p:spPr>
      </p:pic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981199" y="-99392"/>
            <a:ext cx="9870831" cy="1143000"/>
          </a:xfrm>
        </p:spPr>
        <p:txBody>
          <a:bodyPr>
            <a:normAutofit fontScale="90000"/>
          </a:bodyPr>
          <a:lstStyle/>
          <a:p>
            <a:r>
              <a:rPr lang="fr-FR" dirty="0"/>
              <a:t>PCR: reação em </a:t>
            </a:r>
            <a:r>
              <a:rPr lang="fr-FR" dirty="0" err="1"/>
              <a:t>cadeia</a:t>
            </a:r>
            <a:r>
              <a:rPr lang="fr-FR" dirty="0"/>
              <a:t> da polimerase</a:t>
            </a:r>
          </a:p>
        </p:txBody>
      </p:sp>
    </p:spTree>
    <p:extLst>
      <p:ext uri="{BB962C8B-B14F-4D97-AF65-F5344CB8AC3E}">
        <p14:creationId xmlns:p14="http://schemas.microsoft.com/office/powerpoint/2010/main" val="3920509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0" y="2217053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latin typeface="Arial" pitchFamily="34" charset="0"/>
                <a:cs typeface="Arial" pitchFamily="34" charset="0"/>
              </a:rPr>
              <a:t>CLONAGEM = multiplicação assexuada. </a:t>
            </a:r>
          </a:p>
          <a:p>
            <a:pPr algn="ctr"/>
            <a:r>
              <a:rPr lang="pt-BR" sz="2400" dirty="0">
                <a:latin typeface="Arial" pitchFamily="34" charset="0"/>
                <a:cs typeface="Arial" pitchFamily="34" charset="0"/>
              </a:rPr>
              <a:t>Na Biologia Molecular, significa criar uma colônia de bactérias a partir de uma célula única. </a:t>
            </a:r>
          </a:p>
          <a:p>
            <a:pPr algn="ctr"/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2400" dirty="0">
                <a:latin typeface="Arial" pitchFamily="34" charset="0"/>
                <a:cs typeface="Arial" pitchFamily="34" charset="0"/>
              </a:rPr>
              <a:t>Clonagem de genes é o processo de amplificar seletivamente um gene particular, incorporando-o numa bactéria e clonando-a. </a:t>
            </a:r>
          </a:p>
          <a:p>
            <a:pPr algn="ctr"/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2400" dirty="0">
                <a:latin typeface="Arial" pitchFamily="34" charset="0"/>
                <a:cs typeface="Arial" pitchFamily="34" charset="0"/>
              </a:rPr>
              <a:t>Primeiros experimentos bem sucedidos de clonagem foram </a:t>
            </a:r>
          </a:p>
          <a:p>
            <a:pPr algn="ctr"/>
            <a:r>
              <a:rPr lang="pt-BR" sz="2400" dirty="0">
                <a:latin typeface="Arial" pitchFamily="34" charset="0"/>
                <a:cs typeface="Arial" pitchFamily="34" charset="0"/>
              </a:rPr>
              <a:t>demostrados no início da década de 1970.</a:t>
            </a:r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7" descr="http://us.123rf.com/400wm/400/400/erdosain/erdosain0710/erdosain071000011/1827851-gloved-hand-holding-a-petri-dis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43473" y="0"/>
            <a:ext cx="2655905" cy="1772816"/>
          </a:xfrm>
          <a:prstGeom prst="rect">
            <a:avLst/>
          </a:prstGeom>
          <a:noFill/>
        </p:spPr>
      </p:pic>
      <p:pic>
        <p:nvPicPr>
          <p:cNvPr id="14338" name="Picture 2" descr="File:EscherichiaColi NIAID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71257" y="0"/>
            <a:ext cx="2106696" cy="1772816"/>
          </a:xfrm>
          <a:prstGeom prst="rect">
            <a:avLst/>
          </a:prstGeom>
          <a:noFill/>
        </p:spPr>
      </p:pic>
      <p:pic>
        <p:nvPicPr>
          <p:cNvPr id="14340" name="Picture 4" descr="http://www.miraclesofthequran.com/images/dn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31497" y="39686"/>
            <a:ext cx="2592288" cy="1733130"/>
          </a:xfrm>
          <a:prstGeom prst="rect">
            <a:avLst/>
          </a:prstGeom>
          <a:noFill/>
        </p:spPr>
      </p:pic>
      <p:pic>
        <p:nvPicPr>
          <p:cNvPr id="14342" name="Picture 6" descr="http://upload.wikimedia.org/wikipedia/commons/f/f4/Human_cell-line_colony_being_cloned_in_vitro_through_use_of_cloning_rings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435753" y="-36765"/>
            <a:ext cx="2412775" cy="18095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93368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20544" y="3861049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sz="2000" i="1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2000" b="1">
                <a:latin typeface="Arial" pitchFamily="34" charset="0"/>
                <a:cs typeface="Arial" pitchFamily="34" charset="0"/>
              </a:rPr>
              <a:t>Berg</a:t>
            </a:r>
          </a:p>
          <a:p>
            <a:pPr algn="ctr"/>
            <a:r>
              <a:rPr lang="pt-BR" sz="2000">
                <a:latin typeface="Arial" pitchFamily="34" charset="0"/>
                <a:cs typeface="Arial" pitchFamily="34" charset="0"/>
              </a:rPr>
              <a:t>Primeiras moléculas de DNA recombinantes </a:t>
            </a:r>
          </a:p>
        </p:txBody>
      </p:sp>
      <p:sp>
        <p:nvSpPr>
          <p:cNvPr id="5" name="Pentagone 4"/>
          <p:cNvSpPr/>
          <p:nvPr/>
        </p:nvSpPr>
        <p:spPr>
          <a:xfrm>
            <a:off x="1703512" y="3124284"/>
            <a:ext cx="8892480" cy="648072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         1953             Final </a:t>
            </a:r>
            <a:r>
              <a:rPr lang="fr-FR" dirty="0" err="1">
                <a:solidFill>
                  <a:schemeClr val="tx1"/>
                </a:solidFill>
              </a:rPr>
              <a:t>década</a:t>
            </a:r>
            <a:r>
              <a:rPr lang="fr-FR" dirty="0">
                <a:solidFill>
                  <a:schemeClr val="tx1"/>
                </a:solidFill>
              </a:rPr>
              <a:t> 1960          1967                               1972 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1464" y="116633"/>
            <a:ext cx="273630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b="1">
                <a:latin typeface="Arial" pitchFamily="34" charset="0"/>
                <a:cs typeface="Arial" pitchFamily="34" charset="0"/>
              </a:rPr>
              <a:t>Lederberg</a:t>
            </a:r>
          </a:p>
          <a:p>
            <a:pPr algn="ctr">
              <a:buNone/>
            </a:pPr>
            <a:r>
              <a:rPr lang="pt-BR" sz="2000">
                <a:latin typeface="Arial" pitchFamily="34" charset="0"/>
                <a:cs typeface="Arial" pitchFamily="34" charset="0"/>
              </a:rPr>
              <a:t>Identificação do plasmídeo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2567608" y="2708920"/>
            <a:ext cx="0" cy="4046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75520" y="4149081"/>
            <a:ext cx="48600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>
                <a:latin typeface="Arial" pitchFamily="34" charset="0"/>
                <a:cs typeface="Arial" pitchFamily="34" charset="0"/>
              </a:rPr>
              <a:t>Arber, Smith, Nathans; Smith e Kelly </a:t>
            </a:r>
          </a:p>
          <a:p>
            <a:pPr algn="ctr"/>
            <a:r>
              <a:rPr lang="pt-BR" sz="2000">
                <a:latin typeface="Arial" pitchFamily="34" charset="0"/>
                <a:cs typeface="Arial" pitchFamily="34" charset="0"/>
              </a:rPr>
              <a:t>Descoberta e caracterização de endonucleases de restrição </a:t>
            </a:r>
          </a:p>
        </p:txBody>
      </p:sp>
      <p:pic>
        <p:nvPicPr>
          <p:cNvPr id="3076" name="Picture 4" descr="http://www.lifesciencesfoundation.org/content/media/2011/06/20/1970_Restriction_enzymes_Arber_Nathans_and_Smit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39616" y="5242140"/>
            <a:ext cx="3168352" cy="1615860"/>
          </a:xfrm>
          <a:prstGeom prst="rect">
            <a:avLst/>
          </a:prstGeom>
          <a:noFill/>
        </p:spPr>
      </p:pic>
      <p:pic>
        <p:nvPicPr>
          <p:cNvPr id="3078" name="Picture 6" descr="http://i.telegraph.co.uk/multimedia/archive/00440/news-graphics-2008-_440967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91544" y="1215954"/>
            <a:ext cx="1296144" cy="1636982"/>
          </a:xfrm>
          <a:prstGeom prst="rect">
            <a:avLst/>
          </a:prstGeom>
          <a:noFill/>
        </p:spPr>
      </p:pic>
      <p:cxnSp>
        <p:nvCxnSpPr>
          <p:cNvPr id="14" name="Connecteur droit 13"/>
          <p:cNvCxnSpPr/>
          <p:nvPr/>
        </p:nvCxnSpPr>
        <p:spPr>
          <a:xfrm>
            <a:off x="4223792" y="3789040"/>
            <a:ext cx="0" cy="2880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6384032" y="2564904"/>
            <a:ext cx="0" cy="5760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0" name="Picture 8" descr="http://www.asbmb.org/uploadedfiles/aboutus/asbmb_history/past_president_images/large_images/1990s/1993Gellert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91944" y="1239958"/>
            <a:ext cx="1296144" cy="1684986"/>
          </a:xfrm>
          <a:prstGeom prst="rect">
            <a:avLst/>
          </a:prstGeom>
          <a:noFill/>
        </p:spPr>
      </p:pic>
      <p:sp>
        <p:nvSpPr>
          <p:cNvPr id="18" name="Rectangle 17"/>
          <p:cNvSpPr/>
          <p:nvPr/>
        </p:nvSpPr>
        <p:spPr>
          <a:xfrm>
            <a:off x="4943872" y="272842"/>
            <a:ext cx="27363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b="1">
                <a:latin typeface="Arial" pitchFamily="34" charset="0"/>
                <a:cs typeface="Arial" pitchFamily="34" charset="0"/>
              </a:rPr>
              <a:t>Gellert</a:t>
            </a:r>
          </a:p>
          <a:p>
            <a:pPr algn="ctr">
              <a:buNone/>
            </a:pPr>
            <a:r>
              <a:rPr lang="pt-BR" sz="2000">
                <a:latin typeface="Arial" pitchFamily="34" charset="0"/>
                <a:cs typeface="Arial" pitchFamily="34" charset="0"/>
              </a:rPr>
              <a:t>Descoberta da ligase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8168" y="521386"/>
            <a:ext cx="27363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b="1">
                <a:latin typeface="Arial" pitchFamily="34" charset="0"/>
                <a:cs typeface="Arial" pitchFamily="34" charset="0"/>
              </a:rPr>
              <a:t>Mertz &amp; Davis</a:t>
            </a:r>
          </a:p>
          <a:p>
            <a:pPr algn="ctr">
              <a:buNone/>
            </a:pPr>
            <a:r>
              <a:rPr lang="pt-BR" sz="2000">
                <a:latin typeface="Arial" pitchFamily="34" charset="0"/>
                <a:cs typeface="Arial" pitchFamily="34" charset="0"/>
              </a:rPr>
              <a:t>Usam DNA ligase p/ juntar fragmentos digeridos com Eco RI</a:t>
            </a:r>
          </a:p>
        </p:txBody>
      </p:sp>
      <p:cxnSp>
        <p:nvCxnSpPr>
          <p:cNvPr id="21" name="Connecteur droit 20"/>
          <p:cNvCxnSpPr/>
          <p:nvPr/>
        </p:nvCxnSpPr>
        <p:spPr>
          <a:xfrm>
            <a:off x="9048328" y="1988840"/>
            <a:ext cx="0" cy="115212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2" name="Picture 10" descr="http://upload.wikimedia.org/wikipedia/commons/thumb/8/88/Paul_Berg_in_1980.jpg/220px-Paul_Berg_in_1980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40216" y="5255494"/>
            <a:ext cx="1296144" cy="1602506"/>
          </a:xfrm>
          <a:prstGeom prst="rect">
            <a:avLst/>
          </a:prstGeom>
          <a:noFill/>
        </p:spPr>
      </p:pic>
      <p:cxnSp>
        <p:nvCxnSpPr>
          <p:cNvPr id="25" name="Connecteur droit 24"/>
          <p:cNvCxnSpPr/>
          <p:nvPr/>
        </p:nvCxnSpPr>
        <p:spPr>
          <a:xfrm>
            <a:off x="9120336" y="3789040"/>
            <a:ext cx="0" cy="50405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329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1744" y="0"/>
            <a:ext cx="3960440" cy="601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524000" y="6264314"/>
            <a:ext cx="91440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0"/>
              </a:spcBef>
              <a:defRPr/>
            </a:pPr>
            <a:r>
              <a:rPr lang="pt-BR" sz="2500" b="1" dirty="0">
                <a:latin typeface="Arial" pitchFamily="34" charset="0"/>
                <a:cs typeface="Arial" pitchFamily="34" charset="0"/>
              </a:rPr>
              <a:t>Etapas básicas da clonagem de genes </a:t>
            </a:r>
          </a:p>
        </p:txBody>
      </p:sp>
      <p:sp>
        <p:nvSpPr>
          <p:cNvPr id="6" name="Rectangle 5"/>
          <p:cNvSpPr/>
          <p:nvPr/>
        </p:nvSpPr>
        <p:spPr>
          <a:xfrm>
            <a:off x="2135560" y="620688"/>
            <a:ext cx="2304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0"/>
              </a:spcBef>
              <a:defRPr/>
            </a:pPr>
            <a:r>
              <a:rPr lang="pt-BR" sz="2000" b="1">
                <a:latin typeface="Arial" pitchFamily="34" charset="0"/>
                <a:cs typeface="Arial" pitchFamily="34" charset="0"/>
              </a:rPr>
              <a:t>Plasmídeo</a:t>
            </a:r>
            <a:endParaRPr lang="pt-BR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 rot="20058574">
            <a:off x="4394970" y="210297"/>
            <a:ext cx="2304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0"/>
              </a:spcBef>
              <a:defRPr/>
            </a:pPr>
            <a:r>
              <a:rPr lang="pt-BR" sz="2000" b="1">
                <a:latin typeface="Arial" pitchFamily="34" charset="0"/>
                <a:cs typeface="Arial" pitchFamily="34" charset="0"/>
              </a:rPr>
              <a:t>Ligase</a:t>
            </a:r>
            <a:endParaRPr lang="pt-BR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40488" y="580618"/>
            <a:ext cx="3231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spcBef>
                <a:spcPct val="0"/>
              </a:spcBef>
              <a:defRPr/>
            </a:pPr>
            <a:r>
              <a:rPr lang="pt-BR" sz="2000" b="1">
                <a:latin typeface="Arial" pitchFamily="34" charset="0"/>
                <a:cs typeface="Arial" pitchFamily="34" charset="0"/>
              </a:rPr>
              <a:t>DNA recombinante</a:t>
            </a:r>
            <a:endParaRPr lang="pt-BR" sz="2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225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0" y="470278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fr-FR" sz="240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2400">
                <a:latin typeface="Arial" pitchFamily="34" charset="0"/>
                <a:cs typeface="Arial" pitchFamily="34" charset="0"/>
              </a:rPr>
              <a:t>•Sequenciamento de DNA </a:t>
            </a:r>
          </a:p>
          <a:p>
            <a:pPr algn="ctr"/>
            <a:endParaRPr lang="fr-FR" sz="240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2400">
                <a:latin typeface="Arial" pitchFamily="34" charset="0"/>
                <a:cs typeface="Arial" pitchFamily="34" charset="0"/>
              </a:rPr>
              <a:t>• Separar fragmentos de DNA em clones independentes</a:t>
            </a:r>
          </a:p>
          <a:p>
            <a:pPr algn="ctr"/>
            <a:r>
              <a:rPr lang="pt-BR" sz="2400"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r>
              <a:rPr lang="pt-BR" sz="2400">
                <a:latin typeface="Arial" pitchFamily="34" charset="0"/>
                <a:cs typeface="Arial" pitchFamily="34" charset="0"/>
              </a:rPr>
              <a:t>• Estudar a transcrição e a tradução do gene </a:t>
            </a:r>
          </a:p>
          <a:p>
            <a:pPr algn="ctr"/>
            <a:endParaRPr lang="pt-BR" sz="240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2400">
                <a:latin typeface="Arial" pitchFamily="34" charset="0"/>
                <a:cs typeface="Arial" pitchFamily="34" charset="0"/>
              </a:rPr>
              <a:t>• Fazer estudos de expressão funcional </a:t>
            </a:r>
          </a:p>
          <a:p>
            <a:pPr algn="ctr"/>
            <a:endParaRPr lang="pt-BR" sz="240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2400">
                <a:latin typeface="Arial" pitchFamily="34" charset="0"/>
                <a:cs typeface="Arial" pitchFamily="34" charset="0"/>
              </a:rPr>
              <a:t>• Sintetizar proteínas para produção de anticorpos</a:t>
            </a:r>
          </a:p>
          <a:p>
            <a:pPr algn="ctr"/>
            <a:r>
              <a:rPr lang="pt-BR" sz="2400"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r>
              <a:rPr lang="pt-BR" sz="2400">
                <a:latin typeface="Arial" pitchFamily="34" charset="0"/>
                <a:cs typeface="Arial" pitchFamily="34" charset="0"/>
              </a:rPr>
              <a:t>• Sintetizar proteínas para uso terapêutico </a:t>
            </a:r>
          </a:p>
          <a:p>
            <a:pPr algn="ctr"/>
            <a:endParaRPr lang="pt-BR" sz="240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2400">
                <a:latin typeface="Arial" pitchFamily="34" charset="0"/>
                <a:cs typeface="Arial" pitchFamily="34" charset="0"/>
              </a:rPr>
              <a:t>•etc, etc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981200" y="-171400"/>
            <a:ext cx="8229600" cy="1143000"/>
          </a:xfrm>
        </p:spPr>
        <p:txBody>
          <a:bodyPr/>
          <a:lstStyle/>
          <a:p>
            <a:r>
              <a:rPr lang="fr-FR"/>
              <a:t>Por que clonar ?</a:t>
            </a:r>
          </a:p>
        </p:txBody>
      </p:sp>
      <p:pic>
        <p:nvPicPr>
          <p:cNvPr id="5" name="Picture 2" descr="http://www.rci.rutgers.edu/~microlab/CLASSINFO/IMAGESCI/slantvsplate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5094312"/>
            <a:ext cx="1763688" cy="17636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42005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0017" y="1"/>
            <a:ext cx="3894811" cy="6846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524000" y="270892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sz="2400" b="1">
                <a:latin typeface="Arial" pitchFamily="34" charset="0"/>
                <a:cs typeface="Arial" pitchFamily="34" charset="0"/>
              </a:rPr>
              <a:t>Separar fragmentos de DNA em clones independentes</a:t>
            </a:r>
            <a:endParaRPr lang="fr-FR" sz="2400" b="1"/>
          </a:p>
        </p:txBody>
      </p:sp>
    </p:spTree>
    <p:extLst>
      <p:ext uri="{BB962C8B-B14F-4D97-AF65-F5344CB8AC3E}">
        <p14:creationId xmlns:p14="http://schemas.microsoft.com/office/powerpoint/2010/main" val="403071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981200" y="-171400"/>
            <a:ext cx="8229600" cy="1143000"/>
          </a:xfrm>
        </p:spPr>
        <p:txBody>
          <a:bodyPr/>
          <a:lstStyle/>
          <a:p>
            <a:r>
              <a:rPr lang="fr-FR"/>
              <a:t>PCR e Clonagem</a:t>
            </a:r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764704"/>
            <a:ext cx="3923928" cy="6048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e 5"/>
          <p:cNvGrpSpPr/>
          <p:nvPr/>
        </p:nvGrpSpPr>
        <p:grpSpPr>
          <a:xfrm>
            <a:off x="5663953" y="836712"/>
            <a:ext cx="4860047" cy="6021288"/>
            <a:chOff x="4139952" y="836712"/>
            <a:chExt cx="4860047" cy="6021288"/>
          </a:xfrm>
        </p:grpSpPr>
        <p:pic>
          <p:nvPicPr>
            <p:cNvPr id="30722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139952" y="836712"/>
              <a:ext cx="4860047" cy="4680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724" name="Picture 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156176" y="5380653"/>
              <a:ext cx="1368152" cy="1477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82909493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904</Words>
  <Application>Microsoft Office PowerPoint</Application>
  <PresentationFormat>Widescreen</PresentationFormat>
  <Paragraphs>177</Paragraphs>
  <Slides>27</Slides>
  <Notes>15</Notes>
  <HiddenSlides>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Arial</vt:lpstr>
      <vt:lpstr>Univers</vt:lpstr>
      <vt:lpstr>GradientVTI</vt:lpstr>
      <vt:lpstr>Introdução à Filogenômica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Breve histórico da biologia molecular</vt:lpstr>
      <vt:lpstr>PowerPoint Presentation</vt:lpstr>
      <vt:lpstr>PowerPoint Presentation</vt:lpstr>
      <vt:lpstr>PowerPoint Presentation</vt:lpstr>
      <vt:lpstr>Entendendo a variação genética</vt:lpstr>
      <vt:lpstr>Entendendo a variação genética</vt:lpstr>
      <vt:lpstr>Revisão sobre Técnicas essenciais</vt:lpstr>
      <vt:lpstr>PowerPoint Presentation</vt:lpstr>
      <vt:lpstr>PCR: reação em cadeia da polimerase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PCR: reação em cadeia da polimerase</vt:lpstr>
      <vt:lpstr>PowerPoint Presentation</vt:lpstr>
      <vt:lpstr>PowerPoint Presentation</vt:lpstr>
      <vt:lpstr>PowerPoint Presentation</vt:lpstr>
      <vt:lpstr>Por que clonar ?</vt:lpstr>
      <vt:lpstr>PowerPoint Presentation</vt:lpstr>
      <vt:lpstr>PCR e Clonagem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reviewer</dc:creator>
  <cp:lastModifiedBy>reviewer</cp:lastModifiedBy>
  <cp:revision>6</cp:revision>
  <dcterms:created xsi:type="dcterms:W3CDTF">2026-10-15T13:18:53Z</dcterms:created>
  <dcterms:modified xsi:type="dcterms:W3CDTF">2026-10-19T18:53:01Z</dcterms:modified>
</cp:coreProperties>
</file>