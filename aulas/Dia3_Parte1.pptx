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9.jpg" ContentType="image/jpe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3" r:id="rId2"/>
    <p:sldId id="256" r:id="rId3"/>
    <p:sldId id="259" r:id="rId4"/>
    <p:sldId id="260" r:id="rId5"/>
    <p:sldId id="257" r:id="rId6"/>
    <p:sldId id="314" r:id="rId7"/>
    <p:sldId id="315" r:id="rId8"/>
    <p:sldId id="321" r:id="rId9"/>
    <p:sldId id="316" r:id="rId10"/>
    <p:sldId id="317" r:id="rId11"/>
    <p:sldId id="261" r:id="rId12"/>
    <p:sldId id="267" r:id="rId13"/>
    <p:sldId id="270" r:id="rId14"/>
    <p:sldId id="271" r:id="rId15"/>
    <p:sldId id="273" r:id="rId16"/>
    <p:sldId id="274" r:id="rId17"/>
    <p:sldId id="275" r:id="rId18"/>
    <p:sldId id="276" r:id="rId19"/>
    <p:sldId id="278" r:id="rId20"/>
    <p:sldId id="280" r:id="rId21"/>
    <p:sldId id="283" r:id="rId22"/>
    <p:sldId id="319" r:id="rId23"/>
    <p:sldId id="320" r:id="rId24"/>
    <p:sldId id="322" r:id="rId25"/>
    <p:sldId id="288" r:id="rId26"/>
    <p:sldId id="289" r:id="rId27"/>
    <p:sldId id="290" r:id="rId28"/>
    <p:sldId id="324" r:id="rId29"/>
    <p:sldId id="325" r:id="rId30"/>
    <p:sldId id="323" r:id="rId31"/>
    <p:sldId id="326" r:id="rId32"/>
    <p:sldId id="291" r:id="rId33"/>
    <p:sldId id="327" r:id="rId34"/>
    <p:sldId id="328" r:id="rId35"/>
    <p:sldId id="293" r:id="rId36"/>
    <p:sldId id="294" r:id="rId37"/>
    <p:sldId id="295" r:id="rId38"/>
    <p:sldId id="296" r:id="rId39"/>
    <p:sldId id="297" r:id="rId40"/>
    <p:sldId id="330" r:id="rId41"/>
    <p:sldId id="331" r:id="rId42"/>
    <p:sldId id="344" r:id="rId43"/>
    <p:sldId id="333" r:id="rId44"/>
    <p:sldId id="336" r:id="rId45"/>
    <p:sldId id="335" r:id="rId46"/>
    <p:sldId id="337" r:id="rId47"/>
    <p:sldId id="299" r:id="rId48"/>
    <p:sldId id="300" r:id="rId49"/>
    <p:sldId id="301" r:id="rId50"/>
    <p:sldId id="302" r:id="rId51"/>
    <p:sldId id="298" r:id="rId52"/>
    <p:sldId id="338" r:id="rId53"/>
    <p:sldId id="341" r:id="rId54"/>
    <p:sldId id="339" r:id="rId55"/>
    <p:sldId id="34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1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31"/>
    <p:restoredTop sz="94663"/>
  </p:normalViewPr>
  <p:slideViewPr>
    <p:cSldViewPr snapToGrid="0" snapToObjects="1" showGuides="1">
      <p:cViewPr varScale="1">
        <p:scale>
          <a:sx n="90" d="100"/>
          <a:sy n="90" d="100"/>
        </p:scale>
        <p:origin x="53" y="106"/>
      </p:cViewPr>
      <p:guideLst>
        <p:guide orient="horz" pos="2184"/>
        <p:guide pos="1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72E4B7-921A-E44A-84F5-9AE55420FAF2}" type="doc">
      <dgm:prSet loTypeId="urn:microsoft.com/office/officeart/2005/8/layout/process1" loCatId="" qsTypeId="urn:microsoft.com/office/officeart/2005/8/quickstyle/simple1" qsCatId="simple" csTypeId="urn:microsoft.com/office/officeart/2005/8/colors/colorful3" csCatId="colorful" phldr="1"/>
      <dgm:spPr/>
    </dgm:pt>
    <dgm:pt modelId="{C6D4EF89-CFFF-F240-81F8-2CD9FB307F0E}">
      <dgm:prSet phldrT="[Text]" custT="1"/>
      <dgm:spPr/>
      <dgm:t>
        <a:bodyPr/>
        <a:lstStyle/>
        <a:p>
          <a:r>
            <a:rPr lang="pt-BR" sz="2000" noProof="0" dirty="0"/>
            <a:t>Extração </a:t>
          </a:r>
        </a:p>
        <a:p>
          <a:r>
            <a:rPr lang="pt-BR" sz="2000" noProof="0" dirty="0"/>
            <a:t>do DNA</a:t>
          </a:r>
        </a:p>
      </dgm:t>
    </dgm:pt>
    <dgm:pt modelId="{E9449ECD-5DBD-BF48-9166-E1AE2D05C587}" type="parTrans" cxnId="{412EFAEE-C4A8-BA4A-B2EF-292F1E1BA350}">
      <dgm:prSet/>
      <dgm:spPr/>
      <dgm:t>
        <a:bodyPr/>
        <a:lstStyle/>
        <a:p>
          <a:endParaRPr lang="en-US"/>
        </a:p>
      </dgm:t>
    </dgm:pt>
    <dgm:pt modelId="{8E1C00F6-E120-2F40-A6AE-3858916D8113}" type="sibTrans" cxnId="{412EFAEE-C4A8-BA4A-B2EF-292F1E1BA350}">
      <dgm:prSet/>
      <dgm:spPr/>
      <dgm:t>
        <a:bodyPr/>
        <a:lstStyle/>
        <a:p>
          <a:endParaRPr lang="pt-BR" noProof="0" dirty="0"/>
        </a:p>
      </dgm:t>
    </dgm:pt>
    <dgm:pt modelId="{9E118555-1FA5-024A-B712-E4F7C4DBE760}">
      <dgm:prSet phldrT="[Text]" custT="1"/>
      <dgm:spPr/>
      <dgm:t>
        <a:bodyPr/>
        <a:lstStyle/>
        <a:p>
          <a:r>
            <a:rPr lang="pt-BR" sz="1800" noProof="0" dirty="0"/>
            <a:t>Preparação </a:t>
          </a:r>
        </a:p>
        <a:p>
          <a:r>
            <a:rPr lang="pt-BR" sz="1800" noProof="0" dirty="0"/>
            <a:t>da biblioteca</a:t>
          </a:r>
        </a:p>
      </dgm:t>
    </dgm:pt>
    <dgm:pt modelId="{25828804-6F16-B244-9DC7-04F164E80386}" type="parTrans" cxnId="{1D5AAD3A-E344-C84F-A5A6-FE1B24427334}">
      <dgm:prSet/>
      <dgm:spPr/>
      <dgm:t>
        <a:bodyPr/>
        <a:lstStyle/>
        <a:p>
          <a:endParaRPr lang="en-US"/>
        </a:p>
      </dgm:t>
    </dgm:pt>
    <dgm:pt modelId="{024124BD-9848-014E-8A66-AA6F82E0B3BD}" type="sibTrans" cxnId="{1D5AAD3A-E344-C84F-A5A6-FE1B24427334}">
      <dgm:prSet/>
      <dgm:spPr/>
      <dgm:t>
        <a:bodyPr/>
        <a:lstStyle/>
        <a:p>
          <a:endParaRPr lang="pt-BR" noProof="0" dirty="0"/>
        </a:p>
      </dgm:t>
    </dgm:pt>
    <dgm:pt modelId="{FB49D1E4-CBE1-F744-9CB9-A8FD4238181A}">
      <dgm:prSet phldrT="[Text]" custT="1"/>
      <dgm:spPr/>
      <dgm:t>
        <a:bodyPr/>
        <a:lstStyle/>
        <a:p>
          <a:r>
            <a:rPr lang="pt-BR" sz="2000" noProof="0" dirty="0" err="1"/>
            <a:t>Pooling</a:t>
          </a:r>
          <a:r>
            <a:rPr lang="pt-BR" sz="2000" noProof="0" dirty="0"/>
            <a:t> das bibliotecas</a:t>
          </a:r>
        </a:p>
      </dgm:t>
    </dgm:pt>
    <dgm:pt modelId="{82E225B8-8C70-EB4F-8591-4BFDE5E25574}" type="parTrans" cxnId="{65EEABA3-37D0-6243-9982-CCF281BA5BA7}">
      <dgm:prSet/>
      <dgm:spPr/>
      <dgm:t>
        <a:bodyPr/>
        <a:lstStyle/>
        <a:p>
          <a:endParaRPr lang="en-US"/>
        </a:p>
      </dgm:t>
    </dgm:pt>
    <dgm:pt modelId="{638A4F02-FF0E-0D40-BF62-8C37A1A846EB}" type="sibTrans" cxnId="{65EEABA3-37D0-6243-9982-CCF281BA5BA7}">
      <dgm:prSet/>
      <dgm:spPr/>
      <dgm:t>
        <a:bodyPr/>
        <a:lstStyle/>
        <a:p>
          <a:endParaRPr lang="pt-BR" noProof="0" dirty="0"/>
        </a:p>
      </dgm:t>
    </dgm:pt>
    <dgm:pt modelId="{9B3F4639-8FCF-AE4C-992B-1392AE28FA04}">
      <dgm:prSet custT="1"/>
      <dgm:spPr/>
      <dgm:t>
        <a:bodyPr/>
        <a:lstStyle/>
        <a:p>
          <a:r>
            <a:rPr lang="pt-BR" sz="2000" noProof="0" dirty="0"/>
            <a:t>Hibridização </a:t>
          </a:r>
        </a:p>
        <a:p>
          <a:r>
            <a:rPr lang="pt-BR" sz="2000" noProof="0" dirty="0"/>
            <a:t>das sondas</a:t>
          </a:r>
        </a:p>
      </dgm:t>
    </dgm:pt>
    <dgm:pt modelId="{FA9CA40B-2C7A-C843-8A9B-53F353329AE3}" type="parTrans" cxnId="{207CD39A-A747-104A-8ADB-C3CB2DA768D1}">
      <dgm:prSet/>
      <dgm:spPr/>
      <dgm:t>
        <a:bodyPr/>
        <a:lstStyle/>
        <a:p>
          <a:endParaRPr lang="en-US"/>
        </a:p>
      </dgm:t>
    </dgm:pt>
    <dgm:pt modelId="{F3B8A60E-0391-E140-B137-BEF838AB20F1}" type="sibTrans" cxnId="{207CD39A-A747-104A-8ADB-C3CB2DA768D1}">
      <dgm:prSet/>
      <dgm:spPr/>
      <dgm:t>
        <a:bodyPr/>
        <a:lstStyle/>
        <a:p>
          <a:endParaRPr lang="pt-BR" noProof="0" dirty="0"/>
        </a:p>
      </dgm:t>
    </dgm:pt>
    <dgm:pt modelId="{2AB7A95C-B803-504C-ABDC-FBD62541D92A}">
      <dgm:prSet custT="1"/>
      <dgm:spPr/>
      <dgm:t>
        <a:bodyPr/>
        <a:lstStyle/>
        <a:p>
          <a:r>
            <a:rPr lang="pt-BR" sz="2000" noProof="0" dirty="0"/>
            <a:t>Recuperação dos alvos</a:t>
          </a:r>
        </a:p>
      </dgm:t>
    </dgm:pt>
    <dgm:pt modelId="{22F261DE-9DAF-194C-B4B0-A4FAE3E24D61}" type="parTrans" cxnId="{A3111D07-77FF-2B4D-8600-CB0255B5BC9F}">
      <dgm:prSet/>
      <dgm:spPr/>
      <dgm:t>
        <a:bodyPr/>
        <a:lstStyle/>
        <a:p>
          <a:endParaRPr lang="en-US"/>
        </a:p>
      </dgm:t>
    </dgm:pt>
    <dgm:pt modelId="{80C00075-6FB6-8F4F-850B-F43DB22A3156}" type="sibTrans" cxnId="{A3111D07-77FF-2B4D-8600-CB0255B5BC9F}">
      <dgm:prSet/>
      <dgm:spPr/>
      <dgm:t>
        <a:bodyPr/>
        <a:lstStyle/>
        <a:p>
          <a:endParaRPr lang="pt-BR" noProof="0" dirty="0"/>
        </a:p>
      </dgm:t>
    </dgm:pt>
    <dgm:pt modelId="{AB3DC771-E550-4C4B-AB43-3FD8E8893AC1}">
      <dgm:prSet custT="1"/>
      <dgm:spPr/>
      <dgm:t>
        <a:bodyPr/>
        <a:lstStyle/>
        <a:p>
          <a:r>
            <a:rPr lang="pt-BR" sz="2000" noProof="0" dirty="0"/>
            <a:t>Sequenciamento</a:t>
          </a:r>
        </a:p>
      </dgm:t>
    </dgm:pt>
    <dgm:pt modelId="{2BC3CDAE-B4B5-0443-A12E-A694391A74FF}" type="parTrans" cxnId="{EF413613-4CF3-684B-9A98-7F96ECD2C23D}">
      <dgm:prSet/>
      <dgm:spPr/>
      <dgm:t>
        <a:bodyPr/>
        <a:lstStyle/>
        <a:p>
          <a:endParaRPr lang="en-US"/>
        </a:p>
      </dgm:t>
    </dgm:pt>
    <dgm:pt modelId="{BDDE9D66-4CB7-3F40-B625-68CBAFD93BBD}" type="sibTrans" cxnId="{EF413613-4CF3-684B-9A98-7F96ECD2C23D}">
      <dgm:prSet/>
      <dgm:spPr/>
      <dgm:t>
        <a:bodyPr/>
        <a:lstStyle/>
        <a:p>
          <a:endParaRPr lang="en-US"/>
        </a:p>
      </dgm:t>
    </dgm:pt>
    <dgm:pt modelId="{4E29F0FB-E95B-B74D-A9FB-4B6399009663}" type="pres">
      <dgm:prSet presAssocID="{7D72E4B7-921A-E44A-84F5-9AE55420FAF2}" presName="Name0" presStyleCnt="0">
        <dgm:presLayoutVars>
          <dgm:dir/>
          <dgm:resizeHandles val="exact"/>
        </dgm:presLayoutVars>
      </dgm:prSet>
      <dgm:spPr/>
    </dgm:pt>
    <dgm:pt modelId="{99E33C14-E88B-024F-96CF-3E3F7F95F194}" type="pres">
      <dgm:prSet presAssocID="{C6D4EF89-CFFF-F240-81F8-2CD9FB307F0E}" presName="node" presStyleLbl="node1" presStyleIdx="0" presStyleCnt="6">
        <dgm:presLayoutVars>
          <dgm:bulletEnabled val="1"/>
        </dgm:presLayoutVars>
      </dgm:prSet>
      <dgm:spPr/>
    </dgm:pt>
    <dgm:pt modelId="{07AB0E80-9E4C-E448-A04E-18E1AAC892CB}" type="pres">
      <dgm:prSet presAssocID="{8E1C00F6-E120-2F40-A6AE-3858916D8113}" presName="sibTrans" presStyleLbl="sibTrans2D1" presStyleIdx="0" presStyleCnt="5"/>
      <dgm:spPr/>
    </dgm:pt>
    <dgm:pt modelId="{87A5C85A-888F-2C49-85EB-4797C2C2A2CF}" type="pres">
      <dgm:prSet presAssocID="{8E1C00F6-E120-2F40-A6AE-3858916D8113}" presName="connectorText" presStyleLbl="sibTrans2D1" presStyleIdx="0" presStyleCnt="5"/>
      <dgm:spPr/>
    </dgm:pt>
    <dgm:pt modelId="{D7786450-EA99-3449-910F-5AEA96E45E1A}" type="pres">
      <dgm:prSet presAssocID="{9E118555-1FA5-024A-B712-E4F7C4DBE760}" presName="node" presStyleLbl="node1" presStyleIdx="1" presStyleCnt="6" custScaleX="110618">
        <dgm:presLayoutVars>
          <dgm:bulletEnabled val="1"/>
        </dgm:presLayoutVars>
      </dgm:prSet>
      <dgm:spPr/>
    </dgm:pt>
    <dgm:pt modelId="{93B77E22-E27A-DA4C-8F27-B87FC0660EDA}" type="pres">
      <dgm:prSet presAssocID="{024124BD-9848-014E-8A66-AA6F82E0B3BD}" presName="sibTrans" presStyleLbl="sibTrans2D1" presStyleIdx="1" presStyleCnt="5"/>
      <dgm:spPr/>
    </dgm:pt>
    <dgm:pt modelId="{4A4C583E-CB50-764B-95F1-40F77ED6A9CC}" type="pres">
      <dgm:prSet presAssocID="{024124BD-9848-014E-8A66-AA6F82E0B3BD}" presName="connectorText" presStyleLbl="sibTrans2D1" presStyleIdx="1" presStyleCnt="5"/>
      <dgm:spPr/>
    </dgm:pt>
    <dgm:pt modelId="{EF616BD4-26F1-A140-B5A8-1AE5C3B75462}" type="pres">
      <dgm:prSet presAssocID="{FB49D1E4-CBE1-F744-9CB9-A8FD4238181A}" presName="node" presStyleLbl="node1" presStyleIdx="2" presStyleCnt="6" custScaleX="126463">
        <dgm:presLayoutVars>
          <dgm:bulletEnabled val="1"/>
        </dgm:presLayoutVars>
      </dgm:prSet>
      <dgm:spPr/>
    </dgm:pt>
    <dgm:pt modelId="{A923B2FA-0293-1745-A89B-6CB0C66A4A34}" type="pres">
      <dgm:prSet presAssocID="{638A4F02-FF0E-0D40-BF62-8C37A1A846EB}" presName="sibTrans" presStyleLbl="sibTrans2D1" presStyleIdx="2" presStyleCnt="5"/>
      <dgm:spPr/>
    </dgm:pt>
    <dgm:pt modelId="{B6E416FD-D224-BA4F-BA3F-CDB25FC6011F}" type="pres">
      <dgm:prSet presAssocID="{638A4F02-FF0E-0D40-BF62-8C37A1A846EB}" presName="connectorText" presStyleLbl="sibTrans2D1" presStyleIdx="2" presStyleCnt="5"/>
      <dgm:spPr/>
    </dgm:pt>
    <dgm:pt modelId="{F4D131AA-FB4A-B848-8D32-642A72D41DBE}" type="pres">
      <dgm:prSet presAssocID="{9B3F4639-8FCF-AE4C-992B-1392AE28FA04}" presName="node" presStyleLbl="node1" presStyleIdx="3" presStyleCnt="6" custScaleX="126496">
        <dgm:presLayoutVars>
          <dgm:bulletEnabled val="1"/>
        </dgm:presLayoutVars>
      </dgm:prSet>
      <dgm:spPr/>
    </dgm:pt>
    <dgm:pt modelId="{A99191B4-E860-AC4D-BA1D-E92767F5A6C6}" type="pres">
      <dgm:prSet presAssocID="{F3B8A60E-0391-E140-B137-BEF838AB20F1}" presName="sibTrans" presStyleLbl="sibTrans2D1" presStyleIdx="3" presStyleCnt="5"/>
      <dgm:spPr/>
    </dgm:pt>
    <dgm:pt modelId="{A2002DD8-8135-4449-BD8D-D51A7A094EE9}" type="pres">
      <dgm:prSet presAssocID="{F3B8A60E-0391-E140-B137-BEF838AB20F1}" presName="connectorText" presStyleLbl="sibTrans2D1" presStyleIdx="3" presStyleCnt="5"/>
      <dgm:spPr/>
    </dgm:pt>
    <dgm:pt modelId="{6E27B518-3618-F342-9EA2-08B49EDC96A0}" type="pres">
      <dgm:prSet presAssocID="{2AB7A95C-B803-504C-ABDC-FBD62541D92A}" presName="node" presStyleLbl="node1" presStyleIdx="4" presStyleCnt="6" custScaleX="149732">
        <dgm:presLayoutVars>
          <dgm:bulletEnabled val="1"/>
        </dgm:presLayoutVars>
      </dgm:prSet>
      <dgm:spPr/>
    </dgm:pt>
    <dgm:pt modelId="{912BB2A4-42BA-B947-9C36-33B5F6D906AD}" type="pres">
      <dgm:prSet presAssocID="{80C00075-6FB6-8F4F-850B-F43DB22A3156}" presName="sibTrans" presStyleLbl="sibTrans2D1" presStyleIdx="4" presStyleCnt="5"/>
      <dgm:spPr/>
    </dgm:pt>
    <dgm:pt modelId="{2A65BD9E-F784-4747-B3C3-2D0AB24878CC}" type="pres">
      <dgm:prSet presAssocID="{80C00075-6FB6-8F4F-850B-F43DB22A3156}" presName="connectorText" presStyleLbl="sibTrans2D1" presStyleIdx="4" presStyleCnt="5"/>
      <dgm:spPr/>
    </dgm:pt>
    <dgm:pt modelId="{9331BEFD-667A-DF46-A46F-ECD0C5F0AD2A}" type="pres">
      <dgm:prSet presAssocID="{AB3DC771-E550-4C4B-AB43-3FD8E8893AC1}" presName="node" presStyleLbl="node1" presStyleIdx="5" presStyleCnt="6" custScaleX="141238">
        <dgm:presLayoutVars>
          <dgm:bulletEnabled val="1"/>
        </dgm:presLayoutVars>
      </dgm:prSet>
      <dgm:spPr/>
    </dgm:pt>
  </dgm:ptLst>
  <dgm:cxnLst>
    <dgm:cxn modelId="{D2E89702-DD94-6E44-906C-05B5B53384D4}" type="presOf" srcId="{024124BD-9848-014E-8A66-AA6F82E0B3BD}" destId="{4A4C583E-CB50-764B-95F1-40F77ED6A9CC}" srcOrd="1" destOrd="0" presId="urn:microsoft.com/office/officeart/2005/8/layout/process1"/>
    <dgm:cxn modelId="{A3111D07-77FF-2B4D-8600-CB0255B5BC9F}" srcId="{7D72E4B7-921A-E44A-84F5-9AE55420FAF2}" destId="{2AB7A95C-B803-504C-ABDC-FBD62541D92A}" srcOrd="4" destOrd="0" parTransId="{22F261DE-9DAF-194C-B4B0-A4FAE3E24D61}" sibTransId="{80C00075-6FB6-8F4F-850B-F43DB22A3156}"/>
    <dgm:cxn modelId="{EF413613-4CF3-684B-9A98-7F96ECD2C23D}" srcId="{7D72E4B7-921A-E44A-84F5-9AE55420FAF2}" destId="{AB3DC771-E550-4C4B-AB43-3FD8E8893AC1}" srcOrd="5" destOrd="0" parTransId="{2BC3CDAE-B4B5-0443-A12E-A694391A74FF}" sibTransId="{BDDE9D66-4CB7-3F40-B625-68CBAFD93BBD}"/>
    <dgm:cxn modelId="{41E29919-E709-D744-A50C-6597D4452EE2}" type="presOf" srcId="{8E1C00F6-E120-2F40-A6AE-3858916D8113}" destId="{07AB0E80-9E4C-E448-A04E-18E1AAC892CB}" srcOrd="0" destOrd="0" presId="urn:microsoft.com/office/officeart/2005/8/layout/process1"/>
    <dgm:cxn modelId="{3B4C8B1C-15AB-D64A-9346-6C754AECC864}" type="presOf" srcId="{7D72E4B7-921A-E44A-84F5-9AE55420FAF2}" destId="{4E29F0FB-E95B-B74D-A9FB-4B6399009663}" srcOrd="0" destOrd="0" presId="urn:microsoft.com/office/officeart/2005/8/layout/process1"/>
    <dgm:cxn modelId="{F44F3C22-9D80-5744-B114-AC2893E82929}" type="presOf" srcId="{9E118555-1FA5-024A-B712-E4F7C4DBE760}" destId="{D7786450-EA99-3449-910F-5AEA96E45E1A}" srcOrd="0" destOrd="0" presId="urn:microsoft.com/office/officeart/2005/8/layout/process1"/>
    <dgm:cxn modelId="{1D5AAD3A-E344-C84F-A5A6-FE1B24427334}" srcId="{7D72E4B7-921A-E44A-84F5-9AE55420FAF2}" destId="{9E118555-1FA5-024A-B712-E4F7C4DBE760}" srcOrd="1" destOrd="0" parTransId="{25828804-6F16-B244-9DC7-04F164E80386}" sibTransId="{024124BD-9848-014E-8A66-AA6F82E0B3BD}"/>
    <dgm:cxn modelId="{27455E40-4D43-1D45-B236-FD01301AF38B}" type="presOf" srcId="{F3B8A60E-0391-E140-B137-BEF838AB20F1}" destId="{A99191B4-E860-AC4D-BA1D-E92767F5A6C6}" srcOrd="0" destOrd="0" presId="urn:microsoft.com/office/officeart/2005/8/layout/process1"/>
    <dgm:cxn modelId="{654AED43-170D-2540-A142-6BA80488378D}" type="presOf" srcId="{638A4F02-FF0E-0D40-BF62-8C37A1A846EB}" destId="{B6E416FD-D224-BA4F-BA3F-CDB25FC6011F}" srcOrd="1" destOrd="0" presId="urn:microsoft.com/office/officeart/2005/8/layout/process1"/>
    <dgm:cxn modelId="{60B8BC45-2E68-1F49-82F4-F5DDE8F2E528}" type="presOf" srcId="{F3B8A60E-0391-E140-B137-BEF838AB20F1}" destId="{A2002DD8-8135-4449-BD8D-D51A7A094EE9}" srcOrd="1" destOrd="0" presId="urn:microsoft.com/office/officeart/2005/8/layout/process1"/>
    <dgm:cxn modelId="{D0944668-1FF8-3B4F-9C2C-88B6EA17B2CB}" type="presOf" srcId="{C6D4EF89-CFFF-F240-81F8-2CD9FB307F0E}" destId="{99E33C14-E88B-024F-96CF-3E3F7F95F194}" srcOrd="0" destOrd="0" presId="urn:microsoft.com/office/officeart/2005/8/layout/process1"/>
    <dgm:cxn modelId="{11A43978-A8FA-9D4C-9930-E9A8A99C2CDE}" type="presOf" srcId="{024124BD-9848-014E-8A66-AA6F82E0B3BD}" destId="{93B77E22-E27A-DA4C-8F27-B87FC0660EDA}" srcOrd="0" destOrd="0" presId="urn:microsoft.com/office/officeart/2005/8/layout/process1"/>
    <dgm:cxn modelId="{A4D09F8E-250E-EB4F-BA85-55502FB68E3C}" type="presOf" srcId="{FB49D1E4-CBE1-F744-9CB9-A8FD4238181A}" destId="{EF616BD4-26F1-A140-B5A8-1AE5C3B75462}" srcOrd="0" destOrd="0" presId="urn:microsoft.com/office/officeart/2005/8/layout/process1"/>
    <dgm:cxn modelId="{207CD39A-A747-104A-8ADB-C3CB2DA768D1}" srcId="{7D72E4B7-921A-E44A-84F5-9AE55420FAF2}" destId="{9B3F4639-8FCF-AE4C-992B-1392AE28FA04}" srcOrd="3" destOrd="0" parTransId="{FA9CA40B-2C7A-C843-8A9B-53F353329AE3}" sibTransId="{F3B8A60E-0391-E140-B137-BEF838AB20F1}"/>
    <dgm:cxn modelId="{B1F6219F-A71E-134D-8343-62E1C5378451}" type="presOf" srcId="{8E1C00F6-E120-2F40-A6AE-3858916D8113}" destId="{87A5C85A-888F-2C49-85EB-4797C2C2A2CF}" srcOrd="1" destOrd="0" presId="urn:microsoft.com/office/officeart/2005/8/layout/process1"/>
    <dgm:cxn modelId="{65EEABA3-37D0-6243-9982-CCF281BA5BA7}" srcId="{7D72E4B7-921A-E44A-84F5-9AE55420FAF2}" destId="{FB49D1E4-CBE1-F744-9CB9-A8FD4238181A}" srcOrd="2" destOrd="0" parTransId="{82E225B8-8C70-EB4F-8591-4BFDE5E25574}" sibTransId="{638A4F02-FF0E-0D40-BF62-8C37A1A846EB}"/>
    <dgm:cxn modelId="{928AF3BF-6ABA-314B-BF75-57B967D54E3F}" type="presOf" srcId="{2AB7A95C-B803-504C-ABDC-FBD62541D92A}" destId="{6E27B518-3618-F342-9EA2-08B49EDC96A0}" srcOrd="0" destOrd="0" presId="urn:microsoft.com/office/officeart/2005/8/layout/process1"/>
    <dgm:cxn modelId="{BEE10ED9-42D6-1E42-8582-E7FDDF7039D2}" type="presOf" srcId="{80C00075-6FB6-8F4F-850B-F43DB22A3156}" destId="{912BB2A4-42BA-B947-9C36-33B5F6D906AD}" srcOrd="0" destOrd="0" presId="urn:microsoft.com/office/officeart/2005/8/layout/process1"/>
    <dgm:cxn modelId="{D77272DA-BFC5-C54A-B14E-1359D3B56C12}" type="presOf" srcId="{AB3DC771-E550-4C4B-AB43-3FD8E8893AC1}" destId="{9331BEFD-667A-DF46-A46F-ECD0C5F0AD2A}" srcOrd="0" destOrd="0" presId="urn:microsoft.com/office/officeart/2005/8/layout/process1"/>
    <dgm:cxn modelId="{B8BC0FDB-24CA-E444-ABB0-82721BFEC10E}" type="presOf" srcId="{9B3F4639-8FCF-AE4C-992B-1392AE28FA04}" destId="{F4D131AA-FB4A-B848-8D32-642A72D41DBE}" srcOrd="0" destOrd="0" presId="urn:microsoft.com/office/officeart/2005/8/layout/process1"/>
    <dgm:cxn modelId="{B6D37EE8-AD9C-4A4C-8C48-DD078248AF90}" type="presOf" srcId="{638A4F02-FF0E-0D40-BF62-8C37A1A846EB}" destId="{A923B2FA-0293-1745-A89B-6CB0C66A4A34}" srcOrd="0" destOrd="0" presId="urn:microsoft.com/office/officeart/2005/8/layout/process1"/>
    <dgm:cxn modelId="{412EFAEE-C4A8-BA4A-B2EF-292F1E1BA350}" srcId="{7D72E4B7-921A-E44A-84F5-9AE55420FAF2}" destId="{C6D4EF89-CFFF-F240-81F8-2CD9FB307F0E}" srcOrd="0" destOrd="0" parTransId="{E9449ECD-5DBD-BF48-9166-E1AE2D05C587}" sibTransId="{8E1C00F6-E120-2F40-A6AE-3858916D8113}"/>
    <dgm:cxn modelId="{6C352AF7-5425-D44A-89D6-8560409BDD19}" type="presOf" srcId="{80C00075-6FB6-8F4F-850B-F43DB22A3156}" destId="{2A65BD9E-F784-4747-B3C3-2D0AB24878CC}" srcOrd="1" destOrd="0" presId="urn:microsoft.com/office/officeart/2005/8/layout/process1"/>
    <dgm:cxn modelId="{0814912A-200B-A542-BAC4-C70D10ED8ACA}" type="presParOf" srcId="{4E29F0FB-E95B-B74D-A9FB-4B6399009663}" destId="{99E33C14-E88B-024F-96CF-3E3F7F95F194}" srcOrd="0" destOrd="0" presId="urn:microsoft.com/office/officeart/2005/8/layout/process1"/>
    <dgm:cxn modelId="{9DF68D59-E1F3-5040-BBE9-7EF03DFE54C5}" type="presParOf" srcId="{4E29F0FB-E95B-B74D-A9FB-4B6399009663}" destId="{07AB0E80-9E4C-E448-A04E-18E1AAC892CB}" srcOrd="1" destOrd="0" presId="urn:microsoft.com/office/officeart/2005/8/layout/process1"/>
    <dgm:cxn modelId="{7B058E8F-AE59-9245-A1DD-CAAC7A9E285B}" type="presParOf" srcId="{07AB0E80-9E4C-E448-A04E-18E1AAC892CB}" destId="{87A5C85A-888F-2C49-85EB-4797C2C2A2CF}" srcOrd="0" destOrd="0" presId="urn:microsoft.com/office/officeart/2005/8/layout/process1"/>
    <dgm:cxn modelId="{BEC5F17B-7BF7-2140-B833-A98BC14AAB1E}" type="presParOf" srcId="{4E29F0FB-E95B-B74D-A9FB-4B6399009663}" destId="{D7786450-EA99-3449-910F-5AEA96E45E1A}" srcOrd="2" destOrd="0" presId="urn:microsoft.com/office/officeart/2005/8/layout/process1"/>
    <dgm:cxn modelId="{962A2F58-14F1-DC4F-950E-C9DA95CCF5B6}" type="presParOf" srcId="{4E29F0FB-E95B-B74D-A9FB-4B6399009663}" destId="{93B77E22-E27A-DA4C-8F27-B87FC0660EDA}" srcOrd="3" destOrd="0" presId="urn:microsoft.com/office/officeart/2005/8/layout/process1"/>
    <dgm:cxn modelId="{C5066488-F5AD-0745-9FCF-797A2B83784C}" type="presParOf" srcId="{93B77E22-E27A-DA4C-8F27-B87FC0660EDA}" destId="{4A4C583E-CB50-764B-95F1-40F77ED6A9CC}" srcOrd="0" destOrd="0" presId="urn:microsoft.com/office/officeart/2005/8/layout/process1"/>
    <dgm:cxn modelId="{77737F1F-B27A-9A4D-B77D-B6C070C6CFDA}" type="presParOf" srcId="{4E29F0FB-E95B-B74D-A9FB-4B6399009663}" destId="{EF616BD4-26F1-A140-B5A8-1AE5C3B75462}" srcOrd="4" destOrd="0" presId="urn:microsoft.com/office/officeart/2005/8/layout/process1"/>
    <dgm:cxn modelId="{B92FA241-0893-9245-8C37-6CCC94799225}" type="presParOf" srcId="{4E29F0FB-E95B-B74D-A9FB-4B6399009663}" destId="{A923B2FA-0293-1745-A89B-6CB0C66A4A34}" srcOrd="5" destOrd="0" presId="urn:microsoft.com/office/officeart/2005/8/layout/process1"/>
    <dgm:cxn modelId="{839C2DDF-1B9C-5840-9A0B-96552C595F75}" type="presParOf" srcId="{A923B2FA-0293-1745-A89B-6CB0C66A4A34}" destId="{B6E416FD-D224-BA4F-BA3F-CDB25FC6011F}" srcOrd="0" destOrd="0" presId="urn:microsoft.com/office/officeart/2005/8/layout/process1"/>
    <dgm:cxn modelId="{C4638185-4136-6B46-B3F4-F0AE930A2140}" type="presParOf" srcId="{4E29F0FB-E95B-B74D-A9FB-4B6399009663}" destId="{F4D131AA-FB4A-B848-8D32-642A72D41DBE}" srcOrd="6" destOrd="0" presId="urn:microsoft.com/office/officeart/2005/8/layout/process1"/>
    <dgm:cxn modelId="{46ED79DA-030F-924F-9F77-F647F85F8F70}" type="presParOf" srcId="{4E29F0FB-E95B-B74D-A9FB-4B6399009663}" destId="{A99191B4-E860-AC4D-BA1D-E92767F5A6C6}" srcOrd="7" destOrd="0" presId="urn:microsoft.com/office/officeart/2005/8/layout/process1"/>
    <dgm:cxn modelId="{7959F533-0B3E-C643-9220-503BF527A4B0}" type="presParOf" srcId="{A99191B4-E860-AC4D-BA1D-E92767F5A6C6}" destId="{A2002DD8-8135-4449-BD8D-D51A7A094EE9}" srcOrd="0" destOrd="0" presId="urn:microsoft.com/office/officeart/2005/8/layout/process1"/>
    <dgm:cxn modelId="{13E6D58F-9310-7B46-A961-1594EA1AFA35}" type="presParOf" srcId="{4E29F0FB-E95B-B74D-A9FB-4B6399009663}" destId="{6E27B518-3618-F342-9EA2-08B49EDC96A0}" srcOrd="8" destOrd="0" presId="urn:microsoft.com/office/officeart/2005/8/layout/process1"/>
    <dgm:cxn modelId="{1345DBED-D8ED-F24F-B54D-07600B4443B1}" type="presParOf" srcId="{4E29F0FB-E95B-B74D-A9FB-4B6399009663}" destId="{912BB2A4-42BA-B947-9C36-33B5F6D906AD}" srcOrd="9" destOrd="0" presId="urn:microsoft.com/office/officeart/2005/8/layout/process1"/>
    <dgm:cxn modelId="{20A76104-B3FD-8042-9EDF-BCD8C0B8474B}" type="presParOf" srcId="{912BB2A4-42BA-B947-9C36-33B5F6D906AD}" destId="{2A65BD9E-F784-4747-B3C3-2D0AB24878CC}" srcOrd="0" destOrd="0" presId="urn:microsoft.com/office/officeart/2005/8/layout/process1"/>
    <dgm:cxn modelId="{8834E63A-C07B-3E4A-A4F3-BA70BB6B2388}" type="presParOf" srcId="{4E29F0FB-E95B-B74D-A9FB-4B6399009663}" destId="{9331BEFD-667A-DF46-A46F-ECD0C5F0AD2A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E33C14-E88B-024F-96CF-3E3F7F95F194}">
      <dsp:nvSpPr>
        <dsp:cNvPr id="0" name=""/>
        <dsp:cNvSpPr/>
      </dsp:nvSpPr>
      <dsp:spPr>
        <a:xfrm>
          <a:off x="7203" y="1890950"/>
          <a:ext cx="1236723" cy="10954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Extração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do DNA</a:t>
          </a:r>
        </a:p>
      </dsp:txBody>
      <dsp:txXfrm>
        <a:off x="39287" y="1923034"/>
        <a:ext cx="1172555" cy="1031249"/>
      </dsp:txXfrm>
    </dsp:sp>
    <dsp:sp modelId="{07AB0E80-9E4C-E448-A04E-18E1AAC892CB}">
      <dsp:nvSpPr>
        <dsp:cNvPr id="0" name=""/>
        <dsp:cNvSpPr/>
      </dsp:nvSpPr>
      <dsp:spPr>
        <a:xfrm>
          <a:off x="1367599" y="2285305"/>
          <a:ext cx="262185" cy="3067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 noProof="0" dirty="0"/>
        </a:p>
      </dsp:txBody>
      <dsp:txXfrm>
        <a:off x="1367599" y="2346646"/>
        <a:ext cx="183530" cy="184025"/>
      </dsp:txXfrm>
    </dsp:sp>
    <dsp:sp modelId="{D7786450-EA99-3449-910F-5AEA96E45E1A}">
      <dsp:nvSpPr>
        <dsp:cNvPr id="0" name=""/>
        <dsp:cNvSpPr/>
      </dsp:nvSpPr>
      <dsp:spPr>
        <a:xfrm>
          <a:off x="1738616" y="1890950"/>
          <a:ext cx="1368038" cy="1095417"/>
        </a:xfrm>
        <a:prstGeom prst="roundRect">
          <a:avLst>
            <a:gd name="adj" fmla="val 10000"/>
          </a:avLst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noProof="0" dirty="0"/>
            <a:t>Preparação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noProof="0" dirty="0"/>
            <a:t>da biblioteca</a:t>
          </a:r>
        </a:p>
      </dsp:txBody>
      <dsp:txXfrm>
        <a:off x="1770700" y="1923034"/>
        <a:ext cx="1303870" cy="1031249"/>
      </dsp:txXfrm>
    </dsp:sp>
    <dsp:sp modelId="{93B77E22-E27A-DA4C-8F27-B87FC0660EDA}">
      <dsp:nvSpPr>
        <dsp:cNvPr id="0" name=""/>
        <dsp:cNvSpPr/>
      </dsp:nvSpPr>
      <dsp:spPr>
        <a:xfrm>
          <a:off x="3230327" y="2285305"/>
          <a:ext cx="262185" cy="3067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677650"/>
            <a:satOff val="25000"/>
            <a:lumOff val="-367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 noProof="0" dirty="0"/>
        </a:p>
      </dsp:txBody>
      <dsp:txXfrm>
        <a:off x="3230327" y="2346646"/>
        <a:ext cx="183530" cy="184025"/>
      </dsp:txXfrm>
    </dsp:sp>
    <dsp:sp modelId="{EF616BD4-26F1-A140-B5A8-1AE5C3B75462}">
      <dsp:nvSpPr>
        <dsp:cNvPr id="0" name=""/>
        <dsp:cNvSpPr/>
      </dsp:nvSpPr>
      <dsp:spPr>
        <a:xfrm>
          <a:off x="3601344" y="1890950"/>
          <a:ext cx="1563997" cy="1095417"/>
        </a:xfrm>
        <a:prstGeom prst="roundRect">
          <a:avLst>
            <a:gd name="adj" fmla="val 10000"/>
          </a:avLst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 err="1"/>
            <a:t>Pooling</a:t>
          </a:r>
          <a:r>
            <a:rPr lang="pt-BR" sz="2000" kern="1200" noProof="0" dirty="0"/>
            <a:t> das bibliotecas</a:t>
          </a:r>
        </a:p>
      </dsp:txBody>
      <dsp:txXfrm>
        <a:off x="3633428" y="1923034"/>
        <a:ext cx="1499829" cy="1031249"/>
      </dsp:txXfrm>
    </dsp:sp>
    <dsp:sp modelId="{A923B2FA-0293-1745-A89B-6CB0C66A4A34}">
      <dsp:nvSpPr>
        <dsp:cNvPr id="0" name=""/>
        <dsp:cNvSpPr/>
      </dsp:nvSpPr>
      <dsp:spPr>
        <a:xfrm>
          <a:off x="5289014" y="2285305"/>
          <a:ext cx="262185" cy="3067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 noProof="0" dirty="0"/>
        </a:p>
      </dsp:txBody>
      <dsp:txXfrm>
        <a:off x="5289014" y="2346646"/>
        <a:ext cx="183530" cy="184025"/>
      </dsp:txXfrm>
    </dsp:sp>
    <dsp:sp modelId="{F4D131AA-FB4A-B848-8D32-642A72D41DBE}">
      <dsp:nvSpPr>
        <dsp:cNvPr id="0" name=""/>
        <dsp:cNvSpPr/>
      </dsp:nvSpPr>
      <dsp:spPr>
        <a:xfrm>
          <a:off x="5660031" y="1890950"/>
          <a:ext cx="1564405" cy="1095417"/>
        </a:xfrm>
        <a:prstGeom prst="roundRect">
          <a:avLst>
            <a:gd name="adj" fmla="val 10000"/>
          </a:avLst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Hibridização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das sondas</a:t>
          </a:r>
        </a:p>
      </dsp:txBody>
      <dsp:txXfrm>
        <a:off x="5692115" y="1923034"/>
        <a:ext cx="1500237" cy="1031249"/>
      </dsp:txXfrm>
    </dsp:sp>
    <dsp:sp modelId="{A99191B4-E860-AC4D-BA1D-E92767F5A6C6}">
      <dsp:nvSpPr>
        <dsp:cNvPr id="0" name=""/>
        <dsp:cNvSpPr/>
      </dsp:nvSpPr>
      <dsp:spPr>
        <a:xfrm>
          <a:off x="7348109" y="2285305"/>
          <a:ext cx="262185" cy="3067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032949"/>
            <a:satOff val="75000"/>
            <a:lumOff val="-110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 noProof="0" dirty="0"/>
        </a:p>
      </dsp:txBody>
      <dsp:txXfrm>
        <a:off x="7348109" y="2346646"/>
        <a:ext cx="183530" cy="184025"/>
      </dsp:txXfrm>
    </dsp:sp>
    <dsp:sp modelId="{6E27B518-3618-F342-9EA2-08B49EDC96A0}">
      <dsp:nvSpPr>
        <dsp:cNvPr id="0" name=""/>
        <dsp:cNvSpPr/>
      </dsp:nvSpPr>
      <dsp:spPr>
        <a:xfrm>
          <a:off x="7719126" y="1890950"/>
          <a:ext cx="1851770" cy="1095417"/>
        </a:xfrm>
        <a:prstGeom prst="roundRect">
          <a:avLst>
            <a:gd name="adj" fmla="val 1000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Recuperação dos alvos</a:t>
          </a:r>
        </a:p>
      </dsp:txBody>
      <dsp:txXfrm>
        <a:off x="7751210" y="1923034"/>
        <a:ext cx="1787602" cy="1031249"/>
      </dsp:txXfrm>
    </dsp:sp>
    <dsp:sp modelId="{912BB2A4-42BA-B947-9C36-33B5F6D906AD}">
      <dsp:nvSpPr>
        <dsp:cNvPr id="0" name=""/>
        <dsp:cNvSpPr/>
      </dsp:nvSpPr>
      <dsp:spPr>
        <a:xfrm>
          <a:off x="9694570" y="2285305"/>
          <a:ext cx="262185" cy="3067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 noProof="0" dirty="0"/>
        </a:p>
      </dsp:txBody>
      <dsp:txXfrm>
        <a:off x="9694570" y="2346646"/>
        <a:ext cx="183530" cy="184025"/>
      </dsp:txXfrm>
    </dsp:sp>
    <dsp:sp modelId="{9331BEFD-667A-DF46-A46F-ECD0C5F0AD2A}">
      <dsp:nvSpPr>
        <dsp:cNvPr id="0" name=""/>
        <dsp:cNvSpPr/>
      </dsp:nvSpPr>
      <dsp:spPr>
        <a:xfrm>
          <a:off x="10065587" y="1890950"/>
          <a:ext cx="1746723" cy="1095417"/>
        </a:xfrm>
        <a:prstGeom prst="roundRect">
          <a:avLst>
            <a:gd name="adj" fmla="val 1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noProof="0" dirty="0"/>
            <a:t>Sequenciamento</a:t>
          </a:r>
        </a:p>
      </dsp:txBody>
      <dsp:txXfrm>
        <a:off x="10097671" y="1923034"/>
        <a:ext cx="1682555" cy="1031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045B9-6FF3-A544-BE0A-C76C7B0EE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137B7-EE83-A04E-9301-E417E2638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F872B-3F08-F14E-A3F1-C3222A7F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6E80-8CC8-C846-97D8-484408CA365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1D2E2-0E00-A64A-8595-E6C93346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0C7A3-DDF0-3C4F-B214-46BAEF9B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9D08-7B76-8546-A9E0-1F702729F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1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0BDD1-39DE-1E42-A4A8-284C57F70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410C6-C922-3B4D-A300-8365BF29A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7F2A7-8D76-3F42-8759-2BE54D7E5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6E80-8CC8-C846-97D8-484408CA365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34F09-A10D-6B40-AF8C-9CB595FAD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FE6A4-7C22-C441-B2D0-86BB7E06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9D08-7B76-8546-A9E0-1F702729F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09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6389-6E99-034E-8615-F0BAC1E3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ECD97-05FF-AD4C-8390-0BE8D6EA6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5A89F-CD34-1B42-9396-2FC056689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6E80-8CC8-C846-97D8-484408CA365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11B30-F01D-2346-8AFD-41DCF8C3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76C7F-7121-0944-9A91-025ADD4CA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9D08-7B76-8546-A9E0-1F702729F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E50A8-8045-7041-BEA0-794B6D39B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B5483-6DE7-D94F-ADF5-380EF99D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239F5-C6B1-7A45-BE93-E2F617063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E767E-119D-4841-9033-0B542726A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6E80-8CC8-C846-97D8-484408CA365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3BAFB-1514-D644-8994-ACE38F5C0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4B814-237E-4E46-9D78-DF76510A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9D08-7B76-8546-A9E0-1F702729F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87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546F8-7B3B-3B41-9608-CD34FEEAA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33906-8492-4D4C-B87D-5BF4C54FE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A169F-6656-2D46-8725-3F4A10AAF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2C8CE0-04CF-F344-A20B-6FD060E66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19F76C-89DC-3A42-9610-6CF4874DC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87FE0-7FBC-7449-8283-FDADEE591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6E80-8CC8-C846-97D8-484408CA365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DE2A66-880F-784A-9BA2-7DC5ADE46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333A44-CCFB-A440-AA78-0C08EBBB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9D08-7B76-8546-A9E0-1F702729F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0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D064-0659-3B4F-9DF9-A86751CE2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DA8166-C172-DA47-90D1-E948ABAA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6E80-8CC8-C846-97D8-484408CA365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D6535-1576-4441-B937-11697877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70B7C-7C8A-224D-990B-06720041E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9D08-7B76-8546-A9E0-1F702729F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8607F2-ABF7-B042-8231-D31F29982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6E80-8CC8-C846-97D8-484408CA365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217E04-B422-A341-8161-45A17C3D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BD089-18F9-D641-BEFE-4284A5C2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9D08-7B76-8546-A9E0-1F702729F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27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08D9-7430-934A-B79D-74430A57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7E318-F539-3A49-982D-4EF4ABD25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FD477-83EB-F041-8875-8C463EE29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CD302-B903-1F4A-8901-4AF632F61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6E80-8CC8-C846-97D8-484408CA365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02238-1BD8-E346-B043-8FC609363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B4C16-52AC-A94A-B734-59B7454AE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9D08-7B76-8546-A9E0-1F702729F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88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3BB63-7351-454E-AC03-E33674DB3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BBD0E9-E92C-7B49-8925-D2C48AB55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A1BD0-1347-3743-9383-E146043A0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525FE-1D84-3C41-AEF4-8084BCE3C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6E80-8CC8-C846-97D8-484408CA365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2FEFB-0FEF-2449-98ED-B3B022939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A91B7-B097-D746-A9F1-2157FEFD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9D08-7B76-8546-A9E0-1F702729F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1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62BD4-7286-6247-9C32-95DF3757F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1E7B1-47D9-624E-9FAD-4B97825A3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363F5-4EF2-284A-B19A-8F02B7D5F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6E80-8CC8-C846-97D8-484408CA365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0CB70-5BA7-2E40-9C46-EC6BA4FC6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6567C-834B-3742-B269-58D5CEF1B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9D08-7B76-8546-A9E0-1F702729F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47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32C359-D576-3848-96B3-C9AA31EE02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8F2D9-63D4-7441-BA6A-089403FFF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674EF-5252-6D40-A94F-06F7135F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6E80-8CC8-C846-97D8-484408CA365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8370E-0245-C742-9777-E5DEB53B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1B187-373F-8F4A-8D5B-8FD1814D3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9D08-7B76-8546-A9E0-1F702729F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62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728671-8A6C-D24B-9783-8B53D79AF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C1360-CDB8-9C47-8F60-3713B6409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9FEDB-EB3E-5049-9705-C41BED34C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96E80-8CC8-C846-97D8-484408CA365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CAF8C-EEA0-D94F-BEC3-DD871D097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A72E8-76CD-8546-8411-CB0AC96A2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C9D08-7B76-8546-A9E0-1F702729F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9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jpg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jp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jpg"/><Relationship Id="rId13" Type="http://schemas.openxmlformats.org/officeDocument/2006/relationships/image" Target="../media/image75.jpg"/><Relationship Id="rId3" Type="http://schemas.openxmlformats.org/officeDocument/2006/relationships/image" Target="../media/image65.jpg"/><Relationship Id="rId7" Type="http://schemas.openxmlformats.org/officeDocument/2006/relationships/image" Target="../media/image69.jpg"/><Relationship Id="rId12" Type="http://schemas.openxmlformats.org/officeDocument/2006/relationships/image" Target="../media/image74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jpg"/><Relationship Id="rId11" Type="http://schemas.openxmlformats.org/officeDocument/2006/relationships/image" Target="../media/image73.png"/><Relationship Id="rId5" Type="http://schemas.openxmlformats.org/officeDocument/2006/relationships/image" Target="../media/image67.jpg"/><Relationship Id="rId10" Type="http://schemas.openxmlformats.org/officeDocument/2006/relationships/image" Target="../media/image72.jpg"/><Relationship Id="rId4" Type="http://schemas.openxmlformats.org/officeDocument/2006/relationships/image" Target="../media/image66.jpg"/><Relationship Id="rId9" Type="http://schemas.openxmlformats.org/officeDocument/2006/relationships/image" Target="../media/image71.jpg"/><Relationship Id="rId14" Type="http://schemas.openxmlformats.org/officeDocument/2006/relationships/image" Target="../media/image76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jpg"/><Relationship Id="rId4" Type="http://schemas.openxmlformats.org/officeDocument/2006/relationships/image" Target="../media/image90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4.jp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BDA8B-49A6-B5FE-DAA9-5542884A7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pt-BR" sz="4800" noProof="0" dirty="0">
                <a:solidFill>
                  <a:srgbClr val="FFFFFF"/>
                </a:solidFill>
              </a:rPr>
              <a:t>Métodos para obter marcadores </a:t>
            </a:r>
            <a:r>
              <a:rPr lang="pt-BR" sz="4800" noProof="0" dirty="0" err="1">
                <a:solidFill>
                  <a:srgbClr val="FFFFFF"/>
                </a:solidFill>
              </a:rPr>
              <a:t>filogenômicos</a:t>
            </a:r>
            <a:endParaRPr lang="pt-BR" sz="48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7EC04F-320A-72EA-87F4-FED3C71A2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pt-BR" noProof="0" dirty="0">
                <a:solidFill>
                  <a:srgbClr val="FFFFFF"/>
                </a:solidFill>
              </a:rPr>
              <a:t>Carolina M. Siniscalchi</a:t>
            </a:r>
          </a:p>
          <a:p>
            <a:pPr algn="r"/>
            <a:r>
              <a:rPr lang="pt-BR" noProof="0" dirty="0">
                <a:solidFill>
                  <a:srgbClr val="FFFFFF"/>
                </a:solidFill>
              </a:rPr>
              <a:t>Outubro 2026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650089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AF134775-B92A-2B4D-B361-FCC9D1AA4696}"/>
              </a:ext>
            </a:extLst>
          </p:cNvPr>
          <p:cNvSpPr txBox="1">
            <a:spLocks/>
          </p:cNvSpPr>
          <p:nvPr/>
        </p:nvSpPr>
        <p:spPr>
          <a:xfrm>
            <a:off x="156991" y="133461"/>
            <a:ext cx="8731326" cy="536044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NGS e filogenética</a:t>
            </a:r>
            <a:endParaRPr lang="pt-BR" sz="3400" noProof="0" dirty="0">
              <a:latin typeface="Arial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A143EBB-7A7A-E24B-BA16-C478B144D535}"/>
              </a:ext>
            </a:extLst>
          </p:cNvPr>
          <p:cNvSpPr txBox="1"/>
          <p:nvPr/>
        </p:nvSpPr>
        <p:spPr>
          <a:xfrm>
            <a:off x="1009198" y="1787260"/>
            <a:ext cx="7026911" cy="2162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Tx/>
              <a:buChar char="-"/>
              <a:tabLst>
                <a:tab pos="526415" algn="l"/>
                <a:tab pos="527050" algn="l"/>
              </a:tabLst>
            </a:pPr>
            <a:r>
              <a:rPr lang="pt-BR" sz="2300" noProof="0" dirty="0">
                <a:latin typeface="Arial"/>
                <a:cs typeface="Arial"/>
              </a:rPr>
              <a:t>Junto com a popularização de métodos de sequenciamento de nova geração, diferentes métodos para obter marcadores surgiram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Tx/>
              <a:buChar char="-"/>
              <a:tabLst>
                <a:tab pos="526415" algn="l"/>
                <a:tab pos="527050" algn="l"/>
              </a:tabLst>
            </a:pPr>
            <a:endParaRPr lang="pt-BR" sz="2300" noProof="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Tx/>
              <a:buChar char="-"/>
              <a:tabLst>
                <a:tab pos="526415" algn="l"/>
                <a:tab pos="527050" algn="l"/>
              </a:tabLst>
            </a:pPr>
            <a:r>
              <a:rPr lang="pt-BR" sz="2300" noProof="0" dirty="0">
                <a:latin typeface="Arial"/>
                <a:cs typeface="Arial"/>
              </a:rPr>
              <a:t>A escolha do método para obter marcadores vai depender do objetivo do estudo</a:t>
            </a:r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BFB718C9-AB38-FB49-8EEC-83A91D3CE274}"/>
              </a:ext>
            </a:extLst>
          </p:cNvPr>
          <p:cNvGrpSpPr/>
          <p:nvPr/>
        </p:nvGrpSpPr>
        <p:grpSpPr>
          <a:xfrm>
            <a:off x="10896346" y="-18288"/>
            <a:ext cx="1332230" cy="6858000"/>
            <a:chOff x="7812359" y="1"/>
            <a:chExt cx="1332230" cy="6858000"/>
          </a:xfrm>
        </p:grpSpPr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5E687B-5696-824C-81EA-6FFE761AD84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2359" y="1"/>
              <a:ext cx="1331640" cy="3645023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2794D649-2822-8F49-90A2-E964CC483BD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359" y="3645023"/>
              <a:ext cx="1316969" cy="1872208"/>
            </a:xfrm>
            <a:prstGeom prst="rect">
              <a:avLst/>
            </a:prstGeom>
          </p:spPr>
        </p:pic>
        <p:pic>
          <p:nvPicPr>
            <p:cNvPr id="9" name="object 7">
              <a:extLst>
                <a:ext uri="{FF2B5EF4-FFF2-40B4-BE49-F238E27FC236}">
                  <a16:creationId xmlns:a16="http://schemas.microsoft.com/office/drawing/2014/main" id="{4CCD5DC6-42B6-A24F-8172-5F095D40856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2359" y="5499392"/>
              <a:ext cx="1331639" cy="13586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8430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A3BB6E6-2759-8049-A92E-82C4896281C9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5354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Generalidades</a:t>
            </a:r>
            <a:endParaRPr lang="pt-BR" sz="2400" noProof="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465C3BF-E7DF-B745-A9F5-742BA9C04905}"/>
              </a:ext>
            </a:extLst>
          </p:cNvPr>
          <p:cNvSpPr txBox="1"/>
          <p:nvPr/>
        </p:nvSpPr>
        <p:spPr>
          <a:xfrm>
            <a:off x="331275" y="789278"/>
            <a:ext cx="10394099" cy="5465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b="1" spc="-5" noProof="0" dirty="0">
                <a:latin typeface="Arial"/>
                <a:cs typeface="Arial"/>
              </a:rPr>
              <a:t>Qual</a:t>
            </a:r>
            <a:r>
              <a:rPr lang="pt-BR" sz="2400" b="1" spc="-10" noProof="0" dirty="0">
                <a:latin typeface="Arial"/>
                <a:cs typeface="Arial"/>
              </a:rPr>
              <a:t> </a:t>
            </a:r>
            <a:r>
              <a:rPr lang="pt-BR" sz="2400" b="1" spc="-5" noProof="0" dirty="0">
                <a:latin typeface="Arial"/>
                <a:cs typeface="Arial"/>
              </a:rPr>
              <a:t>tipo</a:t>
            </a:r>
            <a:r>
              <a:rPr lang="pt-BR" sz="2400" b="1" spc="-10" noProof="0" dirty="0">
                <a:latin typeface="Arial"/>
                <a:cs typeface="Arial"/>
              </a:rPr>
              <a:t> </a:t>
            </a:r>
            <a:r>
              <a:rPr lang="pt-BR" sz="2400" b="1" spc="-5" noProof="0" dirty="0">
                <a:latin typeface="Arial"/>
                <a:cs typeface="Arial"/>
              </a:rPr>
              <a:t>de informação</a:t>
            </a:r>
            <a:r>
              <a:rPr lang="pt-BR" sz="2400" b="1" spc="-10" noProof="0" dirty="0">
                <a:latin typeface="Arial"/>
                <a:cs typeface="Arial"/>
              </a:rPr>
              <a:t> </a:t>
            </a:r>
            <a:r>
              <a:rPr lang="pt-BR" sz="2400" b="1" spc="-5" noProof="0" dirty="0">
                <a:latin typeface="Arial"/>
                <a:cs typeface="Arial"/>
              </a:rPr>
              <a:t>procuramos</a:t>
            </a:r>
            <a:r>
              <a:rPr lang="pt-BR" sz="2400" b="1" noProof="0" dirty="0">
                <a:latin typeface="Arial"/>
                <a:cs typeface="Arial"/>
              </a:rPr>
              <a:t>?</a:t>
            </a:r>
            <a:endParaRPr lang="pt-BR" sz="24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pt-BR" sz="3450" noProof="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lang="pt-BR" sz="2400" spc="-5" noProof="0" dirty="0">
                <a:latin typeface="Arial"/>
                <a:cs typeface="Arial"/>
              </a:rPr>
              <a:t>Estrutura</a:t>
            </a:r>
            <a:endParaRPr lang="pt-BR" sz="2400" noProof="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489"/>
              </a:spcBef>
              <a:buChar char="–"/>
              <a:tabLst>
                <a:tab pos="755015" algn="l"/>
                <a:tab pos="755650" algn="l"/>
              </a:tabLst>
            </a:pPr>
            <a:r>
              <a:rPr lang="pt-BR" sz="2000" noProof="0" dirty="0">
                <a:latin typeface="Arial"/>
                <a:cs typeface="Arial"/>
              </a:rPr>
              <a:t>Regiões</a:t>
            </a:r>
            <a:r>
              <a:rPr lang="pt-BR" sz="2000" spc="-10" noProof="0" dirty="0">
                <a:latin typeface="Arial"/>
                <a:cs typeface="Arial"/>
              </a:rPr>
              <a:t> </a:t>
            </a:r>
            <a:r>
              <a:rPr lang="pt-BR" sz="2000" spc="-5" noProof="0" dirty="0">
                <a:latin typeface="Arial"/>
                <a:cs typeface="Arial"/>
              </a:rPr>
              <a:t>codificantes </a:t>
            </a:r>
            <a:r>
              <a:rPr lang="pt-BR" sz="2000" noProof="0" dirty="0">
                <a:latin typeface="Arial"/>
                <a:cs typeface="Arial"/>
              </a:rPr>
              <a:t>e</a:t>
            </a:r>
            <a:r>
              <a:rPr lang="pt-BR" sz="2000" spc="-5" noProof="0" dirty="0">
                <a:latin typeface="Arial"/>
                <a:cs typeface="Arial"/>
              </a:rPr>
              <a:t> não-codificantes</a:t>
            </a:r>
            <a:endParaRPr lang="pt-BR" sz="2000" noProof="0" dirty="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00"/>
              </a:spcBef>
              <a:buChar char="–"/>
              <a:tabLst>
                <a:tab pos="755015" algn="l"/>
                <a:tab pos="755650" algn="l"/>
              </a:tabLst>
            </a:pPr>
            <a:r>
              <a:rPr lang="pt-BR" sz="2000" noProof="0" dirty="0" err="1">
                <a:latin typeface="Arial"/>
                <a:cs typeface="Arial"/>
              </a:rPr>
              <a:t>SNPs</a:t>
            </a:r>
            <a:r>
              <a:rPr lang="pt-BR" sz="2000" noProof="0" dirty="0">
                <a:latin typeface="Arial"/>
                <a:cs typeface="Arial"/>
              </a:rPr>
              <a:t> </a:t>
            </a:r>
            <a:r>
              <a:rPr lang="pt-BR" sz="2000" i="1" noProof="0" dirty="0">
                <a:latin typeface="Arial"/>
                <a:cs typeface="Arial"/>
              </a:rPr>
              <a:t>(Single </a:t>
            </a:r>
            <a:r>
              <a:rPr lang="pt-BR" sz="2000" i="1" noProof="0" dirty="0" err="1">
                <a:latin typeface="Arial"/>
                <a:cs typeface="Arial"/>
              </a:rPr>
              <a:t>Nucleotide</a:t>
            </a:r>
            <a:r>
              <a:rPr lang="pt-BR" sz="2000" i="1" noProof="0" dirty="0">
                <a:latin typeface="Arial"/>
                <a:cs typeface="Arial"/>
              </a:rPr>
              <a:t> </a:t>
            </a:r>
            <a:r>
              <a:rPr lang="pt-BR" sz="2000" i="1" spc="-5" noProof="0" dirty="0" err="1">
                <a:latin typeface="Arial"/>
                <a:cs typeface="Arial"/>
              </a:rPr>
              <a:t>Polymorphism</a:t>
            </a:r>
            <a:r>
              <a:rPr lang="pt-BR" sz="2000" i="1" spc="-5" noProof="0" dirty="0">
                <a:latin typeface="Arial"/>
                <a:cs typeface="Arial"/>
              </a:rPr>
              <a:t>) </a:t>
            </a:r>
            <a:r>
              <a:rPr lang="pt-BR" sz="2000" i="1" noProof="0" dirty="0">
                <a:latin typeface="Arial"/>
                <a:cs typeface="Arial"/>
              </a:rPr>
              <a:t>= </a:t>
            </a:r>
            <a:r>
              <a:rPr lang="pt-BR" sz="2000" spc="-5" noProof="0" dirty="0">
                <a:latin typeface="Arial"/>
                <a:cs typeface="Arial"/>
              </a:rPr>
              <a:t>Polimorfismo </a:t>
            </a:r>
            <a:r>
              <a:rPr lang="pt-BR" sz="2000" noProof="0" dirty="0">
                <a:latin typeface="Arial"/>
                <a:cs typeface="Arial"/>
              </a:rPr>
              <a:t>de </a:t>
            </a:r>
            <a:r>
              <a:rPr lang="pt-BR" sz="2000" spc="-5" noProof="0" dirty="0">
                <a:latin typeface="Arial"/>
                <a:cs typeface="Arial"/>
              </a:rPr>
              <a:t>nucleotídeo </a:t>
            </a:r>
            <a:r>
              <a:rPr lang="pt-BR" sz="2000" spc="-545" noProof="0" dirty="0">
                <a:latin typeface="Arial"/>
                <a:cs typeface="Arial"/>
              </a:rPr>
              <a:t> </a:t>
            </a:r>
            <a:r>
              <a:rPr lang="pt-BR" sz="2000" noProof="0" dirty="0">
                <a:latin typeface="Arial"/>
                <a:cs typeface="Arial"/>
              </a:rPr>
              <a:t>único</a:t>
            </a:r>
          </a:p>
          <a:p>
            <a:pPr marL="755650" marR="5080" lvl="1" indent="-285750">
              <a:lnSpc>
                <a:spcPct val="100000"/>
              </a:lnSpc>
              <a:spcBef>
                <a:spcPts val="500"/>
              </a:spcBef>
              <a:buChar char="–"/>
              <a:tabLst>
                <a:tab pos="755015" algn="l"/>
                <a:tab pos="755650" algn="l"/>
              </a:tabLst>
            </a:pPr>
            <a:r>
              <a:rPr lang="pt-BR" sz="2000" noProof="0" dirty="0">
                <a:latin typeface="Arial"/>
                <a:cs typeface="Arial"/>
              </a:rPr>
              <a:t>Marcadores para filogenia</a:t>
            </a:r>
          </a:p>
          <a:p>
            <a:pPr marL="755650" lvl="1" indent="-285750">
              <a:lnSpc>
                <a:spcPct val="100000"/>
              </a:lnSpc>
              <a:spcBef>
                <a:spcPts val="465"/>
              </a:spcBef>
              <a:buChar char="–"/>
              <a:tabLst>
                <a:tab pos="755015" algn="l"/>
                <a:tab pos="755650" algn="l"/>
              </a:tabLst>
            </a:pPr>
            <a:r>
              <a:rPr lang="pt-BR" sz="2000" noProof="0" dirty="0">
                <a:latin typeface="Arial"/>
                <a:cs typeface="Arial"/>
              </a:rPr>
              <a:t>Regiões</a:t>
            </a:r>
            <a:r>
              <a:rPr lang="pt-BR" sz="2000" spc="-10" noProof="0" dirty="0">
                <a:latin typeface="Arial"/>
                <a:cs typeface="Arial"/>
              </a:rPr>
              <a:t> </a:t>
            </a:r>
            <a:r>
              <a:rPr lang="pt-BR" sz="2000" spc="-5" noProof="0" dirty="0">
                <a:latin typeface="Arial"/>
                <a:cs typeface="Arial"/>
              </a:rPr>
              <a:t>repetidas (microssatélites)</a:t>
            </a:r>
            <a:endParaRPr lang="pt-BR" sz="2000" noProof="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00"/>
              </a:spcBef>
              <a:buChar char="–"/>
              <a:tabLst>
                <a:tab pos="755015" algn="l"/>
                <a:tab pos="755650" algn="l"/>
              </a:tabLst>
            </a:pPr>
            <a:r>
              <a:rPr lang="pt-BR" sz="2000" noProof="0" dirty="0">
                <a:latin typeface="Arial"/>
                <a:cs typeface="Arial"/>
              </a:rPr>
              <a:t>Poliploidia</a:t>
            </a:r>
            <a:r>
              <a:rPr lang="pt-BR" sz="2000" spc="-25" noProof="0" dirty="0">
                <a:latin typeface="Arial"/>
                <a:cs typeface="Arial"/>
              </a:rPr>
              <a:t> </a:t>
            </a:r>
            <a:r>
              <a:rPr lang="pt-BR" sz="2000" spc="-5" noProof="0" dirty="0">
                <a:latin typeface="Arial"/>
                <a:cs typeface="Arial"/>
              </a:rPr>
              <a:t>(n°</a:t>
            </a:r>
            <a:r>
              <a:rPr lang="pt-BR" sz="2000" spc="-30" noProof="0" dirty="0">
                <a:latin typeface="Arial"/>
                <a:cs typeface="Arial"/>
              </a:rPr>
              <a:t> </a:t>
            </a:r>
            <a:r>
              <a:rPr lang="pt-BR" sz="2000" noProof="0" dirty="0">
                <a:latin typeface="Arial"/>
                <a:cs typeface="Arial"/>
              </a:rPr>
              <a:t>de</a:t>
            </a:r>
            <a:r>
              <a:rPr lang="pt-BR" sz="2000" spc="-30" noProof="0" dirty="0">
                <a:latin typeface="Arial"/>
                <a:cs typeface="Arial"/>
              </a:rPr>
              <a:t> </a:t>
            </a:r>
            <a:r>
              <a:rPr lang="pt-BR" sz="2000" noProof="0" dirty="0">
                <a:latin typeface="Arial"/>
                <a:cs typeface="Arial"/>
              </a:rPr>
              <a:t>cópias)</a:t>
            </a:r>
          </a:p>
          <a:p>
            <a:pPr marL="755650" lvl="1" indent="-285750">
              <a:lnSpc>
                <a:spcPct val="100000"/>
              </a:lnSpc>
              <a:spcBef>
                <a:spcPts val="465"/>
              </a:spcBef>
              <a:buChar char="–"/>
              <a:tabLst>
                <a:tab pos="755015" algn="l"/>
                <a:tab pos="755650" algn="l"/>
              </a:tabLst>
            </a:pPr>
            <a:r>
              <a:rPr lang="pt-BR" sz="2000" spc="-45" noProof="0" dirty="0">
                <a:latin typeface="Arial"/>
                <a:cs typeface="Arial"/>
              </a:rPr>
              <a:t>Taxas</a:t>
            </a:r>
            <a:r>
              <a:rPr lang="pt-BR" sz="2000" spc="-35" noProof="0" dirty="0">
                <a:latin typeface="Arial"/>
                <a:cs typeface="Arial"/>
              </a:rPr>
              <a:t> </a:t>
            </a:r>
            <a:r>
              <a:rPr lang="pt-BR" sz="2000" noProof="0" dirty="0">
                <a:latin typeface="Arial"/>
                <a:cs typeface="Arial"/>
              </a:rPr>
              <a:t>de</a:t>
            </a:r>
            <a:r>
              <a:rPr lang="pt-BR" sz="2000" spc="-35" noProof="0" dirty="0">
                <a:latin typeface="Arial"/>
                <a:cs typeface="Arial"/>
              </a:rPr>
              <a:t> </a:t>
            </a:r>
            <a:r>
              <a:rPr lang="pt-BR" sz="2000" spc="-5" noProof="0" dirty="0">
                <a:latin typeface="Arial"/>
                <a:cs typeface="Arial"/>
              </a:rPr>
              <a:t>mutação</a:t>
            </a:r>
            <a:endParaRPr lang="pt-BR" sz="2000" noProof="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Char char="–"/>
            </a:pPr>
            <a:endParaRPr lang="pt-BR" sz="2950" noProof="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lang="pt-BR" sz="2400" spc="-5" noProof="0" dirty="0">
                <a:latin typeface="Arial"/>
                <a:cs typeface="Arial"/>
              </a:rPr>
              <a:t>Quantidades</a:t>
            </a:r>
            <a:endParaRPr lang="pt-BR" sz="2400" noProof="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Char char="–"/>
              <a:tabLst>
                <a:tab pos="755015" algn="l"/>
                <a:tab pos="755650" algn="l"/>
              </a:tabLst>
            </a:pPr>
            <a:r>
              <a:rPr lang="pt-BR" sz="2000" spc="-5" noProof="0" dirty="0">
                <a:latin typeface="Arial"/>
                <a:cs typeface="Arial"/>
              </a:rPr>
              <a:t>Expressão</a:t>
            </a:r>
            <a:r>
              <a:rPr lang="pt-BR" sz="2000" spc="-20" noProof="0" dirty="0">
                <a:latin typeface="Arial"/>
                <a:cs typeface="Arial"/>
              </a:rPr>
              <a:t> </a:t>
            </a:r>
            <a:r>
              <a:rPr lang="pt-BR" sz="2000" spc="-5" noProof="0" dirty="0">
                <a:latin typeface="Arial"/>
                <a:cs typeface="Arial"/>
              </a:rPr>
              <a:t>(transcrição)</a:t>
            </a:r>
            <a:endParaRPr lang="pt-BR" sz="2000" noProof="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470"/>
              </a:spcBef>
              <a:buChar char="–"/>
              <a:tabLst>
                <a:tab pos="755015" algn="l"/>
                <a:tab pos="755650" algn="l"/>
              </a:tabLst>
            </a:pPr>
            <a:r>
              <a:rPr lang="pt-BR" sz="2000" noProof="0" dirty="0" err="1">
                <a:latin typeface="Arial"/>
                <a:cs typeface="Arial"/>
              </a:rPr>
              <a:t>Epigenômica</a:t>
            </a:r>
            <a:r>
              <a:rPr lang="pt-BR" sz="2000" spc="-15" noProof="0" dirty="0">
                <a:latin typeface="Arial"/>
                <a:cs typeface="Arial"/>
              </a:rPr>
              <a:t> </a:t>
            </a:r>
            <a:r>
              <a:rPr lang="pt-BR" sz="2000" spc="-5" noProof="0" dirty="0">
                <a:latin typeface="Arial"/>
                <a:cs typeface="Arial"/>
              </a:rPr>
              <a:t>(regulação</a:t>
            </a:r>
            <a:r>
              <a:rPr lang="pt-BR" sz="2000" spc="-10" noProof="0" dirty="0">
                <a:latin typeface="Arial"/>
                <a:cs typeface="Arial"/>
              </a:rPr>
              <a:t> </a:t>
            </a:r>
            <a:r>
              <a:rPr lang="pt-BR" sz="2000" noProof="0" dirty="0">
                <a:latin typeface="Arial"/>
                <a:cs typeface="Arial"/>
              </a:rPr>
              <a:t>da</a:t>
            </a:r>
            <a:r>
              <a:rPr lang="pt-BR" sz="2000" spc="-10" noProof="0" dirty="0">
                <a:latin typeface="Arial"/>
                <a:cs typeface="Arial"/>
              </a:rPr>
              <a:t> </a:t>
            </a:r>
            <a:r>
              <a:rPr lang="pt-BR" sz="2000" spc="-5" noProof="0" dirty="0">
                <a:latin typeface="Arial"/>
                <a:cs typeface="Arial"/>
              </a:rPr>
              <a:t>transcrição)</a:t>
            </a:r>
            <a:endParaRPr lang="pt-BR" sz="2000" noProof="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465"/>
              </a:spcBef>
              <a:buChar char="–"/>
              <a:tabLst>
                <a:tab pos="755015" algn="l"/>
                <a:tab pos="755650" algn="l"/>
              </a:tabLst>
            </a:pPr>
            <a:r>
              <a:rPr lang="pt-BR" sz="2000" spc="-5" noProof="0" dirty="0">
                <a:latin typeface="Arial"/>
                <a:cs typeface="Arial"/>
              </a:rPr>
              <a:t>Metagenômica</a:t>
            </a:r>
            <a:r>
              <a:rPr lang="pt-BR" sz="2000" spc="-35" noProof="0" dirty="0">
                <a:latin typeface="Arial"/>
                <a:cs typeface="Arial"/>
              </a:rPr>
              <a:t> </a:t>
            </a:r>
            <a:r>
              <a:rPr lang="pt-BR" sz="2000" noProof="0" dirty="0">
                <a:latin typeface="Arial"/>
                <a:cs typeface="Arial"/>
              </a:rPr>
              <a:t>(diversidade)</a:t>
            </a:r>
          </a:p>
        </p:txBody>
      </p:sp>
    </p:spTree>
    <p:extLst>
      <p:ext uri="{BB962C8B-B14F-4D97-AF65-F5344CB8AC3E}">
        <p14:creationId xmlns:p14="http://schemas.microsoft.com/office/powerpoint/2010/main" val="310072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49747E6-6A2D-394D-A61E-E8C62AD85126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5354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Generalidades</a:t>
            </a:r>
            <a:endParaRPr lang="pt-BR" sz="2400" noProof="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152808C-721E-784A-91F3-906F36B93691}"/>
              </a:ext>
            </a:extLst>
          </p:cNvPr>
          <p:cNvSpPr txBox="1"/>
          <p:nvPr/>
        </p:nvSpPr>
        <p:spPr>
          <a:xfrm>
            <a:off x="331275" y="789279"/>
            <a:ext cx="5103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b="1" spc="-5" noProof="0" dirty="0">
                <a:latin typeface="Arial"/>
                <a:cs typeface="Arial"/>
              </a:rPr>
              <a:t>Qual</a:t>
            </a:r>
            <a:r>
              <a:rPr lang="pt-BR" sz="2400" b="1" spc="-15" noProof="0" dirty="0">
                <a:latin typeface="Arial"/>
                <a:cs typeface="Arial"/>
              </a:rPr>
              <a:t> </a:t>
            </a:r>
            <a:r>
              <a:rPr lang="pt-BR" sz="2400" b="1" spc="-5" noProof="0" dirty="0">
                <a:latin typeface="Arial"/>
                <a:cs typeface="Arial"/>
              </a:rPr>
              <a:t>tipo</a:t>
            </a:r>
            <a:r>
              <a:rPr lang="pt-BR" sz="2400" b="1" spc="-10" noProof="0" dirty="0">
                <a:latin typeface="Arial"/>
                <a:cs typeface="Arial"/>
              </a:rPr>
              <a:t> </a:t>
            </a:r>
            <a:r>
              <a:rPr lang="pt-BR" sz="2400" b="1" spc="-5" noProof="0" dirty="0">
                <a:latin typeface="Arial"/>
                <a:cs typeface="Arial"/>
              </a:rPr>
              <a:t>de amostra precisamos </a:t>
            </a:r>
            <a:r>
              <a:rPr lang="pt-BR" sz="2400" b="1" noProof="0" dirty="0">
                <a:latin typeface="Arial"/>
                <a:cs typeface="Arial"/>
              </a:rPr>
              <a:t>?</a:t>
            </a:r>
            <a:endParaRPr lang="pt-BR" sz="2400" noProof="0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B90938D-0C01-B245-9213-4B41E42BDEE8}"/>
              </a:ext>
            </a:extLst>
          </p:cNvPr>
          <p:cNvSpPr txBox="1"/>
          <p:nvPr/>
        </p:nvSpPr>
        <p:spPr>
          <a:xfrm>
            <a:off x="934529" y="1700808"/>
            <a:ext cx="3240405" cy="1800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398780">
              <a:lnSpc>
                <a:spcPts val="2635"/>
              </a:lnSpc>
              <a:spcBef>
                <a:spcPts val="420"/>
              </a:spcBef>
            </a:pPr>
            <a:r>
              <a:rPr lang="pt-BR" sz="2200" b="1" noProof="0" dirty="0">
                <a:latin typeface="Arial"/>
                <a:cs typeface="Arial"/>
              </a:rPr>
              <a:t>Genoma</a:t>
            </a:r>
            <a:r>
              <a:rPr lang="pt-BR" sz="2200" b="1" spc="-50" noProof="0" dirty="0">
                <a:latin typeface="Arial"/>
                <a:cs typeface="Arial"/>
              </a:rPr>
              <a:t> </a:t>
            </a:r>
            <a:r>
              <a:rPr lang="pt-BR" sz="2200" b="1" noProof="0" dirty="0">
                <a:latin typeface="Arial"/>
                <a:cs typeface="Arial"/>
              </a:rPr>
              <a:t>completo</a:t>
            </a:r>
            <a:endParaRPr lang="pt-BR" sz="2200" noProof="0" dirty="0">
              <a:latin typeface="Arial"/>
              <a:cs typeface="Arial"/>
            </a:endParaRPr>
          </a:p>
          <a:p>
            <a:pPr marL="502920" indent="-176530">
              <a:lnSpc>
                <a:spcPts val="2635"/>
              </a:lnSpc>
              <a:buChar char="•"/>
              <a:tabLst>
                <a:tab pos="503555" algn="l"/>
              </a:tabLst>
            </a:pPr>
            <a:r>
              <a:rPr lang="pt-BR" sz="2200" spc="-5" noProof="0" dirty="0" err="1">
                <a:latin typeface="Arial"/>
                <a:cs typeface="Arial"/>
              </a:rPr>
              <a:t>Resequenciamento</a:t>
            </a:r>
            <a:endParaRPr lang="pt-BR" sz="2200" noProof="0" dirty="0">
              <a:latin typeface="Arial"/>
              <a:cs typeface="Arial"/>
            </a:endParaRPr>
          </a:p>
          <a:p>
            <a:pPr marL="1179195" lvl="1" indent="-176530">
              <a:lnSpc>
                <a:spcPts val="2635"/>
              </a:lnSpc>
              <a:spcBef>
                <a:spcPts val="25"/>
              </a:spcBef>
              <a:buChar char="•"/>
              <a:tabLst>
                <a:tab pos="1179830" algn="l"/>
              </a:tabLst>
            </a:pPr>
            <a:r>
              <a:rPr lang="pt-BR" sz="2200" spc="-5" noProof="0" dirty="0">
                <a:latin typeface="Arial"/>
                <a:cs typeface="Arial"/>
              </a:rPr>
              <a:t>De-novo</a:t>
            </a:r>
            <a:endParaRPr lang="pt-BR" sz="2200" noProof="0" dirty="0">
              <a:latin typeface="Arial"/>
              <a:cs typeface="Arial"/>
            </a:endParaRPr>
          </a:p>
          <a:p>
            <a:pPr marL="962025" indent="-177165">
              <a:lnSpc>
                <a:spcPts val="2635"/>
              </a:lnSpc>
              <a:buChar char="•"/>
              <a:tabLst>
                <a:tab pos="962660" algn="l"/>
              </a:tabLst>
            </a:pPr>
            <a:r>
              <a:rPr lang="pt-BR" sz="2200" spc="-5" noProof="0" dirty="0">
                <a:latin typeface="Arial"/>
                <a:cs typeface="Arial"/>
              </a:rPr>
              <a:t>Direcionado</a:t>
            </a:r>
            <a:endParaRPr lang="pt-BR" sz="2200" noProof="0" dirty="0">
              <a:latin typeface="Arial"/>
              <a:cs typeface="Arial"/>
            </a:endParaRPr>
          </a:p>
          <a:p>
            <a:pPr marL="790575" indent="-177165">
              <a:lnSpc>
                <a:spcPts val="2635"/>
              </a:lnSpc>
              <a:buChar char="•"/>
              <a:tabLst>
                <a:tab pos="791210" algn="l"/>
              </a:tabLst>
            </a:pPr>
            <a:r>
              <a:rPr lang="pt-BR" sz="2200" spc="-5" noProof="0" dirty="0">
                <a:latin typeface="Arial"/>
                <a:cs typeface="Arial"/>
              </a:rPr>
              <a:t>Metagenômica</a:t>
            </a:r>
            <a:endParaRPr lang="pt-BR" sz="2200" noProof="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1BD6CBE-344A-0148-B846-2DDE07623D19}"/>
              </a:ext>
            </a:extLst>
          </p:cNvPr>
          <p:cNvSpPr txBox="1"/>
          <p:nvPr/>
        </p:nvSpPr>
        <p:spPr>
          <a:xfrm>
            <a:off x="934529" y="3717032"/>
            <a:ext cx="3240405" cy="11525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655955">
              <a:lnSpc>
                <a:spcPts val="2635"/>
              </a:lnSpc>
              <a:spcBef>
                <a:spcPts val="509"/>
              </a:spcBef>
            </a:pPr>
            <a:r>
              <a:rPr lang="pt-BR" sz="2200" b="1" spc="-10" noProof="0" dirty="0">
                <a:latin typeface="Arial"/>
                <a:cs typeface="Arial"/>
              </a:rPr>
              <a:t>Transcriptoma</a:t>
            </a:r>
            <a:endParaRPr lang="pt-BR" sz="2200" noProof="0" dirty="0">
              <a:latin typeface="Arial"/>
              <a:cs typeface="Arial"/>
            </a:endParaRPr>
          </a:p>
          <a:p>
            <a:pPr marL="1141095" indent="-176530">
              <a:lnSpc>
                <a:spcPts val="2635"/>
              </a:lnSpc>
              <a:buChar char="•"/>
              <a:tabLst>
                <a:tab pos="1141730" algn="l"/>
              </a:tabLst>
            </a:pPr>
            <a:r>
              <a:rPr lang="pt-BR" sz="2200" spc="-5" noProof="0" dirty="0">
                <a:latin typeface="Arial"/>
                <a:cs typeface="Arial"/>
              </a:rPr>
              <a:t>RNA-</a:t>
            </a:r>
            <a:r>
              <a:rPr lang="pt-BR" sz="2200" spc="-5" noProof="0" dirty="0" err="1">
                <a:latin typeface="Arial"/>
                <a:cs typeface="Arial"/>
              </a:rPr>
              <a:t>seq</a:t>
            </a:r>
            <a:endParaRPr lang="pt-BR" sz="2200" noProof="0" dirty="0">
              <a:latin typeface="Arial"/>
              <a:cs typeface="Arial"/>
            </a:endParaRPr>
          </a:p>
          <a:p>
            <a:pPr marL="441959" indent="-177165">
              <a:lnSpc>
                <a:spcPct val="100000"/>
              </a:lnSpc>
              <a:spcBef>
                <a:spcPts val="25"/>
              </a:spcBef>
              <a:buChar char="•"/>
              <a:tabLst>
                <a:tab pos="442595" algn="l"/>
              </a:tabLst>
            </a:pPr>
            <a:r>
              <a:rPr lang="pt-BR" sz="2200" spc="-5" noProof="0" dirty="0">
                <a:latin typeface="Arial"/>
                <a:cs typeface="Arial"/>
              </a:rPr>
              <a:t>RNA</a:t>
            </a:r>
            <a:r>
              <a:rPr lang="pt-BR" sz="2200" spc="-14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não</a:t>
            </a:r>
            <a:r>
              <a:rPr lang="pt-BR" sz="2200" spc="-15" noProof="0" dirty="0">
                <a:latin typeface="Arial"/>
                <a:cs typeface="Arial"/>
              </a:rPr>
              <a:t> </a:t>
            </a:r>
            <a:r>
              <a:rPr lang="pt-BR" sz="2200" spc="-5" noProof="0" dirty="0">
                <a:latin typeface="Arial"/>
                <a:cs typeface="Arial"/>
              </a:rPr>
              <a:t>codificante</a:t>
            </a:r>
            <a:endParaRPr lang="pt-BR" sz="2200" noProof="0" dirty="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9B34CCB-9BEA-B449-B24A-5E8BF3B9B135}"/>
              </a:ext>
            </a:extLst>
          </p:cNvPr>
          <p:cNvSpPr txBox="1"/>
          <p:nvPr/>
        </p:nvSpPr>
        <p:spPr>
          <a:xfrm>
            <a:off x="934529" y="5157191"/>
            <a:ext cx="3240405" cy="12242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911860">
              <a:lnSpc>
                <a:spcPts val="2635"/>
              </a:lnSpc>
              <a:spcBef>
                <a:spcPts val="790"/>
              </a:spcBef>
            </a:pPr>
            <a:r>
              <a:rPr lang="pt-BR" sz="2200" b="1" noProof="0" dirty="0">
                <a:latin typeface="Arial"/>
                <a:cs typeface="Arial"/>
              </a:rPr>
              <a:t>Regulação</a:t>
            </a:r>
            <a:endParaRPr lang="pt-BR" sz="2200" noProof="0" dirty="0">
              <a:latin typeface="Arial"/>
              <a:cs typeface="Arial"/>
            </a:endParaRPr>
          </a:p>
          <a:p>
            <a:pPr marL="1109345" indent="-176530">
              <a:lnSpc>
                <a:spcPts val="2635"/>
              </a:lnSpc>
              <a:buChar char="•"/>
              <a:tabLst>
                <a:tab pos="1109980" algn="l"/>
              </a:tabLst>
            </a:pPr>
            <a:r>
              <a:rPr lang="pt-BR" sz="2200" spc="-5" noProof="0" dirty="0">
                <a:latin typeface="Arial"/>
                <a:cs typeface="Arial"/>
              </a:rPr>
              <a:t>Metilação</a:t>
            </a:r>
            <a:endParaRPr lang="pt-BR" sz="2200" noProof="0" dirty="0">
              <a:latin typeface="Arial"/>
              <a:cs typeface="Arial"/>
            </a:endParaRPr>
          </a:p>
          <a:p>
            <a:pPr marL="1102360" indent="-177165">
              <a:lnSpc>
                <a:spcPct val="100000"/>
              </a:lnSpc>
              <a:spcBef>
                <a:spcPts val="30"/>
              </a:spcBef>
              <a:buChar char="•"/>
              <a:tabLst>
                <a:tab pos="1102995" algn="l"/>
              </a:tabLst>
            </a:pPr>
            <a:r>
              <a:rPr lang="pt-BR" sz="2200" spc="-5" noProof="0" dirty="0" err="1">
                <a:latin typeface="Arial"/>
                <a:cs typeface="Arial"/>
              </a:rPr>
              <a:t>ChIP-Seq</a:t>
            </a:r>
            <a:endParaRPr lang="pt-BR" sz="2200" noProof="0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A10E3C1-C295-3E4C-99EB-8DC6646B4933}"/>
              </a:ext>
            </a:extLst>
          </p:cNvPr>
          <p:cNvSpPr txBox="1"/>
          <p:nvPr/>
        </p:nvSpPr>
        <p:spPr>
          <a:xfrm>
            <a:off x="4466630" y="2410039"/>
            <a:ext cx="287718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200" b="1" spc="-5" noProof="0" dirty="0">
                <a:latin typeface="Arial"/>
                <a:cs typeface="Arial"/>
              </a:rPr>
              <a:t>DNA</a:t>
            </a:r>
            <a:r>
              <a:rPr lang="pt-BR" sz="2200" b="1" spc="-95" noProof="0" dirty="0">
                <a:latin typeface="Arial"/>
                <a:cs typeface="Arial"/>
              </a:rPr>
              <a:t> </a:t>
            </a:r>
            <a:r>
              <a:rPr lang="pt-BR" sz="2200" b="1" noProof="0" dirty="0">
                <a:latin typeface="Arial"/>
                <a:cs typeface="Arial"/>
              </a:rPr>
              <a:t>(total</a:t>
            </a:r>
            <a:r>
              <a:rPr lang="pt-BR" sz="2200" b="1" spc="-15" noProof="0" dirty="0">
                <a:latin typeface="Arial"/>
                <a:cs typeface="Arial"/>
              </a:rPr>
              <a:t> </a:t>
            </a:r>
            <a:r>
              <a:rPr lang="pt-BR" sz="2200" b="1" noProof="0" dirty="0">
                <a:latin typeface="Arial"/>
                <a:cs typeface="Arial"/>
              </a:rPr>
              <a:t>ou</a:t>
            </a:r>
            <a:r>
              <a:rPr lang="pt-BR" sz="2200" b="1" spc="-5" noProof="0" dirty="0">
                <a:latin typeface="Arial"/>
                <a:cs typeface="Arial"/>
              </a:rPr>
              <a:t> parcial)</a:t>
            </a:r>
            <a:endParaRPr lang="pt-BR" sz="2200" noProof="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1DB20E2-DFF7-7F42-BCBC-58D43F882936}"/>
              </a:ext>
            </a:extLst>
          </p:cNvPr>
          <p:cNvSpPr txBox="1"/>
          <p:nvPr/>
        </p:nvSpPr>
        <p:spPr>
          <a:xfrm>
            <a:off x="4505102" y="4102228"/>
            <a:ext cx="280098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200" b="1" spc="-5" noProof="0" dirty="0">
                <a:latin typeface="Arial"/>
                <a:cs typeface="Arial"/>
              </a:rPr>
              <a:t>RNA</a:t>
            </a:r>
            <a:r>
              <a:rPr lang="pt-BR" sz="2200" b="1" spc="-105" noProof="0" dirty="0">
                <a:latin typeface="Arial"/>
                <a:cs typeface="Arial"/>
              </a:rPr>
              <a:t> </a:t>
            </a:r>
            <a:r>
              <a:rPr lang="pt-BR" sz="2200" b="1" noProof="0" dirty="0">
                <a:latin typeface="Arial"/>
                <a:cs typeface="Arial"/>
              </a:rPr>
              <a:t>(total</a:t>
            </a:r>
            <a:r>
              <a:rPr lang="pt-BR" sz="2200" b="1" spc="-15" noProof="0" dirty="0">
                <a:latin typeface="Arial"/>
                <a:cs typeface="Arial"/>
              </a:rPr>
              <a:t> </a:t>
            </a:r>
            <a:r>
              <a:rPr lang="pt-BR" sz="2200" b="1" noProof="0" dirty="0">
                <a:latin typeface="Arial"/>
                <a:cs typeface="Arial"/>
              </a:rPr>
              <a:t>ou</a:t>
            </a:r>
            <a:r>
              <a:rPr lang="pt-BR" sz="2200" b="1" spc="-15" noProof="0" dirty="0">
                <a:latin typeface="Arial"/>
                <a:cs typeface="Arial"/>
              </a:rPr>
              <a:t> </a:t>
            </a:r>
            <a:r>
              <a:rPr lang="pt-BR" sz="2200" b="1" noProof="0" dirty="0">
                <a:latin typeface="Arial"/>
                <a:cs typeface="Arial"/>
              </a:rPr>
              <a:t>tecido)</a:t>
            </a:r>
            <a:endParaRPr lang="pt-BR" sz="2200" noProof="0" dirty="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3F0B2FB-D66F-1F45-8D16-8F6F7870BA27}"/>
              </a:ext>
            </a:extLst>
          </p:cNvPr>
          <p:cNvSpPr txBox="1"/>
          <p:nvPr/>
        </p:nvSpPr>
        <p:spPr>
          <a:xfrm>
            <a:off x="4505102" y="5373396"/>
            <a:ext cx="2204720" cy="69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pt-BR" sz="2200" b="1" noProof="0" dirty="0">
                <a:latin typeface="Arial"/>
                <a:cs typeface="Arial"/>
              </a:rPr>
              <a:t>Proteína – </a:t>
            </a:r>
            <a:r>
              <a:rPr lang="pt-BR" sz="2200" b="1" spc="-5" noProof="0" dirty="0">
                <a:latin typeface="Arial"/>
                <a:cs typeface="Arial"/>
              </a:rPr>
              <a:t>DNA </a:t>
            </a:r>
            <a:r>
              <a:rPr lang="pt-BR" sz="2200" b="1" noProof="0" dirty="0">
                <a:latin typeface="Arial"/>
                <a:cs typeface="Arial"/>
              </a:rPr>
              <a:t> (total</a:t>
            </a:r>
            <a:r>
              <a:rPr lang="pt-BR" sz="2200" b="1" spc="-30" noProof="0" dirty="0">
                <a:latin typeface="Arial"/>
                <a:cs typeface="Arial"/>
              </a:rPr>
              <a:t> </a:t>
            </a:r>
            <a:r>
              <a:rPr lang="pt-BR" sz="2200" b="1" noProof="0" dirty="0">
                <a:latin typeface="Arial"/>
                <a:cs typeface="Arial"/>
              </a:rPr>
              <a:t>ou</a:t>
            </a:r>
            <a:r>
              <a:rPr lang="pt-BR" sz="2200" b="1" spc="-25" noProof="0" dirty="0">
                <a:latin typeface="Arial"/>
                <a:cs typeface="Arial"/>
              </a:rPr>
              <a:t> </a:t>
            </a:r>
            <a:r>
              <a:rPr lang="pt-BR" sz="2200" b="1" spc="-5" noProof="0" dirty="0">
                <a:latin typeface="Arial"/>
                <a:cs typeface="Arial"/>
              </a:rPr>
              <a:t>parcial)</a:t>
            </a:r>
            <a:endParaRPr lang="pt-BR" sz="22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8996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960300-A865-FF41-9B6D-7A882F144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214" y="0"/>
            <a:ext cx="6147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113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B66200-8011-5443-8C47-6E29587BC5D7}"/>
              </a:ext>
            </a:extLst>
          </p:cNvPr>
          <p:cNvSpPr txBox="1">
            <a:spLocks/>
          </p:cNvSpPr>
          <p:nvPr/>
        </p:nvSpPr>
        <p:spPr>
          <a:xfrm>
            <a:off x="159456" y="1540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Marcadores filogenéticos</a:t>
            </a:r>
            <a:endParaRPr lang="pt-BR" sz="34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2F66A51F-5B6C-AF4E-AC3E-71DBED590488}"/>
              </a:ext>
            </a:extLst>
          </p:cNvPr>
          <p:cNvGrpSpPr/>
          <p:nvPr/>
        </p:nvGrpSpPr>
        <p:grpSpPr>
          <a:xfrm>
            <a:off x="10859770" y="0"/>
            <a:ext cx="1332230" cy="6858000"/>
            <a:chOff x="7812359" y="1"/>
            <a:chExt cx="1332230" cy="685800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6250ED0-3245-EC44-B8D6-717785E8D66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2359" y="1"/>
              <a:ext cx="1331640" cy="3645023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44E5D13-DE98-A845-BF0A-BAEE5A446E2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359" y="3645023"/>
              <a:ext cx="1316969" cy="1872208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EB96E7F-AA97-5A47-908C-4233FF29E6D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2359" y="5499392"/>
              <a:ext cx="1331639" cy="1358607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EEC35CD-E8A5-994F-A317-A90460B97302}"/>
              </a:ext>
            </a:extLst>
          </p:cNvPr>
          <p:cNvSpPr txBox="1"/>
          <p:nvPr/>
        </p:nvSpPr>
        <p:spPr>
          <a:xfrm>
            <a:off x="516368" y="1222346"/>
            <a:ext cx="10175078" cy="368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sz="2400" noProof="0" dirty="0"/>
              <a:t>Obtenção de marcadores genéticos (genes, regiões não codificantes, </a:t>
            </a:r>
            <a:r>
              <a:rPr lang="pt-BR" sz="2400" noProof="0" dirty="0" err="1"/>
              <a:t>etc</a:t>
            </a:r>
            <a:r>
              <a:rPr lang="pt-BR" sz="2400" noProof="0" dirty="0"/>
              <a:t>) que: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400" noProof="0" dirty="0"/>
              <a:t>Sejam homólogos (compartilhem uma mesma história evolutiva)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400" noProof="0" dirty="0"/>
              <a:t>Tenham apenas uma (ou poucas) cópia no genoma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400" noProof="0" dirty="0"/>
              <a:t>Tenham diferenças entre as sequências (mutações) o suficiente para esclarecer as relações filogenéticas</a:t>
            </a:r>
          </a:p>
        </p:txBody>
      </p:sp>
    </p:spTree>
    <p:extLst>
      <p:ext uri="{BB962C8B-B14F-4D97-AF65-F5344CB8AC3E}">
        <p14:creationId xmlns:p14="http://schemas.microsoft.com/office/powerpoint/2010/main" val="1428265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2F66A51F-5B6C-AF4E-AC3E-71DBED590488}"/>
              </a:ext>
            </a:extLst>
          </p:cNvPr>
          <p:cNvGrpSpPr/>
          <p:nvPr/>
        </p:nvGrpSpPr>
        <p:grpSpPr>
          <a:xfrm>
            <a:off x="10859770" y="0"/>
            <a:ext cx="1332230" cy="6858000"/>
            <a:chOff x="7812359" y="1"/>
            <a:chExt cx="1332230" cy="685800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6250ED0-3245-EC44-B8D6-717785E8D66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2359" y="1"/>
              <a:ext cx="1331640" cy="3645023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44E5D13-DE98-A845-BF0A-BAEE5A446E2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359" y="3645023"/>
              <a:ext cx="1316969" cy="1872208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EB96E7F-AA97-5A47-908C-4233FF29E6D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2359" y="5499392"/>
              <a:ext cx="1331639" cy="1358607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EEC35CD-E8A5-994F-A317-A90460B97302}"/>
              </a:ext>
            </a:extLst>
          </p:cNvPr>
          <p:cNvSpPr txBox="1"/>
          <p:nvPr/>
        </p:nvSpPr>
        <p:spPr>
          <a:xfrm>
            <a:off x="516368" y="1222346"/>
            <a:ext cx="9133242" cy="428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sz="2800" noProof="0" dirty="0"/>
              <a:t>Três métodos principais: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/>
              <a:t>Genome </a:t>
            </a:r>
            <a:r>
              <a:rPr lang="pt-BR" sz="2800" noProof="0" dirty="0" err="1"/>
              <a:t>skimming</a:t>
            </a:r>
            <a:endParaRPr lang="pt-BR" sz="2800" noProof="0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/>
              <a:t>Target capture, </a:t>
            </a:r>
            <a:r>
              <a:rPr lang="pt-BR" sz="2800" noProof="0" dirty="0" err="1"/>
              <a:t>HybSeq</a:t>
            </a:r>
            <a:endParaRPr lang="pt-BR" sz="2800" noProof="0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/>
              <a:t>Transcriptoma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endParaRPr lang="pt-BR" sz="2800" noProof="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0503F5E2-C3AF-282A-B359-D3E52927BCD3}"/>
              </a:ext>
            </a:extLst>
          </p:cNvPr>
          <p:cNvSpPr txBox="1">
            <a:spLocks/>
          </p:cNvSpPr>
          <p:nvPr/>
        </p:nvSpPr>
        <p:spPr>
          <a:xfrm>
            <a:off x="159456" y="1540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Marcadores filogenéticos</a:t>
            </a:r>
            <a:endParaRPr lang="pt-BR" sz="3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8163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B66200-8011-5443-8C47-6E29587BC5D7}"/>
              </a:ext>
            </a:extLst>
          </p:cNvPr>
          <p:cNvSpPr txBox="1">
            <a:spLocks/>
          </p:cNvSpPr>
          <p:nvPr/>
        </p:nvSpPr>
        <p:spPr>
          <a:xfrm>
            <a:off x="159456" y="1540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NGS e filogenia</a:t>
            </a:r>
            <a:endParaRPr lang="pt-BR" sz="34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2F66A51F-5B6C-AF4E-AC3E-71DBED590488}"/>
              </a:ext>
            </a:extLst>
          </p:cNvPr>
          <p:cNvGrpSpPr/>
          <p:nvPr/>
        </p:nvGrpSpPr>
        <p:grpSpPr>
          <a:xfrm>
            <a:off x="10859770" y="0"/>
            <a:ext cx="1332230" cy="6858000"/>
            <a:chOff x="7812359" y="1"/>
            <a:chExt cx="1332230" cy="685800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6250ED0-3245-EC44-B8D6-717785E8D66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2359" y="1"/>
              <a:ext cx="1331640" cy="3645023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44E5D13-DE98-A845-BF0A-BAEE5A446E2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359" y="3645023"/>
              <a:ext cx="1316969" cy="1872208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EB96E7F-AA97-5A47-908C-4233FF29E6D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2359" y="5499392"/>
              <a:ext cx="1331639" cy="1358607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EEC35CD-E8A5-994F-A317-A90460B97302}"/>
              </a:ext>
            </a:extLst>
          </p:cNvPr>
          <p:cNvSpPr txBox="1"/>
          <p:nvPr/>
        </p:nvSpPr>
        <p:spPr>
          <a:xfrm>
            <a:off x="516368" y="1222346"/>
            <a:ext cx="9133242" cy="428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sz="2800" noProof="0" dirty="0"/>
              <a:t>Três métodos principais: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/>
              <a:t>Genome </a:t>
            </a:r>
            <a:r>
              <a:rPr lang="pt-BR" sz="2800" noProof="0" dirty="0" err="1"/>
              <a:t>skimming</a:t>
            </a:r>
            <a:endParaRPr lang="pt-BR" sz="2800" noProof="0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>
                <a:solidFill>
                  <a:schemeClr val="bg2">
                    <a:lumMod val="90000"/>
                  </a:schemeClr>
                </a:solidFill>
              </a:rPr>
              <a:t>Target capture, </a:t>
            </a:r>
            <a:r>
              <a:rPr lang="pt-BR" sz="2800" noProof="0" dirty="0" err="1">
                <a:solidFill>
                  <a:schemeClr val="bg2">
                    <a:lumMod val="90000"/>
                  </a:schemeClr>
                </a:solidFill>
              </a:rPr>
              <a:t>HybSeq</a:t>
            </a:r>
            <a:endParaRPr lang="pt-BR" sz="2800" noProof="0" dirty="0">
              <a:solidFill>
                <a:schemeClr val="bg2">
                  <a:lumMod val="90000"/>
                </a:schemeClr>
              </a:solidFill>
            </a:endParaRP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>
                <a:solidFill>
                  <a:schemeClr val="bg2">
                    <a:lumMod val="90000"/>
                  </a:schemeClr>
                </a:solidFill>
              </a:rPr>
              <a:t>Transcriptoma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endParaRPr lang="pt-BR" sz="2800" noProof="0" dirty="0"/>
          </a:p>
        </p:txBody>
      </p:sp>
    </p:spTree>
    <p:extLst>
      <p:ext uri="{BB962C8B-B14F-4D97-AF65-F5344CB8AC3E}">
        <p14:creationId xmlns:p14="http://schemas.microsoft.com/office/powerpoint/2010/main" val="358386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AFBDCE8-1ABE-9241-ACA3-7E9FE18236B0}"/>
              </a:ext>
            </a:extLst>
          </p:cNvPr>
          <p:cNvSpPr txBox="1">
            <a:spLocks/>
          </p:cNvSpPr>
          <p:nvPr/>
        </p:nvSpPr>
        <p:spPr>
          <a:xfrm>
            <a:off x="159456" y="1540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Genome </a:t>
            </a:r>
            <a:r>
              <a:rPr lang="pt-BR" sz="3400" spc="-5" noProof="0" dirty="0" err="1">
                <a:solidFill>
                  <a:srgbClr val="000000"/>
                </a:solidFill>
                <a:latin typeface="Arial"/>
                <a:cs typeface="Arial"/>
              </a:rPr>
              <a:t>skimming</a:t>
            </a:r>
            <a:endParaRPr lang="pt-BR" sz="3400" noProof="0" dirty="0"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CAB8F-7A6E-6E45-B6D4-5536B9DAEABC}"/>
              </a:ext>
            </a:extLst>
          </p:cNvPr>
          <p:cNvSpPr txBox="1"/>
          <p:nvPr/>
        </p:nvSpPr>
        <p:spPr>
          <a:xfrm>
            <a:off x="522012" y="697607"/>
            <a:ext cx="9688787" cy="308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sz="2000" noProof="0" dirty="0"/>
              <a:t>Às vezes chamado de </a:t>
            </a:r>
            <a:r>
              <a:rPr lang="pt-BR" sz="2000" noProof="0" dirty="0" err="1"/>
              <a:t>shotgun</a:t>
            </a:r>
            <a:r>
              <a:rPr lang="pt-BR" sz="2000" noProof="0" dirty="0"/>
              <a:t> </a:t>
            </a:r>
            <a:r>
              <a:rPr lang="pt-BR" sz="2000" noProof="0" dirty="0" err="1"/>
              <a:t>sequencing</a:t>
            </a:r>
            <a:endParaRPr lang="pt-BR" sz="2000" noProof="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sz="2000" noProof="0" dirty="0"/>
              <a:t>Sequenciamento de pouca profundidade de um genoma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sz="2000" b="1" noProof="0" dirty="0"/>
              <a:t>Sem seleção prévia de marcadores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sz="2000" noProof="0" dirty="0"/>
              <a:t>Obtenção da porção de </a:t>
            </a:r>
            <a:r>
              <a:rPr lang="pt-BR" sz="2000" b="1" noProof="0" dirty="0"/>
              <a:t>alta-cópia</a:t>
            </a:r>
            <a:r>
              <a:rPr lang="pt-BR" sz="2000" noProof="0" dirty="0"/>
              <a:t> do genoma: DNA ribossomal, genoma mitocondrial, genoma </a:t>
            </a:r>
            <a:r>
              <a:rPr lang="pt-BR" sz="2000" noProof="0" dirty="0" err="1"/>
              <a:t>plastidial</a:t>
            </a:r>
            <a:r>
              <a:rPr lang="pt-BR" sz="2000" noProof="0" dirty="0"/>
              <a:t>, microssatélites, </a:t>
            </a:r>
            <a:r>
              <a:rPr lang="pt-BR" sz="2000" noProof="0" dirty="0" err="1"/>
              <a:t>transposons</a:t>
            </a:r>
            <a:endParaRPr lang="pt-BR" sz="20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3C7B2C-78DE-0F40-81AA-2144F6CBB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954" y="3546586"/>
            <a:ext cx="4443046" cy="331141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1EABDF9-0A78-914E-9E45-BCD15E027BE5}"/>
              </a:ext>
            </a:extLst>
          </p:cNvPr>
          <p:cNvSpPr/>
          <p:nvPr/>
        </p:nvSpPr>
        <p:spPr>
          <a:xfrm rot="434600">
            <a:off x="9385841" y="3701539"/>
            <a:ext cx="621323" cy="146744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EF9EE9-C14E-CD40-BE23-AC74822A1A59}"/>
              </a:ext>
            </a:extLst>
          </p:cNvPr>
          <p:cNvSpPr/>
          <p:nvPr/>
        </p:nvSpPr>
        <p:spPr>
          <a:xfrm rot="19619149">
            <a:off x="10039858" y="3598619"/>
            <a:ext cx="892527" cy="167628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8C705A-AC69-EE42-9EB1-879FC1531C0B}"/>
              </a:ext>
            </a:extLst>
          </p:cNvPr>
          <p:cNvSpPr txBox="1"/>
          <p:nvPr/>
        </p:nvSpPr>
        <p:spPr>
          <a:xfrm>
            <a:off x="522012" y="3668225"/>
            <a:ext cx="6757004" cy="246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pt-BR" sz="2000" noProof="0" dirty="0"/>
              <a:t>Número de amostras no </a:t>
            </a:r>
            <a:r>
              <a:rPr lang="pt-BR" sz="2000" noProof="0" dirty="0" err="1"/>
              <a:t>multiplexing</a:t>
            </a:r>
            <a:r>
              <a:rPr lang="pt-BR" sz="2000" noProof="0" dirty="0"/>
              <a:t> vai determinar a </a:t>
            </a:r>
            <a:r>
              <a:rPr lang="pt-BR" sz="2000" b="1" noProof="0" dirty="0"/>
              <a:t>profundidade</a:t>
            </a:r>
            <a:r>
              <a:rPr lang="pt-BR" sz="2000" noProof="0" dirty="0"/>
              <a:t> do sequenciamento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pt-BR" sz="2000" noProof="0" dirty="0"/>
              <a:t>Cobertura: número de vezes que uma determinada base é sequenciada</a:t>
            </a:r>
          </a:p>
        </p:txBody>
      </p:sp>
    </p:spTree>
    <p:extLst>
      <p:ext uri="{BB962C8B-B14F-4D97-AF65-F5344CB8AC3E}">
        <p14:creationId xmlns:p14="http://schemas.microsoft.com/office/powerpoint/2010/main" val="2877101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362A38-E428-8747-B448-E91C57B058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58"/>
          <a:stretch/>
        </p:blipFill>
        <p:spPr>
          <a:xfrm>
            <a:off x="5240214" y="3571039"/>
            <a:ext cx="6799385" cy="32869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1A58A0-010E-934E-ADE1-4BB134B18D99}"/>
              </a:ext>
            </a:extLst>
          </p:cNvPr>
          <p:cNvSpPr txBox="1"/>
          <p:nvPr/>
        </p:nvSpPr>
        <p:spPr>
          <a:xfrm>
            <a:off x="199292" y="-94535"/>
            <a:ext cx="9133242" cy="123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sz="2000" noProof="0" dirty="0"/>
              <a:t>Método laboratorial: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000" noProof="0" dirty="0"/>
              <a:t>Apenas preparação das bibliotecas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92C90D-150E-4A43-A637-C07377431072}"/>
              </a:ext>
            </a:extLst>
          </p:cNvPr>
          <p:cNvSpPr txBox="1"/>
          <p:nvPr/>
        </p:nvSpPr>
        <p:spPr>
          <a:xfrm>
            <a:off x="-199292" y="1336176"/>
            <a:ext cx="9848145" cy="2468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000" noProof="0" dirty="0"/>
              <a:t>Processamento dos dados:</a:t>
            </a:r>
          </a:p>
          <a:p>
            <a:pPr marL="1200150" lvl="2" indent="-285750">
              <a:lnSpc>
                <a:spcPct val="200000"/>
              </a:lnSpc>
              <a:buFontTx/>
              <a:buChar char="-"/>
            </a:pPr>
            <a:r>
              <a:rPr lang="pt-BR" sz="2000" noProof="0" dirty="0"/>
              <a:t>Montagem das regiões sequenciadas do genoma </a:t>
            </a:r>
          </a:p>
          <a:p>
            <a:pPr marL="1657350" lvl="3" indent="-285750">
              <a:lnSpc>
                <a:spcPct val="200000"/>
              </a:lnSpc>
              <a:buFontTx/>
              <a:buChar char="-"/>
            </a:pPr>
            <a:r>
              <a:rPr lang="pt-BR" sz="2000" noProof="0" dirty="0"/>
              <a:t>Usando uma referência (genoma correspondente de um organismo próximo)</a:t>
            </a:r>
          </a:p>
          <a:p>
            <a:pPr marL="1657350" lvl="3" indent="-285750">
              <a:lnSpc>
                <a:spcPct val="200000"/>
              </a:lnSpc>
              <a:buFontTx/>
              <a:buChar char="-"/>
            </a:pPr>
            <a:r>
              <a:rPr lang="pt-BR" sz="2000" noProof="0" dirty="0"/>
              <a:t>Montagem </a:t>
            </a:r>
            <a:r>
              <a:rPr lang="pt-BR" sz="2000" i="1" noProof="0" dirty="0"/>
              <a:t>de novo </a:t>
            </a:r>
            <a:r>
              <a:rPr lang="pt-BR" sz="2000" noProof="0" dirty="0"/>
              <a:t>(sem referência)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33900D-ED68-CE4D-AE9B-116FEFA390F6}"/>
              </a:ext>
            </a:extLst>
          </p:cNvPr>
          <p:cNvSpPr txBox="1"/>
          <p:nvPr/>
        </p:nvSpPr>
        <p:spPr>
          <a:xfrm>
            <a:off x="266700" y="3963248"/>
            <a:ext cx="5219700" cy="185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sz="2000" noProof="0" dirty="0"/>
              <a:t>Alinhamento das regiões sequenciadas e uso em análises filogenéticas 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pt-BR" sz="2000" noProof="0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AC3872DE-0B2D-D141-BDD6-86ACF46FA14D}"/>
              </a:ext>
            </a:extLst>
          </p:cNvPr>
          <p:cNvSpPr txBox="1">
            <a:spLocks/>
          </p:cNvSpPr>
          <p:nvPr/>
        </p:nvSpPr>
        <p:spPr>
          <a:xfrm>
            <a:off x="6233794" y="-94535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Genome </a:t>
            </a:r>
            <a:r>
              <a:rPr lang="pt-BR" sz="3400" spc="-5" noProof="0" dirty="0" err="1">
                <a:solidFill>
                  <a:srgbClr val="000000"/>
                </a:solidFill>
                <a:latin typeface="Arial"/>
                <a:cs typeface="Arial"/>
              </a:rPr>
              <a:t>skimming</a:t>
            </a:r>
            <a:endParaRPr lang="pt-BR" sz="3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926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CC3921D-CAAF-4847-B2F8-2A2964D0CD76}"/>
              </a:ext>
            </a:extLst>
          </p:cNvPr>
          <p:cNvGrpSpPr/>
          <p:nvPr/>
        </p:nvGrpSpPr>
        <p:grpSpPr>
          <a:xfrm>
            <a:off x="0" y="812800"/>
            <a:ext cx="9144000" cy="6045200"/>
            <a:chOff x="0" y="812800"/>
            <a:chExt cx="9144000" cy="60452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2C874ECE-0344-1E47-B0AD-20F538D2069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293095"/>
              <a:ext cx="3635896" cy="2564904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24C3DF4-FCCB-274E-B436-9810A811D92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102385"/>
              <a:ext cx="3563887" cy="3239898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9C55A772-6B15-5949-A46D-B413F5022DD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63379" y="2393504"/>
              <a:ext cx="5580620" cy="4464495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34CBC577-8252-6841-815E-F3F53C60B01A}"/>
              </a:ext>
            </a:extLst>
          </p:cNvPr>
          <p:cNvSpPr txBox="1"/>
          <p:nvPr/>
        </p:nvSpPr>
        <p:spPr>
          <a:xfrm>
            <a:off x="3930660" y="1505103"/>
            <a:ext cx="48056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200" b="1" spc="-50" noProof="0" dirty="0">
                <a:latin typeface="Arial"/>
                <a:cs typeface="Arial"/>
              </a:rPr>
              <a:t>Três</a:t>
            </a:r>
            <a:r>
              <a:rPr lang="pt-BR" sz="3200" b="1" spc="-30" noProof="0" dirty="0">
                <a:latin typeface="Arial"/>
                <a:cs typeface="Arial"/>
              </a:rPr>
              <a:t> </a:t>
            </a:r>
            <a:r>
              <a:rPr lang="pt-BR" sz="3200" b="1" spc="-5" noProof="0" dirty="0">
                <a:latin typeface="Arial"/>
                <a:cs typeface="Arial"/>
              </a:rPr>
              <a:t>genomas</a:t>
            </a:r>
            <a:r>
              <a:rPr lang="pt-BR" sz="3200" b="1" spc="-25" noProof="0" dirty="0">
                <a:latin typeface="Arial"/>
                <a:cs typeface="Arial"/>
              </a:rPr>
              <a:t> </a:t>
            </a:r>
            <a:r>
              <a:rPr lang="pt-BR" sz="3200" b="1" spc="-30" noProof="0" dirty="0">
                <a:latin typeface="Arial"/>
                <a:cs typeface="Arial"/>
              </a:rPr>
              <a:t> </a:t>
            </a:r>
            <a:r>
              <a:rPr lang="pt-BR" sz="3200" b="1" spc="-10" noProof="0" dirty="0">
                <a:latin typeface="Arial"/>
                <a:cs typeface="Arial"/>
              </a:rPr>
              <a:t>explorar</a:t>
            </a:r>
            <a:endParaRPr lang="pt-BR" sz="3200" noProof="0" dirty="0">
              <a:latin typeface="Arial"/>
              <a:cs typeface="Arial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11A9C470-C8D5-5341-90A8-91ED478F1CDE}"/>
              </a:ext>
            </a:extLst>
          </p:cNvPr>
          <p:cNvSpPr txBox="1">
            <a:spLocks/>
          </p:cNvSpPr>
          <p:nvPr/>
        </p:nvSpPr>
        <p:spPr>
          <a:xfrm>
            <a:off x="0" y="-17191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Genome </a:t>
            </a:r>
            <a:r>
              <a:rPr lang="pt-BR" sz="3400" spc="-5" noProof="0" dirty="0" err="1">
                <a:solidFill>
                  <a:srgbClr val="000000"/>
                </a:solidFill>
                <a:latin typeface="Arial"/>
                <a:cs typeface="Arial"/>
              </a:rPr>
              <a:t>skimming</a:t>
            </a:r>
            <a:endParaRPr lang="pt-BR" sz="3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5469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3AA38EEB-38FD-4E48-9A19-65B1CF76BEB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5614" y="601267"/>
            <a:ext cx="5345062" cy="50794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148902DD-9F8C-2847-AC0A-95518AA3FFDB}"/>
              </a:ext>
            </a:extLst>
          </p:cNvPr>
          <p:cNvSpPr txBox="1"/>
          <p:nvPr/>
        </p:nvSpPr>
        <p:spPr>
          <a:xfrm>
            <a:off x="154942" y="759661"/>
            <a:ext cx="4291330" cy="4601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b="1" spc="-5" noProof="0" dirty="0">
                <a:latin typeface="Arial"/>
                <a:cs typeface="Arial"/>
              </a:rPr>
              <a:t>Genoma</a:t>
            </a:r>
            <a:r>
              <a:rPr lang="pt-BR" sz="2400" b="1" spc="-15" noProof="0" dirty="0">
                <a:latin typeface="Arial"/>
                <a:cs typeface="Arial"/>
              </a:rPr>
              <a:t> </a:t>
            </a:r>
            <a:r>
              <a:rPr lang="pt-BR" sz="2400" b="1" spc="-5" noProof="0" dirty="0">
                <a:latin typeface="Arial"/>
                <a:cs typeface="Arial"/>
              </a:rPr>
              <a:t>mitocondrial</a:t>
            </a:r>
            <a:r>
              <a:rPr lang="pt-BR" sz="2400" b="1" spc="-15" noProof="0" dirty="0">
                <a:latin typeface="Arial"/>
                <a:cs typeface="Arial"/>
              </a:rPr>
              <a:t> </a:t>
            </a:r>
            <a:r>
              <a:rPr lang="pt-BR" sz="2400" b="1" spc="-5" noProof="0" dirty="0">
                <a:latin typeface="Arial"/>
                <a:cs typeface="Arial"/>
              </a:rPr>
              <a:t>vegetal</a:t>
            </a:r>
            <a:endParaRPr lang="pt-BR" sz="24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pt-BR" sz="2900" noProof="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pt-BR" sz="2200" spc="-30" noProof="0" dirty="0">
                <a:latin typeface="Arial"/>
                <a:cs typeface="Arial"/>
              </a:rPr>
              <a:t>Tamanho:</a:t>
            </a:r>
            <a:r>
              <a:rPr lang="pt-BR" sz="2200" spc="-2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200</a:t>
            </a:r>
            <a:r>
              <a:rPr lang="pt-BR" sz="2200" spc="-2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a</a:t>
            </a:r>
            <a:r>
              <a:rPr lang="pt-BR" sz="2200" spc="-2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2000</a:t>
            </a:r>
            <a:r>
              <a:rPr lang="pt-BR" sz="2200" spc="-20" noProof="0" dirty="0">
                <a:latin typeface="Arial"/>
                <a:cs typeface="Arial"/>
              </a:rPr>
              <a:t> </a:t>
            </a:r>
            <a:r>
              <a:rPr lang="pt-BR" sz="2200" noProof="0" dirty="0" err="1">
                <a:latin typeface="Arial"/>
                <a:cs typeface="Arial"/>
              </a:rPr>
              <a:t>kb</a:t>
            </a:r>
            <a:endParaRPr lang="pt-BR" sz="22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lang="pt-BR" sz="2300" noProof="0" dirty="0">
              <a:latin typeface="Arial"/>
              <a:cs typeface="Arial"/>
            </a:endParaRPr>
          </a:p>
          <a:p>
            <a:pPr marL="12700">
              <a:lnSpc>
                <a:spcPts val="2635"/>
              </a:lnSpc>
            </a:pPr>
            <a:r>
              <a:rPr lang="pt-BR" sz="2200" noProof="0" dirty="0">
                <a:latin typeface="Arial"/>
                <a:cs typeface="Arial"/>
              </a:rPr>
              <a:t>50-60</a:t>
            </a:r>
            <a:r>
              <a:rPr lang="pt-BR" sz="2200" spc="-25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genes</a:t>
            </a:r>
            <a:r>
              <a:rPr lang="pt-BR" sz="2200" spc="-2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(34-41</a:t>
            </a:r>
            <a:r>
              <a:rPr lang="pt-BR" sz="2200" spc="-25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proteínas,</a:t>
            </a:r>
            <a:r>
              <a:rPr lang="pt-BR" sz="2200" spc="-2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3-7</a:t>
            </a:r>
          </a:p>
          <a:p>
            <a:pPr marL="12700">
              <a:lnSpc>
                <a:spcPts val="2635"/>
              </a:lnSpc>
            </a:pPr>
            <a:r>
              <a:rPr lang="pt-BR" sz="2200" spc="-5" noProof="0" dirty="0" err="1">
                <a:latin typeface="Arial"/>
                <a:cs typeface="Arial"/>
              </a:rPr>
              <a:t>rRNA</a:t>
            </a:r>
            <a:r>
              <a:rPr lang="pt-BR" sz="2200" spc="-5" noProof="0" dirty="0">
                <a:latin typeface="Arial"/>
                <a:cs typeface="Arial"/>
              </a:rPr>
              <a:t>,</a:t>
            </a:r>
            <a:r>
              <a:rPr lang="pt-BR" sz="2200" spc="-25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14-17</a:t>
            </a:r>
            <a:r>
              <a:rPr lang="pt-BR" sz="2200" spc="-25" noProof="0" dirty="0">
                <a:latin typeface="Arial"/>
                <a:cs typeface="Arial"/>
              </a:rPr>
              <a:t> </a:t>
            </a:r>
            <a:r>
              <a:rPr lang="pt-BR" sz="2200" spc="-5" noProof="0" dirty="0" err="1">
                <a:latin typeface="Arial"/>
                <a:cs typeface="Arial"/>
              </a:rPr>
              <a:t>tRNA</a:t>
            </a:r>
            <a:r>
              <a:rPr lang="pt-BR" sz="2200" spc="-5" noProof="0" dirty="0">
                <a:latin typeface="Arial"/>
                <a:cs typeface="Arial"/>
              </a:rPr>
              <a:t>)</a:t>
            </a:r>
            <a:endParaRPr lang="pt-BR" sz="22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pt-BR" sz="2250" noProof="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pt-BR" sz="2200" noProof="0" dirty="0">
                <a:latin typeface="Arial"/>
                <a:cs typeface="Arial"/>
              </a:rPr>
              <a:t>Informação</a:t>
            </a:r>
            <a:r>
              <a:rPr lang="pt-BR" sz="2200" spc="-20" noProof="0" dirty="0">
                <a:latin typeface="Arial"/>
                <a:cs typeface="Arial"/>
              </a:rPr>
              <a:t> </a:t>
            </a:r>
            <a:r>
              <a:rPr lang="pt-BR" sz="2200" spc="-5" noProof="0" dirty="0">
                <a:latin typeface="Arial"/>
                <a:cs typeface="Arial"/>
              </a:rPr>
              <a:t>filogenética</a:t>
            </a:r>
            <a:r>
              <a:rPr lang="pt-BR" sz="2200" spc="-15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+/-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lang="pt-BR" sz="2300" noProof="0" dirty="0">
              <a:latin typeface="Arial"/>
              <a:cs typeface="Arial"/>
            </a:endParaRPr>
          </a:p>
          <a:p>
            <a:pPr marL="12700" marR="678180">
              <a:lnSpc>
                <a:spcPct val="100000"/>
              </a:lnSpc>
            </a:pPr>
            <a:r>
              <a:rPr lang="pt-BR" sz="2200" spc="-5" noProof="0" dirty="0">
                <a:latin typeface="Arial"/>
                <a:cs typeface="Arial"/>
              </a:rPr>
              <a:t>Rearranjos </a:t>
            </a:r>
            <a:r>
              <a:rPr lang="pt-BR" sz="2200" noProof="0" dirty="0">
                <a:latin typeface="Arial"/>
                <a:cs typeface="Arial"/>
              </a:rPr>
              <a:t>gênicos </a:t>
            </a:r>
            <a:r>
              <a:rPr lang="pt-BR" sz="2200" spc="-5" noProof="0" dirty="0">
                <a:latin typeface="Arial"/>
                <a:cs typeface="Arial"/>
              </a:rPr>
              <a:t>muito </a:t>
            </a:r>
            <a:r>
              <a:rPr lang="pt-BR" sz="2200" spc="-60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frequentes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pt-BR" sz="2250" noProof="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pt-BR" sz="2200" noProof="0" dirty="0">
                <a:latin typeface="Arial"/>
                <a:cs typeface="Arial"/>
              </a:rPr>
              <a:t>Mas</a:t>
            </a:r>
            <a:r>
              <a:rPr lang="pt-BR" sz="2200" spc="-1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taxa</a:t>
            </a:r>
            <a:r>
              <a:rPr lang="pt-BR" sz="2200" spc="-1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de</a:t>
            </a:r>
            <a:r>
              <a:rPr lang="pt-BR" sz="2200" spc="-1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mutação</a:t>
            </a:r>
            <a:r>
              <a:rPr lang="pt-BR" sz="2200" spc="-10" noProof="0" dirty="0">
                <a:latin typeface="Arial"/>
                <a:cs typeface="Arial"/>
              </a:rPr>
              <a:t> </a:t>
            </a:r>
            <a:r>
              <a:rPr lang="pt-BR" sz="2200" spc="-5" noProof="0" dirty="0">
                <a:latin typeface="Arial"/>
                <a:cs typeface="Arial"/>
              </a:rPr>
              <a:t>muito</a:t>
            </a:r>
            <a:r>
              <a:rPr lang="pt-BR" sz="2200" spc="-10" noProof="0" dirty="0">
                <a:latin typeface="Arial"/>
                <a:cs typeface="Arial"/>
              </a:rPr>
              <a:t> </a:t>
            </a:r>
            <a:r>
              <a:rPr lang="pt-BR" sz="2200" spc="-5" noProof="0" dirty="0">
                <a:latin typeface="Arial"/>
                <a:cs typeface="Arial"/>
              </a:rPr>
              <a:t>baixa</a:t>
            </a:r>
            <a:endParaRPr lang="pt-BR" sz="2200" noProof="0" dirty="0">
              <a:latin typeface="Arial"/>
              <a:cs typeface="Arial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2F43D44C-2A4B-F94F-9A10-A1B0F096984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34151" y="5478029"/>
            <a:ext cx="1944216" cy="1355397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DD873C20-CA49-2F4E-BBCC-5BFF1A36DFFA}"/>
              </a:ext>
            </a:extLst>
          </p:cNvPr>
          <p:cNvSpPr txBox="1">
            <a:spLocks/>
          </p:cNvSpPr>
          <p:nvPr/>
        </p:nvSpPr>
        <p:spPr>
          <a:xfrm>
            <a:off x="6233794" y="-94535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Genome </a:t>
            </a:r>
            <a:r>
              <a:rPr lang="pt-BR" sz="3400" spc="-5" noProof="0" dirty="0" err="1">
                <a:solidFill>
                  <a:srgbClr val="000000"/>
                </a:solidFill>
                <a:latin typeface="Arial"/>
                <a:cs typeface="Arial"/>
              </a:rPr>
              <a:t>skimming</a:t>
            </a:r>
            <a:endParaRPr lang="pt-BR" sz="3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3192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E72534-716C-DD48-AAF0-AE1BB5FAD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3" y="0"/>
            <a:ext cx="9290137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EC18C0-852B-054F-9C97-EDE5FE614D86}"/>
              </a:ext>
            </a:extLst>
          </p:cNvPr>
          <p:cNvSpPr/>
          <p:nvPr/>
        </p:nvSpPr>
        <p:spPr>
          <a:xfrm>
            <a:off x="6869723" y="0"/>
            <a:ext cx="2543908" cy="1617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060323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2C51F9-B97D-A747-8B4B-3D0735D5A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458" y="0"/>
            <a:ext cx="9195084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3C8C53A-F61F-3249-AF08-C9E4329FF8FD}"/>
              </a:ext>
            </a:extLst>
          </p:cNvPr>
          <p:cNvSpPr/>
          <p:nvPr/>
        </p:nvSpPr>
        <p:spPr>
          <a:xfrm>
            <a:off x="5462954" y="2965939"/>
            <a:ext cx="433754" cy="1875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02344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2F256A53-B888-C14D-8202-6658F4F495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8510" y="759661"/>
            <a:ext cx="5854752" cy="5714794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6B326098-2E0A-1B4B-9B23-56023A1C9B40}"/>
              </a:ext>
            </a:extLst>
          </p:cNvPr>
          <p:cNvSpPr txBox="1"/>
          <p:nvPr/>
        </p:nvSpPr>
        <p:spPr>
          <a:xfrm>
            <a:off x="95672" y="768128"/>
            <a:ext cx="4751170" cy="5168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b="1" spc="-5" noProof="0" dirty="0">
                <a:latin typeface="Arial"/>
                <a:cs typeface="Arial"/>
              </a:rPr>
              <a:t>Genoma</a:t>
            </a:r>
            <a:r>
              <a:rPr lang="pt-BR" sz="2400" b="1" spc="-30" noProof="0" dirty="0">
                <a:latin typeface="Arial"/>
                <a:cs typeface="Arial"/>
              </a:rPr>
              <a:t> </a:t>
            </a:r>
            <a:r>
              <a:rPr lang="pt-BR" sz="2400" b="1" spc="-5" noProof="0" dirty="0" err="1">
                <a:latin typeface="Arial"/>
                <a:cs typeface="Arial"/>
              </a:rPr>
              <a:t>plastidial</a:t>
            </a:r>
            <a:endParaRPr lang="pt-BR" sz="24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pt-BR" sz="2900" noProof="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pt-BR" sz="2200" spc="-30" noProof="0" dirty="0">
                <a:latin typeface="Arial"/>
                <a:cs typeface="Arial"/>
              </a:rPr>
              <a:t>Tamanho:</a:t>
            </a:r>
            <a:r>
              <a:rPr lang="pt-BR" sz="2200" spc="-2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107</a:t>
            </a:r>
            <a:r>
              <a:rPr lang="pt-BR" sz="2200" spc="-2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a</a:t>
            </a:r>
            <a:r>
              <a:rPr lang="pt-BR" sz="2200" spc="-2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218</a:t>
            </a:r>
            <a:r>
              <a:rPr lang="pt-BR" sz="2200" spc="-20" noProof="0" dirty="0">
                <a:latin typeface="Arial"/>
                <a:cs typeface="Arial"/>
              </a:rPr>
              <a:t> </a:t>
            </a:r>
            <a:r>
              <a:rPr lang="pt-BR" sz="2200" noProof="0" dirty="0" err="1">
                <a:latin typeface="Arial"/>
                <a:cs typeface="Arial"/>
              </a:rPr>
              <a:t>kb</a:t>
            </a:r>
            <a:endParaRPr lang="pt-BR" sz="22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lang="pt-BR" sz="2300" noProof="0" dirty="0">
              <a:latin typeface="Arial"/>
              <a:cs typeface="Arial"/>
            </a:endParaRPr>
          </a:p>
          <a:p>
            <a:pPr marL="12700">
              <a:lnSpc>
                <a:spcPts val="2635"/>
              </a:lnSpc>
            </a:pPr>
            <a:r>
              <a:rPr lang="pt-BR" sz="2200" spc="-25" noProof="0" dirty="0">
                <a:latin typeface="Arial"/>
                <a:cs typeface="Arial"/>
              </a:rPr>
              <a:t>101-118</a:t>
            </a:r>
            <a:r>
              <a:rPr lang="pt-BR" sz="2200" spc="-3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genes</a:t>
            </a:r>
            <a:r>
              <a:rPr lang="pt-BR" sz="2200" spc="-3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(66-82</a:t>
            </a:r>
          </a:p>
          <a:p>
            <a:pPr marL="12700" marR="355600">
              <a:lnSpc>
                <a:spcPts val="2630"/>
              </a:lnSpc>
              <a:spcBef>
                <a:spcPts val="95"/>
              </a:spcBef>
            </a:pPr>
            <a:r>
              <a:rPr lang="pt-BR" sz="2200" noProof="0" dirty="0">
                <a:latin typeface="Arial"/>
                <a:cs typeface="Arial"/>
              </a:rPr>
              <a:t>proteínas,</a:t>
            </a:r>
            <a:r>
              <a:rPr lang="pt-BR" sz="2200" spc="-3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4</a:t>
            </a:r>
            <a:r>
              <a:rPr lang="pt-BR" sz="2200" spc="-30" noProof="0" dirty="0">
                <a:latin typeface="Arial"/>
                <a:cs typeface="Arial"/>
              </a:rPr>
              <a:t> </a:t>
            </a:r>
            <a:r>
              <a:rPr lang="pt-BR" sz="2200" spc="-5" noProof="0" dirty="0" err="1">
                <a:latin typeface="Arial"/>
                <a:cs typeface="Arial"/>
              </a:rPr>
              <a:t>rRNA</a:t>
            </a:r>
            <a:r>
              <a:rPr lang="pt-BR" sz="2200" spc="-5" noProof="0" dirty="0">
                <a:latin typeface="Arial"/>
                <a:cs typeface="Arial"/>
              </a:rPr>
              <a:t>,</a:t>
            </a:r>
            <a:r>
              <a:rPr lang="pt-BR" sz="2200" spc="-3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29-32 </a:t>
            </a:r>
            <a:r>
              <a:rPr lang="pt-BR" sz="2200" spc="-595" noProof="0" dirty="0">
                <a:latin typeface="Arial"/>
                <a:cs typeface="Arial"/>
              </a:rPr>
              <a:t> </a:t>
            </a:r>
            <a:r>
              <a:rPr lang="pt-BR" sz="2200" spc="-5" noProof="0" dirty="0" err="1">
                <a:latin typeface="Arial"/>
                <a:cs typeface="Arial"/>
              </a:rPr>
              <a:t>tRNA</a:t>
            </a:r>
            <a:r>
              <a:rPr lang="pt-BR" sz="2200" spc="-5" noProof="0" dirty="0">
                <a:latin typeface="Arial"/>
                <a:cs typeface="Arial"/>
              </a:rPr>
              <a:t>)</a:t>
            </a:r>
            <a:endParaRPr lang="pt-BR" sz="22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pt-BR" sz="24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pt-BR" sz="2400" noProof="0" dirty="0">
                <a:latin typeface="Arial"/>
                <a:cs typeface="Arial"/>
              </a:rPr>
              <a:t>Amplamente usado para análises filogenéticas</a:t>
            </a:r>
          </a:p>
          <a:p>
            <a:pPr>
              <a:lnSpc>
                <a:spcPct val="100000"/>
              </a:lnSpc>
            </a:pPr>
            <a:endParaRPr lang="pt-BR" sz="24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pt-BR" sz="2400" noProof="0" dirty="0">
                <a:latin typeface="Arial"/>
                <a:cs typeface="Arial"/>
              </a:rPr>
              <a:t>Informação filogenética varia dependendo do nível e organismo</a:t>
            </a:r>
          </a:p>
          <a:p>
            <a:pPr>
              <a:lnSpc>
                <a:spcPct val="100000"/>
              </a:lnSpc>
            </a:pPr>
            <a:endParaRPr lang="pt-BR" sz="24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pt-BR" sz="2400" noProof="0" dirty="0">
              <a:latin typeface="Arial"/>
              <a:cs typeface="Arial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2FDE56EF-9301-9545-A33F-527A685D2D44}"/>
              </a:ext>
            </a:extLst>
          </p:cNvPr>
          <p:cNvSpPr txBox="1">
            <a:spLocks/>
          </p:cNvSpPr>
          <p:nvPr/>
        </p:nvSpPr>
        <p:spPr>
          <a:xfrm>
            <a:off x="6233794" y="-94535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Genome </a:t>
            </a:r>
            <a:r>
              <a:rPr lang="pt-BR" sz="3400" spc="-5" noProof="0" dirty="0" err="1">
                <a:solidFill>
                  <a:srgbClr val="000000"/>
                </a:solidFill>
                <a:latin typeface="Arial"/>
                <a:cs typeface="Arial"/>
              </a:rPr>
              <a:t>skimming</a:t>
            </a:r>
            <a:endParaRPr lang="pt-BR" sz="3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2990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F696A55-5BA9-624F-A84C-22C74816D4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0831" y="928959"/>
            <a:ext cx="4928589" cy="5000082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D31F11BB-6C35-1C4D-8AF6-32774E3CEEC0}"/>
              </a:ext>
            </a:extLst>
          </p:cNvPr>
          <p:cNvSpPr txBox="1"/>
          <p:nvPr/>
        </p:nvSpPr>
        <p:spPr>
          <a:xfrm>
            <a:off x="78739" y="759661"/>
            <a:ext cx="2647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b="1" spc="-5" noProof="0" dirty="0">
                <a:latin typeface="Arial"/>
                <a:cs typeface="Arial"/>
              </a:rPr>
              <a:t>Genoma</a:t>
            </a:r>
            <a:r>
              <a:rPr lang="pt-BR" sz="2400" b="1" spc="-55" noProof="0" dirty="0">
                <a:latin typeface="Arial"/>
                <a:cs typeface="Arial"/>
              </a:rPr>
              <a:t> </a:t>
            </a:r>
            <a:r>
              <a:rPr lang="pt-BR" sz="2400" b="1" spc="-5" noProof="0" dirty="0" err="1">
                <a:latin typeface="Arial"/>
                <a:cs typeface="Arial"/>
              </a:rPr>
              <a:t>plastidial</a:t>
            </a:r>
            <a:endParaRPr lang="pt-BR" sz="2400" noProof="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7C6E80D-DAE8-1A46-A192-E96D60AD898B}"/>
              </a:ext>
            </a:extLst>
          </p:cNvPr>
          <p:cNvSpPr txBox="1"/>
          <p:nvPr/>
        </p:nvSpPr>
        <p:spPr>
          <a:xfrm>
            <a:off x="78738" y="1711569"/>
            <a:ext cx="5689015" cy="341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200" spc="-5" noProof="0" dirty="0">
                <a:latin typeface="Arial"/>
                <a:cs typeface="Arial"/>
              </a:rPr>
              <a:t>Uso</a:t>
            </a:r>
            <a:r>
              <a:rPr lang="pt-BR" sz="2200" spc="-2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em</a:t>
            </a:r>
            <a:r>
              <a:rPr lang="pt-BR" sz="2200" spc="-10" noProof="0" dirty="0">
                <a:latin typeface="Arial"/>
                <a:cs typeface="Arial"/>
              </a:rPr>
              <a:t> </a:t>
            </a:r>
            <a:r>
              <a:rPr lang="pt-BR" sz="2200" spc="-5" noProof="0" dirty="0">
                <a:latin typeface="Arial"/>
                <a:cs typeface="Arial"/>
              </a:rPr>
              <a:t>filogenias:</a:t>
            </a:r>
            <a:endParaRPr lang="pt-BR" sz="22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lang="pt-BR" sz="2300" noProof="0" dirty="0">
              <a:latin typeface="Arial"/>
              <a:cs typeface="Arial"/>
            </a:endParaRPr>
          </a:p>
          <a:p>
            <a:pPr marL="334645" indent="-322580">
              <a:lnSpc>
                <a:spcPts val="2635"/>
              </a:lnSpc>
              <a:buChar char="-"/>
              <a:tabLst>
                <a:tab pos="334645" algn="l"/>
                <a:tab pos="335280" algn="l"/>
              </a:tabLst>
            </a:pPr>
            <a:r>
              <a:rPr lang="pt-BR" sz="2200" spc="-15" noProof="0" dirty="0">
                <a:latin typeface="Arial"/>
                <a:cs typeface="Arial"/>
              </a:rPr>
              <a:t>Trivial</a:t>
            </a:r>
          </a:p>
          <a:p>
            <a:pPr marL="355600" indent="-342900">
              <a:lnSpc>
                <a:spcPts val="2550"/>
              </a:lnSpc>
              <a:buChar char="-"/>
              <a:tabLst>
                <a:tab pos="354965" algn="l"/>
                <a:tab pos="355600" algn="l"/>
              </a:tabLst>
            </a:pPr>
            <a:r>
              <a:rPr lang="pt-BR" sz="2200" noProof="0" dirty="0">
                <a:latin typeface="Arial"/>
                <a:cs typeface="Arial"/>
              </a:rPr>
              <a:t>Fácil</a:t>
            </a:r>
            <a:r>
              <a:rPr lang="pt-BR" sz="2200" spc="-1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de</a:t>
            </a:r>
            <a:r>
              <a:rPr lang="pt-BR" sz="2200" spc="-5" noProof="0" dirty="0">
                <a:latin typeface="Arial"/>
                <a:cs typeface="Arial"/>
              </a:rPr>
              <a:t> alinhar </a:t>
            </a:r>
            <a:r>
              <a:rPr lang="pt-BR" sz="2200" noProof="0" dirty="0">
                <a:latin typeface="Arial"/>
                <a:cs typeface="Arial"/>
              </a:rPr>
              <a:t>as</a:t>
            </a:r>
            <a:r>
              <a:rPr lang="pt-BR" sz="2200" spc="-5" noProof="0" dirty="0">
                <a:latin typeface="Arial"/>
                <a:cs typeface="Arial"/>
              </a:rPr>
              <a:t> sequências</a:t>
            </a:r>
            <a:endParaRPr lang="pt-BR" sz="2200" noProof="0" dirty="0">
              <a:latin typeface="Arial"/>
              <a:cs typeface="Arial"/>
            </a:endParaRPr>
          </a:p>
          <a:p>
            <a:pPr marL="355600">
              <a:lnSpc>
                <a:spcPts val="2635"/>
              </a:lnSpc>
              <a:spcBef>
                <a:spcPts val="30"/>
              </a:spcBef>
            </a:pPr>
            <a:r>
              <a:rPr lang="pt-BR" sz="2200" noProof="0" dirty="0">
                <a:latin typeface="Arial"/>
                <a:cs typeface="Arial"/>
              </a:rPr>
              <a:t>e</a:t>
            </a:r>
            <a:r>
              <a:rPr lang="pt-BR" sz="2200" spc="-2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gerar</a:t>
            </a:r>
            <a:r>
              <a:rPr lang="pt-BR" sz="2200" spc="-15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uma</a:t>
            </a:r>
            <a:r>
              <a:rPr lang="pt-BR" sz="2200" spc="-15" noProof="0" dirty="0">
                <a:latin typeface="Arial"/>
                <a:cs typeface="Arial"/>
              </a:rPr>
              <a:t> </a:t>
            </a:r>
            <a:r>
              <a:rPr lang="pt-BR" sz="2200" spc="-5" noProof="0" dirty="0">
                <a:latin typeface="Arial"/>
                <a:cs typeface="Arial"/>
              </a:rPr>
              <a:t>matriz</a:t>
            </a:r>
            <a:endParaRPr lang="pt-BR" sz="2200" noProof="0" dirty="0">
              <a:latin typeface="Arial"/>
              <a:cs typeface="Arial"/>
            </a:endParaRPr>
          </a:p>
          <a:p>
            <a:pPr marL="355600" marR="236854" indent="-342900">
              <a:lnSpc>
                <a:spcPts val="2630"/>
              </a:lnSpc>
              <a:spcBef>
                <a:spcPts val="90"/>
              </a:spcBef>
              <a:buChar char="-"/>
              <a:tabLst>
                <a:tab pos="354965" algn="l"/>
                <a:tab pos="355600" algn="l"/>
              </a:tabLst>
            </a:pPr>
            <a:r>
              <a:rPr lang="pt-BR" sz="2200" noProof="0" dirty="0">
                <a:latin typeface="Arial"/>
                <a:cs typeface="Arial"/>
              </a:rPr>
              <a:t>Ordem</a:t>
            </a:r>
            <a:r>
              <a:rPr lang="pt-BR" sz="2200" spc="-15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dos</a:t>
            </a:r>
            <a:r>
              <a:rPr lang="pt-BR" sz="2200" spc="-2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genes</a:t>
            </a:r>
            <a:r>
              <a:rPr lang="pt-BR" sz="2200" spc="-20" noProof="0" dirty="0">
                <a:latin typeface="Arial"/>
                <a:cs typeface="Arial"/>
              </a:rPr>
              <a:t> </a:t>
            </a:r>
            <a:r>
              <a:rPr lang="pt-BR" sz="2200" spc="-5" noProof="0" dirty="0">
                <a:latin typeface="Arial"/>
                <a:cs typeface="Arial"/>
              </a:rPr>
              <a:t>altamente </a:t>
            </a:r>
            <a:r>
              <a:rPr lang="pt-BR" sz="2200" spc="-595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conservada*</a:t>
            </a:r>
          </a:p>
          <a:p>
            <a:pPr marL="355600" marR="236854" indent="-342900">
              <a:lnSpc>
                <a:spcPts val="2630"/>
              </a:lnSpc>
              <a:spcBef>
                <a:spcPts val="90"/>
              </a:spcBef>
              <a:buChar char="-"/>
              <a:tabLst>
                <a:tab pos="354965" algn="l"/>
                <a:tab pos="355600" algn="l"/>
              </a:tabLst>
            </a:pPr>
            <a:r>
              <a:rPr lang="pt-BR" sz="2200" noProof="0" dirty="0">
                <a:latin typeface="Arial"/>
                <a:cs typeface="Arial"/>
              </a:rPr>
              <a:t>Herança </a:t>
            </a:r>
            <a:r>
              <a:rPr lang="pt-BR" sz="2200" noProof="0" dirty="0" err="1">
                <a:latin typeface="Arial"/>
                <a:cs typeface="Arial"/>
              </a:rPr>
              <a:t>uniparental</a:t>
            </a:r>
            <a:r>
              <a:rPr lang="pt-BR" sz="2200" noProof="0" dirty="0">
                <a:latin typeface="Arial"/>
                <a:cs typeface="Arial"/>
              </a:rPr>
              <a:t>: um único alelo*</a:t>
            </a:r>
          </a:p>
          <a:p>
            <a:pPr marL="355600" marR="409575" indent="-342900">
              <a:lnSpc>
                <a:spcPts val="2630"/>
              </a:lnSpc>
              <a:spcBef>
                <a:spcPts val="90"/>
              </a:spcBef>
              <a:buChar char="-"/>
              <a:tabLst>
                <a:tab pos="354965" algn="l"/>
                <a:tab pos="355600" algn="l"/>
              </a:tabLst>
            </a:pPr>
            <a:r>
              <a:rPr lang="pt-BR" sz="2200" spc="-5" noProof="0" dirty="0">
                <a:latin typeface="Arial"/>
                <a:cs typeface="Arial"/>
              </a:rPr>
              <a:t>Não há recombinação, um</a:t>
            </a:r>
            <a:r>
              <a:rPr lang="pt-BR" sz="2200" noProof="0" dirty="0">
                <a:latin typeface="Arial"/>
                <a:cs typeface="Arial"/>
              </a:rPr>
              <a:t> </a:t>
            </a:r>
            <a:r>
              <a:rPr lang="pt-BR" sz="2200" spc="-5" noProof="0" dirty="0">
                <a:latin typeface="Arial"/>
                <a:cs typeface="Arial"/>
              </a:rPr>
              <a:t>único modelo evolutivo </a:t>
            </a:r>
            <a:r>
              <a:rPr lang="pt-BR" sz="2200" spc="-60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para</a:t>
            </a:r>
            <a:r>
              <a:rPr lang="pt-BR" sz="2200" spc="-5" noProof="0" dirty="0">
                <a:latin typeface="Arial"/>
                <a:cs typeface="Arial"/>
              </a:rPr>
              <a:t> todo o genoma</a:t>
            </a:r>
            <a:r>
              <a:rPr lang="pt-BR" sz="2200" noProof="0" dirty="0">
                <a:latin typeface="Arial"/>
                <a:cs typeface="Arial"/>
              </a:rPr>
              <a:t>*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FBE8EA77-BAA9-154C-BF4E-928FBEBD263D}"/>
              </a:ext>
            </a:extLst>
          </p:cNvPr>
          <p:cNvSpPr txBox="1">
            <a:spLocks/>
          </p:cNvSpPr>
          <p:nvPr/>
        </p:nvSpPr>
        <p:spPr>
          <a:xfrm>
            <a:off x="6233794" y="-94535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Genome </a:t>
            </a:r>
            <a:r>
              <a:rPr lang="pt-BR" sz="3400" spc="-5" noProof="0" dirty="0" err="1">
                <a:solidFill>
                  <a:srgbClr val="000000"/>
                </a:solidFill>
                <a:latin typeface="Arial"/>
                <a:cs typeface="Arial"/>
              </a:rPr>
              <a:t>skimming</a:t>
            </a:r>
            <a:endParaRPr lang="pt-BR" sz="3400" noProof="0" dirty="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D3756D-9C57-FA4B-839D-4C899FC74C3E}"/>
              </a:ext>
            </a:extLst>
          </p:cNvPr>
          <p:cNvSpPr txBox="1"/>
          <p:nvPr/>
        </p:nvSpPr>
        <p:spPr>
          <a:xfrm>
            <a:off x="266700" y="6318738"/>
            <a:ext cx="2611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noProof="0" dirty="0"/>
              <a:t>* Existem exceções</a:t>
            </a:r>
          </a:p>
        </p:txBody>
      </p:sp>
    </p:spTree>
    <p:extLst>
      <p:ext uri="{BB962C8B-B14F-4D97-AF65-F5344CB8AC3E}">
        <p14:creationId xmlns:p14="http://schemas.microsoft.com/office/powerpoint/2010/main" val="142242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9C0298-DA14-AE41-880D-F8D9DA1B05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2" r="1511"/>
          <a:stretch/>
        </p:blipFill>
        <p:spPr>
          <a:xfrm>
            <a:off x="1641231" y="0"/>
            <a:ext cx="8897815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B743C4-4B93-0F44-82E0-8DFF088D999F}"/>
              </a:ext>
            </a:extLst>
          </p:cNvPr>
          <p:cNvSpPr/>
          <p:nvPr/>
        </p:nvSpPr>
        <p:spPr>
          <a:xfrm>
            <a:off x="7013196" y="1426128"/>
            <a:ext cx="2667699" cy="335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BC850E-BB07-5048-8D8C-C44A745D4A27}"/>
              </a:ext>
            </a:extLst>
          </p:cNvPr>
          <p:cNvSpPr/>
          <p:nvPr/>
        </p:nvSpPr>
        <p:spPr>
          <a:xfrm>
            <a:off x="5588466" y="2835479"/>
            <a:ext cx="2667699" cy="236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346ED1-BAB2-2245-A5A2-2C0EC455DD45}"/>
              </a:ext>
            </a:extLst>
          </p:cNvPr>
          <p:cNvSpPr/>
          <p:nvPr/>
        </p:nvSpPr>
        <p:spPr>
          <a:xfrm>
            <a:off x="6729906" y="3071769"/>
            <a:ext cx="2667699" cy="426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6207F0-C479-2547-8FF6-9A058D60E979}"/>
              </a:ext>
            </a:extLst>
          </p:cNvPr>
          <p:cNvSpPr/>
          <p:nvPr/>
        </p:nvSpPr>
        <p:spPr>
          <a:xfrm>
            <a:off x="4299019" y="3734499"/>
            <a:ext cx="1796981" cy="335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E67940-E32C-9A4A-8169-66F6B72B0A1E}"/>
              </a:ext>
            </a:extLst>
          </p:cNvPr>
          <p:cNvSpPr/>
          <p:nvPr/>
        </p:nvSpPr>
        <p:spPr>
          <a:xfrm>
            <a:off x="5127073" y="4009938"/>
            <a:ext cx="1424730" cy="394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BC07D4-63C2-2143-81BF-77DC4F679BDB}"/>
              </a:ext>
            </a:extLst>
          </p:cNvPr>
          <p:cNvSpPr/>
          <p:nvPr/>
        </p:nvSpPr>
        <p:spPr>
          <a:xfrm>
            <a:off x="2529810" y="5040909"/>
            <a:ext cx="2667699" cy="688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03447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B5D085C-AB51-944C-B607-513697C2674F}"/>
              </a:ext>
            </a:extLst>
          </p:cNvPr>
          <p:cNvGrpSpPr/>
          <p:nvPr/>
        </p:nvGrpSpPr>
        <p:grpSpPr>
          <a:xfrm>
            <a:off x="0" y="587829"/>
            <a:ext cx="9666514" cy="6270587"/>
            <a:chOff x="0" y="836711"/>
            <a:chExt cx="9144000" cy="602170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4B4CC3F-D260-184E-A79F-FD0DE520A82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36711"/>
              <a:ext cx="6886575" cy="1143000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FDA2DA43-F6A7-EF46-8D5C-F88C159E7CB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8984" y="1988840"/>
              <a:ext cx="4845014" cy="4869159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345735B-ED9E-734C-AFE5-AF53EEAEB63B}"/>
              </a:ext>
            </a:extLst>
          </p:cNvPr>
          <p:cNvSpPr txBox="1"/>
          <p:nvPr/>
        </p:nvSpPr>
        <p:spPr>
          <a:xfrm>
            <a:off x="178878" y="3525582"/>
            <a:ext cx="4286250" cy="1034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635"/>
              </a:lnSpc>
              <a:spcBef>
                <a:spcPts val="100"/>
              </a:spcBef>
            </a:pPr>
            <a:r>
              <a:rPr lang="pt-BR" sz="2200" noProof="0" dirty="0">
                <a:latin typeface="Arial"/>
                <a:cs typeface="Arial"/>
              </a:rPr>
              <a:t>83</a:t>
            </a:r>
            <a:r>
              <a:rPr lang="pt-BR" sz="2200" spc="-5" noProof="0" dirty="0">
                <a:latin typeface="Arial"/>
                <a:cs typeface="Arial"/>
              </a:rPr>
              <a:t> regiões codificantes </a:t>
            </a:r>
            <a:r>
              <a:rPr lang="pt-BR" sz="2200" noProof="0" dirty="0">
                <a:latin typeface="Arial"/>
                <a:cs typeface="Arial"/>
              </a:rPr>
              <a:t>(</a:t>
            </a:r>
            <a:r>
              <a:rPr lang="pt-BR" sz="2200" noProof="0" dirty="0" err="1">
                <a:latin typeface="Arial"/>
                <a:cs typeface="Arial"/>
              </a:rPr>
              <a:t>ca</a:t>
            </a:r>
            <a:r>
              <a:rPr lang="pt-BR" sz="2200" noProof="0" dirty="0">
                <a:latin typeface="Arial"/>
                <a:cs typeface="Arial"/>
              </a:rPr>
              <a:t>. 67</a:t>
            </a:r>
            <a:r>
              <a:rPr lang="pt-BR" sz="2200" spc="-5" noProof="0" dirty="0">
                <a:latin typeface="Arial"/>
                <a:cs typeface="Arial"/>
              </a:rPr>
              <a:t> </a:t>
            </a:r>
            <a:r>
              <a:rPr lang="pt-BR" sz="2200" noProof="0" dirty="0" err="1">
                <a:latin typeface="Arial"/>
                <a:cs typeface="Arial"/>
              </a:rPr>
              <a:t>kb</a:t>
            </a:r>
            <a:r>
              <a:rPr lang="pt-BR" sz="2200" noProof="0" dirty="0">
                <a:latin typeface="Arial"/>
                <a:cs typeface="Arial"/>
              </a:rPr>
              <a:t>)</a:t>
            </a:r>
          </a:p>
          <a:p>
            <a:pPr algn="ctr">
              <a:lnSpc>
                <a:spcPts val="2635"/>
              </a:lnSpc>
            </a:pPr>
            <a:r>
              <a:rPr lang="pt-BR" sz="2200" noProof="0" dirty="0">
                <a:latin typeface="Arial"/>
                <a:cs typeface="Arial"/>
              </a:rPr>
              <a:t>93</a:t>
            </a:r>
            <a:r>
              <a:rPr lang="pt-BR" sz="2200" spc="-25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taxa</a:t>
            </a:r>
            <a:r>
              <a:rPr lang="pt-BR" sz="2200" spc="-25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(25</a:t>
            </a:r>
            <a:r>
              <a:rPr lang="pt-BR" sz="2200" spc="-25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novos)</a:t>
            </a: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lang="pt-BR" sz="2200" noProof="0" dirty="0">
                <a:latin typeface="Arial"/>
                <a:cs typeface="Arial"/>
              </a:rPr>
              <a:t>454</a:t>
            </a:r>
            <a:r>
              <a:rPr lang="pt-BR" sz="2200" spc="-40" noProof="0" dirty="0">
                <a:latin typeface="Arial"/>
                <a:cs typeface="Arial"/>
              </a:rPr>
              <a:t> </a:t>
            </a:r>
            <a:r>
              <a:rPr lang="pt-BR" sz="2200" spc="-5" noProof="0" dirty="0">
                <a:latin typeface="Arial"/>
                <a:cs typeface="Arial"/>
              </a:rPr>
              <a:t>Roche</a:t>
            </a:r>
            <a:endParaRPr lang="pt-BR" sz="2200" noProof="0" dirty="0">
              <a:latin typeface="Arial"/>
              <a:cs typeface="Arial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E34069C3-8995-FC4C-AD78-CC9D52BB7D2F}"/>
              </a:ext>
            </a:extLst>
          </p:cNvPr>
          <p:cNvSpPr txBox="1"/>
          <p:nvPr/>
        </p:nvSpPr>
        <p:spPr>
          <a:xfrm>
            <a:off x="0" y="7390"/>
            <a:ext cx="2647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b="1" spc="-5" noProof="0" dirty="0">
                <a:latin typeface="Arial"/>
                <a:cs typeface="Arial"/>
              </a:rPr>
              <a:t>Genoma</a:t>
            </a:r>
            <a:r>
              <a:rPr lang="pt-BR" sz="2400" b="1" spc="-55" noProof="0" dirty="0">
                <a:latin typeface="Arial"/>
                <a:cs typeface="Arial"/>
              </a:rPr>
              <a:t> </a:t>
            </a:r>
            <a:r>
              <a:rPr lang="pt-BR" sz="2400" b="1" spc="-5" noProof="0" dirty="0" err="1">
                <a:latin typeface="Arial"/>
                <a:cs typeface="Arial"/>
              </a:rPr>
              <a:t>plastidial</a:t>
            </a:r>
            <a:endParaRPr lang="pt-BR" sz="2400" noProof="0" dirty="0">
              <a:latin typeface="Arial"/>
              <a:cs typeface="Arial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1DF38AC-1BEA-DA4A-BF1F-E60AB58FE8F2}"/>
              </a:ext>
            </a:extLst>
          </p:cNvPr>
          <p:cNvSpPr txBox="1">
            <a:spLocks/>
          </p:cNvSpPr>
          <p:nvPr/>
        </p:nvSpPr>
        <p:spPr>
          <a:xfrm>
            <a:off x="6233794" y="-94535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Genome </a:t>
            </a:r>
            <a:r>
              <a:rPr lang="pt-BR" sz="3400" spc="-5" noProof="0" dirty="0" err="1">
                <a:solidFill>
                  <a:srgbClr val="000000"/>
                </a:solidFill>
                <a:latin typeface="Arial"/>
                <a:cs typeface="Arial"/>
              </a:rPr>
              <a:t>skimming</a:t>
            </a:r>
            <a:endParaRPr lang="pt-BR" sz="3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7419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4">
            <a:extLst>
              <a:ext uri="{FF2B5EF4-FFF2-40B4-BE49-F238E27FC236}">
                <a16:creationId xmlns:a16="http://schemas.microsoft.com/office/drawing/2014/main" id="{B7FDA00D-BECF-6346-B0FF-555235D4BD4F}"/>
              </a:ext>
            </a:extLst>
          </p:cNvPr>
          <p:cNvSpPr txBox="1"/>
          <p:nvPr/>
        </p:nvSpPr>
        <p:spPr>
          <a:xfrm>
            <a:off x="0" y="7390"/>
            <a:ext cx="2647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b="1" spc="-5" noProof="0" dirty="0">
                <a:latin typeface="Arial"/>
                <a:cs typeface="Arial"/>
              </a:rPr>
              <a:t>Genoma</a:t>
            </a:r>
            <a:r>
              <a:rPr lang="pt-BR" sz="2400" b="1" spc="-55" noProof="0" dirty="0">
                <a:latin typeface="Arial"/>
                <a:cs typeface="Arial"/>
              </a:rPr>
              <a:t> </a:t>
            </a:r>
            <a:r>
              <a:rPr lang="pt-BR" sz="2400" b="1" spc="-5" noProof="0" dirty="0" err="1">
                <a:latin typeface="Arial"/>
                <a:cs typeface="Arial"/>
              </a:rPr>
              <a:t>plastidial</a:t>
            </a:r>
            <a:endParaRPr lang="pt-BR" sz="2400" noProof="0" dirty="0">
              <a:latin typeface="Arial"/>
              <a:cs typeface="Arial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20F21D9D-84CA-584A-8C85-4C826DF849E1}"/>
              </a:ext>
            </a:extLst>
          </p:cNvPr>
          <p:cNvSpPr txBox="1">
            <a:spLocks/>
          </p:cNvSpPr>
          <p:nvPr/>
        </p:nvSpPr>
        <p:spPr>
          <a:xfrm>
            <a:off x="6233794" y="-94535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Genome </a:t>
            </a:r>
            <a:r>
              <a:rPr lang="pt-BR" sz="3400" spc="-5" noProof="0" dirty="0" err="1">
                <a:solidFill>
                  <a:srgbClr val="000000"/>
                </a:solidFill>
                <a:latin typeface="Arial"/>
                <a:cs typeface="Arial"/>
              </a:rPr>
              <a:t>skimming</a:t>
            </a:r>
            <a:endParaRPr lang="pt-BR" sz="3400" noProof="0" dirty="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305DE0-762E-8E47-A2FE-335CD359D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2907"/>
            <a:ext cx="6443689" cy="16481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30FA79-570B-6147-829C-6CE46F0B4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063" y="0"/>
            <a:ext cx="5011937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701FB9-D26A-2C4A-A69B-75CF7CF41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38" y="3124200"/>
            <a:ext cx="6818184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628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33C76465-C7C9-D74A-ACA3-CA90515E3B90}"/>
              </a:ext>
            </a:extLst>
          </p:cNvPr>
          <p:cNvSpPr txBox="1"/>
          <p:nvPr/>
        </p:nvSpPr>
        <p:spPr>
          <a:xfrm>
            <a:off x="148222" y="59419"/>
            <a:ext cx="6827520" cy="493724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lang="pt-BR" sz="2400" b="1" spc="-5" noProof="0" dirty="0">
                <a:latin typeface="Arial"/>
                <a:cs typeface="Arial"/>
              </a:rPr>
              <a:t>Genoma</a:t>
            </a:r>
            <a:r>
              <a:rPr lang="pt-BR" sz="2400" b="1" spc="-35" noProof="0" dirty="0">
                <a:latin typeface="Arial"/>
                <a:cs typeface="Arial"/>
              </a:rPr>
              <a:t> </a:t>
            </a:r>
            <a:r>
              <a:rPr lang="pt-BR" sz="2400" b="1" spc="-5" noProof="0" dirty="0">
                <a:latin typeface="Arial"/>
                <a:cs typeface="Arial"/>
              </a:rPr>
              <a:t>nuclear</a:t>
            </a:r>
            <a:endParaRPr lang="pt-BR" sz="2400" noProof="0" dirty="0">
              <a:latin typeface="Arial"/>
              <a:cs typeface="Arial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C7B60406-450E-F049-9AEC-7CA993F4033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843" y="1065424"/>
            <a:ext cx="6438899" cy="5105400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387E5694-8217-4A41-9BD1-895B50834F7A}"/>
              </a:ext>
            </a:extLst>
          </p:cNvPr>
          <p:cNvSpPr txBox="1"/>
          <p:nvPr/>
        </p:nvSpPr>
        <p:spPr>
          <a:xfrm>
            <a:off x="148222" y="6170824"/>
            <a:ext cx="89661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200" b="1" noProof="0" dirty="0">
                <a:latin typeface="Arial"/>
                <a:cs typeface="Arial"/>
              </a:rPr>
              <a:t>978</a:t>
            </a:r>
            <a:r>
              <a:rPr lang="pt-BR" sz="2200" b="1" spc="-85" noProof="0" dirty="0">
                <a:latin typeface="Arial"/>
                <a:cs typeface="Arial"/>
              </a:rPr>
              <a:t> </a:t>
            </a:r>
            <a:r>
              <a:rPr lang="pt-BR" sz="2200" b="1" noProof="0" dirty="0" err="1">
                <a:latin typeface="Arial"/>
                <a:cs typeface="Arial"/>
              </a:rPr>
              <a:t>kb</a:t>
            </a:r>
            <a:endParaRPr lang="pt-BR" sz="2200" noProof="0" dirty="0">
              <a:latin typeface="Arial"/>
              <a:cs typeface="Arial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39C823BE-A349-094F-A4E3-31992CA0A85D}"/>
              </a:ext>
            </a:extLst>
          </p:cNvPr>
          <p:cNvSpPr txBox="1"/>
          <p:nvPr/>
        </p:nvSpPr>
        <p:spPr>
          <a:xfrm>
            <a:off x="6496317" y="6170824"/>
            <a:ext cx="95885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200" b="1" noProof="0" dirty="0">
                <a:latin typeface="Arial"/>
                <a:cs typeface="Arial"/>
              </a:rPr>
              <a:t>978</a:t>
            </a:r>
            <a:r>
              <a:rPr lang="pt-BR" sz="2200" b="1" spc="-85" noProof="0" dirty="0">
                <a:latin typeface="Arial"/>
                <a:cs typeface="Arial"/>
              </a:rPr>
              <a:t> </a:t>
            </a:r>
            <a:r>
              <a:rPr lang="pt-BR" sz="2200" b="1" noProof="0" dirty="0">
                <a:latin typeface="Arial"/>
                <a:cs typeface="Arial"/>
              </a:rPr>
              <a:t>Gb</a:t>
            </a:r>
            <a:endParaRPr lang="pt-BR" sz="2200" noProof="0" dirty="0">
              <a:latin typeface="Arial"/>
              <a:cs typeface="Arial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0801E1FC-E1A1-4344-AA7F-79A3FAFB10B7}"/>
              </a:ext>
            </a:extLst>
          </p:cNvPr>
          <p:cNvSpPr txBox="1">
            <a:spLocks/>
          </p:cNvSpPr>
          <p:nvPr/>
        </p:nvSpPr>
        <p:spPr>
          <a:xfrm>
            <a:off x="6233794" y="-94535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Genome </a:t>
            </a:r>
            <a:r>
              <a:rPr lang="pt-BR" sz="3400" spc="-5" noProof="0" dirty="0" err="1">
                <a:solidFill>
                  <a:srgbClr val="000000"/>
                </a:solidFill>
                <a:latin typeface="Arial"/>
                <a:cs typeface="Arial"/>
              </a:rPr>
              <a:t>skimming</a:t>
            </a:r>
            <a:endParaRPr lang="pt-BR" sz="3400" noProof="0" dirty="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31F756-D52A-4A42-ADDE-CD35CA2C454B}"/>
              </a:ext>
            </a:extLst>
          </p:cNvPr>
          <p:cNvSpPr txBox="1"/>
          <p:nvPr/>
        </p:nvSpPr>
        <p:spPr>
          <a:xfrm>
            <a:off x="7210150" y="1065424"/>
            <a:ext cx="4445007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pt-BR" sz="2000" noProof="0" dirty="0"/>
              <a:t>Processos como duplicação genômica e hibridização podem levar a múltiplas cópias do genoma ou parte dele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pt-BR" sz="2000" noProof="0" dirty="0"/>
              <a:t>Múltiplos alelos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pt-BR" sz="2000" noProof="0" dirty="0"/>
              <a:t>Herança biparental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pt-BR" sz="2000" noProof="0" dirty="0"/>
              <a:t>Grande representação de sequências repetitivas: </a:t>
            </a:r>
            <a:r>
              <a:rPr lang="pt-BR" sz="2000" noProof="0" dirty="0" err="1"/>
              <a:t>transposons</a:t>
            </a:r>
            <a:r>
              <a:rPr lang="pt-BR" sz="2000" noProof="0" dirty="0"/>
              <a:t>, microssatélites, centrômeros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F9544D-A3D7-62E2-E0C0-37212DAE5BE5}"/>
              </a:ext>
            </a:extLst>
          </p:cNvPr>
          <p:cNvSpPr/>
          <p:nvPr/>
        </p:nvSpPr>
        <p:spPr>
          <a:xfrm>
            <a:off x="1803400" y="3742267"/>
            <a:ext cx="4902200" cy="406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49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23851B4-E1F2-7347-8121-EF317901CF82}"/>
              </a:ext>
            </a:extLst>
          </p:cNvPr>
          <p:cNvGrpSpPr/>
          <p:nvPr/>
        </p:nvGrpSpPr>
        <p:grpSpPr>
          <a:xfrm>
            <a:off x="556616" y="812800"/>
            <a:ext cx="7976234" cy="6000750"/>
            <a:chOff x="556616" y="812800"/>
            <a:chExt cx="7976234" cy="60007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0828CADA-0EA9-704D-935B-2F1816CAEB2F}"/>
                </a:ext>
              </a:extLst>
            </p:cNvPr>
            <p:cNvSpPr/>
            <p:nvPr/>
          </p:nvSpPr>
          <p:spPr>
            <a:xfrm>
              <a:off x="899591" y="4653135"/>
              <a:ext cx="3810" cy="1584325"/>
            </a:xfrm>
            <a:custGeom>
              <a:avLst/>
              <a:gdLst/>
              <a:ahLst/>
              <a:cxnLst/>
              <a:rect l="l" t="t" r="r" b="b"/>
              <a:pathLst>
                <a:path w="3809" h="1584325">
                  <a:moveTo>
                    <a:pt x="3600" y="0"/>
                  </a:moveTo>
                  <a:lnTo>
                    <a:pt x="0" y="0"/>
                  </a:lnTo>
                  <a:lnTo>
                    <a:pt x="0" y="1584176"/>
                  </a:lnTo>
                  <a:lnTo>
                    <a:pt x="3600" y="1584176"/>
                  </a:lnTo>
                  <a:lnTo>
                    <a:pt x="3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674EBCA-C0DF-6345-B33B-53C04C008C1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616" y="2355909"/>
              <a:ext cx="7975823" cy="4457466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77B56F0-B9A2-274B-A412-594D221B92BE}"/>
              </a:ext>
            </a:extLst>
          </p:cNvPr>
          <p:cNvSpPr txBox="1"/>
          <p:nvPr/>
        </p:nvSpPr>
        <p:spPr>
          <a:xfrm>
            <a:off x="7891100" y="2291925"/>
            <a:ext cx="813435" cy="88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 marR="5080" indent="-72390">
              <a:lnSpc>
                <a:spcPct val="157500"/>
              </a:lnSpc>
              <a:spcBef>
                <a:spcPts val="100"/>
              </a:spcBef>
            </a:pPr>
            <a:r>
              <a:rPr lang="pt-BR" sz="1800" spc="-5" noProof="0" dirty="0">
                <a:latin typeface="Arial"/>
                <a:cs typeface="Arial"/>
              </a:rPr>
              <a:t>e</a:t>
            </a:r>
            <a:r>
              <a:rPr lang="pt-BR" sz="1800" noProof="0" dirty="0">
                <a:latin typeface="Arial"/>
                <a:cs typeface="Arial"/>
              </a:rPr>
              <a:t>s</a:t>
            </a:r>
            <a:r>
              <a:rPr lang="pt-BR" sz="1800" spc="-5" noProof="0" dirty="0">
                <a:latin typeface="Arial"/>
                <a:cs typeface="Arial"/>
              </a:rPr>
              <a:t>pé</a:t>
            </a:r>
            <a:r>
              <a:rPr lang="pt-BR" sz="1800" noProof="0" dirty="0">
                <a:latin typeface="Arial"/>
                <a:cs typeface="Arial"/>
              </a:rPr>
              <a:t>cie  </a:t>
            </a:r>
            <a:r>
              <a:rPr lang="pt-BR" sz="1800" spc="-5" noProof="0" dirty="0">
                <a:latin typeface="Arial"/>
                <a:cs typeface="Arial"/>
              </a:rPr>
              <a:t>gene</a:t>
            </a:r>
            <a:endParaRPr lang="pt-BR" sz="1800" noProof="0" dirty="0">
              <a:latin typeface="Arial"/>
              <a:cs typeface="Arial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7E9F902E-6335-1744-93DD-ED8F2111873F}"/>
              </a:ext>
            </a:extLst>
          </p:cNvPr>
          <p:cNvGrpSpPr/>
          <p:nvPr/>
        </p:nvGrpSpPr>
        <p:grpSpPr>
          <a:xfrm>
            <a:off x="1822996" y="3501008"/>
            <a:ext cx="6061710" cy="3154045"/>
            <a:chOff x="1822996" y="3501008"/>
            <a:chExt cx="6061710" cy="315404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0792AD61-7AD7-8B42-9F15-C6F46A538E8E}"/>
                </a:ext>
              </a:extLst>
            </p:cNvPr>
            <p:cNvSpPr/>
            <p:nvPr/>
          </p:nvSpPr>
          <p:spPr>
            <a:xfrm>
              <a:off x="7308303" y="3501008"/>
              <a:ext cx="576580" cy="648335"/>
            </a:xfrm>
            <a:custGeom>
              <a:avLst/>
              <a:gdLst/>
              <a:ahLst/>
              <a:cxnLst/>
              <a:rect l="l" t="t" r="r" b="b"/>
              <a:pathLst>
                <a:path w="576579" h="648335">
                  <a:moveTo>
                    <a:pt x="576063" y="0"/>
                  </a:moveTo>
                  <a:lnTo>
                    <a:pt x="0" y="0"/>
                  </a:lnTo>
                  <a:lnTo>
                    <a:pt x="0" y="648071"/>
                  </a:lnTo>
                  <a:lnTo>
                    <a:pt x="576063" y="648071"/>
                  </a:lnTo>
                  <a:lnTo>
                    <a:pt x="5760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50FF86ED-02D0-6743-8E9C-C0658998600E}"/>
                </a:ext>
              </a:extLst>
            </p:cNvPr>
            <p:cNvSpPr/>
            <p:nvPr/>
          </p:nvSpPr>
          <p:spPr>
            <a:xfrm>
              <a:off x="1835696" y="5949289"/>
              <a:ext cx="1704975" cy="692785"/>
            </a:xfrm>
            <a:custGeom>
              <a:avLst/>
              <a:gdLst/>
              <a:ahLst/>
              <a:cxnLst/>
              <a:rect l="l" t="t" r="r" b="b"/>
              <a:pathLst>
                <a:path w="1704975" h="692784">
                  <a:moveTo>
                    <a:pt x="1704873" y="173177"/>
                  </a:moveTo>
                  <a:lnTo>
                    <a:pt x="1555013" y="0"/>
                  </a:lnTo>
                  <a:lnTo>
                    <a:pt x="1358519" y="173177"/>
                  </a:lnTo>
                  <a:lnTo>
                    <a:pt x="1445107" y="173177"/>
                  </a:lnTo>
                  <a:lnTo>
                    <a:pt x="1430921" y="218592"/>
                  </a:lnTo>
                  <a:lnTo>
                    <a:pt x="1413662" y="262559"/>
                  </a:lnTo>
                  <a:lnTo>
                    <a:pt x="1393456" y="305003"/>
                  </a:lnTo>
                  <a:lnTo>
                    <a:pt x="1370444" y="345795"/>
                  </a:lnTo>
                  <a:lnTo>
                    <a:pt x="1344714" y="384848"/>
                  </a:lnTo>
                  <a:lnTo>
                    <a:pt x="1316431" y="422059"/>
                  </a:lnTo>
                  <a:lnTo>
                    <a:pt x="1285684" y="457327"/>
                  </a:lnTo>
                  <a:lnTo>
                    <a:pt x="1252601" y="490537"/>
                  </a:lnTo>
                  <a:lnTo>
                    <a:pt x="1217320" y="521614"/>
                  </a:lnTo>
                  <a:lnTo>
                    <a:pt x="1179957" y="550430"/>
                  </a:lnTo>
                  <a:lnTo>
                    <a:pt x="1140637" y="576897"/>
                  </a:lnTo>
                  <a:lnTo>
                    <a:pt x="1099477" y="600913"/>
                  </a:lnTo>
                  <a:lnTo>
                    <a:pt x="1056601" y="622376"/>
                  </a:lnTo>
                  <a:lnTo>
                    <a:pt x="1012126" y="641197"/>
                  </a:lnTo>
                  <a:lnTo>
                    <a:pt x="966190" y="657250"/>
                  </a:lnTo>
                  <a:lnTo>
                    <a:pt x="918908" y="670445"/>
                  </a:lnTo>
                  <a:lnTo>
                    <a:pt x="870407" y="680681"/>
                  </a:lnTo>
                  <a:lnTo>
                    <a:pt x="863879" y="681634"/>
                  </a:lnTo>
                  <a:lnTo>
                    <a:pt x="863879" y="691311"/>
                  </a:lnTo>
                  <a:lnTo>
                    <a:pt x="857110" y="691095"/>
                  </a:lnTo>
                  <a:lnTo>
                    <a:pt x="836053" y="689089"/>
                  </a:lnTo>
                  <a:lnTo>
                    <a:pt x="863879" y="691311"/>
                  </a:lnTo>
                  <a:lnTo>
                    <a:pt x="863879" y="681634"/>
                  </a:lnTo>
                  <a:lnTo>
                    <a:pt x="821778" y="687717"/>
                  </a:lnTo>
                  <a:lnTo>
                    <a:pt x="807758" y="686371"/>
                  </a:lnTo>
                  <a:lnTo>
                    <a:pt x="759409" y="678624"/>
                  </a:lnTo>
                  <a:lnTo>
                    <a:pt x="712203" y="667943"/>
                  </a:lnTo>
                  <a:lnTo>
                    <a:pt x="666229" y="654456"/>
                  </a:lnTo>
                  <a:lnTo>
                    <a:pt x="621588" y="638251"/>
                  </a:lnTo>
                  <a:lnTo>
                    <a:pt x="578421" y="619442"/>
                  </a:lnTo>
                  <a:lnTo>
                    <a:pt x="536816" y="598119"/>
                  </a:lnTo>
                  <a:lnTo>
                    <a:pt x="496874" y="574395"/>
                  </a:lnTo>
                  <a:lnTo>
                    <a:pt x="458724" y="548360"/>
                  </a:lnTo>
                  <a:lnTo>
                    <a:pt x="422465" y="520128"/>
                  </a:lnTo>
                  <a:lnTo>
                    <a:pt x="388213" y="489800"/>
                  </a:lnTo>
                  <a:lnTo>
                    <a:pt x="356069" y="457492"/>
                  </a:lnTo>
                  <a:lnTo>
                    <a:pt x="326148" y="423278"/>
                  </a:lnTo>
                  <a:lnTo>
                    <a:pt x="298564" y="387286"/>
                  </a:lnTo>
                  <a:lnTo>
                    <a:pt x="273405" y="349618"/>
                  </a:lnTo>
                  <a:lnTo>
                    <a:pt x="250812" y="310362"/>
                  </a:lnTo>
                  <a:lnTo>
                    <a:pt x="230860" y="269621"/>
                  </a:lnTo>
                  <a:lnTo>
                    <a:pt x="213690" y="227520"/>
                  </a:lnTo>
                  <a:lnTo>
                    <a:pt x="199390" y="184137"/>
                  </a:lnTo>
                  <a:lnTo>
                    <a:pt x="188087" y="139598"/>
                  </a:lnTo>
                  <a:lnTo>
                    <a:pt x="179870" y="93992"/>
                  </a:lnTo>
                  <a:lnTo>
                    <a:pt x="174866" y="47421"/>
                  </a:lnTo>
                  <a:lnTo>
                    <a:pt x="173164" y="0"/>
                  </a:lnTo>
                  <a:lnTo>
                    <a:pt x="0" y="0"/>
                  </a:lnTo>
                  <a:lnTo>
                    <a:pt x="1689" y="47421"/>
                  </a:lnTo>
                  <a:lnTo>
                    <a:pt x="6692" y="93992"/>
                  </a:lnTo>
                  <a:lnTo>
                    <a:pt x="14909" y="139598"/>
                  </a:lnTo>
                  <a:lnTo>
                    <a:pt x="26225" y="184137"/>
                  </a:lnTo>
                  <a:lnTo>
                    <a:pt x="40513" y="227520"/>
                  </a:lnTo>
                  <a:lnTo>
                    <a:pt x="57696" y="269621"/>
                  </a:lnTo>
                  <a:lnTo>
                    <a:pt x="77635" y="310362"/>
                  </a:lnTo>
                  <a:lnTo>
                    <a:pt x="100241" y="349618"/>
                  </a:lnTo>
                  <a:lnTo>
                    <a:pt x="125387" y="387286"/>
                  </a:lnTo>
                  <a:lnTo>
                    <a:pt x="152971" y="423278"/>
                  </a:lnTo>
                  <a:lnTo>
                    <a:pt x="182892" y="457492"/>
                  </a:lnTo>
                  <a:lnTo>
                    <a:pt x="215036" y="489800"/>
                  </a:lnTo>
                  <a:lnTo>
                    <a:pt x="249301" y="520128"/>
                  </a:lnTo>
                  <a:lnTo>
                    <a:pt x="285546" y="548360"/>
                  </a:lnTo>
                  <a:lnTo>
                    <a:pt x="323697" y="574395"/>
                  </a:lnTo>
                  <a:lnTo>
                    <a:pt x="363639" y="598119"/>
                  </a:lnTo>
                  <a:lnTo>
                    <a:pt x="405244" y="619442"/>
                  </a:lnTo>
                  <a:lnTo>
                    <a:pt x="448424" y="638251"/>
                  </a:lnTo>
                  <a:lnTo>
                    <a:pt x="493052" y="654456"/>
                  </a:lnTo>
                  <a:lnTo>
                    <a:pt x="539026" y="667943"/>
                  </a:lnTo>
                  <a:lnTo>
                    <a:pt x="586244" y="678624"/>
                  </a:lnTo>
                  <a:lnTo>
                    <a:pt x="634580" y="686371"/>
                  </a:lnTo>
                  <a:lnTo>
                    <a:pt x="683945" y="691095"/>
                  </a:lnTo>
                  <a:lnTo>
                    <a:pt x="734212" y="692696"/>
                  </a:lnTo>
                  <a:lnTo>
                    <a:pt x="907389" y="692696"/>
                  </a:lnTo>
                  <a:lnTo>
                    <a:pt x="891273" y="692188"/>
                  </a:lnTo>
                  <a:lnTo>
                    <a:pt x="919543" y="692658"/>
                  </a:lnTo>
                  <a:lnTo>
                    <a:pt x="968146" y="690410"/>
                  </a:lnTo>
                  <a:lnTo>
                    <a:pt x="1016076" y="685165"/>
                  </a:lnTo>
                  <a:lnTo>
                    <a:pt x="1063205" y="677024"/>
                  </a:lnTo>
                  <a:lnTo>
                    <a:pt x="1109395" y="666064"/>
                  </a:lnTo>
                  <a:lnTo>
                    <a:pt x="1154518" y="652348"/>
                  </a:lnTo>
                  <a:lnTo>
                    <a:pt x="1198473" y="635977"/>
                  </a:lnTo>
                  <a:lnTo>
                    <a:pt x="1241107" y="617029"/>
                  </a:lnTo>
                  <a:lnTo>
                    <a:pt x="1282293" y="595579"/>
                  </a:lnTo>
                  <a:lnTo>
                    <a:pt x="1321930" y="571715"/>
                  </a:lnTo>
                  <a:lnTo>
                    <a:pt x="1359865" y="545528"/>
                  </a:lnTo>
                  <a:lnTo>
                    <a:pt x="1395971" y="517080"/>
                  </a:lnTo>
                  <a:lnTo>
                    <a:pt x="1430147" y="486460"/>
                  </a:lnTo>
                  <a:lnTo>
                    <a:pt x="1462252" y="453745"/>
                  </a:lnTo>
                  <a:lnTo>
                    <a:pt x="1492148" y="419036"/>
                  </a:lnTo>
                  <a:lnTo>
                    <a:pt x="1519720" y="382397"/>
                  </a:lnTo>
                  <a:lnTo>
                    <a:pt x="1544840" y="343916"/>
                  </a:lnTo>
                  <a:lnTo>
                    <a:pt x="1567395" y="303669"/>
                  </a:lnTo>
                  <a:lnTo>
                    <a:pt x="1587233" y="261734"/>
                  </a:lnTo>
                  <a:lnTo>
                    <a:pt x="1604238" y="218211"/>
                  </a:lnTo>
                  <a:lnTo>
                    <a:pt x="1618284" y="173177"/>
                  </a:lnTo>
                  <a:lnTo>
                    <a:pt x="1704873" y="173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42E70D88-6BC0-224A-9A8F-22C9B3A62F96}"/>
                </a:ext>
              </a:extLst>
            </p:cNvPr>
            <p:cNvSpPr/>
            <p:nvPr/>
          </p:nvSpPr>
          <p:spPr>
            <a:xfrm>
              <a:off x="1835696" y="5949279"/>
              <a:ext cx="1704975" cy="692785"/>
            </a:xfrm>
            <a:custGeom>
              <a:avLst/>
              <a:gdLst/>
              <a:ahLst/>
              <a:cxnLst/>
              <a:rect l="l" t="t" r="r" b="b"/>
              <a:pathLst>
                <a:path w="1704975" h="692784">
                  <a:moveTo>
                    <a:pt x="820802" y="687861"/>
                  </a:moveTo>
                  <a:lnTo>
                    <a:pt x="870408" y="680682"/>
                  </a:lnTo>
                  <a:lnTo>
                    <a:pt x="918913" y="670444"/>
                  </a:lnTo>
                  <a:lnTo>
                    <a:pt x="966196" y="657247"/>
                  </a:lnTo>
                  <a:lnTo>
                    <a:pt x="1012133" y="641192"/>
                  </a:lnTo>
                  <a:lnTo>
                    <a:pt x="1056601" y="622382"/>
                  </a:lnTo>
                  <a:lnTo>
                    <a:pt x="1099478" y="600918"/>
                  </a:lnTo>
                  <a:lnTo>
                    <a:pt x="1140640" y="576900"/>
                  </a:lnTo>
                  <a:lnTo>
                    <a:pt x="1179965" y="550431"/>
                  </a:lnTo>
                  <a:lnTo>
                    <a:pt x="1217329" y="521611"/>
                  </a:lnTo>
                  <a:lnTo>
                    <a:pt x="1252611" y="490541"/>
                  </a:lnTo>
                  <a:lnTo>
                    <a:pt x="1285686" y="457324"/>
                  </a:lnTo>
                  <a:lnTo>
                    <a:pt x="1316432" y="422060"/>
                  </a:lnTo>
                  <a:lnTo>
                    <a:pt x="1344726" y="384851"/>
                  </a:lnTo>
                  <a:lnTo>
                    <a:pt x="1370445" y="345798"/>
                  </a:lnTo>
                  <a:lnTo>
                    <a:pt x="1393466" y="305002"/>
                  </a:lnTo>
                  <a:lnTo>
                    <a:pt x="1413667" y="262565"/>
                  </a:lnTo>
                  <a:lnTo>
                    <a:pt x="1430925" y="218588"/>
                  </a:lnTo>
                  <a:lnTo>
                    <a:pt x="1445116" y="173173"/>
                  </a:lnTo>
                  <a:lnTo>
                    <a:pt x="1358530" y="173174"/>
                  </a:lnTo>
                  <a:lnTo>
                    <a:pt x="1555019" y="0"/>
                  </a:lnTo>
                  <a:lnTo>
                    <a:pt x="1704877" y="173174"/>
                  </a:lnTo>
                  <a:lnTo>
                    <a:pt x="1618290" y="173174"/>
                  </a:lnTo>
                  <a:lnTo>
                    <a:pt x="1604190" y="218344"/>
                  </a:lnTo>
                  <a:lnTo>
                    <a:pt x="1587085" y="262040"/>
                  </a:lnTo>
                  <a:lnTo>
                    <a:pt x="1567099" y="304171"/>
                  </a:lnTo>
                  <a:lnTo>
                    <a:pt x="1544356" y="344647"/>
                  </a:lnTo>
                  <a:lnTo>
                    <a:pt x="1518982" y="383375"/>
                  </a:lnTo>
                  <a:lnTo>
                    <a:pt x="1491101" y="420266"/>
                  </a:lnTo>
                  <a:lnTo>
                    <a:pt x="1460837" y="455227"/>
                  </a:lnTo>
                  <a:lnTo>
                    <a:pt x="1428317" y="488168"/>
                  </a:lnTo>
                  <a:lnTo>
                    <a:pt x="1393663" y="518998"/>
                  </a:lnTo>
                  <a:lnTo>
                    <a:pt x="1357002" y="547625"/>
                  </a:lnTo>
                  <a:lnTo>
                    <a:pt x="1318457" y="573958"/>
                  </a:lnTo>
                  <a:lnTo>
                    <a:pt x="1278154" y="597906"/>
                  </a:lnTo>
                  <a:lnTo>
                    <a:pt x="1236217" y="619378"/>
                  </a:lnTo>
                  <a:lnTo>
                    <a:pt x="1192771" y="638283"/>
                  </a:lnTo>
                  <a:lnTo>
                    <a:pt x="1147941" y="654530"/>
                  </a:lnTo>
                  <a:lnTo>
                    <a:pt x="1101851" y="668027"/>
                  </a:lnTo>
                  <a:lnTo>
                    <a:pt x="1054626" y="678683"/>
                  </a:lnTo>
                  <a:lnTo>
                    <a:pt x="1006391" y="686408"/>
                  </a:lnTo>
                  <a:lnTo>
                    <a:pt x="957270" y="691109"/>
                  </a:lnTo>
                  <a:lnTo>
                    <a:pt x="907389" y="692697"/>
                  </a:lnTo>
                  <a:lnTo>
                    <a:pt x="734215" y="692696"/>
                  </a:lnTo>
                  <a:lnTo>
                    <a:pt x="683946" y="691097"/>
                  </a:lnTo>
                  <a:lnTo>
                    <a:pt x="634586" y="686372"/>
                  </a:lnTo>
                  <a:lnTo>
                    <a:pt x="586245" y="678622"/>
                  </a:lnTo>
                  <a:lnTo>
                    <a:pt x="539031" y="667952"/>
                  </a:lnTo>
                  <a:lnTo>
                    <a:pt x="493055" y="654463"/>
                  </a:lnTo>
                  <a:lnTo>
                    <a:pt x="448425" y="638260"/>
                  </a:lnTo>
                  <a:lnTo>
                    <a:pt x="405251" y="619445"/>
                  </a:lnTo>
                  <a:lnTo>
                    <a:pt x="363642" y="598122"/>
                  </a:lnTo>
                  <a:lnTo>
                    <a:pt x="323708" y="574394"/>
                  </a:lnTo>
                  <a:lnTo>
                    <a:pt x="285558" y="548364"/>
                  </a:lnTo>
                  <a:lnTo>
                    <a:pt x="249301" y="520134"/>
                  </a:lnTo>
                  <a:lnTo>
                    <a:pt x="215046" y="489810"/>
                  </a:lnTo>
                  <a:lnTo>
                    <a:pt x="182904" y="457492"/>
                  </a:lnTo>
                  <a:lnTo>
                    <a:pt x="152982" y="423285"/>
                  </a:lnTo>
                  <a:lnTo>
                    <a:pt x="125392" y="387292"/>
                  </a:lnTo>
                  <a:lnTo>
                    <a:pt x="100241" y="349616"/>
                  </a:lnTo>
                  <a:lnTo>
                    <a:pt x="77640" y="310361"/>
                  </a:lnTo>
                  <a:lnTo>
                    <a:pt x="57698" y="269628"/>
                  </a:lnTo>
                  <a:lnTo>
                    <a:pt x="40523" y="227522"/>
                  </a:lnTo>
                  <a:lnTo>
                    <a:pt x="26226" y="184146"/>
                  </a:lnTo>
                  <a:lnTo>
                    <a:pt x="14916" y="139602"/>
                  </a:lnTo>
                  <a:lnTo>
                    <a:pt x="6702" y="93994"/>
                  </a:lnTo>
                  <a:lnTo>
                    <a:pt x="1693" y="47426"/>
                  </a:lnTo>
                  <a:lnTo>
                    <a:pt x="0" y="0"/>
                  </a:lnTo>
                  <a:lnTo>
                    <a:pt x="173174" y="0"/>
                  </a:lnTo>
                  <a:lnTo>
                    <a:pt x="174868" y="47426"/>
                  </a:lnTo>
                  <a:lnTo>
                    <a:pt x="179877" y="93994"/>
                  </a:lnTo>
                  <a:lnTo>
                    <a:pt x="188091" y="139602"/>
                  </a:lnTo>
                  <a:lnTo>
                    <a:pt x="199401" y="184146"/>
                  </a:lnTo>
                  <a:lnTo>
                    <a:pt x="213698" y="227522"/>
                  </a:lnTo>
                  <a:lnTo>
                    <a:pt x="230872" y="269628"/>
                  </a:lnTo>
                  <a:lnTo>
                    <a:pt x="250815" y="310361"/>
                  </a:lnTo>
                  <a:lnTo>
                    <a:pt x="273416" y="349616"/>
                  </a:lnTo>
                  <a:lnTo>
                    <a:pt x="298566" y="387292"/>
                  </a:lnTo>
                  <a:lnTo>
                    <a:pt x="326157" y="423285"/>
                  </a:lnTo>
                  <a:lnTo>
                    <a:pt x="356078" y="457492"/>
                  </a:lnTo>
                  <a:lnTo>
                    <a:pt x="388221" y="489810"/>
                  </a:lnTo>
                  <a:lnTo>
                    <a:pt x="422475" y="520134"/>
                  </a:lnTo>
                  <a:lnTo>
                    <a:pt x="458732" y="548364"/>
                  </a:lnTo>
                  <a:lnTo>
                    <a:pt x="496882" y="574394"/>
                  </a:lnTo>
                  <a:lnTo>
                    <a:pt x="536817" y="598122"/>
                  </a:lnTo>
                  <a:lnTo>
                    <a:pt x="578425" y="619445"/>
                  </a:lnTo>
                  <a:lnTo>
                    <a:pt x="621599" y="638260"/>
                  </a:lnTo>
                  <a:lnTo>
                    <a:pt x="666229" y="654463"/>
                  </a:lnTo>
                  <a:lnTo>
                    <a:pt x="712206" y="667952"/>
                  </a:lnTo>
                  <a:lnTo>
                    <a:pt x="759419" y="678622"/>
                  </a:lnTo>
                  <a:lnTo>
                    <a:pt x="807760" y="686372"/>
                  </a:lnTo>
                  <a:lnTo>
                    <a:pt x="857120" y="691097"/>
                  </a:lnTo>
                  <a:lnTo>
                    <a:pt x="907389" y="69269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14B5521-1249-214B-927E-32CF9F35BB96}"/>
                </a:ext>
              </a:extLst>
            </p:cNvPr>
            <p:cNvSpPr/>
            <p:nvPr/>
          </p:nvSpPr>
          <p:spPr>
            <a:xfrm>
              <a:off x="5004041" y="5949289"/>
              <a:ext cx="925830" cy="692785"/>
            </a:xfrm>
            <a:custGeom>
              <a:avLst/>
              <a:gdLst/>
              <a:ahLst/>
              <a:cxnLst/>
              <a:rect l="l" t="t" r="r" b="b"/>
              <a:pathLst>
                <a:path w="925829" h="692784">
                  <a:moveTo>
                    <a:pt x="925372" y="173164"/>
                  </a:moveTo>
                  <a:lnTo>
                    <a:pt x="762927" y="0"/>
                  </a:lnTo>
                  <a:lnTo>
                    <a:pt x="579018" y="173164"/>
                  </a:lnTo>
                  <a:lnTo>
                    <a:pt x="665607" y="173164"/>
                  </a:lnTo>
                  <a:lnTo>
                    <a:pt x="656704" y="232651"/>
                  </a:lnTo>
                  <a:lnTo>
                    <a:pt x="645363" y="289687"/>
                  </a:lnTo>
                  <a:lnTo>
                    <a:pt x="631698" y="344017"/>
                  </a:lnTo>
                  <a:lnTo>
                    <a:pt x="615848" y="395401"/>
                  </a:lnTo>
                  <a:lnTo>
                    <a:pt x="597916" y="443572"/>
                  </a:lnTo>
                  <a:lnTo>
                    <a:pt x="578040" y="488276"/>
                  </a:lnTo>
                  <a:lnTo>
                    <a:pt x="556336" y="529259"/>
                  </a:lnTo>
                  <a:lnTo>
                    <a:pt x="532942" y="566280"/>
                  </a:lnTo>
                  <a:lnTo>
                    <a:pt x="507949" y="599084"/>
                  </a:lnTo>
                  <a:lnTo>
                    <a:pt x="485101" y="623570"/>
                  </a:lnTo>
                  <a:lnTo>
                    <a:pt x="485101" y="690283"/>
                  </a:lnTo>
                  <a:lnTo>
                    <a:pt x="480568" y="689864"/>
                  </a:lnTo>
                  <a:lnTo>
                    <a:pt x="468566" y="686536"/>
                  </a:lnTo>
                  <a:lnTo>
                    <a:pt x="485101" y="690283"/>
                  </a:lnTo>
                  <a:lnTo>
                    <a:pt x="485101" y="623570"/>
                  </a:lnTo>
                  <a:lnTo>
                    <a:pt x="481520" y="627405"/>
                  </a:lnTo>
                  <a:lnTo>
                    <a:pt x="455485" y="649516"/>
                  </a:lnTo>
                  <a:lnTo>
                    <a:pt x="455485" y="682904"/>
                  </a:lnTo>
                  <a:lnTo>
                    <a:pt x="450557" y="681532"/>
                  </a:lnTo>
                  <a:lnTo>
                    <a:pt x="428167" y="671080"/>
                  </a:lnTo>
                  <a:lnTo>
                    <a:pt x="455485" y="682904"/>
                  </a:lnTo>
                  <a:lnTo>
                    <a:pt x="455485" y="649516"/>
                  </a:lnTo>
                  <a:lnTo>
                    <a:pt x="453745" y="650989"/>
                  </a:lnTo>
                  <a:lnTo>
                    <a:pt x="424865" y="669544"/>
                  </a:lnTo>
                  <a:lnTo>
                    <a:pt x="421449" y="667943"/>
                  </a:lnTo>
                  <a:lnTo>
                    <a:pt x="366382" y="625995"/>
                  </a:lnTo>
                  <a:lnTo>
                    <a:pt x="316318" y="565962"/>
                  </a:lnTo>
                  <a:lnTo>
                    <a:pt x="293471" y="529780"/>
                  </a:lnTo>
                  <a:lnTo>
                    <a:pt x="272224" y="489800"/>
                  </a:lnTo>
                  <a:lnTo>
                    <a:pt x="252704" y="446290"/>
                  </a:lnTo>
                  <a:lnTo>
                    <a:pt x="235038" y="399478"/>
                  </a:lnTo>
                  <a:lnTo>
                    <a:pt x="219341" y="349618"/>
                  </a:lnTo>
                  <a:lnTo>
                    <a:pt x="205740" y="296938"/>
                  </a:lnTo>
                  <a:lnTo>
                    <a:pt x="194335" y="241706"/>
                  </a:lnTo>
                  <a:lnTo>
                    <a:pt x="185254" y="184137"/>
                  </a:lnTo>
                  <a:lnTo>
                    <a:pt x="178625" y="124510"/>
                  </a:lnTo>
                  <a:lnTo>
                    <a:pt x="174561" y="63042"/>
                  </a:lnTo>
                  <a:lnTo>
                    <a:pt x="173177" y="0"/>
                  </a:lnTo>
                  <a:lnTo>
                    <a:pt x="0" y="0"/>
                  </a:lnTo>
                  <a:lnTo>
                    <a:pt x="1384" y="63042"/>
                  </a:lnTo>
                  <a:lnTo>
                    <a:pt x="5448" y="124510"/>
                  </a:lnTo>
                  <a:lnTo>
                    <a:pt x="12077" y="184137"/>
                  </a:lnTo>
                  <a:lnTo>
                    <a:pt x="21158" y="241706"/>
                  </a:lnTo>
                  <a:lnTo>
                    <a:pt x="32562" y="296938"/>
                  </a:lnTo>
                  <a:lnTo>
                    <a:pt x="46164" y="349618"/>
                  </a:lnTo>
                  <a:lnTo>
                    <a:pt x="61874" y="399478"/>
                  </a:lnTo>
                  <a:lnTo>
                    <a:pt x="79540" y="446290"/>
                  </a:lnTo>
                  <a:lnTo>
                    <a:pt x="99047" y="489800"/>
                  </a:lnTo>
                  <a:lnTo>
                    <a:pt x="120294" y="529780"/>
                  </a:lnTo>
                  <a:lnTo>
                    <a:pt x="143141" y="565962"/>
                  </a:lnTo>
                  <a:lnTo>
                    <a:pt x="167487" y="598119"/>
                  </a:lnTo>
                  <a:lnTo>
                    <a:pt x="220167" y="649351"/>
                  </a:lnTo>
                  <a:lnTo>
                    <a:pt x="277380" y="681532"/>
                  </a:lnTo>
                  <a:lnTo>
                    <a:pt x="338175" y="692696"/>
                  </a:lnTo>
                  <a:lnTo>
                    <a:pt x="511352" y="692696"/>
                  </a:lnTo>
                  <a:lnTo>
                    <a:pt x="502716" y="691908"/>
                  </a:lnTo>
                  <a:lnTo>
                    <a:pt x="522097" y="692518"/>
                  </a:lnTo>
                  <a:lnTo>
                    <a:pt x="583704" y="676808"/>
                  </a:lnTo>
                  <a:lnTo>
                    <a:pt x="642162" y="638810"/>
                  </a:lnTo>
                  <a:lnTo>
                    <a:pt x="669772" y="611987"/>
                  </a:lnTo>
                  <a:lnTo>
                    <a:pt x="696074" y="580212"/>
                  </a:lnTo>
                  <a:lnTo>
                    <a:pt x="720902" y="543712"/>
                  </a:lnTo>
                  <a:lnTo>
                    <a:pt x="744080" y="502691"/>
                  </a:lnTo>
                  <a:lnTo>
                    <a:pt x="765429" y="457339"/>
                  </a:lnTo>
                  <a:lnTo>
                    <a:pt x="784783" y="407885"/>
                  </a:lnTo>
                  <a:lnTo>
                    <a:pt x="801966" y="354545"/>
                  </a:lnTo>
                  <a:lnTo>
                    <a:pt x="816813" y="297497"/>
                  </a:lnTo>
                  <a:lnTo>
                    <a:pt x="829132" y="236969"/>
                  </a:lnTo>
                  <a:lnTo>
                    <a:pt x="838784" y="173164"/>
                  </a:lnTo>
                  <a:lnTo>
                    <a:pt x="925372" y="173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A07F36F8-328E-C441-875C-0EDDF93EAE94}"/>
                </a:ext>
              </a:extLst>
            </p:cNvPr>
            <p:cNvSpPr/>
            <p:nvPr/>
          </p:nvSpPr>
          <p:spPr>
            <a:xfrm>
              <a:off x="5004047" y="5949279"/>
              <a:ext cx="925830" cy="692785"/>
            </a:xfrm>
            <a:custGeom>
              <a:avLst/>
              <a:gdLst/>
              <a:ahLst/>
              <a:cxnLst/>
              <a:rect l="l" t="t" r="r" b="b"/>
              <a:pathLst>
                <a:path w="925829" h="692784">
                  <a:moveTo>
                    <a:pt x="424758" y="669604"/>
                  </a:moveTo>
                  <a:lnTo>
                    <a:pt x="481514" y="627406"/>
                  </a:lnTo>
                  <a:lnTo>
                    <a:pt x="507953" y="599085"/>
                  </a:lnTo>
                  <a:lnTo>
                    <a:pt x="532936" y="566287"/>
                  </a:lnTo>
                  <a:lnTo>
                    <a:pt x="556339" y="529267"/>
                  </a:lnTo>
                  <a:lnTo>
                    <a:pt x="578040" y="488277"/>
                  </a:lnTo>
                  <a:lnTo>
                    <a:pt x="597915" y="443571"/>
                  </a:lnTo>
                  <a:lnTo>
                    <a:pt x="615842" y="395402"/>
                  </a:lnTo>
                  <a:lnTo>
                    <a:pt x="631697" y="344025"/>
                  </a:lnTo>
                  <a:lnTo>
                    <a:pt x="645358" y="289692"/>
                  </a:lnTo>
                  <a:lnTo>
                    <a:pt x="656701" y="232657"/>
                  </a:lnTo>
                  <a:lnTo>
                    <a:pt x="665604" y="173173"/>
                  </a:lnTo>
                  <a:lnTo>
                    <a:pt x="579017" y="173174"/>
                  </a:lnTo>
                  <a:lnTo>
                    <a:pt x="762929" y="0"/>
                  </a:lnTo>
                  <a:lnTo>
                    <a:pt x="925366" y="173174"/>
                  </a:lnTo>
                  <a:lnTo>
                    <a:pt x="838778" y="173174"/>
                  </a:lnTo>
                  <a:lnTo>
                    <a:pt x="829074" y="237256"/>
                  </a:lnTo>
                  <a:lnTo>
                    <a:pt x="816594" y="298251"/>
                  </a:lnTo>
                  <a:lnTo>
                    <a:pt x="801507" y="355893"/>
                  </a:lnTo>
                  <a:lnTo>
                    <a:pt x="783980" y="409918"/>
                  </a:lnTo>
                  <a:lnTo>
                    <a:pt x="764180" y="460058"/>
                  </a:lnTo>
                  <a:lnTo>
                    <a:pt x="742274" y="506049"/>
                  </a:lnTo>
                  <a:lnTo>
                    <a:pt x="718432" y="547624"/>
                  </a:lnTo>
                  <a:lnTo>
                    <a:pt x="692819" y="584518"/>
                  </a:lnTo>
                  <a:lnTo>
                    <a:pt x="665603" y="616465"/>
                  </a:lnTo>
                  <a:lnTo>
                    <a:pt x="636952" y="643200"/>
                  </a:lnTo>
                  <a:lnTo>
                    <a:pt x="576014" y="679967"/>
                  </a:lnTo>
                  <a:lnTo>
                    <a:pt x="511345" y="692696"/>
                  </a:lnTo>
                  <a:lnTo>
                    <a:pt x="338171" y="692696"/>
                  </a:lnTo>
                  <a:lnTo>
                    <a:pt x="277384" y="681535"/>
                  </a:lnTo>
                  <a:lnTo>
                    <a:pt x="220172" y="649359"/>
                  </a:lnTo>
                  <a:lnTo>
                    <a:pt x="167489" y="598122"/>
                  </a:lnTo>
                  <a:lnTo>
                    <a:pt x="143145" y="565968"/>
                  </a:lnTo>
                  <a:lnTo>
                    <a:pt x="120291" y="529782"/>
                  </a:lnTo>
                  <a:lnTo>
                    <a:pt x="99048" y="489810"/>
                  </a:lnTo>
                  <a:lnTo>
                    <a:pt x="79533" y="446295"/>
                  </a:lnTo>
                  <a:lnTo>
                    <a:pt x="61867" y="399482"/>
                  </a:lnTo>
                  <a:lnTo>
                    <a:pt x="46170" y="349616"/>
                  </a:lnTo>
                  <a:lnTo>
                    <a:pt x="32560" y="296942"/>
                  </a:lnTo>
                  <a:lnTo>
                    <a:pt x="21156" y="241704"/>
                  </a:lnTo>
                  <a:lnTo>
                    <a:pt x="12079" y="184146"/>
                  </a:lnTo>
                  <a:lnTo>
                    <a:pt x="5448" y="124512"/>
                  </a:lnTo>
                  <a:lnTo>
                    <a:pt x="1381" y="63049"/>
                  </a:lnTo>
                  <a:lnTo>
                    <a:pt x="0" y="0"/>
                  </a:lnTo>
                  <a:lnTo>
                    <a:pt x="173174" y="0"/>
                  </a:lnTo>
                  <a:lnTo>
                    <a:pt x="174556" y="63049"/>
                  </a:lnTo>
                  <a:lnTo>
                    <a:pt x="178622" y="124512"/>
                  </a:lnTo>
                  <a:lnTo>
                    <a:pt x="185253" y="184146"/>
                  </a:lnTo>
                  <a:lnTo>
                    <a:pt x="194330" y="241704"/>
                  </a:lnTo>
                  <a:lnTo>
                    <a:pt x="205734" y="296942"/>
                  </a:lnTo>
                  <a:lnTo>
                    <a:pt x="219344" y="349616"/>
                  </a:lnTo>
                  <a:lnTo>
                    <a:pt x="235042" y="399482"/>
                  </a:lnTo>
                  <a:lnTo>
                    <a:pt x="252707" y="446295"/>
                  </a:lnTo>
                  <a:lnTo>
                    <a:pt x="272222" y="489810"/>
                  </a:lnTo>
                  <a:lnTo>
                    <a:pt x="293466" y="529782"/>
                  </a:lnTo>
                  <a:lnTo>
                    <a:pt x="316319" y="565968"/>
                  </a:lnTo>
                  <a:lnTo>
                    <a:pt x="340664" y="598122"/>
                  </a:lnTo>
                  <a:lnTo>
                    <a:pt x="393346" y="649359"/>
                  </a:lnTo>
                  <a:lnTo>
                    <a:pt x="450559" y="681535"/>
                  </a:lnTo>
                  <a:lnTo>
                    <a:pt x="480565" y="689865"/>
                  </a:lnTo>
                  <a:lnTo>
                    <a:pt x="511345" y="69269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E4997228-4921-BE40-9BDD-906AF1FD0D9C}"/>
              </a:ext>
            </a:extLst>
          </p:cNvPr>
          <p:cNvSpPr txBox="1"/>
          <p:nvPr/>
        </p:nvSpPr>
        <p:spPr>
          <a:xfrm>
            <a:off x="1698411" y="2593670"/>
            <a:ext cx="1283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b="1" spc="-5" noProof="0" dirty="0">
                <a:latin typeface="Arial"/>
                <a:cs typeface="Arial"/>
              </a:rPr>
              <a:t>Especiação</a:t>
            </a:r>
            <a:endParaRPr lang="pt-BR" sz="1800" noProof="0" dirty="0">
              <a:latin typeface="Arial"/>
              <a:cs typeface="Arial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D7ED12A2-EA1A-1E49-B98D-BD6BE789A532}"/>
              </a:ext>
            </a:extLst>
          </p:cNvPr>
          <p:cNvSpPr txBox="1"/>
          <p:nvPr/>
        </p:nvSpPr>
        <p:spPr>
          <a:xfrm>
            <a:off x="5730859" y="3808514"/>
            <a:ext cx="1244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b="1" spc="-5" noProof="0" dirty="0">
                <a:latin typeface="Arial"/>
                <a:cs typeface="Arial"/>
              </a:rPr>
              <a:t>Duplicação</a:t>
            </a:r>
            <a:endParaRPr lang="pt-BR" sz="1800" noProof="0" dirty="0">
              <a:latin typeface="Arial"/>
              <a:cs typeface="Arial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850806B-5010-FF4B-9EE1-2060FC3FC07D}"/>
              </a:ext>
            </a:extLst>
          </p:cNvPr>
          <p:cNvSpPr txBox="1"/>
          <p:nvPr/>
        </p:nvSpPr>
        <p:spPr>
          <a:xfrm>
            <a:off x="330260" y="4177845"/>
            <a:ext cx="1283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b="1" spc="-5" noProof="0" dirty="0">
                <a:latin typeface="Arial"/>
                <a:cs typeface="Arial"/>
              </a:rPr>
              <a:t>Especiação</a:t>
            </a:r>
            <a:endParaRPr lang="pt-BR" sz="1800" noProof="0" dirty="0">
              <a:latin typeface="Arial"/>
              <a:cs typeface="Arial"/>
            </a:endParaRPr>
          </a:p>
        </p:txBody>
      </p:sp>
      <p:sp>
        <p:nvSpPr>
          <p:cNvPr id="16" name="object 18">
            <a:extLst>
              <a:ext uri="{FF2B5EF4-FFF2-40B4-BE49-F238E27FC236}">
                <a16:creationId xmlns:a16="http://schemas.microsoft.com/office/drawing/2014/main" id="{6FB1153F-30A7-B649-A6BE-09502B005EE1}"/>
              </a:ext>
            </a:extLst>
          </p:cNvPr>
          <p:cNvSpPr txBox="1"/>
          <p:nvPr/>
        </p:nvSpPr>
        <p:spPr>
          <a:xfrm>
            <a:off x="590" y="683788"/>
            <a:ext cx="8804743" cy="10720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lang="pt-BR" sz="2550" noProof="0" dirty="0">
              <a:latin typeface="Arial"/>
              <a:cs typeface="Arial"/>
            </a:endParaRPr>
          </a:p>
          <a:p>
            <a:pPr marL="282575" algn="ctr">
              <a:lnSpc>
                <a:spcPts val="2635"/>
              </a:lnSpc>
            </a:pPr>
            <a:r>
              <a:rPr lang="pt-BR" sz="2200" spc="-5" noProof="0" dirty="0">
                <a:latin typeface="Arial"/>
                <a:cs typeface="Arial"/>
              </a:rPr>
              <a:t>Desenvolver</a:t>
            </a:r>
            <a:r>
              <a:rPr lang="pt-BR" sz="2200" noProof="0" dirty="0">
                <a:latin typeface="Arial"/>
                <a:cs typeface="Arial"/>
              </a:rPr>
              <a:t> marcadores</a:t>
            </a:r>
            <a:r>
              <a:rPr lang="pt-BR" sz="2200" spc="-5" noProof="0" dirty="0">
                <a:latin typeface="Arial"/>
                <a:cs typeface="Arial"/>
              </a:rPr>
              <a:t> nucleares</a:t>
            </a:r>
            <a:endParaRPr lang="pt-BR" sz="2200" noProof="0" dirty="0">
              <a:latin typeface="Arial"/>
              <a:cs typeface="Arial"/>
            </a:endParaRPr>
          </a:p>
          <a:p>
            <a:pPr marL="281940" algn="ctr">
              <a:lnSpc>
                <a:spcPts val="2635"/>
              </a:lnSpc>
            </a:pPr>
            <a:r>
              <a:rPr lang="pt-BR" sz="2200" spc="-5" noProof="0" dirty="0">
                <a:latin typeface="Arial"/>
                <a:cs typeface="Arial"/>
              </a:rPr>
              <a:t>Além</a:t>
            </a:r>
            <a:r>
              <a:rPr lang="pt-BR" sz="2200" spc="15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de</a:t>
            </a:r>
            <a:r>
              <a:rPr lang="pt-BR" sz="2200" spc="10" noProof="0" dirty="0">
                <a:latin typeface="Arial"/>
                <a:cs typeface="Arial"/>
              </a:rPr>
              <a:t> </a:t>
            </a:r>
            <a:r>
              <a:rPr lang="pt-BR" sz="2200" spc="-5" noProof="0" dirty="0">
                <a:latin typeface="Arial"/>
                <a:cs typeface="Arial"/>
              </a:rPr>
              <a:t>avaliar</a:t>
            </a:r>
            <a:r>
              <a:rPr lang="pt-BR" sz="2200" spc="15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o</a:t>
            </a:r>
            <a:r>
              <a:rPr lang="pt-BR" sz="2200" spc="10" noProof="0" dirty="0">
                <a:latin typeface="Arial"/>
                <a:cs typeface="Arial"/>
              </a:rPr>
              <a:t> </a:t>
            </a:r>
            <a:r>
              <a:rPr lang="pt-BR" sz="2200" spc="-5" noProof="0" dirty="0">
                <a:latin typeface="Arial"/>
                <a:cs typeface="Arial"/>
              </a:rPr>
              <a:t>potencial</a:t>
            </a:r>
            <a:r>
              <a:rPr lang="pt-BR" sz="2200" spc="15" noProof="0" dirty="0">
                <a:latin typeface="Arial"/>
                <a:cs typeface="Arial"/>
              </a:rPr>
              <a:t> </a:t>
            </a:r>
            <a:r>
              <a:rPr lang="pt-BR" sz="2200" spc="-5" noProof="0" dirty="0">
                <a:latin typeface="Arial"/>
                <a:cs typeface="Arial"/>
              </a:rPr>
              <a:t>filogenético,</a:t>
            </a:r>
            <a:r>
              <a:rPr lang="pt-BR" sz="2200" spc="10" noProof="0" dirty="0">
                <a:latin typeface="Arial"/>
                <a:cs typeface="Arial"/>
              </a:rPr>
              <a:t> </a:t>
            </a:r>
            <a:r>
              <a:rPr lang="pt-BR" sz="2200" spc="-5" noProof="0" dirty="0">
                <a:latin typeface="Arial"/>
                <a:cs typeface="Arial"/>
              </a:rPr>
              <a:t>precisa-se</a:t>
            </a:r>
            <a:r>
              <a:rPr lang="pt-BR" sz="2200" spc="10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testar</a:t>
            </a:r>
            <a:r>
              <a:rPr lang="pt-BR" sz="2200" spc="15" noProof="0" dirty="0">
                <a:latin typeface="Arial"/>
                <a:cs typeface="Arial"/>
              </a:rPr>
              <a:t> </a:t>
            </a:r>
            <a:r>
              <a:rPr lang="pt-BR" sz="2200" noProof="0" dirty="0">
                <a:latin typeface="Arial"/>
                <a:cs typeface="Arial"/>
              </a:rPr>
              <a:t>a</a:t>
            </a:r>
            <a:r>
              <a:rPr lang="pt-BR" sz="2200" spc="10" noProof="0" dirty="0">
                <a:latin typeface="Arial"/>
                <a:cs typeface="Arial"/>
              </a:rPr>
              <a:t> </a:t>
            </a:r>
            <a:r>
              <a:rPr lang="pt-BR" sz="2200" spc="-5" noProof="0" dirty="0">
                <a:latin typeface="Arial"/>
                <a:cs typeface="Arial"/>
              </a:rPr>
              <a:t>ortologia</a:t>
            </a:r>
            <a:endParaRPr lang="pt-BR" sz="2200" noProof="0" dirty="0">
              <a:latin typeface="Arial"/>
              <a:cs typeface="Arial"/>
            </a:endParaRP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39E4085E-B6F3-7441-B17A-B130A7F39236}"/>
              </a:ext>
            </a:extLst>
          </p:cNvPr>
          <p:cNvSpPr txBox="1"/>
          <p:nvPr/>
        </p:nvSpPr>
        <p:spPr>
          <a:xfrm>
            <a:off x="0" y="-23537"/>
            <a:ext cx="6827520" cy="493724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lang="pt-BR" sz="2400" b="1" spc="-5" noProof="0" dirty="0">
                <a:latin typeface="Arial"/>
                <a:cs typeface="Arial"/>
              </a:rPr>
              <a:t>Genoma</a:t>
            </a:r>
            <a:r>
              <a:rPr lang="pt-BR" sz="2400" b="1" spc="-35" noProof="0" dirty="0">
                <a:latin typeface="Arial"/>
                <a:cs typeface="Arial"/>
              </a:rPr>
              <a:t> </a:t>
            </a:r>
            <a:r>
              <a:rPr lang="pt-BR" sz="2400" b="1" spc="-5" noProof="0" dirty="0">
                <a:latin typeface="Arial"/>
                <a:cs typeface="Arial"/>
              </a:rPr>
              <a:t>nuclear</a:t>
            </a:r>
            <a:endParaRPr lang="pt-BR" sz="2400" noProof="0" dirty="0">
              <a:latin typeface="Arial"/>
              <a:cs typeface="Arial"/>
            </a:endParaRP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50905889-3495-DF48-A51A-85ED7E724B56}"/>
              </a:ext>
            </a:extLst>
          </p:cNvPr>
          <p:cNvSpPr txBox="1">
            <a:spLocks/>
          </p:cNvSpPr>
          <p:nvPr/>
        </p:nvSpPr>
        <p:spPr>
          <a:xfrm>
            <a:off x="6233794" y="-94535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Genome </a:t>
            </a:r>
            <a:r>
              <a:rPr lang="pt-BR" sz="3400" spc="-5" noProof="0" dirty="0" err="1">
                <a:solidFill>
                  <a:srgbClr val="000000"/>
                </a:solidFill>
                <a:latin typeface="Arial"/>
                <a:cs typeface="Arial"/>
              </a:rPr>
              <a:t>skimming</a:t>
            </a:r>
            <a:endParaRPr lang="pt-BR" sz="3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9776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EF998B-5C4D-D84E-B89A-96CCFDE75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73329" cy="28754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F7DBE2-F539-1942-B21F-7902DA3D5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64" y="4171154"/>
            <a:ext cx="11029071" cy="26868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13FCE0-0A1C-1148-BB28-A53536124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116" y="590760"/>
            <a:ext cx="4002978" cy="317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453D7F-9B2A-D24C-AA32-B54425B94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543" y="181887"/>
            <a:ext cx="9060913" cy="25472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B79AA8-6ECB-FF49-9C3F-31728F6F1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255" y="2850893"/>
            <a:ext cx="7774745" cy="4007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65F79F-7FF6-D444-8A94-7BF7CED2B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3170913"/>
            <a:ext cx="38227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10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B66200-8011-5443-8C47-6E29587BC5D7}"/>
              </a:ext>
            </a:extLst>
          </p:cNvPr>
          <p:cNvSpPr txBox="1">
            <a:spLocks/>
          </p:cNvSpPr>
          <p:nvPr/>
        </p:nvSpPr>
        <p:spPr>
          <a:xfrm>
            <a:off x="159456" y="1540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NGS e filogenia</a:t>
            </a:r>
            <a:endParaRPr lang="pt-BR" sz="34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2F66A51F-5B6C-AF4E-AC3E-71DBED590488}"/>
              </a:ext>
            </a:extLst>
          </p:cNvPr>
          <p:cNvGrpSpPr/>
          <p:nvPr/>
        </p:nvGrpSpPr>
        <p:grpSpPr>
          <a:xfrm>
            <a:off x="10859770" y="0"/>
            <a:ext cx="1332230" cy="6858000"/>
            <a:chOff x="7812359" y="1"/>
            <a:chExt cx="1332230" cy="685800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6250ED0-3245-EC44-B8D6-717785E8D66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2359" y="1"/>
              <a:ext cx="1331640" cy="3645023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44E5D13-DE98-A845-BF0A-BAEE5A446E2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359" y="3645023"/>
              <a:ext cx="1316969" cy="1872208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EB96E7F-AA97-5A47-908C-4233FF29E6D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2359" y="5499392"/>
              <a:ext cx="1331639" cy="1358607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EEC35CD-E8A5-994F-A317-A90460B97302}"/>
              </a:ext>
            </a:extLst>
          </p:cNvPr>
          <p:cNvSpPr txBox="1"/>
          <p:nvPr/>
        </p:nvSpPr>
        <p:spPr>
          <a:xfrm>
            <a:off x="516368" y="1222346"/>
            <a:ext cx="9133242" cy="428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sz="2800" noProof="0" dirty="0"/>
              <a:t>Três métodos principais: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>
                <a:solidFill>
                  <a:schemeClr val="bg2">
                    <a:lumMod val="90000"/>
                  </a:schemeClr>
                </a:solidFill>
              </a:rPr>
              <a:t>Genome </a:t>
            </a:r>
            <a:r>
              <a:rPr lang="pt-BR" sz="2800" noProof="0" dirty="0" err="1">
                <a:solidFill>
                  <a:schemeClr val="bg2">
                    <a:lumMod val="90000"/>
                  </a:schemeClr>
                </a:solidFill>
              </a:rPr>
              <a:t>skimming</a:t>
            </a:r>
            <a:endParaRPr lang="pt-BR" sz="2800" noProof="0" dirty="0">
              <a:solidFill>
                <a:schemeClr val="bg2">
                  <a:lumMod val="90000"/>
                </a:schemeClr>
              </a:solidFill>
            </a:endParaRP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/>
              <a:t>Target capture, </a:t>
            </a:r>
            <a:r>
              <a:rPr lang="pt-BR" sz="2800" noProof="0" dirty="0" err="1"/>
              <a:t>HybSeq</a:t>
            </a:r>
            <a:endParaRPr lang="pt-BR" sz="2800" noProof="0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>
                <a:solidFill>
                  <a:schemeClr val="bg2">
                    <a:lumMod val="90000"/>
                  </a:schemeClr>
                </a:solidFill>
              </a:rPr>
              <a:t>Transcriptoma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endParaRPr lang="pt-BR" sz="2800" noProof="0" dirty="0"/>
          </a:p>
        </p:txBody>
      </p:sp>
    </p:spTree>
    <p:extLst>
      <p:ext uri="{BB962C8B-B14F-4D97-AF65-F5344CB8AC3E}">
        <p14:creationId xmlns:p14="http://schemas.microsoft.com/office/powerpoint/2010/main" val="3467903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2CBF191-75CF-C74B-B836-6AF1484B0432}"/>
              </a:ext>
            </a:extLst>
          </p:cNvPr>
          <p:cNvSpPr txBox="1"/>
          <p:nvPr/>
        </p:nvSpPr>
        <p:spPr>
          <a:xfrm>
            <a:off x="266700" y="359882"/>
            <a:ext cx="8237220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800" b="1" spc="-5" noProof="0" dirty="0">
                <a:latin typeface="Arial"/>
                <a:cs typeface="Arial"/>
              </a:rPr>
              <a:t>Como</a:t>
            </a:r>
            <a:r>
              <a:rPr lang="pt-BR" sz="2800" b="1" noProof="0" dirty="0">
                <a:latin typeface="Arial"/>
                <a:cs typeface="Arial"/>
              </a:rPr>
              <a:t> contornar</a:t>
            </a:r>
            <a:r>
              <a:rPr lang="pt-BR" sz="2800" b="1" spc="-5" noProof="0" dirty="0">
                <a:latin typeface="Arial"/>
                <a:cs typeface="Arial"/>
              </a:rPr>
              <a:t> </a:t>
            </a:r>
            <a:r>
              <a:rPr lang="pt-BR" sz="2800" b="1" noProof="0" dirty="0">
                <a:latin typeface="Arial"/>
                <a:cs typeface="Arial"/>
              </a:rPr>
              <a:t>os </a:t>
            </a:r>
            <a:r>
              <a:rPr lang="pt-BR" sz="2800" b="1" spc="-5" noProof="0" dirty="0">
                <a:latin typeface="Arial"/>
                <a:cs typeface="Arial"/>
              </a:rPr>
              <a:t>problemas</a:t>
            </a:r>
            <a:r>
              <a:rPr lang="pt-BR" sz="2800" b="1" noProof="0" dirty="0">
                <a:latin typeface="Arial"/>
                <a:cs typeface="Arial"/>
              </a:rPr>
              <a:t> de estudar</a:t>
            </a:r>
            <a:r>
              <a:rPr lang="pt-BR" sz="2800" b="1" spc="-5" noProof="0" dirty="0">
                <a:latin typeface="Arial"/>
                <a:cs typeface="Arial"/>
              </a:rPr>
              <a:t> </a:t>
            </a:r>
            <a:r>
              <a:rPr lang="pt-BR" sz="2800" b="1" noProof="0" dirty="0">
                <a:latin typeface="Arial"/>
                <a:cs typeface="Arial"/>
              </a:rPr>
              <a:t>o</a:t>
            </a:r>
            <a:r>
              <a:rPr lang="pt-BR" sz="2800" b="1" spc="5" noProof="0" dirty="0">
                <a:latin typeface="Arial"/>
                <a:cs typeface="Arial"/>
              </a:rPr>
              <a:t> </a:t>
            </a:r>
            <a:r>
              <a:rPr lang="pt-BR" sz="2800" b="1" noProof="0" dirty="0">
                <a:latin typeface="Arial"/>
                <a:cs typeface="Arial"/>
              </a:rPr>
              <a:t>genoma nuclear?</a:t>
            </a:r>
            <a:endParaRPr lang="pt-BR" sz="28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pt-BR" sz="2800" noProof="0" dirty="0">
              <a:latin typeface="Arial"/>
              <a:cs typeface="Arial"/>
            </a:endParaRPr>
          </a:p>
          <a:p>
            <a:pPr marL="156210">
              <a:lnSpc>
                <a:spcPct val="100000"/>
              </a:lnSpc>
              <a:spcBef>
                <a:spcPts val="5"/>
              </a:spcBef>
            </a:pPr>
            <a:r>
              <a:rPr lang="pt-BR" sz="2800" spc="-5" noProof="0" dirty="0">
                <a:latin typeface="Calibri"/>
                <a:cs typeface="Calibri"/>
              </a:rPr>
              <a:t>Pré-seleção</a:t>
            </a:r>
            <a:r>
              <a:rPr lang="pt-BR" sz="2800" spc="-10" noProof="0" dirty="0">
                <a:latin typeface="Calibri"/>
                <a:cs typeface="Calibri"/>
              </a:rPr>
              <a:t> </a:t>
            </a:r>
            <a:r>
              <a:rPr lang="pt-BR" sz="2800" spc="-5" noProof="0" dirty="0">
                <a:latin typeface="Calibri"/>
                <a:cs typeface="Calibri"/>
              </a:rPr>
              <a:t>de</a:t>
            </a:r>
            <a:r>
              <a:rPr lang="pt-BR" sz="2800" noProof="0" dirty="0">
                <a:latin typeface="Calibri"/>
                <a:cs typeface="Calibri"/>
              </a:rPr>
              <a:t> </a:t>
            </a:r>
            <a:r>
              <a:rPr lang="pt-BR" sz="2800" spc="-10" noProof="0" dirty="0">
                <a:latin typeface="Calibri"/>
                <a:cs typeface="Calibri"/>
              </a:rPr>
              <a:t>alvos</a:t>
            </a:r>
            <a:r>
              <a:rPr lang="pt-BR" sz="2800" noProof="0" dirty="0">
                <a:latin typeface="Calibri"/>
                <a:cs typeface="Calibri"/>
              </a:rPr>
              <a:t> </a:t>
            </a:r>
            <a:r>
              <a:rPr lang="pt-BR" sz="2800" spc="-10" noProof="0" dirty="0">
                <a:latin typeface="Calibri"/>
                <a:cs typeface="Calibri"/>
              </a:rPr>
              <a:t>genômicos</a:t>
            </a:r>
            <a:r>
              <a:rPr lang="pt-BR" sz="2800" noProof="0" dirty="0">
                <a:latin typeface="Calibri"/>
                <a:cs typeface="Calibri"/>
              </a:rPr>
              <a:t> </a:t>
            </a:r>
            <a:r>
              <a:rPr lang="pt-BR" sz="2800" spc="-5" noProof="0" dirty="0">
                <a:latin typeface="Calibri"/>
                <a:cs typeface="Calibri"/>
              </a:rPr>
              <a:t>nucleares</a:t>
            </a:r>
            <a:endParaRPr lang="pt-BR" sz="2800" noProof="0" dirty="0">
              <a:latin typeface="Calibri"/>
              <a:cs typeface="Calibri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35CD7863-2206-E941-8730-156BEC38785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9011" y="1578761"/>
            <a:ext cx="3156289" cy="4333102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E35F91F3-27B8-434D-8BDE-B0A72AD0ED5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8970" y="2840371"/>
            <a:ext cx="5074950" cy="1445713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514F5D8E-80CC-E94F-BD1B-9A284860BA7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9077" y="4381963"/>
            <a:ext cx="5606025" cy="1062194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CF900362-4712-1E44-9C2D-A7E32A00112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82695" y="5540037"/>
            <a:ext cx="5568111" cy="1137871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FC3D378D-CF05-D649-96A9-07B881A2DFD3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9499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51FA1EC-9C7C-1742-B696-68722417ED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1182" y="1484784"/>
            <a:ext cx="2799379" cy="3888432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0D02A0A7-D29B-1A43-B5E7-835AD3B06EBE}"/>
              </a:ext>
            </a:extLst>
          </p:cNvPr>
          <p:cNvSpPr txBox="1"/>
          <p:nvPr/>
        </p:nvSpPr>
        <p:spPr>
          <a:xfrm>
            <a:off x="266700" y="0"/>
            <a:ext cx="8792894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b="1" spc="-5" noProof="0" dirty="0">
                <a:latin typeface="Arial"/>
                <a:cs typeface="Arial"/>
              </a:rPr>
              <a:t>Como</a:t>
            </a:r>
            <a:r>
              <a:rPr lang="pt-BR" sz="2400" b="1" noProof="0" dirty="0">
                <a:latin typeface="Arial"/>
                <a:cs typeface="Arial"/>
              </a:rPr>
              <a:t> contornar</a:t>
            </a:r>
            <a:r>
              <a:rPr lang="pt-BR" sz="2400" b="1" spc="-5" noProof="0" dirty="0">
                <a:latin typeface="Arial"/>
                <a:cs typeface="Arial"/>
              </a:rPr>
              <a:t> </a:t>
            </a:r>
            <a:r>
              <a:rPr lang="pt-BR" sz="2400" b="1" noProof="0" dirty="0">
                <a:latin typeface="Arial"/>
                <a:cs typeface="Arial"/>
              </a:rPr>
              <a:t>os </a:t>
            </a:r>
            <a:r>
              <a:rPr lang="pt-BR" sz="2400" b="1" spc="-5" noProof="0" dirty="0">
                <a:latin typeface="Arial"/>
                <a:cs typeface="Arial"/>
              </a:rPr>
              <a:t>problemas</a:t>
            </a:r>
            <a:r>
              <a:rPr lang="pt-BR" sz="2400" b="1" noProof="0" dirty="0">
                <a:latin typeface="Arial"/>
                <a:cs typeface="Arial"/>
              </a:rPr>
              <a:t> de estudar</a:t>
            </a:r>
            <a:r>
              <a:rPr lang="pt-BR" sz="2400" b="1" spc="-5" noProof="0" dirty="0">
                <a:latin typeface="Arial"/>
                <a:cs typeface="Arial"/>
              </a:rPr>
              <a:t> </a:t>
            </a:r>
            <a:r>
              <a:rPr lang="pt-BR" sz="2400" b="1" noProof="0" dirty="0">
                <a:latin typeface="Arial"/>
                <a:cs typeface="Arial"/>
              </a:rPr>
              <a:t>o</a:t>
            </a:r>
            <a:r>
              <a:rPr lang="pt-BR" sz="2400" b="1" spc="5" noProof="0" dirty="0">
                <a:latin typeface="Arial"/>
                <a:cs typeface="Arial"/>
              </a:rPr>
              <a:t> </a:t>
            </a:r>
            <a:r>
              <a:rPr lang="pt-BR" sz="2400" b="1" noProof="0" dirty="0">
                <a:latin typeface="Arial"/>
                <a:cs typeface="Arial"/>
              </a:rPr>
              <a:t>genoma nuclear?</a:t>
            </a:r>
            <a:endParaRPr lang="pt-BR" sz="2400" noProof="0" dirty="0">
              <a:latin typeface="Arial"/>
              <a:cs typeface="Arial"/>
            </a:endParaRPr>
          </a:p>
          <a:p>
            <a:pPr marL="156210" algn="ctr">
              <a:lnSpc>
                <a:spcPct val="100000"/>
              </a:lnSpc>
              <a:spcBef>
                <a:spcPts val="5"/>
              </a:spcBef>
            </a:pPr>
            <a:endParaRPr lang="pt-BR" sz="2400" b="1" noProof="0" dirty="0">
              <a:highlight>
                <a:srgbClr val="00FFFF"/>
              </a:highlight>
              <a:latin typeface="Calibri"/>
              <a:cs typeface="Calibri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322029B1-CBF5-0945-91CC-F284B212C9CC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33110-F86D-342C-5B96-55A110115B8A}"/>
              </a:ext>
            </a:extLst>
          </p:cNvPr>
          <p:cNvSpPr txBox="1"/>
          <p:nvPr/>
        </p:nvSpPr>
        <p:spPr>
          <a:xfrm>
            <a:off x="2511944" y="1016000"/>
            <a:ext cx="46623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pt-BR" sz="2000" b="1" spc="-5" dirty="0">
                <a:cs typeface="Calibri"/>
              </a:rPr>
              <a:t>Pré-seleção</a:t>
            </a:r>
            <a:r>
              <a:rPr lang="pt-BR" sz="2000" b="1" spc="-10" dirty="0">
                <a:cs typeface="Calibri"/>
              </a:rPr>
              <a:t> </a:t>
            </a:r>
            <a:r>
              <a:rPr lang="pt-BR" sz="2000" b="1" spc="-5" dirty="0">
                <a:cs typeface="Calibri"/>
              </a:rPr>
              <a:t>de</a:t>
            </a:r>
            <a:r>
              <a:rPr lang="pt-BR" sz="2000" b="1" dirty="0">
                <a:cs typeface="Calibri"/>
              </a:rPr>
              <a:t> </a:t>
            </a:r>
            <a:r>
              <a:rPr lang="pt-BR" sz="2000" b="1" spc="-10" dirty="0">
                <a:cs typeface="Calibri"/>
              </a:rPr>
              <a:t>alvos</a:t>
            </a:r>
            <a:r>
              <a:rPr lang="pt-BR" sz="2000" b="1" dirty="0">
                <a:cs typeface="Calibri"/>
              </a:rPr>
              <a:t> </a:t>
            </a:r>
            <a:r>
              <a:rPr lang="pt-BR" sz="2000" b="1" spc="-10" dirty="0">
                <a:cs typeface="Calibri"/>
              </a:rPr>
              <a:t>genômicos</a:t>
            </a:r>
            <a:r>
              <a:rPr lang="pt-BR" sz="2000" b="1" dirty="0">
                <a:cs typeface="Calibri"/>
              </a:rPr>
              <a:t> </a:t>
            </a:r>
            <a:r>
              <a:rPr lang="pt-BR" sz="2000" b="1" spc="-5" dirty="0">
                <a:cs typeface="Calibri"/>
              </a:rPr>
              <a:t>nucleares</a:t>
            </a:r>
          </a:p>
          <a:p>
            <a:pPr marL="156210">
              <a:lnSpc>
                <a:spcPct val="100000"/>
              </a:lnSpc>
              <a:spcBef>
                <a:spcPts val="5"/>
              </a:spcBef>
            </a:pPr>
            <a:endParaRPr lang="pt-BR" sz="2000" b="1" spc="-5" dirty="0">
              <a:cs typeface="Calibri"/>
            </a:endParaRPr>
          </a:p>
          <a:p>
            <a:pPr marL="156210" algn="ctr">
              <a:lnSpc>
                <a:spcPct val="100000"/>
              </a:lnSpc>
              <a:spcBef>
                <a:spcPts val="5"/>
              </a:spcBef>
            </a:pPr>
            <a:r>
              <a:rPr lang="pt-BR" sz="2000" b="1" spc="-5" dirty="0" err="1">
                <a:highlight>
                  <a:srgbClr val="00FFFF"/>
                </a:highlight>
                <a:cs typeface="Calibri"/>
              </a:rPr>
              <a:t>Reduced</a:t>
            </a:r>
            <a:r>
              <a:rPr lang="pt-BR" sz="2000" b="1" spc="-5" dirty="0">
                <a:highlight>
                  <a:srgbClr val="00FFFF"/>
                </a:highlight>
                <a:cs typeface="Calibri"/>
              </a:rPr>
              <a:t> </a:t>
            </a:r>
            <a:r>
              <a:rPr lang="pt-BR" sz="2000" b="1" spc="-5" dirty="0" err="1">
                <a:highlight>
                  <a:srgbClr val="00FFFF"/>
                </a:highlight>
                <a:cs typeface="Calibri"/>
              </a:rPr>
              <a:t>Representation</a:t>
            </a:r>
            <a:r>
              <a:rPr lang="pt-BR" sz="2000" b="1" spc="-5" dirty="0">
                <a:highlight>
                  <a:srgbClr val="00FFFF"/>
                </a:highlight>
                <a:cs typeface="Calibri"/>
              </a:rPr>
              <a:t> </a:t>
            </a:r>
            <a:r>
              <a:rPr lang="pt-BR" sz="2000" b="1" spc="-5" dirty="0" err="1">
                <a:highlight>
                  <a:srgbClr val="00FFFF"/>
                </a:highlight>
                <a:cs typeface="Calibri"/>
              </a:rPr>
              <a:t>Sequencing</a:t>
            </a:r>
            <a:endParaRPr lang="pt-BR" sz="2000" b="1" spc="-5" dirty="0">
              <a:highlight>
                <a:srgbClr val="00FFFF"/>
              </a:highlight>
              <a:cs typeface="Calibri"/>
            </a:endParaRPr>
          </a:p>
          <a:p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7C129-DF52-AE15-0B95-9FA28939D1BA}"/>
              </a:ext>
            </a:extLst>
          </p:cNvPr>
          <p:cNvSpPr txBox="1"/>
          <p:nvPr/>
        </p:nvSpPr>
        <p:spPr>
          <a:xfrm>
            <a:off x="514480" y="2332021"/>
            <a:ext cx="8297333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>
              <a:spcBef>
                <a:spcPts val="1200"/>
              </a:spcBef>
              <a:buFontTx/>
              <a:buChar char="-"/>
              <a:tabLst>
                <a:tab pos="354965" algn="l"/>
                <a:tab pos="355600" algn="l"/>
              </a:tabLst>
            </a:pPr>
            <a:r>
              <a:rPr lang="pt-BR" sz="2000" spc="-10" dirty="0">
                <a:cs typeface="Calibri"/>
              </a:rPr>
              <a:t>Profundidade</a:t>
            </a:r>
            <a:r>
              <a:rPr lang="pt-BR" sz="2000" spc="10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do sequenciamento </a:t>
            </a:r>
            <a:r>
              <a:rPr lang="pt-BR" sz="2000" spc="-440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pode </a:t>
            </a:r>
            <a:r>
              <a:rPr lang="pt-BR" sz="2000" dirty="0">
                <a:cs typeface="Calibri"/>
              </a:rPr>
              <a:t>ser </a:t>
            </a:r>
            <a:r>
              <a:rPr lang="pt-BR" sz="2000" spc="-10" dirty="0">
                <a:cs typeface="Calibri"/>
              </a:rPr>
              <a:t>reduzida</a:t>
            </a:r>
          </a:p>
          <a:p>
            <a:pPr marL="355600" indent="-342900">
              <a:spcBef>
                <a:spcPts val="1200"/>
              </a:spcBef>
              <a:buFontTx/>
              <a:buChar char="-"/>
              <a:tabLst>
                <a:tab pos="354965" algn="l"/>
                <a:tab pos="355600" algn="l"/>
              </a:tabLst>
            </a:pPr>
            <a:r>
              <a:rPr lang="pt-BR" sz="2000" spc="-15" dirty="0">
                <a:cs typeface="Calibri"/>
              </a:rPr>
              <a:t>Remove </a:t>
            </a:r>
            <a:r>
              <a:rPr lang="pt-BR" sz="2000" spc="-5" dirty="0">
                <a:cs typeface="Calibri"/>
              </a:rPr>
              <a:t>regiões que não </a:t>
            </a:r>
            <a:r>
              <a:rPr lang="pt-BR" sz="2000" spc="-10" dirty="0">
                <a:cs typeface="Calibri"/>
              </a:rPr>
              <a:t>estamos </a:t>
            </a:r>
            <a:r>
              <a:rPr lang="pt-BR" sz="2000" spc="-5" dirty="0">
                <a:cs typeface="Calibri"/>
              </a:rPr>
              <a:t>interessados: </a:t>
            </a:r>
            <a:r>
              <a:rPr lang="pt-BR" sz="2000" spc="-440" dirty="0">
                <a:cs typeface="Calibri"/>
              </a:rPr>
              <a:t> </a:t>
            </a:r>
            <a:r>
              <a:rPr lang="pt-BR" sz="2000" spc="-5" dirty="0" err="1">
                <a:cs typeface="Calibri"/>
              </a:rPr>
              <a:t>cpDNA</a:t>
            </a:r>
            <a:r>
              <a:rPr lang="pt-BR" sz="2000" spc="-5" dirty="0">
                <a:cs typeface="Calibri"/>
              </a:rPr>
              <a:t>,</a:t>
            </a:r>
            <a:r>
              <a:rPr lang="pt-BR" sz="2000" spc="-10" dirty="0">
                <a:cs typeface="Calibri"/>
              </a:rPr>
              <a:t> </a:t>
            </a:r>
            <a:r>
              <a:rPr lang="pt-BR" sz="2000" spc="-5" dirty="0" err="1">
                <a:cs typeface="Calibri"/>
              </a:rPr>
              <a:t>mtDNA</a:t>
            </a:r>
            <a:r>
              <a:rPr lang="pt-BR" sz="2000" spc="-5" dirty="0">
                <a:cs typeface="Calibri"/>
              </a:rPr>
              <a:t>,</a:t>
            </a:r>
            <a:r>
              <a:rPr lang="pt-BR" sz="2000" spc="-10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regiões</a:t>
            </a:r>
            <a:r>
              <a:rPr lang="pt-BR" sz="2000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repetitivas,</a:t>
            </a:r>
            <a:r>
              <a:rPr lang="pt-BR" sz="2000" spc="-10" dirty="0">
                <a:cs typeface="Calibri"/>
              </a:rPr>
              <a:t> </a:t>
            </a:r>
            <a:r>
              <a:rPr lang="pt-BR" sz="2000" spc="-10" dirty="0" err="1">
                <a:cs typeface="Calibri"/>
              </a:rPr>
              <a:t>etc</a:t>
            </a:r>
            <a:endParaRPr lang="pt-BR" sz="2000" spc="-10" dirty="0">
              <a:cs typeface="Calibri"/>
            </a:endParaRPr>
          </a:p>
          <a:p>
            <a:pPr marL="355600" indent="-342900">
              <a:spcBef>
                <a:spcPts val="1200"/>
              </a:spcBef>
              <a:buFontTx/>
              <a:buChar char="-"/>
              <a:tabLst>
                <a:tab pos="354965" algn="l"/>
                <a:tab pos="355600" algn="l"/>
              </a:tabLst>
            </a:pPr>
            <a:r>
              <a:rPr lang="pt-BR" sz="2000" dirty="0">
                <a:cs typeface="Calibri"/>
              </a:rPr>
              <a:t>Mais</a:t>
            </a:r>
            <a:r>
              <a:rPr lang="pt-BR" sz="2000" spc="-20" dirty="0">
                <a:cs typeface="Calibri"/>
              </a:rPr>
              <a:t> </a:t>
            </a:r>
            <a:r>
              <a:rPr lang="pt-BR" sz="2000" spc="-10" dirty="0">
                <a:cs typeface="Calibri"/>
              </a:rPr>
              <a:t>amostras</a:t>
            </a:r>
            <a:r>
              <a:rPr lang="pt-BR" sz="2000" spc="-15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por</a:t>
            </a:r>
            <a:r>
              <a:rPr lang="pt-BR" sz="2000" spc="-15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corrida</a:t>
            </a:r>
            <a:endParaRPr lang="pt-BR" sz="2000" dirty="0">
              <a:cs typeface="Calibri"/>
            </a:endParaRPr>
          </a:p>
          <a:p>
            <a:pPr marL="355600" indent="-342900">
              <a:spcBef>
                <a:spcPts val="1200"/>
              </a:spcBef>
              <a:buChar char="-"/>
              <a:tabLst>
                <a:tab pos="354965" algn="l"/>
                <a:tab pos="355600" algn="l"/>
              </a:tabLst>
            </a:pPr>
            <a:r>
              <a:rPr lang="pt-BR" sz="2000" spc="-10" dirty="0">
                <a:cs typeface="Calibri"/>
              </a:rPr>
              <a:t>Reduz</a:t>
            </a:r>
            <a:r>
              <a:rPr lang="pt-BR" sz="2000" spc="-20" dirty="0">
                <a:cs typeface="Calibri"/>
              </a:rPr>
              <a:t> </a:t>
            </a:r>
            <a:r>
              <a:rPr lang="pt-BR" sz="2000" dirty="0">
                <a:cs typeface="Calibri"/>
              </a:rPr>
              <a:t>a</a:t>
            </a:r>
            <a:r>
              <a:rPr lang="pt-BR" sz="2000" spc="-5" dirty="0">
                <a:cs typeface="Calibri"/>
              </a:rPr>
              <a:t> quantidade de</a:t>
            </a:r>
            <a:r>
              <a:rPr lang="pt-BR" sz="2000" spc="-10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dados </a:t>
            </a:r>
            <a:r>
              <a:rPr lang="pt-BR" sz="2000" spc="-15" dirty="0">
                <a:cs typeface="Calibri"/>
              </a:rPr>
              <a:t>para</a:t>
            </a:r>
            <a:r>
              <a:rPr lang="pt-BR" sz="2000" spc="-10" dirty="0">
                <a:cs typeface="Calibri"/>
              </a:rPr>
              <a:t> </a:t>
            </a:r>
            <a:r>
              <a:rPr lang="pt-BR" sz="2000" dirty="0">
                <a:cs typeface="Calibri"/>
              </a:rPr>
              <a:t>analisar</a:t>
            </a:r>
          </a:p>
          <a:p>
            <a:pPr marL="355600" indent="-342900">
              <a:spcBef>
                <a:spcPts val="1200"/>
              </a:spcBef>
              <a:buFontTx/>
              <a:buChar char="-"/>
              <a:tabLst>
                <a:tab pos="354965" algn="l"/>
                <a:tab pos="355600" algn="l"/>
              </a:tabLst>
            </a:pPr>
            <a:r>
              <a:rPr lang="pt-BR" sz="2000" spc="-5" dirty="0">
                <a:cs typeface="Calibri"/>
              </a:rPr>
              <a:t>Análogo</a:t>
            </a:r>
            <a:r>
              <a:rPr lang="pt-BR" sz="2000" spc="-10" dirty="0">
                <a:cs typeface="Calibri"/>
              </a:rPr>
              <a:t> </a:t>
            </a:r>
            <a:r>
              <a:rPr lang="pt-BR" sz="2000" dirty="0">
                <a:cs typeface="Calibri"/>
              </a:rPr>
              <a:t>a </a:t>
            </a:r>
            <a:r>
              <a:rPr lang="pt-BR" sz="2000" spc="-5" dirty="0">
                <a:cs typeface="Calibri"/>
              </a:rPr>
              <a:t>usar</a:t>
            </a:r>
            <a:r>
              <a:rPr lang="pt-BR" sz="2000" spc="5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uma</a:t>
            </a:r>
            <a:r>
              <a:rPr lang="pt-BR" sz="2000" dirty="0">
                <a:cs typeface="Calibri"/>
              </a:rPr>
              <a:t> </a:t>
            </a:r>
            <a:r>
              <a:rPr lang="pt-BR" sz="2000" spc="-10" dirty="0">
                <a:cs typeface="Calibri"/>
              </a:rPr>
              <a:t>reação </a:t>
            </a:r>
            <a:r>
              <a:rPr lang="pt-BR" sz="2000" spc="-5" dirty="0">
                <a:cs typeface="Calibri"/>
              </a:rPr>
              <a:t>de</a:t>
            </a:r>
            <a:r>
              <a:rPr lang="pt-BR" sz="2000" spc="5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PCR </a:t>
            </a:r>
            <a:r>
              <a:rPr lang="pt-BR" sz="2000" spc="-15" dirty="0">
                <a:cs typeface="Calibri"/>
              </a:rPr>
              <a:t>para</a:t>
            </a:r>
            <a:r>
              <a:rPr lang="pt-BR" sz="2000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amplificar </a:t>
            </a:r>
            <a:r>
              <a:rPr lang="pt-BR" sz="2000" spc="-434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uma região</a:t>
            </a:r>
            <a:r>
              <a:rPr lang="pt-BR" sz="2000" spc="-10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específica</a:t>
            </a:r>
            <a:r>
              <a:rPr lang="pt-BR" sz="2000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do</a:t>
            </a:r>
            <a:r>
              <a:rPr lang="pt-BR" sz="2000" spc="-15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DNA</a:t>
            </a:r>
            <a:r>
              <a:rPr lang="pt-BR" sz="2000" dirty="0">
                <a:cs typeface="Calibri"/>
              </a:rPr>
              <a:t> </a:t>
            </a:r>
            <a:r>
              <a:rPr lang="pt-BR" sz="2000" spc="-10" dirty="0">
                <a:cs typeface="Calibri"/>
              </a:rPr>
              <a:t>antes</a:t>
            </a:r>
            <a:r>
              <a:rPr lang="pt-BR" sz="2000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do </a:t>
            </a:r>
            <a:r>
              <a:rPr lang="pt-BR" sz="2000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sequenciamento</a:t>
            </a:r>
            <a:r>
              <a:rPr lang="pt-BR" sz="2000" spc="-15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de</a:t>
            </a:r>
            <a:r>
              <a:rPr lang="pt-BR" sz="2000" dirty="0">
                <a:cs typeface="Calibri"/>
              </a:rPr>
              <a:t> </a:t>
            </a:r>
            <a:r>
              <a:rPr lang="pt-BR" sz="2000" spc="-5" dirty="0">
                <a:cs typeface="Calibri"/>
              </a:rPr>
              <a:t>Sanger</a:t>
            </a:r>
          </a:p>
          <a:p>
            <a:pPr marL="355600" indent="-342900">
              <a:spcBef>
                <a:spcPts val="1200"/>
              </a:spcBef>
              <a:buFontTx/>
              <a:buChar char="-"/>
              <a:tabLst>
                <a:tab pos="354965" algn="l"/>
                <a:tab pos="355600" algn="l"/>
              </a:tabLst>
            </a:pPr>
            <a:r>
              <a:rPr lang="pt-BR" sz="2000" spc="-5" dirty="0">
                <a:cs typeface="Calibri"/>
              </a:rPr>
              <a:t>Outro exemplo é o Whole </a:t>
            </a:r>
            <a:r>
              <a:rPr lang="pt-BR" sz="2000" spc="-5" dirty="0" err="1">
                <a:cs typeface="Calibri"/>
              </a:rPr>
              <a:t>Exome</a:t>
            </a:r>
            <a:r>
              <a:rPr lang="pt-BR" sz="2000" spc="-5" dirty="0">
                <a:cs typeface="Calibri"/>
              </a:rPr>
              <a:t> </a:t>
            </a:r>
            <a:r>
              <a:rPr lang="pt-BR" sz="2000" spc="-5" dirty="0" err="1">
                <a:cs typeface="Calibri"/>
              </a:rPr>
              <a:t>Sequencing</a:t>
            </a:r>
            <a:r>
              <a:rPr lang="pt-BR" sz="2000" spc="-5" dirty="0">
                <a:cs typeface="Calibri"/>
              </a:rPr>
              <a:t> – técnica amplamente usada em estudos de doenças genômicas em humanos e outras aplicações comerciais (23 and Me, </a:t>
            </a:r>
            <a:r>
              <a:rPr lang="pt-BR" sz="2000" spc="-5" dirty="0" err="1">
                <a:cs typeface="Calibri"/>
              </a:rPr>
              <a:t>etc</a:t>
            </a:r>
            <a:r>
              <a:rPr lang="pt-BR" sz="2000" spc="-5" dirty="0">
                <a:cs typeface="Calibri"/>
              </a:rPr>
              <a:t>)</a:t>
            </a:r>
            <a:endParaRPr lang="pt-BR" sz="2000" dirty="0">
              <a:cs typeface="Calibri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09053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B702498-12F0-8546-9292-731111A809F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2349" y="646423"/>
            <a:ext cx="5961970" cy="604751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A9C7EC21-35C1-9343-8478-E9669034C156}"/>
              </a:ext>
            </a:extLst>
          </p:cNvPr>
          <p:cNvSpPr txBox="1"/>
          <p:nvPr/>
        </p:nvSpPr>
        <p:spPr>
          <a:xfrm>
            <a:off x="186242" y="646423"/>
            <a:ext cx="5215752" cy="54271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800" b="1" noProof="0" dirty="0">
                <a:latin typeface="Arial"/>
                <a:cs typeface="Arial"/>
              </a:rPr>
              <a:t>Princípios</a:t>
            </a:r>
            <a:r>
              <a:rPr lang="pt-BR" sz="2800" b="1" spc="-40" noProof="0" dirty="0">
                <a:latin typeface="Arial"/>
                <a:cs typeface="Arial"/>
              </a:rPr>
              <a:t> </a:t>
            </a:r>
            <a:r>
              <a:rPr lang="pt-BR" sz="2800" b="1" spc="-5" noProof="0" dirty="0">
                <a:latin typeface="Arial"/>
                <a:cs typeface="Arial"/>
              </a:rPr>
              <a:t>gerais</a:t>
            </a:r>
            <a:endParaRPr lang="pt-BR" sz="28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pt-BR" sz="3200" noProof="0" dirty="0">
              <a:latin typeface="Arial"/>
              <a:cs typeface="Arial"/>
            </a:endParaRPr>
          </a:p>
          <a:p>
            <a:pPr marL="12700" marR="363855">
              <a:lnSpc>
                <a:spcPct val="99800"/>
              </a:lnSpc>
              <a:spcBef>
                <a:spcPts val="1930"/>
              </a:spcBef>
            </a:pPr>
            <a:r>
              <a:rPr lang="pt-BR" sz="2400" spc="-5" noProof="0" dirty="0">
                <a:latin typeface="Calibri"/>
                <a:cs typeface="Calibri"/>
              </a:rPr>
              <a:t>Regiões pré-selecionadas, </a:t>
            </a:r>
            <a:r>
              <a:rPr lang="pt-BR" sz="2400" spc="-40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baseadas </a:t>
            </a:r>
            <a:r>
              <a:rPr lang="pt-BR" sz="2400" noProof="0" dirty="0">
                <a:latin typeface="Calibri"/>
                <a:cs typeface="Calibri"/>
              </a:rPr>
              <a:t>em </a:t>
            </a:r>
            <a:r>
              <a:rPr lang="pt-BR" sz="2400" spc="-5" noProof="0" dirty="0">
                <a:latin typeface="Calibri"/>
                <a:cs typeface="Calibri"/>
              </a:rPr>
              <a:t>sequências </a:t>
            </a:r>
            <a:r>
              <a:rPr lang="pt-BR" sz="240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conhecidas (</a:t>
            </a:r>
            <a:r>
              <a:rPr lang="pt-BR" sz="2400" spc="-5" noProof="0" dirty="0" err="1">
                <a:latin typeface="Calibri"/>
                <a:cs typeface="Calibri"/>
              </a:rPr>
              <a:t>UCEs</a:t>
            </a:r>
            <a:r>
              <a:rPr lang="pt-BR" sz="2400" spc="-5" noProof="0" dirty="0">
                <a:latin typeface="Calibri"/>
                <a:cs typeface="Calibri"/>
              </a:rPr>
              <a:t>, genes</a:t>
            </a:r>
            <a:r>
              <a:rPr lang="pt-BR" sz="2400" noProof="0" dirty="0">
                <a:latin typeface="Calibri"/>
                <a:cs typeface="Calibri"/>
              </a:rPr>
              <a:t> </a:t>
            </a:r>
            <a:r>
              <a:rPr lang="pt-BR" sz="2400" spc="-5" noProof="0" dirty="0" err="1">
                <a:latin typeface="Calibri"/>
                <a:cs typeface="Calibri"/>
              </a:rPr>
              <a:t>ortólogos</a:t>
            </a:r>
            <a:r>
              <a:rPr lang="pt-BR" sz="2400" spc="-5" noProof="0" dirty="0">
                <a:latin typeface="Calibri"/>
                <a:cs typeface="Calibri"/>
              </a:rPr>
              <a:t>,</a:t>
            </a:r>
            <a:r>
              <a:rPr lang="pt-BR" sz="2400" noProof="0" dirty="0">
                <a:latin typeface="Calibri"/>
                <a:cs typeface="Calibri"/>
              </a:rPr>
              <a:t> </a:t>
            </a:r>
            <a:r>
              <a:rPr lang="pt-BR" sz="2400" spc="-10" noProof="0" dirty="0" err="1">
                <a:latin typeface="Calibri"/>
                <a:cs typeface="Calibri"/>
              </a:rPr>
              <a:t>etc</a:t>
            </a:r>
            <a:r>
              <a:rPr lang="pt-BR" sz="2400" spc="-10" noProof="0" dirty="0">
                <a:latin typeface="Calibri"/>
                <a:cs typeface="Calibri"/>
              </a:rPr>
              <a:t>)</a:t>
            </a:r>
            <a:endParaRPr lang="pt-BR" sz="2400" noProof="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pt-BR" sz="2000" noProof="0" dirty="0">
              <a:latin typeface="Calibri"/>
              <a:cs typeface="Calibri"/>
            </a:endParaRPr>
          </a:p>
          <a:p>
            <a:pPr marL="12700" marR="5080">
              <a:lnSpc>
                <a:spcPct val="99800"/>
              </a:lnSpc>
              <a:spcBef>
                <a:spcPts val="5"/>
              </a:spcBef>
            </a:pPr>
            <a:r>
              <a:rPr lang="pt-BR" sz="2400" spc="-10" noProof="0" dirty="0">
                <a:latin typeface="Calibri"/>
                <a:cs typeface="Calibri"/>
              </a:rPr>
              <a:t>Elaboração</a:t>
            </a:r>
            <a:r>
              <a:rPr lang="pt-BR" sz="2400" spc="-5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de</a:t>
            </a:r>
            <a:r>
              <a:rPr lang="pt-BR" sz="2400" spc="5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sondas</a:t>
            </a:r>
            <a:r>
              <a:rPr lang="pt-BR" sz="2400" spc="-10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de</a:t>
            </a:r>
            <a:r>
              <a:rPr lang="pt-BR" sz="2400" spc="5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RNA </a:t>
            </a:r>
            <a:r>
              <a:rPr lang="pt-BR" sz="2400" spc="-395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que </a:t>
            </a:r>
            <a:r>
              <a:rPr lang="pt-BR" sz="2400" spc="-5" noProof="0" dirty="0">
                <a:latin typeface="Calibri"/>
                <a:cs typeface="Calibri"/>
              </a:rPr>
              <a:t>se </a:t>
            </a:r>
            <a:r>
              <a:rPr lang="pt-BR" sz="2400" spc="-10" noProof="0" dirty="0">
                <a:latin typeface="Calibri"/>
                <a:cs typeface="Calibri"/>
              </a:rPr>
              <a:t>ligam </a:t>
            </a:r>
            <a:r>
              <a:rPr lang="pt-BR" sz="2400" spc="-5" noProof="0" dirty="0">
                <a:latin typeface="Calibri"/>
                <a:cs typeface="Calibri"/>
              </a:rPr>
              <a:t>às regiões </a:t>
            </a:r>
            <a:r>
              <a:rPr lang="pt-BR" sz="2400" noProof="0" dirty="0">
                <a:latin typeface="Calibri"/>
                <a:cs typeface="Calibri"/>
              </a:rPr>
              <a:t>de</a:t>
            </a:r>
            <a:r>
              <a:rPr lang="pt-BR" sz="2400" spc="5" noProof="0" dirty="0">
                <a:latin typeface="Calibri"/>
                <a:cs typeface="Calibri"/>
              </a:rPr>
              <a:t> </a:t>
            </a:r>
            <a:r>
              <a:rPr lang="pt-BR" sz="2400" spc="-10" noProof="0" dirty="0">
                <a:latin typeface="Calibri"/>
                <a:cs typeface="Calibri"/>
              </a:rPr>
              <a:t>interesse</a:t>
            </a:r>
            <a:r>
              <a:rPr lang="pt-BR" sz="2400" spc="5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no </a:t>
            </a:r>
            <a:r>
              <a:rPr lang="pt-BR" sz="2400" spc="-5" noProof="0" dirty="0">
                <a:latin typeface="Calibri"/>
                <a:cs typeface="Calibri"/>
              </a:rPr>
              <a:t>genoma </a:t>
            </a:r>
            <a:r>
              <a:rPr lang="pt-BR" sz="240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(biblioteca </a:t>
            </a:r>
            <a:r>
              <a:rPr lang="pt-BR" sz="2400" noProof="0" dirty="0">
                <a:latin typeface="Calibri"/>
                <a:cs typeface="Calibri"/>
              </a:rPr>
              <a:t>de </a:t>
            </a:r>
            <a:r>
              <a:rPr lang="pt-BR" sz="2400" spc="-10" noProof="0" dirty="0">
                <a:latin typeface="Calibri"/>
                <a:cs typeface="Calibri"/>
              </a:rPr>
              <a:t>fragmentos)</a:t>
            </a:r>
            <a:endParaRPr lang="pt-BR" sz="2400" noProof="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lang="pt-BR" sz="2000" noProof="0" dirty="0">
              <a:latin typeface="Calibri"/>
              <a:cs typeface="Calibri"/>
            </a:endParaRPr>
          </a:p>
          <a:p>
            <a:pPr marL="12700" marR="104139">
              <a:lnSpc>
                <a:spcPct val="99500"/>
              </a:lnSpc>
            </a:pPr>
            <a:r>
              <a:rPr lang="pt-BR" sz="2400" spc="-10" noProof="0" dirty="0">
                <a:latin typeface="Calibri"/>
                <a:cs typeface="Calibri"/>
              </a:rPr>
              <a:t>Separação </a:t>
            </a:r>
            <a:r>
              <a:rPr lang="pt-BR" sz="2400" spc="-5" noProof="0" dirty="0">
                <a:latin typeface="Calibri"/>
                <a:cs typeface="Calibri"/>
              </a:rPr>
              <a:t>mecânica </a:t>
            </a:r>
            <a:r>
              <a:rPr lang="pt-BR" sz="2400" noProof="0" dirty="0">
                <a:latin typeface="Calibri"/>
                <a:cs typeface="Calibri"/>
              </a:rPr>
              <a:t>do </a:t>
            </a:r>
            <a:r>
              <a:rPr lang="pt-BR" sz="2400" spc="-5" noProof="0" dirty="0">
                <a:latin typeface="Calibri"/>
                <a:cs typeface="Calibri"/>
              </a:rPr>
              <a:t>DNA </a:t>
            </a:r>
            <a:r>
              <a:rPr lang="pt-BR" sz="2400" spc="-395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hibridizado </a:t>
            </a:r>
            <a:r>
              <a:rPr lang="pt-BR" sz="2400" noProof="0" dirty="0">
                <a:latin typeface="Calibri"/>
                <a:cs typeface="Calibri"/>
              </a:rPr>
              <a:t>do </a:t>
            </a:r>
            <a:r>
              <a:rPr lang="pt-BR" sz="2400" spc="-15" noProof="0" dirty="0">
                <a:latin typeface="Calibri"/>
                <a:cs typeface="Calibri"/>
              </a:rPr>
              <a:t>resto </a:t>
            </a:r>
            <a:r>
              <a:rPr lang="pt-BR" sz="2400" spc="-10" noProof="0" dirty="0">
                <a:latin typeface="Calibri"/>
                <a:cs typeface="Calibri"/>
              </a:rPr>
              <a:t> </a:t>
            </a:r>
            <a:r>
              <a:rPr lang="pt-BR" sz="2400" spc="-15" noProof="0" dirty="0">
                <a:latin typeface="Calibri"/>
                <a:cs typeface="Calibri"/>
              </a:rPr>
              <a:t>(microesferas</a:t>
            </a:r>
            <a:r>
              <a:rPr lang="pt-BR" sz="2400" spc="-1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magnéticas)</a:t>
            </a:r>
            <a:endParaRPr lang="pt-BR" sz="2400" noProof="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pt-BR" sz="2000" noProof="0" dirty="0">
              <a:latin typeface="Calibri"/>
              <a:cs typeface="Calibri"/>
            </a:endParaRPr>
          </a:p>
          <a:p>
            <a:pPr marL="12700" marR="186690">
              <a:lnSpc>
                <a:spcPct val="100000"/>
              </a:lnSpc>
              <a:spcBef>
                <a:spcPts val="5"/>
              </a:spcBef>
            </a:pPr>
            <a:r>
              <a:rPr lang="pt-BR" sz="2400" spc="-5" noProof="0" dirty="0">
                <a:latin typeface="Calibri"/>
                <a:cs typeface="Calibri"/>
              </a:rPr>
              <a:t>Sequenciamento </a:t>
            </a:r>
            <a:r>
              <a:rPr lang="pt-BR" sz="2400" noProof="0" dirty="0">
                <a:latin typeface="Calibri"/>
                <a:cs typeface="Calibri"/>
              </a:rPr>
              <a:t>apenas do </a:t>
            </a:r>
            <a:r>
              <a:rPr lang="pt-BR" sz="2400" spc="-395" noProof="0" dirty="0">
                <a:latin typeface="Calibri"/>
                <a:cs typeface="Calibri"/>
              </a:rPr>
              <a:t> </a:t>
            </a:r>
            <a:r>
              <a:rPr lang="pt-BR" sz="2400" spc="-10" noProof="0" dirty="0">
                <a:latin typeface="Calibri"/>
                <a:cs typeface="Calibri"/>
              </a:rPr>
              <a:t>DNA-alvo</a:t>
            </a:r>
            <a:endParaRPr lang="pt-BR" sz="2400" noProof="0" dirty="0">
              <a:latin typeface="Calibri"/>
              <a:cs typeface="Calibri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12795EC-B40A-FE4E-A4B5-9A7C87D12587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6347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F9F526-CD37-8B4C-8BEE-141AAFC4E7D2}"/>
              </a:ext>
            </a:extLst>
          </p:cNvPr>
          <p:cNvSpPr/>
          <p:nvPr/>
        </p:nvSpPr>
        <p:spPr>
          <a:xfrm>
            <a:off x="1800665" y="3742007"/>
            <a:ext cx="7005711" cy="3798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>
                <a:solidFill>
                  <a:sysClr val="windowText" lastClr="000000"/>
                </a:solidFill>
              </a:rPr>
              <a:t>Sonda de RNA  – 120 </a:t>
            </a:r>
            <a:r>
              <a:rPr lang="pt-BR" noProof="0" dirty="0" err="1">
                <a:solidFill>
                  <a:sysClr val="windowText" lastClr="000000"/>
                </a:solidFill>
              </a:rPr>
              <a:t>pb</a:t>
            </a:r>
            <a:endParaRPr lang="pt-BR" noProof="0" dirty="0">
              <a:solidFill>
                <a:sysClr val="windowText" lastClr="000000"/>
              </a:solidFill>
            </a:endParaRPr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CAFE1E59-E701-4648-A5C6-C17733CEEB36}"/>
              </a:ext>
            </a:extLst>
          </p:cNvPr>
          <p:cNvSpPr/>
          <p:nvPr/>
        </p:nvSpPr>
        <p:spPr>
          <a:xfrm rot="5400000">
            <a:off x="8806376" y="3601330"/>
            <a:ext cx="534572" cy="647113"/>
          </a:xfrm>
          <a:prstGeom prst="triangl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BABCE-7886-6847-89B7-BBFCB2CD2BE8}"/>
              </a:ext>
            </a:extLst>
          </p:cNvPr>
          <p:cNvSpPr txBox="1"/>
          <p:nvPr/>
        </p:nvSpPr>
        <p:spPr>
          <a:xfrm>
            <a:off x="8624059" y="2546881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biotina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9A5740-1BED-6146-AFBC-D7DD86CB7821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9045810" y="2916213"/>
            <a:ext cx="0" cy="642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bject 2">
            <a:extLst>
              <a:ext uri="{FF2B5EF4-FFF2-40B4-BE49-F238E27FC236}">
                <a16:creationId xmlns:a16="http://schemas.microsoft.com/office/drawing/2014/main" id="{C90A3697-186C-D641-814C-4566AB2D71C0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6555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DB695D7-619D-6745-882D-2627336FF1DE}"/>
              </a:ext>
            </a:extLst>
          </p:cNvPr>
          <p:cNvGrpSpPr/>
          <p:nvPr/>
        </p:nvGrpSpPr>
        <p:grpSpPr>
          <a:xfrm>
            <a:off x="5551957" y="3011557"/>
            <a:ext cx="5390525" cy="253397"/>
            <a:chOff x="3882683" y="3905111"/>
            <a:chExt cx="5390525" cy="25339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1F9F526-CD37-8B4C-8BEE-141AAFC4E7D2}"/>
                </a:ext>
              </a:extLst>
            </p:cNvPr>
            <p:cNvSpPr/>
            <p:nvPr/>
          </p:nvSpPr>
          <p:spPr>
            <a:xfrm>
              <a:off x="3882683" y="3941787"/>
              <a:ext cx="4923693" cy="1800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>
                  <a:solidFill>
                    <a:sysClr val="windowText" lastClr="000000"/>
                  </a:solidFill>
                </a:rPr>
                <a:t>Sonda de RNA  – 120 </a:t>
              </a:r>
              <a:r>
                <a:rPr lang="pt-BR" noProof="0" dirty="0" err="1">
                  <a:solidFill>
                    <a:sysClr val="windowText" lastClr="000000"/>
                  </a:solidFill>
                </a:rPr>
                <a:t>pb</a:t>
              </a:r>
              <a:endParaRPr lang="pt-BR" noProof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Triangle 3">
              <a:extLst>
                <a:ext uri="{FF2B5EF4-FFF2-40B4-BE49-F238E27FC236}">
                  <a16:creationId xmlns:a16="http://schemas.microsoft.com/office/drawing/2014/main" id="{CAFE1E59-E701-4648-A5C6-C17733CEEB36}"/>
                </a:ext>
              </a:extLst>
            </p:cNvPr>
            <p:cNvSpPr/>
            <p:nvPr/>
          </p:nvSpPr>
          <p:spPr>
            <a:xfrm rot="5400000">
              <a:off x="8919110" y="3804411"/>
              <a:ext cx="253397" cy="454798"/>
            </a:xfrm>
            <a:prstGeom prst="triangl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</p:grpSp>
      <p:sp>
        <p:nvSpPr>
          <p:cNvPr id="10" name="object 2">
            <a:extLst>
              <a:ext uri="{FF2B5EF4-FFF2-40B4-BE49-F238E27FC236}">
                <a16:creationId xmlns:a16="http://schemas.microsoft.com/office/drawing/2014/main" id="{C90A3697-186C-D641-814C-4566AB2D71C0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0905DD-9911-4D4D-92BB-6C6C872B58A8}"/>
              </a:ext>
            </a:extLst>
          </p:cNvPr>
          <p:cNvSpPr/>
          <p:nvPr/>
        </p:nvSpPr>
        <p:spPr>
          <a:xfrm>
            <a:off x="1317583" y="2744271"/>
            <a:ext cx="9172135" cy="267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/>
              <a:t>Fragmento da biblioteca de DNA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8A5D3-4655-2A40-ADF7-F4C2439F3CE5}"/>
              </a:ext>
            </a:extLst>
          </p:cNvPr>
          <p:cNvSpPr txBox="1"/>
          <p:nvPr/>
        </p:nvSpPr>
        <p:spPr>
          <a:xfrm>
            <a:off x="820287" y="5113690"/>
            <a:ext cx="9463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noProof="0" dirty="0"/>
              <a:t>Hibridização da sonda de RNA a um fragmento da biblioteca de DNA que tem a sequência correspondente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C29123-2371-3642-A110-51E435604798}"/>
              </a:ext>
            </a:extLst>
          </p:cNvPr>
          <p:cNvSpPr/>
          <p:nvPr/>
        </p:nvSpPr>
        <p:spPr>
          <a:xfrm>
            <a:off x="2507947" y="2220102"/>
            <a:ext cx="5544800" cy="2636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3734E-DE2E-F64D-BC0D-33813C77A4F2}"/>
              </a:ext>
            </a:extLst>
          </p:cNvPr>
          <p:cNvSpPr/>
          <p:nvPr/>
        </p:nvSpPr>
        <p:spPr>
          <a:xfrm>
            <a:off x="551200" y="1401205"/>
            <a:ext cx="5544800" cy="2636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14219E-56B1-8942-9F10-50671F374B66}"/>
              </a:ext>
            </a:extLst>
          </p:cNvPr>
          <p:cNvSpPr/>
          <p:nvPr/>
        </p:nvSpPr>
        <p:spPr>
          <a:xfrm>
            <a:off x="358850" y="3965769"/>
            <a:ext cx="5544800" cy="2636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227311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e 2">
            <a:extLst>
              <a:ext uri="{FF2B5EF4-FFF2-40B4-BE49-F238E27FC236}">
                <a16:creationId xmlns:a16="http://schemas.microsoft.com/office/drawing/2014/main" id="{F28632A3-8684-324D-9AE4-9B3FF2DAAAF5}"/>
              </a:ext>
            </a:extLst>
          </p:cNvPr>
          <p:cNvSpPr/>
          <p:nvPr/>
        </p:nvSpPr>
        <p:spPr>
          <a:xfrm rot="13885747">
            <a:off x="9045529" y="4595301"/>
            <a:ext cx="829993" cy="780756"/>
          </a:xfrm>
          <a:prstGeom prst="pi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169AE8-938E-C040-9702-453C03E723AA}"/>
              </a:ext>
            </a:extLst>
          </p:cNvPr>
          <p:cNvGrpSpPr/>
          <p:nvPr/>
        </p:nvGrpSpPr>
        <p:grpSpPr>
          <a:xfrm>
            <a:off x="2523905" y="2636623"/>
            <a:ext cx="7596553" cy="534572"/>
            <a:chOff x="1589649" y="4770711"/>
            <a:chExt cx="7596553" cy="53457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1F9F526-CD37-8B4C-8BEE-141AAFC4E7D2}"/>
                </a:ext>
              </a:extLst>
            </p:cNvPr>
            <p:cNvSpPr/>
            <p:nvPr/>
          </p:nvSpPr>
          <p:spPr>
            <a:xfrm>
              <a:off x="1589649" y="4855117"/>
              <a:ext cx="7005711" cy="3798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>
                  <a:solidFill>
                    <a:sysClr val="windowText" lastClr="000000"/>
                  </a:solidFill>
                </a:rPr>
                <a:t>Sonda de RNA  – 120 </a:t>
              </a:r>
              <a:r>
                <a:rPr lang="pt-BR" noProof="0" dirty="0" err="1">
                  <a:solidFill>
                    <a:sysClr val="windowText" lastClr="000000"/>
                  </a:solidFill>
                </a:rPr>
                <a:t>pb</a:t>
              </a:r>
              <a:endParaRPr lang="pt-BR" noProof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Triangle 3">
              <a:extLst>
                <a:ext uri="{FF2B5EF4-FFF2-40B4-BE49-F238E27FC236}">
                  <a16:creationId xmlns:a16="http://schemas.microsoft.com/office/drawing/2014/main" id="{CAFE1E59-E701-4648-A5C6-C17733CEEB36}"/>
                </a:ext>
              </a:extLst>
            </p:cNvPr>
            <p:cNvSpPr/>
            <p:nvPr/>
          </p:nvSpPr>
          <p:spPr>
            <a:xfrm rot="5400000">
              <a:off x="8595360" y="4714440"/>
              <a:ext cx="534572" cy="647113"/>
            </a:xfrm>
            <a:prstGeom prst="triangl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4B47956A-2993-B445-AD29-10DBCEB45F56}"/>
              </a:ext>
            </a:extLst>
          </p:cNvPr>
          <p:cNvSpPr/>
          <p:nvPr/>
        </p:nvSpPr>
        <p:spPr>
          <a:xfrm>
            <a:off x="9833319" y="4190854"/>
            <a:ext cx="1617784" cy="160980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noProof="0" dirty="0"/>
              <a:t>Esfera magnética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90A3697-186C-D641-814C-4566AB2D71C0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38BCE-791E-0D44-90F6-451D276D1411}"/>
              </a:ext>
            </a:extLst>
          </p:cNvPr>
          <p:cNvSpPr/>
          <p:nvPr/>
        </p:nvSpPr>
        <p:spPr>
          <a:xfrm>
            <a:off x="301210" y="2447654"/>
            <a:ext cx="9172135" cy="267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/>
              <a:t>Fragmento da biblioteca de DNA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1F469-767D-A649-AD03-131CBD4429DF}"/>
              </a:ext>
            </a:extLst>
          </p:cNvPr>
          <p:cNvSpPr txBox="1"/>
          <p:nvPr/>
        </p:nvSpPr>
        <p:spPr>
          <a:xfrm>
            <a:off x="9009392" y="3467100"/>
            <a:ext cx="1522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 err="1"/>
              <a:t>estreptavidina</a:t>
            </a:r>
            <a:endParaRPr lang="pt-BR" noProof="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F03B24-DE88-6849-938A-0624AB4BCAF2}"/>
              </a:ext>
            </a:extLst>
          </p:cNvPr>
          <p:cNvCxnSpPr>
            <a:cxnSpLocks/>
          </p:cNvCxnSpPr>
          <p:nvPr/>
        </p:nvCxnSpPr>
        <p:spPr>
          <a:xfrm flipH="1">
            <a:off x="9431145" y="3982883"/>
            <a:ext cx="205225" cy="4964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899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C90A3697-186C-D641-814C-4566AB2D71C0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E8AEDB7-4B53-BC43-9DBC-9A542320A5D2}"/>
              </a:ext>
            </a:extLst>
          </p:cNvPr>
          <p:cNvGrpSpPr/>
          <p:nvPr/>
        </p:nvGrpSpPr>
        <p:grpSpPr>
          <a:xfrm>
            <a:off x="1212101" y="2795840"/>
            <a:ext cx="7692748" cy="1342520"/>
            <a:chOff x="1310575" y="3319975"/>
            <a:chExt cx="9005814" cy="1609807"/>
          </a:xfrm>
        </p:grpSpPr>
        <p:sp>
          <p:nvSpPr>
            <p:cNvPr id="3" name="Pie 2">
              <a:extLst>
                <a:ext uri="{FF2B5EF4-FFF2-40B4-BE49-F238E27FC236}">
                  <a16:creationId xmlns:a16="http://schemas.microsoft.com/office/drawing/2014/main" id="{F28632A3-8684-324D-9AE4-9B3FF2DAAAF5}"/>
                </a:ext>
              </a:extLst>
            </p:cNvPr>
            <p:cNvSpPr/>
            <p:nvPr/>
          </p:nvSpPr>
          <p:spPr>
            <a:xfrm rot="13885747">
              <a:off x="7910815" y="3724422"/>
              <a:ext cx="829993" cy="780756"/>
            </a:xfrm>
            <a:prstGeom prst="pi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>
                <a:solidFill>
                  <a:schemeClr val="tx1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8169AE8-938E-C040-9702-453C03E723AA}"/>
                </a:ext>
              </a:extLst>
            </p:cNvPr>
            <p:cNvGrpSpPr/>
            <p:nvPr/>
          </p:nvGrpSpPr>
          <p:grpSpPr>
            <a:xfrm>
              <a:off x="2827607" y="3915012"/>
              <a:ext cx="5393713" cy="369332"/>
              <a:chOff x="1589649" y="4770711"/>
              <a:chExt cx="7596553" cy="53457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1F9F526-CD37-8B4C-8BEE-141AAFC4E7D2}"/>
                  </a:ext>
                </a:extLst>
              </p:cNvPr>
              <p:cNvSpPr/>
              <p:nvPr/>
            </p:nvSpPr>
            <p:spPr>
              <a:xfrm>
                <a:off x="1589649" y="4855117"/>
                <a:ext cx="7005711" cy="37982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noProof="0" dirty="0">
                    <a:solidFill>
                      <a:sysClr val="windowText" lastClr="000000"/>
                    </a:solidFill>
                  </a:rPr>
                  <a:t>Sonda de RNA  – 120 </a:t>
                </a:r>
                <a:r>
                  <a:rPr lang="pt-BR" noProof="0" dirty="0" err="1">
                    <a:solidFill>
                      <a:sysClr val="windowText" lastClr="000000"/>
                    </a:solidFill>
                  </a:rPr>
                  <a:t>pb</a:t>
                </a:r>
                <a:endParaRPr lang="pt-BR" noProof="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" name="Triangle 3">
                <a:extLst>
                  <a:ext uri="{FF2B5EF4-FFF2-40B4-BE49-F238E27FC236}">
                    <a16:creationId xmlns:a16="http://schemas.microsoft.com/office/drawing/2014/main" id="{CAFE1E59-E701-4648-A5C6-C17733CEEB36}"/>
                  </a:ext>
                </a:extLst>
              </p:cNvPr>
              <p:cNvSpPr/>
              <p:nvPr/>
            </p:nvSpPr>
            <p:spPr>
              <a:xfrm rot="5400000">
                <a:off x="8595360" y="4714440"/>
                <a:ext cx="534572" cy="647113"/>
              </a:xfrm>
              <a:prstGeom prst="triangl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noProof="0" dirty="0"/>
              </a:p>
            </p:txBody>
          </p: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B47956A-2993-B445-AD29-10DBCEB45F56}"/>
                </a:ext>
              </a:extLst>
            </p:cNvPr>
            <p:cNvSpPr/>
            <p:nvPr/>
          </p:nvSpPr>
          <p:spPr>
            <a:xfrm>
              <a:off x="8698605" y="3319975"/>
              <a:ext cx="1617784" cy="1609807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noProof="0" dirty="0"/>
                <a:t>Esfera magnética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B38BCE-791E-0D44-90F6-451D276D1411}"/>
                </a:ext>
              </a:extLst>
            </p:cNvPr>
            <p:cNvSpPr/>
            <p:nvPr/>
          </p:nvSpPr>
          <p:spPr>
            <a:xfrm>
              <a:off x="1310575" y="3695818"/>
              <a:ext cx="6451281" cy="2624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noProof="0" dirty="0"/>
                <a:t>Fragmento da biblioteca de DNA</a:t>
              </a:r>
            </a:p>
          </p:txBody>
        </p:sp>
      </p:grpSp>
      <p:sp>
        <p:nvSpPr>
          <p:cNvPr id="7" name="Block Arc 6">
            <a:extLst>
              <a:ext uri="{FF2B5EF4-FFF2-40B4-BE49-F238E27FC236}">
                <a16:creationId xmlns:a16="http://schemas.microsoft.com/office/drawing/2014/main" id="{8565262B-C5F4-DF48-B1AE-A5A5F0A65BE3}"/>
              </a:ext>
            </a:extLst>
          </p:cNvPr>
          <p:cNvSpPr/>
          <p:nvPr/>
        </p:nvSpPr>
        <p:spPr>
          <a:xfrm rot="5400000">
            <a:off x="9093999" y="2252096"/>
            <a:ext cx="1091918" cy="2328059"/>
          </a:xfrm>
          <a:prstGeom prst="blockArc">
            <a:avLst/>
          </a:prstGeom>
          <a:solidFill>
            <a:srgbClr val="C0000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6AAD41-E7DA-564E-983A-C0CD90C6392C}"/>
              </a:ext>
            </a:extLst>
          </p:cNvPr>
          <p:cNvSpPr/>
          <p:nvPr/>
        </p:nvSpPr>
        <p:spPr>
          <a:xfrm>
            <a:off x="2507947" y="2220102"/>
            <a:ext cx="5544800" cy="2636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B887FF-BB88-EB44-99B9-04986B1F9DEF}"/>
              </a:ext>
            </a:extLst>
          </p:cNvPr>
          <p:cNvSpPr/>
          <p:nvPr/>
        </p:nvSpPr>
        <p:spPr>
          <a:xfrm>
            <a:off x="551200" y="1401205"/>
            <a:ext cx="5544800" cy="2636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99368E-4FBC-9A45-9C5F-50C9ED4870F8}"/>
              </a:ext>
            </a:extLst>
          </p:cNvPr>
          <p:cNvSpPr/>
          <p:nvPr/>
        </p:nvSpPr>
        <p:spPr>
          <a:xfrm>
            <a:off x="551200" y="4640719"/>
            <a:ext cx="5544800" cy="2636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B808C9-8BE1-A94B-8F6B-E2B788C4C44E}"/>
              </a:ext>
            </a:extLst>
          </p:cNvPr>
          <p:cNvSpPr/>
          <p:nvPr/>
        </p:nvSpPr>
        <p:spPr>
          <a:xfrm>
            <a:off x="1860024" y="5381609"/>
            <a:ext cx="5544800" cy="2636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F1167E-875D-5E42-8C62-83826036D3BA}"/>
              </a:ext>
            </a:extLst>
          </p:cNvPr>
          <p:cNvSpPr txBox="1"/>
          <p:nvPr/>
        </p:nvSpPr>
        <p:spPr>
          <a:xfrm>
            <a:off x="10155496" y="4036411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Imã</a:t>
            </a:r>
          </a:p>
        </p:txBody>
      </p:sp>
    </p:spTree>
    <p:extLst>
      <p:ext uri="{BB962C8B-B14F-4D97-AF65-F5344CB8AC3E}">
        <p14:creationId xmlns:p14="http://schemas.microsoft.com/office/powerpoint/2010/main" val="8942980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9E119B76-2253-294A-8ADC-EE160B10DEDE}"/>
              </a:ext>
            </a:extLst>
          </p:cNvPr>
          <p:cNvSpPr txBox="1"/>
          <p:nvPr/>
        </p:nvSpPr>
        <p:spPr>
          <a:xfrm>
            <a:off x="365760" y="1110657"/>
            <a:ext cx="10588617" cy="4311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800" b="1" spc="-5" noProof="0" dirty="0">
                <a:latin typeface="Arial"/>
                <a:cs typeface="Arial"/>
              </a:rPr>
              <a:t>Seleção</a:t>
            </a:r>
            <a:r>
              <a:rPr lang="pt-BR" sz="2800" b="1" spc="-15" noProof="0" dirty="0">
                <a:latin typeface="Arial"/>
                <a:cs typeface="Arial"/>
              </a:rPr>
              <a:t> </a:t>
            </a:r>
            <a:r>
              <a:rPr lang="pt-BR" sz="2800" b="1" noProof="0" dirty="0">
                <a:latin typeface="Arial"/>
                <a:cs typeface="Arial"/>
              </a:rPr>
              <a:t>dos</a:t>
            </a:r>
            <a:r>
              <a:rPr lang="pt-BR" sz="2800" b="1" spc="-15" noProof="0" dirty="0">
                <a:latin typeface="Arial"/>
                <a:cs typeface="Arial"/>
              </a:rPr>
              <a:t> </a:t>
            </a:r>
            <a:r>
              <a:rPr lang="pt-BR" sz="2800" b="1" noProof="0" dirty="0">
                <a:latin typeface="Arial"/>
                <a:cs typeface="Arial"/>
              </a:rPr>
              <a:t>alvos</a:t>
            </a:r>
            <a:endParaRPr lang="pt-BR" sz="2800" noProof="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980"/>
              </a:spcBef>
              <a:buFontTx/>
              <a:buChar char="-"/>
            </a:pPr>
            <a:r>
              <a:rPr lang="pt-BR" sz="2400" noProof="0" dirty="0">
                <a:latin typeface="Calibri"/>
                <a:cs typeface="Calibri"/>
              </a:rPr>
              <a:t>Genes</a:t>
            </a:r>
            <a:r>
              <a:rPr lang="pt-BR" sz="2400" spc="5" noProof="0" dirty="0">
                <a:latin typeface="Calibri"/>
                <a:cs typeface="Calibri"/>
              </a:rPr>
              <a:t> </a:t>
            </a:r>
            <a:r>
              <a:rPr lang="pt-BR" sz="2400" spc="-5" noProof="0" dirty="0" err="1">
                <a:latin typeface="Calibri"/>
                <a:cs typeface="Calibri"/>
              </a:rPr>
              <a:t>ortólogos</a:t>
            </a:r>
            <a:r>
              <a:rPr lang="pt-BR" sz="2400" spc="-5" noProof="0" dirty="0">
                <a:latin typeface="Calibri"/>
                <a:cs typeface="Calibri"/>
              </a:rPr>
              <a:t>,</a:t>
            </a:r>
            <a:r>
              <a:rPr lang="pt-BR" sz="2400" spc="10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com</a:t>
            </a:r>
            <a:r>
              <a:rPr lang="pt-BR" sz="2400" spc="20" noProof="0" dirty="0">
                <a:latin typeface="Calibri"/>
                <a:cs typeface="Calibri"/>
              </a:rPr>
              <a:t> </a:t>
            </a:r>
            <a:r>
              <a:rPr lang="pt-BR" sz="2400" spc="-10" noProof="0" dirty="0">
                <a:latin typeface="Calibri"/>
                <a:cs typeface="Calibri"/>
              </a:rPr>
              <a:t>baixo número de</a:t>
            </a:r>
            <a:r>
              <a:rPr lang="pt-BR" sz="2400" spc="1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cópias</a:t>
            </a:r>
            <a:r>
              <a:rPr lang="pt-BR" sz="2400" spc="10" noProof="0" dirty="0">
                <a:latin typeface="Calibri"/>
                <a:cs typeface="Calibri"/>
              </a:rPr>
              <a:t> </a:t>
            </a:r>
          </a:p>
          <a:p>
            <a:pPr marL="355600" indent="-342900">
              <a:lnSpc>
                <a:spcPct val="100000"/>
              </a:lnSpc>
              <a:spcBef>
                <a:spcPts val="1980"/>
              </a:spcBef>
              <a:buFontTx/>
              <a:buChar char="-"/>
            </a:pPr>
            <a:r>
              <a:rPr lang="pt-BR" sz="2400" spc="10" noProof="0" dirty="0">
                <a:latin typeface="Calibri"/>
                <a:cs typeface="Calibri"/>
              </a:rPr>
              <a:t>Escopo de uso: dentro de uma família? Para um gênero específico? Grande grupo de organismos?</a:t>
            </a:r>
          </a:p>
          <a:p>
            <a:pPr marL="355600" indent="-342900">
              <a:lnSpc>
                <a:spcPct val="100000"/>
              </a:lnSpc>
              <a:spcBef>
                <a:spcPts val="1980"/>
              </a:spcBef>
              <a:buFontTx/>
              <a:buChar char="-"/>
            </a:pPr>
            <a:r>
              <a:rPr lang="pt-BR" sz="2400" spc="-15" noProof="0" dirty="0">
                <a:latin typeface="Calibri"/>
                <a:cs typeface="Calibri"/>
              </a:rPr>
              <a:t>Preferencialmente</a:t>
            </a:r>
            <a:r>
              <a:rPr lang="pt-BR" sz="2400" spc="2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selecionados</a:t>
            </a:r>
            <a:r>
              <a:rPr lang="pt-BR" sz="2400" spc="5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de</a:t>
            </a:r>
            <a:r>
              <a:rPr lang="pt-BR" sz="2400" spc="15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recursos genômicos previamente disponíveis:	-    Genomas</a:t>
            </a:r>
          </a:p>
          <a:p>
            <a:pPr marL="1270000" lvl="2" indent="-342900">
              <a:spcBef>
                <a:spcPts val="1980"/>
              </a:spcBef>
              <a:buFontTx/>
              <a:buChar char="-"/>
            </a:pPr>
            <a:r>
              <a:rPr lang="pt-BR" sz="2400" spc="-5" noProof="0" dirty="0">
                <a:latin typeface="Calibri"/>
                <a:cs typeface="Calibri"/>
              </a:rPr>
              <a:t>Bibliotecas de </a:t>
            </a:r>
            <a:r>
              <a:rPr lang="pt-BR" sz="2400" spc="-5" noProof="0" dirty="0" err="1">
                <a:latin typeface="Calibri"/>
                <a:cs typeface="Calibri"/>
              </a:rPr>
              <a:t>ESTs</a:t>
            </a:r>
            <a:endParaRPr lang="pt-BR" sz="2400" spc="-5" noProof="0" dirty="0">
              <a:latin typeface="Calibri"/>
              <a:cs typeface="Calibri"/>
            </a:endParaRPr>
          </a:p>
          <a:p>
            <a:pPr marL="1270000" lvl="2" indent="-342900">
              <a:spcBef>
                <a:spcPts val="1980"/>
              </a:spcBef>
              <a:buFontTx/>
              <a:buChar char="-"/>
            </a:pPr>
            <a:r>
              <a:rPr lang="pt-BR" sz="2400" spc="-5" noProof="0" dirty="0">
                <a:latin typeface="Calibri"/>
                <a:cs typeface="Calibri"/>
              </a:rPr>
              <a:t>Transcriptomas 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EC63388-9B01-304F-975D-C8F6961B84C1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46549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9E119B76-2253-294A-8ADC-EE160B10DEDE}"/>
              </a:ext>
            </a:extLst>
          </p:cNvPr>
          <p:cNvSpPr txBox="1"/>
          <p:nvPr/>
        </p:nvSpPr>
        <p:spPr>
          <a:xfrm>
            <a:off x="266700" y="1033512"/>
            <a:ext cx="5173548" cy="18081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800" b="1" spc="-5" noProof="0" dirty="0">
                <a:latin typeface="Arial"/>
                <a:cs typeface="Arial"/>
              </a:rPr>
              <a:t>Seleção</a:t>
            </a:r>
            <a:r>
              <a:rPr lang="pt-BR" sz="2800" b="1" spc="-15" noProof="0" dirty="0">
                <a:latin typeface="Arial"/>
                <a:cs typeface="Arial"/>
              </a:rPr>
              <a:t> </a:t>
            </a:r>
            <a:r>
              <a:rPr lang="pt-BR" sz="2800" b="1" noProof="0" dirty="0">
                <a:latin typeface="Arial"/>
                <a:cs typeface="Arial"/>
              </a:rPr>
              <a:t>dos</a:t>
            </a:r>
            <a:r>
              <a:rPr lang="pt-BR" sz="2800" b="1" spc="-15" noProof="0" dirty="0">
                <a:latin typeface="Arial"/>
                <a:cs typeface="Arial"/>
              </a:rPr>
              <a:t> </a:t>
            </a:r>
            <a:r>
              <a:rPr lang="pt-BR" sz="2800" b="1" noProof="0" dirty="0">
                <a:latin typeface="Arial"/>
                <a:cs typeface="Arial"/>
              </a:rPr>
              <a:t>alvos</a:t>
            </a:r>
            <a:endParaRPr lang="pt-BR" sz="2800" noProof="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lang="pt-BR" sz="2400" noProof="0" dirty="0">
                <a:latin typeface="Calibri"/>
                <a:cs typeface="Calibri"/>
              </a:rPr>
              <a:t>Genes</a:t>
            </a:r>
            <a:r>
              <a:rPr lang="pt-BR" sz="2400" spc="5" noProof="0" dirty="0">
                <a:latin typeface="Calibri"/>
                <a:cs typeface="Calibri"/>
              </a:rPr>
              <a:t> </a:t>
            </a:r>
            <a:r>
              <a:rPr lang="pt-BR" sz="2400" spc="-5" noProof="0" dirty="0" err="1">
                <a:latin typeface="Calibri"/>
                <a:cs typeface="Calibri"/>
              </a:rPr>
              <a:t>ortólogos</a:t>
            </a:r>
            <a:r>
              <a:rPr lang="pt-BR" sz="2400" spc="-5" noProof="0" dirty="0">
                <a:latin typeface="Calibri"/>
                <a:cs typeface="Calibri"/>
              </a:rPr>
              <a:t>,</a:t>
            </a:r>
            <a:r>
              <a:rPr lang="pt-BR" sz="2400" spc="10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de</a:t>
            </a:r>
            <a:r>
              <a:rPr lang="pt-BR" sz="2400" spc="20" noProof="0" dirty="0">
                <a:latin typeface="Calibri"/>
                <a:cs typeface="Calibri"/>
              </a:rPr>
              <a:t> </a:t>
            </a:r>
            <a:r>
              <a:rPr lang="pt-BR" sz="2400" spc="-10" noProof="0" dirty="0">
                <a:latin typeface="Calibri"/>
                <a:cs typeface="Calibri"/>
              </a:rPr>
              <a:t>baixa</a:t>
            </a:r>
            <a:r>
              <a:rPr lang="pt-BR" sz="2400" spc="1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cópia,</a:t>
            </a:r>
            <a:r>
              <a:rPr lang="pt-BR" sz="2400" spc="10" noProof="0" dirty="0">
                <a:latin typeface="Calibri"/>
                <a:cs typeface="Calibri"/>
              </a:rPr>
              <a:t> </a:t>
            </a:r>
            <a:r>
              <a:rPr lang="pt-BR" sz="2400" spc="-15" noProof="0" dirty="0">
                <a:latin typeface="Calibri"/>
                <a:cs typeface="Calibri"/>
              </a:rPr>
              <a:t>preferencialmente</a:t>
            </a:r>
            <a:r>
              <a:rPr lang="pt-BR" sz="2400" spc="2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selecionados</a:t>
            </a:r>
            <a:r>
              <a:rPr lang="pt-BR" sz="2400" spc="5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em</a:t>
            </a:r>
            <a:r>
              <a:rPr lang="pt-BR" sz="2400" spc="15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genomas</a:t>
            </a:r>
            <a:r>
              <a:rPr lang="pt-BR" sz="2400" spc="5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já</a:t>
            </a:r>
            <a:r>
              <a:rPr lang="pt-BR" sz="2400" spc="1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disponíveis</a:t>
            </a:r>
            <a:endParaRPr lang="pt-BR" sz="2400" noProof="0" dirty="0">
              <a:latin typeface="Calibri"/>
              <a:cs typeface="Calibri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BF21316F-B354-8545-9858-B16BEA0912C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4626" y="1360011"/>
            <a:ext cx="5805805" cy="1964112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532AB25D-B960-174B-B250-09D8C84C01A9}"/>
              </a:ext>
            </a:extLst>
          </p:cNvPr>
          <p:cNvPicPr/>
          <p:nvPr/>
        </p:nvPicPr>
        <p:blipFill rotWithShape="1">
          <a:blip r:embed="rId3" cstate="print"/>
          <a:srcRect t="23254"/>
          <a:stretch/>
        </p:blipFill>
        <p:spPr>
          <a:xfrm>
            <a:off x="266700" y="4016301"/>
            <a:ext cx="5396458" cy="2451728"/>
          </a:xfrm>
          <a:prstGeom prst="rect">
            <a:avLst/>
          </a:prstGeom>
        </p:spPr>
      </p:pic>
      <p:pic>
        <p:nvPicPr>
          <p:cNvPr id="8" name="object 2">
            <a:extLst>
              <a:ext uri="{FF2B5EF4-FFF2-40B4-BE49-F238E27FC236}">
                <a16:creationId xmlns:a16="http://schemas.microsoft.com/office/drawing/2014/main" id="{10F37B42-25DB-3C4E-8B51-487008D98DD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3737641"/>
            <a:ext cx="5974431" cy="314341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6EC63388-9B01-304F-975D-C8F6961B84C1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63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F731CAC4-9DE4-CF4F-823F-EFD12740D53D}"/>
              </a:ext>
            </a:extLst>
          </p:cNvPr>
          <p:cNvSpPr txBox="1"/>
          <p:nvPr/>
        </p:nvSpPr>
        <p:spPr>
          <a:xfrm>
            <a:off x="266700" y="147248"/>
            <a:ext cx="3587848" cy="2177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800" b="1" spc="-5" noProof="0" dirty="0">
                <a:latin typeface="Arial"/>
                <a:cs typeface="Arial"/>
              </a:rPr>
              <a:t>Seleção</a:t>
            </a:r>
            <a:r>
              <a:rPr lang="pt-BR" sz="2800" b="1" spc="-15" noProof="0" dirty="0">
                <a:latin typeface="Arial"/>
                <a:cs typeface="Arial"/>
              </a:rPr>
              <a:t> </a:t>
            </a:r>
            <a:r>
              <a:rPr lang="pt-BR" sz="2800" b="1" noProof="0" dirty="0">
                <a:latin typeface="Arial"/>
                <a:cs typeface="Arial"/>
              </a:rPr>
              <a:t>dos</a:t>
            </a:r>
            <a:r>
              <a:rPr lang="pt-BR" sz="2800" b="1" spc="-15" noProof="0" dirty="0">
                <a:latin typeface="Arial"/>
                <a:cs typeface="Arial"/>
              </a:rPr>
              <a:t> </a:t>
            </a:r>
            <a:r>
              <a:rPr lang="pt-BR" sz="2800" b="1" noProof="0" dirty="0">
                <a:latin typeface="Arial"/>
                <a:cs typeface="Arial"/>
              </a:rPr>
              <a:t>alvos</a:t>
            </a:r>
            <a:endParaRPr lang="pt-BR" sz="2800" noProof="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lang="pt-BR" sz="2400" noProof="0" dirty="0">
                <a:latin typeface="Calibri"/>
                <a:cs typeface="Calibri"/>
              </a:rPr>
              <a:t>Genes</a:t>
            </a:r>
            <a:r>
              <a:rPr lang="pt-BR" sz="2400" spc="5" noProof="0" dirty="0">
                <a:latin typeface="Calibri"/>
                <a:cs typeface="Calibri"/>
              </a:rPr>
              <a:t> </a:t>
            </a:r>
            <a:r>
              <a:rPr lang="pt-BR" sz="2400" spc="-5" noProof="0" dirty="0" err="1">
                <a:latin typeface="Calibri"/>
                <a:cs typeface="Calibri"/>
              </a:rPr>
              <a:t>ortólogos</a:t>
            </a:r>
            <a:r>
              <a:rPr lang="pt-BR" sz="2400" spc="-5" noProof="0" dirty="0">
                <a:latin typeface="Calibri"/>
                <a:cs typeface="Calibri"/>
              </a:rPr>
              <a:t>,</a:t>
            </a:r>
            <a:r>
              <a:rPr lang="pt-BR" sz="2400" spc="10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de</a:t>
            </a:r>
            <a:r>
              <a:rPr lang="pt-BR" sz="2400" spc="20" noProof="0" dirty="0">
                <a:latin typeface="Calibri"/>
                <a:cs typeface="Calibri"/>
              </a:rPr>
              <a:t> </a:t>
            </a:r>
            <a:r>
              <a:rPr lang="pt-BR" sz="2400" spc="-10" noProof="0" dirty="0">
                <a:latin typeface="Calibri"/>
                <a:cs typeface="Calibri"/>
              </a:rPr>
              <a:t>baixa</a:t>
            </a:r>
            <a:r>
              <a:rPr lang="pt-BR" sz="2400" spc="1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cópia,</a:t>
            </a:r>
            <a:r>
              <a:rPr lang="pt-BR" sz="2400" spc="10" noProof="0" dirty="0">
                <a:latin typeface="Calibri"/>
                <a:cs typeface="Calibri"/>
              </a:rPr>
              <a:t> </a:t>
            </a:r>
            <a:r>
              <a:rPr lang="pt-BR" sz="2400" spc="-15" noProof="0" dirty="0">
                <a:latin typeface="Calibri"/>
                <a:cs typeface="Calibri"/>
              </a:rPr>
              <a:t>preferencialmente</a:t>
            </a:r>
            <a:r>
              <a:rPr lang="pt-BR" sz="2400" spc="2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selecionados</a:t>
            </a:r>
            <a:r>
              <a:rPr lang="pt-BR" sz="2400" spc="5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em</a:t>
            </a:r>
            <a:r>
              <a:rPr lang="pt-BR" sz="2400" spc="15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genomas</a:t>
            </a:r>
            <a:r>
              <a:rPr lang="pt-BR" sz="2400" spc="5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já</a:t>
            </a:r>
            <a:r>
              <a:rPr lang="pt-BR" sz="2400" spc="1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disponíveis</a:t>
            </a:r>
            <a:endParaRPr lang="pt-BR" sz="2400" noProof="0" dirty="0">
              <a:latin typeface="Calibri"/>
              <a:cs typeface="Calibri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F5518ED-E298-8047-8802-EC1D6755986F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530118-1035-304C-9126-5607DCEBF9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268"/>
          <a:stretch/>
        </p:blipFill>
        <p:spPr>
          <a:xfrm>
            <a:off x="4344679" y="674557"/>
            <a:ext cx="7789406" cy="608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76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6473DF9-36F5-2848-AAB5-6045BDB13BD3}"/>
              </a:ext>
            </a:extLst>
          </p:cNvPr>
          <p:cNvSpPr txBox="1"/>
          <p:nvPr/>
        </p:nvSpPr>
        <p:spPr>
          <a:xfrm>
            <a:off x="186243" y="646423"/>
            <a:ext cx="12788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200" b="1" spc="-10" noProof="0" dirty="0">
                <a:latin typeface="Arial"/>
                <a:cs typeface="Arial"/>
              </a:rPr>
              <a:t>Workflow</a:t>
            </a:r>
            <a:endParaRPr lang="pt-BR" sz="2200" noProof="0" dirty="0">
              <a:latin typeface="Arial"/>
              <a:cs typeface="Arial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BB0B2B50-F687-7648-90CF-6C0FF1CD10E1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18884B2-B0F2-6E4C-B3A2-92F82961FB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7835358"/>
              </p:ext>
            </p:extLst>
          </p:nvPr>
        </p:nvGraphicFramePr>
        <p:xfrm>
          <a:off x="186243" y="1007102"/>
          <a:ext cx="11819514" cy="4877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63598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7977975-8B71-444D-BCC2-797A51FFCC88}"/>
              </a:ext>
            </a:extLst>
          </p:cNvPr>
          <p:cNvSpPr txBox="1"/>
          <p:nvPr/>
        </p:nvSpPr>
        <p:spPr>
          <a:xfrm>
            <a:off x="186243" y="646423"/>
            <a:ext cx="3385820" cy="69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35"/>
              </a:lnSpc>
              <a:spcBef>
                <a:spcPts val="100"/>
              </a:spcBef>
            </a:pPr>
            <a:r>
              <a:rPr lang="pt-BR" sz="2200" b="1" spc="-10" noProof="0" dirty="0">
                <a:latin typeface="Arial"/>
                <a:cs typeface="Arial"/>
              </a:rPr>
              <a:t>Workflow</a:t>
            </a:r>
            <a:endParaRPr lang="pt-BR" sz="2200" noProof="0" dirty="0">
              <a:latin typeface="Arial"/>
              <a:cs typeface="Arial"/>
            </a:endParaRPr>
          </a:p>
          <a:p>
            <a:pPr marL="12700">
              <a:lnSpc>
                <a:spcPts val="2635"/>
              </a:lnSpc>
            </a:pPr>
            <a:r>
              <a:rPr lang="pt-BR" sz="2200" b="1" i="1" spc="-5" noProof="0" dirty="0">
                <a:latin typeface="Arial"/>
                <a:cs typeface="Arial"/>
              </a:rPr>
              <a:t>Hibridização</a:t>
            </a:r>
            <a:r>
              <a:rPr lang="pt-BR" sz="2200" b="1" i="1" spc="-10" noProof="0" dirty="0">
                <a:latin typeface="Arial"/>
                <a:cs typeface="Arial"/>
              </a:rPr>
              <a:t> </a:t>
            </a:r>
            <a:r>
              <a:rPr lang="pt-BR" sz="2200" b="1" i="1" noProof="0" dirty="0">
                <a:latin typeface="Arial"/>
                <a:cs typeface="Arial"/>
              </a:rPr>
              <a:t>e</a:t>
            </a:r>
            <a:r>
              <a:rPr lang="pt-BR" sz="2200" b="1" i="1" spc="-15" noProof="0" dirty="0">
                <a:latin typeface="Arial"/>
                <a:cs typeface="Arial"/>
              </a:rPr>
              <a:t> </a:t>
            </a:r>
            <a:r>
              <a:rPr lang="pt-BR" sz="2200" b="1" i="1" noProof="0" dirty="0">
                <a:latin typeface="Arial"/>
                <a:cs typeface="Arial"/>
              </a:rPr>
              <a:t>Incubação</a:t>
            </a:r>
            <a:endParaRPr lang="pt-BR" sz="22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B13485C8-F3CE-1649-A71F-157987CD9709}"/>
              </a:ext>
            </a:extLst>
          </p:cNvPr>
          <p:cNvGrpSpPr/>
          <p:nvPr/>
        </p:nvGrpSpPr>
        <p:grpSpPr>
          <a:xfrm>
            <a:off x="2468880" y="367594"/>
            <a:ext cx="9144000" cy="6314440"/>
            <a:chOff x="0" y="543685"/>
            <a:chExt cx="9144000" cy="631444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56D95792-8766-4041-A7C7-E646D1D1B84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28463"/>
              <a:ext cx="9144000" cy="4652864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06417717-4CF7-404D-9839-ACDAB62E959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49990" y="1412776"/>
              <a:ext cx="4658513" cy="1175649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9AD4BA1C-FEBF-F042-AD6E-EB1B037186F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0828" y="543685"/>
              <a:ext cx="5371945" cy="824014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BC91CE22-3BA3-214E-B33F-43F5DCF1A8F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7583" y="6092007"/>
              <a:ext cx="3528392" cy="765991"/>
            </a:xfrm>
            <a:prstGeom prst="rect">
              <a:avLst/>
            </a:prstGeom>
          </p:spPr>
        </p:pic>
      </p:grpSp>
      <p:sp>
        <p:nvSpPr>
          <p:cNvPr id="9" name="object 2">
            <a:extLst>
              <a:ext uri="{FF2B5EF4-FFF2-40B4-BE49-F238E27FC236}">
                <a16:creationId xmlns:a16="http://schemas.microsoft.com/office/drawing/2014/main" id="{C44B2203-FC4A-FC4C-B4FF-B0850F16137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184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6CE8F02-FF68-D447-8543-D1175562A246}"/>
              </a:ext>
            </a:extLst>
          </p:cNvPr>
          <p:cNvSpPr txBox="1"/>
          <p:nvPr/>
        </p:nvSpPr>
        <p:spPr>
          <a:xfrm>
            <a:off x="266700" y="262100"/>
            <a:ext cx="2453005" cy="69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35"/>
              </a:lnSpc>
              <a:spcBef>
                <a:spcPts val="100"/>
              </a:spcBef>
            </a:pPr>
            <a:r>
              <a:rPr lang="pt-BR" sz="2200" b="1" spc="-10" noProof="0" dirty="0">
                <a:latin typeface="Arial"/>
                <a:cs typeface="Arial"/>
              </a:rPr>
              <a:t>Workflow</a:t>
            </a:r>
            <a:endParaRPr lang="pt-BR" sz="2200" noProof="0" dirty="0">
              <a:latin typeface="Arial"/>
              <a:cs typeface="Arial"/>
            </a:endParaRPr>
          </a:p>
          <a:p>
            <a:pPr marL="12700">
              <a:lnSpc>
                <a:spcPts val="2635"/>
              </a:lnSpc>
            </a:pPr>
            <a:r>
              <a:rPr lang="pt-BR" sz="2200" b="1" i="1" noProof="0" dirty="0">
                <a:latin typeface="Arial"/>
                <a:cs typeface="Arial"/>
              </a:rPr>
              <a:t>Captura</a:t>
            </a:r>
            <a:r>
              <a:rPr lang="pt-BR" sz="2200" b="1" i="1" spc="-40" noProof="0" dirty="0">
                <a:latin typeface="Arial"/>
                <a:cs typeface="Arial"/>
              </a:rPr>
              <a:t> </a:t>
            </a:r>
            <a:r>
              <a:rPr lang="pt-BR" sz="2200" b="1" i="1" noProof="0" dirty="0">
                <a:latin typeface="Arial"/>
                <a:cs typeface="Arial"/>
              </a:rPr>
              <a:t>dos</a:t>
            </a:r>
            <a:r>
              <a:rPr lang="pt-BR" sz="2200" b="1" i="1" spc="-40" noProof="0" dirty="0">
                <a:latin typeface="Arial"/>
                <a:cs typeface="Arial"/>
              </a:rPr>
              <a:t> </a:t>
            </a:r>
            <a:r>
              <a:rPr lang="pt-BR" sz="2200" b="1" i="1" noProof="0" dirty="0">
                <a:latin typeface="Arial"/>
                <a:cs typeface="Arial"/>
              </a:rPr>
              <a:t>alvos</a:t>
            </a:r>
            <a:endParaRPr lang="pt-BR" sz="2200" noProof="0" dirty="0">
              <a:latin typeface="Arial"/>
              <a:cs typeface="Arial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4D6B329-93AC-184F-B248-945AEE6A263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496" y="2630658"/>
            <a:ext cx="9523829" cy="4227341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117A6901-E8A2-8148-A7B7-52C4F4E8C73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806" y="1113322"/>
            <a:ext cx="5128691" cy="1250050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F0FC7419-1191-B94A-A689-D9C16559DC6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8078" y="1119261"/>
            <a:ext cx="5128690" cy="1235396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542334AA-084F-624B-8DAE-54182E5FE1C5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70674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8C209F1-354C-304E-8330-C5D7E477A8E3}"/>
              </a:ext>
            </a:extLst>
          </p:cNvPr>
          <p:cNvSpPr txBox="1"/>
          <p:nvPr/>
        </p:nvSpPr>
        <p:spPr>
          <a:xfrm>
            <a:off x="186243" y="646423"/>
            <a:ext cx="3448050" cy="69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35"/>
              </a:lnSpc>
              <a:spcBef>
                <a:spcPts val="100"/>
              </a:spcBef>
            </a:pPr>
            <a:r>
              <a:rPr lang="pt-BR" sz="2200" b="1" spc="-10" noProof="0" dirty="0">
                <a:latin typeface="Arial"/>
                <a:cs typeface="Arial"/>
              </a:rPr>
              <a:t>Workflow</a:t>
            </a:r>
            <a:endParaRPr lang="pt-BR" sz="2200" noProof="0" dirty="0">
              <a:latin typeface="Arial"/>
              <a:cs typeface="Arial"/>
            </a:endParaRPr>
          </a:p>
          <a:p>
            <a:pPr marL="12700">
              <a:lnSpc>
                <a:spcPts val="2635"/>
              </a:lnSpc>
            </a:pPr>
            <a:r>
              <a:rPr lang="pt-BR" sz="2200" b="1" i="1" spc="-5" noProof="0" dirty="0">
                <a:latin typeface="Arial"/>
                <a:cs typeface="Arial"/>
              </a:rPr>
              <a:t>Amplificação</a:t>
            </a:r>
            <a:r>
              <a:rPr lang="pt-BR" sz="2200" b="1" i="1" spc="-25" noProof="0" dirty="0">
                <a:latin typeface="Arial"/>
                <a:cs typeface="Arial"/>
              </a:rPr>
              <a:t> </a:t>
            </a:r>
            <a:r>
              <a:rPr lang="pt-BR" sz="2200" b="1" i="1" noProof="0" dirty="0">
                <a:latin typeface="Arial"/>
                <a:cs typeface="Arial"/>
              </a:rPr>
              <a:t>pós-captura</a:t>
            </a:r>
            <a:endParaRPr lang="pt-BR" sz="2200" noProof="0" dirty="0">
              <a:latin typeface="Arial"/>
              <a:cs typeface="Arial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2936CEF-9D49-D346-BA19-7CE5F94719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3579" y="1458841"/>
            <a:ext cx="9093200" cy="5157193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F039AA3D-B147-CD4A-9263-F88BA4B030D7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31852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19902FF8-725B-3E4B-A546-DD914C566F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6825" y="994085"/>
            <a:ext cx="8231129" cy="5806485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2DA85F06-6B8E-234F-942C-FF3DEDDBBEB8}"/>
              </a:ext>
            </a:extLst>
          </p:cNvPr>
          <p:cNvSpPr txBox="1"/>
          <p:nvPr/>
        </p:nvSpPr>
        <p:spPr>
          <a:xfrm>
            <a:off x="186243" y="646423"/>
            <a:ext cx="3588385" cy="69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35"/>
              </a:lnSpc>
              <a:spcBef>
                <a:spcPts val="100"/>
              </a:spcBef>
            </a:pPr>
            <a:r>
              <a:rPr lang="pt-BR" sz="2200" b="1" spc="-10" noProof="0" dirty="0">
                <a:latin typeface="Arial"/>
                <a:cs typeface="Arial"/>
              </a:rPr>
              <a:t>Workflow</a:t>
            </a:r>
            <a:endParaRPr lang="pt-BR" sz="2200" noProof="0" dirty="0">
              <a:latin typeface="Arial"/>
              <a:cs typeface="Arial"/>
            </a:endParaRPr>
          </a:p>
          <a:p>
            <a:pPr marL="12700">
              <a:lnSpc>
                <a:spcPts val="2635"/>
              </a:lnSpc>
            </a:pPr>
            <a:r>
              <a:rPr lang="pt-BR" sz="2200" b="1" i="1" spc="-5" noProof="0" dirty="0">
                <a:latin typeface="Arial"/>
                <a:cs typeface="Arial"/>
              </a:rPr>
              <a:t>Processamento </a:t>
            </a:r>
            <a:r>
              <a:rPr lang="pt-BR" sz="2200" b="1" i="1" noProof="0" dirty="0">
                <a:latin typeface="Arial"/>
                <a:cs typeface="Arial"/>
              </a:rPr>
              <a:t>dos</a:t>
            </a:r>
            <a:r>
              <a:rPr lang="pt-BR" sz="2200" b="1" i="1" spc="-10" noProof="0" dirty="0">
                <a:latin typeface="Arial"/>
                <a:cs typeface="Arial"/>
              </a:rPr>
              <a:t> </a:t>
            </a:r>
            <a:r>
              <a:rPr lang="pt-BR" sz="2200" b="1" i="1" noProof="0" dirty="0">
                <a:latin typeface="Arial"/>
                <a:cs typeface="Arial"/>
              </a:rPr>
              <a:t>dados</a:t>
            </a:r>
            <a:endParaRPr lang="pt-BR" sz="2200" noProof="0" dirty="0">
              <a:latin typeface="Arial"/>
              <a:cs typeface="Arial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BC340805-BE2B-1944-B208-14965533C3E4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47890-FBFF-0949-9EFF-82A036C1FBF2}"/>
              </a:ext>
            </a:extLst>
          </p:cNvPr>
          <p:cNvSpPr txBox="1"/>
          <p:nvPr/>
        </p:nvSpPr>
        <p:spPr>
          <a:xfrm>
            <a:off x="0" y="1645920"/>
            <a:ext cx="38005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pt-BR" sz="2400" noProof="0" dirty="0"/>
              <a:t>Geralmente usam uma mistura de montagem de novo e com referência</a:t>
            </a:r>
          </a:p>
          <a:p>
            <a:pPr marL="342900" indent="-342900">
              <a:buFontTx/>
              <a:buChar char="-"/>
            </a:pPr>
            <a:endParaRPr lang="pt-BR" sz="2400" noProof="0" dirty="0"/>
          </a:p>
          <a:p>
            <a:pPr marL="342900" indent="-342900">
              <a:buFontTx/>
              <a:buChar char="-"/>
            </a:pPr>
            <a:r>
              <a:rPr lang="pt-BR" sz="2400" noProof="0" dirty="0"/>
              <a:t>As sequências usadas para preparar as sondas são o genoma de referência </a:t>
            </a:r>
          </a:p>
          <a:p>
            <a:pPr marL="342900" indent="-342900">
              <a:buFontTx/>
              <a:buChar char="-"/>
            </a:pPr>
            <a:endParaRPr lang="pt-BR" sz="2400" noProof="0" dirty="0"/>
          </a:p>
          <a:p>
            <a:pPr marL="342900" indent="-342900">
              <a:buFontTx/>
              <a:buChar char="-"/>
            </a:pPr>
            <a:r>
              <a:rPr lang="pt-BR" sz="2400" noProof="0" dirty="0" err="1"/>
              <a:t>Phyluce</a:t>
            </a:r>
            <a:r>
              <a:rPr lang="pt-BR" sz="2400" noProof="0" dirty="0"/>
              <a:t>, </a:t>
            </a:r>
            <a:r>
              <a:rPr lang="pt-BR" sz="2400" noProof="0" dirty="0" err="1"/>
              <a:t>HybPiper</a:t>
            </a:r>
            <a:r>
              <a:rPr lang="pt-BR" sz="2400" noProof="0" dirty="0"/>
              <a:t>, ATRAM,</a:t>
            </a:r>
            <a:r>
              <a:rPr lang="pt-BR" sz="2400" dirty="0"/>
              <a:t> </a:t>
            </a:r>
            <a:r>
              <a:rPr lang="pt-BR" sz="2400" dirty="0" err="1"/>
              <a:t>Captus</a:t>
            </a:r>
            <a:endParaRPr lang="pt-BR" sz="2400" noProof="0" dirty="0"/>
          </a:p>
        </p:txBody>
      </p:sp>
    </p:spTree>
    <p:extLst>
      <p:ext uri="{BB962C8B-B14F-4D97-AF65-F5344CB8AC3E}">
        <p14:creationId xmlns:p14="http://schemas.microsoft.com/office/powerpoint/2010/main" val="17190062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F8BB772-4FFF-F84A-8849-4075EBD9931B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280930-CCF7-2B43-BEBA-86331B29A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07"/>
            <a:ext cx="7090117" cy="39534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5E9789-905D-6643-9FA6-9CBB0EFF1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414" y="3429000"/>
            <a:ext cx="7874586" cy="34439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DD6A33-6067-2145-A358-E217F86E2A05}"/>
              </a:ext>
            </a:extLst>
          </p:cNvPr>
          <p:cNvSpPr txBox="1"/>
          <p:nvPr/>
        </p:nvSpPr>
        <p:spPr>
          <a:xfrm>
            <a:off x="0" y="4276578"/>
            <a:ext cx="4214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Outras empresas: RAPID </a:t>
            </a:r>
            <a:r>
              <a:rPr lang="pt-BR" noProof="0" dirty="0" err="1"/>
              <a:t>Genomics</a:t>
            </a:r>
            <a:r>
              <a:rPr lang="pt-BR" noProof="0" dirty="0"/>
              <a:t>, </a:t>
            </a:r>
            <a:r>
              <a:rPr lang="pt-BR" noProof="0" dirty="0" err="1"/>
              <a:t>Agilent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683192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E2A638-2301-7240-8FA2-CAB944CD2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" y="0"/>
            <a:ext cx="11293402" cy="31103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54AEA4-FB24-B44B-A1CD-77342DE3B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906" y="3601955"/>
            <a:ext cx="7920558" cy="32560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CD42D4-C1F9-7346-8CB5-0C76B40A0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10314"/>
            <a:ext cx="4385906" cy="374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941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BB5091-0020-A0F8-2788-481DEAB33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24"/>
            <a:ext cx="6063403" cy="2190016"/>
          </a:xfrm>
          <a:prstGeom prst="rect">
            <a:avLst/>
          </a:prstGeom>
        </p:spPr>
      </p:pic>
      <p:pic>
        <p:nvPicPr>
          <p:cNvPr id="2" name="Picture 1" descr="Fig. 1: Time-calibrated phylogenetic tree for angiosperms based on 353 nuclear genes.">
            <a:extLst>
              <a:ext uri="{FF2B5EF4-FFF2-40B4-BE49-F238E27FC236}">
                <a16:creationId xmlns:a16="http://schemas.microsoft.com/office/drawing/2014/main" id="{DA836FC5-E233-E7E1-4702-17C8005A2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249" y="30924"/>
            <a:ext cx="6579220" cy="679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13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90F57A-427C-8547-B2B4-C90DC12A5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1" y="160655"/>
            <a:ext cx="6349403" cy="16607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571E55-CEB8-0848-852A-3F60C801D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579" y="2200055"/>
            <a:ext cx="6016524" cy="2679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7FAE9D-627A-B845-8E21-D09B56FCF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986577"/>
            <a:ext cx="5343888" cy="24354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0417D5-4386-E847-966A-9BF14C1B6F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169" y="-38199"/>
            <a:ext cx="5280500" cy="2123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4C3940-5851-4C4E-96A4-7DA8E89A38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" y="4587219"/>
            <a:ext cx="4232507" cy="20981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E9465B-D41A-2F42-BEAC-4DCC5908C7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805" y="4879755"/>
            <a:ext cx="4885980" cy="197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849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F11992-CA73-B945-BD53-334731650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5" y="-9680"/>
            <a:ext cx="8674100" cy="33655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70C94B7A-1B1F-0943-B81E-5E3FA108BE07}"/>
              </a:ext>
            </a:extLst>
          </p:cNvPr>
          <p:cNvSpPr txBox="1">
            <a:spLocks/>
          </p:cNvSpPr>
          <p:nvPr/>
        </p:nvSpPr>
        <p:spPr>
          <a:xfrm>
            <a:off x="6328280" y="-9680"/>
            <a:ext cx="58058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Target Capture</a:t>
            </a:r>
            <a:endParaRPr lang="pt-BR" sz="3400" noProof="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3321D5-B61E-304D-866E-30ED3576034E}"/>
              </a:ext>
            </a:extLst>
          </p:cNvPr>
          <p:cNvSpPr txBox="1"/>
          <p:nvPr/>
        </p:nvSpPr>
        <p:spPr>
          <a:xfrm>
            <a:off x="266700" y="3355820"/>
            <a:ext cx="11550162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t-BR" sz="2400" noProof="0" dirty="0"/>
              <a:t>Combinação de target capture com sondas de RNA para regiões nucleares de baixa cópia e </a:t>
            </a:r>
            <a:r>
              <a:rPr lang="pt-BR" sz="2400" noProof="0" dirty="0" err="1"/>
              <a:t>genome</a:t>
            </a:r>
            <a:r>
              <a:rPr lang="pt-BR" sz="2400" noProof="0" dirty="0"/>
              <a:t> </a:t>
            </a:r>
            <a:r>
              <a:rPr lang="pt-BR" sz="2400" noProof="0" dirty="0" err="1"/>
              <a:t>skimming</a:t>
            </a:r>
            <a:r>
              <a:rPr lang="pt-BR" sz="2400" noProof="0" dirty="0"/>
              <a:t> para regiões de alta cópia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t-BR" sz="2400" noProof="0" dirty="0"/>
              <a:t>Regiões de alta copia são </a:t>
            </a:r>
            <a:r>
              <a:rPr lang="pt-BR" sz="2400" noProof="0" dirty="0" err="1"/>
              <a:t>bycatch</a:t>
            </a:r>
            <a:r>
              <a:rPr lang="pt-BR" sz="2400" noProof="0" dirty="0"/>
              <a:t> (“extra”) ou off-target do sequenciamento – o processo se separação dos fragmentos hibridizados não é perfeito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t-BR" sz="2400" noProof="0" dirty="0"/>
              <a:t>Pode ser melhorado com a mistura de biblioteca não hibridizada com a biblioteca hibridizada antes do sequenciamento</a:t>
            </a:r>
          </a:p>
        </p:txBody>
      </p:sp>
    </p:spTree>
    <p:extLst>
      <p:ext uri="{BB962C8B-B14F-4D97-AF65-F5344CB8AC3E}">
        <p14:creationId xmlns:p14="http://schemas.microsoft.com/office/powerpoint/2010/main" val="30223255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B66200-8011-5443-8C47-6E29587BC5D7}"/>
              </a:ext>
            </a:extLst>
          </p:cNvPr>
          <p:cNvSpPr txBox="1">
            <a:spLocks/>
          </p:cNvSpPr>
          <p:nvPr/>
        </p:nvSpPr>
        <p:spPr>
          <a:xfrm>
            <a:off x="159456" y="154080"/>
            <a:ext cx="9133242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NGS e </a:t>
            </a:r>
            <a:r>
              <a:rPr lang="pt-BR" sz="3400" spc="-5" noProof="0" dirty="0" err="1">
                <a:solidFill>
                  <a:srgbClr val="000000"/>
                </a:solidFill>
                <a:latin typeface="Arial"/>
                <a:cs typeface="Arial"/>
              </a:rPr>
              <a:t>filogeografia</a:t>
            </a: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/genética de populações</a:t>
            </a:r>
            <a:endParaRPr lang="pt-BR" sz="34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2F66A51F-5B6C-AF4E-AC3E-71DBED590488}"/>
              </a:ext>
            </a:extLst>
          </p:cNvPr>
          <p:cNvGrpSpPr/>
          <p:nvPr/>
        </p:nvGrpSpPr>
        <p:grpSpPr>
          <a:xfrm>
            <a:off x="10859770" y="0"/>
            <a:ext cx="1332230" cy="6858000"/>
            <a:chOff x="7812359" y="1"/>
            <a:chExt cx="1332230" cy="685800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6250ED0-3245-EC44-B8D6-717785E8D66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2359" y="1"/>
              <a:ext cx="1331640" cy="3645023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44E5D13-DE98-A845-BF0A-BAEE5A446E2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359" y="3645023"/>
              <a:ext cx="1316969" cy="1872208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EB96E7F-AA97-5A47-908C-4233FF29E6D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2359" y="5499392"/>
              <a:ext cx="1331639" cy="1358607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EEC35CD-E8A5-994F-A317-A90460B97302}"/>
              </a:ext>
            </a:extLst>
          </p:cNvPr>
          <p:cNvSpPr txBox="1"/>
          <p:nvPr/>
        </p:nvSpPr>
        <p:spPr>
          <a:xfrm>
            <a:off x="516368" y="1222346"/>
            <a:ext cx="9133242" cy="3418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/>
              <a:t>Obtenção de marcadores (microssatélites)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/>
              <a:t>Uso de marcadores obtidos com target capture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/>
              <a:t>Obtenção de </a:t>
            </a:r>
            <a:r>
              <a:rPr lang="pt-BR" sz="2800" noProof="0" dirty="0" err="1"/>
              <a:t>SNPs</a:t>
            </a:r>
            <a:endParaRPr lang="pt-BR" sz="2800" noProof="0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endParaRPr lang="pt-BR" sz="2800" noProof="0" dirty="0"/>
          </a:p>
        </p:txBody>
      </p:sp>
    </p:spTree>
    <p:extLst>
      <p:ext uri="{BB962C8B-B14F-4D97-AF65-F5344CB8AC3E}">
        <p14:creationId xmlns:p14="http://schemas.microsoft.com/office/powerpoint/2010/main" val="35973818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B66200-8011-5443-8C47-6E29587BC5D7}"/>
              </a:ext>
            </a:extLst>
          </p:cNvPr>
          <p:cNvSpPr txBox="1">
            <a:spLocks/>
          </p:cNvSpPr>
          <p:nvPr/>
        </p:nvSpPr>
        <p:spPr>
          <a:xfrm>
            <a:off x="159456" y="154080"/>
            <a:ext cx="9133242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400" spc="-5" dirty="0">
                <a:solidFill>
                  <a:srgbClr val="000000"/>
                </a:solidFill>
                <a:latin typeface="Arial"/>
                <a:cs typeface="Arial"/>
              </a:rPr>
              <a:t>Criação de marcadores para </a:t>
            </a:r>
            <a:r>
              <a:rPr lang="pt-BR" sz="3400" spc="-5" noProof="0" dirty="0" err="1">
                <a:solidFill>
                  <a:srgbClr val="000000"/>
                </a:solidFill>
                <a:latin typeface="Arial"/>
                <a:cs typeface="Arial"/>
              </a:rPr>
              <a:t>filogeografia</a:t>
            </a: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/genética de populações</a:t>
            </a:r>
            <a:endParaRPr lang="pt-BR" sz="34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2F66A51F-5B6C-AF4E-AC3E-71DBED590488}"/>
              </a:ext>
            </a:extLst>
          </p:cNvPr>
          <p:cNvGrpSpPr/>
          <p:nvPr/>
        </p:nvGrpSpPr>
        <p:grpSpPr>
          <a:xfrm>
            <a:off x="10859770" y="0"/>
            <a:ext cx="1332230" cy="6858000"/>
            <a:chOff x="7812359" y="1"/>
            <a:chExt cx="1332230" cy="685800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6250ED0-3245-EC44-B8D6-717785E8D66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2359" y="1"/>
              <a:ext cx="1331640" cy="3645023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44E5D13-DE98-A845-BF0A-BAEE5A446E2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359" y="3645023"/>
              <a:ext cx="1316969" cy="1872208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EB96E7F-AA97-5A47-908C-4233FF29E6D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2359" y="5499392"/>
              <a:ext cx="1331639" cy="1358607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EEC35CD-E8A5-994F-A317-A90460B97302}"/>
              </a:ext>
            </a:extLst>
          </p:cNvPr>
          <p:cNvSpPr txBox="1"/>
          <p:nvPr/>
        </p:nvSpPr>
        <p:spPr>
          <a:xfrm>
            <a:off x="516368" y="1612639"/>
            <a:ext cx="9133242" cy="3418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/>
              <a:t>Obtenção de marcadores (microssatélites)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>
                <a:solidFill>
                  <a:schemeClr val="bg2">
                    <a:lumMod val="75000"/>
                  </a:schemeClr>
                </a:solidFill>
              </a:rPr>
              <a:t>Uso de marcadores obtidos com target capture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>
                <a:solidFill>
                  <a:schemeClr val="bg2">
                    <a:lumMod val="75000"/>
                  </a:schemeClr>
                </a:solidFill>
              </a:rPr>
              <a:t>Obtenção de </a:t>
            </a:r>
            <a:r>
              <a:rPr lang="pt-BR" sz="2800" noProof="0" dirty="0" err="1">
                <a:solidFill>
                  <a:schemeClr val="bg2">
                    <a:lumMod val="75000"/>
                  </a:schemeClr>
                </a:solidFill>
              </a:rPr>
              <a:t>SNPs</a:t>
            </a:r>
            <a:endParaRPr lang="pt-BR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endParaRPr lang="pt-BR" sz="2800" noProof="0" dirty="0"/>
          </a:p>
        </p:txBody>
      </p:sp>
    </p:spTree>
    <p:extLst>
      <p:ext uri="{BB962C8B-B14F-4D97-AF65-F5344CB8AC3E}">
        <p14:creationId xmlns:p14="http://schemas.microsoft.com/office/powerpoint/2010/main" val="11431593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E7DAE37D-28A6-354D-8EF0-9D4E455F8A3F}"/>
              </a:ext>
            </a:extLst>
          </p:cNvPr>
          <p:cNvSpPr txBox="1"/>
          <p:nvPr/>
        </p:nvSpPr>
        <p:spPr>
          <a:xfrm>
            <a:off x="407963" y="1023213"/>
            <a:ext cx="8587105" cy="24057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lang="pt-BR" sz="3650" noProof="0" dirty="0">
              <a:latin typeface="Arial"/>
              <a:cs typeface="Arial"/>
            </a:endParaRPr>
          </a:p>
          <a:p>
            <a:pPr marL="333375" indent="-286385">
              <a:lnSpc>
                <a:spcPct val="100000"/>
              </a:lnSpc>
              <a:spcBef>
                <a:spcPts val="5"/>
              </a:spcBef>
              <a:buChar char="-"/>
              <a:tabLst>
                <a:tab pos="333375" algn="l"/>
                <a:tab pos="334010" algn="l"/>
              </a:tabLst>
            </a:pPr>
            <a:r>
              <a:rPr lang="pt-BR" sz="2400" spc="-5" noProof="0" dirty="0">
                <a:latin typeface="Calibri"/>
                <a:cs typeface="Calibri"/>
              </a:rPr>
              <a:t>Sequenciamento</a:t>
            </a:r>
            <a:r>
              <a:rPr lang="pt-BR" sz="2400" spc="-10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de </a:t>
            </a:r>
            <a:r>
              <a:rPr lang="pt-BR" sz="2400" spc="-15" noProof="0" dirty="0">
                <a:latin typeface="Calibri"/>
                <a:cs typeface="Calibri"/>
              </a:rPr>
              <a:t>nova</a:t>
            </a:r>
            <a:r>
              <a:rPr lang="pt-BR" sz="2400" spc="-5" noProof="0" dirty="0">
                <a:latin typeface="Calibri"/>
                <a:cs typeface="Calibri"/>
              </a:rPr>
              <a:t> </a:t>
            </a:r>
            <a:r>
              <a:rPr lang="pt-BR" sz="2400" spc="-15" noProof="0" dirty="0">
                <a:latin typeface="Calibri"/>
                <a:cs typeface="Calibri"/>
              </a:rPr>
              <a:t>geração</a:t>
            </a:r>
            <a:r>
              <a:rPr lang="pt-BR" sz="2400" spc="-10" noProof="0" dirty="0">
                <a:latin typeface="Calibri"/>
                <a:cs typeface="Calibri"/>
              </a:rPr>
              <a:t> </a:t>
            </a:r>
            <a:r>
              <a:rPr lang="pt-BR" sz="2400" spc="-20" noProof="0" dirty="0">
                <a:latin typeface="Calibri"/>
                <a:cs typeface="Calibri"/>
              </a:rPr>
              <a:t>gera</a:t>
            </a:r>
            <a:r>
              <a:rPr lang="pt-BR" sz="2400" spc="-5" noProof="0" dirty="0">
                <a:latin typeface="Calibri"/>
                <a:cs typeface="Calibri"/>
              </a:rPr>
              <a:t> </a:t>
            </a:r>
            <a:r>
              <a:rPr lang="pt-BR" sz="2400" spc="-10" noProof="0" dirty="0">
                <a:latin typeface="Calibri"/>
                <a:cs typeface="Calibri"/>
              </a:rPr>
              <a:t>muitos </a:t>
            </a:r>
            <a:r>
              <a:rPr lang="pt-BR" sz="2400" spc="-5" noProof="0" dirty="0">
                <a:latin typeface="Calibri"/>
                <a:cs typeface="Calibri"/>
              </a:rPr>
              <a:t>dados</a:t>
            </a:r>
            <a:r>
              <a:rPr lang="pt-BR" sz="2400" spc="-1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(</a:t>
            </a:r>
            <a:r>
              <a:rPr lang="pt-BR" sz="2400" spc="-5" noProof="0" dirty="0" err="1">
                <a:latin typeface="Calibri"/>
                <a:cs typeface="Calibri"/>
              </a:rPr>
              <a:t>duh</a:t>
            </a:r>
            <a:r>
              <a:rPr lang="pt-BR" sz="2400" spc="-5" noProof="0" dirty="0">
                <a:latin typeface="Calibri"/>
                <a:cs typeface="Calibri"/>
              </a:rPr>
              <a:t>!)</a:t>
            </a:r>
            <a:endParaRPr lang="pt-BR" sz="2400" noProof="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Calibri"/>
              <a:buChar char="-"/>
            </a:pPr>
            <a:endParaRPr lang="pt-BR" sz="2350" noProof="0" dirty="0">
              <a:latin typeface="Calibri"/>
              <a:cs typeface="Calibri"/>
            </a:endParaRPr>
          </a:p>
          <a:p>
            <a:pPr marL="333375" indent="-286385">
              <a:lnSpc>
                <a:spcPct val="100000"/>
              </a:lnSpc>
              <a:buChar char="-"/>
              <a:tabLst>
                <a:tab pos="333375" algn="l"/>
                <a:tab pos="334010" algn="l"/>
              </a:tabLst>
            </a:pPr>
            <a:r>
              <a:rPr lang="pt-BR" sz="2400" spc="-10" noProof="0" dirty="0">
                <a:latin typeface="Calibri"/>
                <a:cs typeface="Calibri"/>
              </a:rPr>
              <a:t>Muitas </a:t>
            </a:r>
            <a:r>
              <a:rPr lang="pt-BR" sz="2400" spc="-20" noProof="0" dirty="0">
                <a:latin typeface="Calibri"/>
                <a:cs typeface="Calibri"/>
              </a:rPr>
              <a:t>vezes,</a:t>
            </a:r>
            <a:r>
              <a:rPr lang="pt-BR" sz="2400" noProof="0" dirty="0">
                <a:latin typeface="Calibri"/>
                <a:cs typeface="Calibri"/>
              </a:rPr>
              <a:t> além</a:t>
            </a:r>
            <a:r>
              <a:rPr lang="pt-BR" sz="2400" spc="-5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do</a:t>
            </a:r>
            <a:r>
              <a:rPr lang="pt-BR" sz="2400" spc="-5" noProof="0" dirty="0">
                <a:latin typeface="Calibri"/>
                <a:cs typeface="Calibri"/>
              </a:rPr>
              <a:t> necessário </a:t>
            </a:r>
            <a:r>
              <a:rPr lang="pt-BR" sz="2400" spc="-15" noProof="0" dirty="0">
                <a:latin typeface="Calibri"/>
                <a:cs typeface="Calibri"/>
              </a:rPr>
              <a:t>para</a:t>
            </a:r>
            <a:r>
              <a:rPr lang="pt-BR" sz="2400" noProof="0" dirty="0">
                <a:latin typeface="Calibri"/>
                <a:cs typeface="Calibri"/>
              </a:rPr>
              <a:t> a</a:t>
            </a:r>
            <a:r>
              <a:rPr lang="pt-BR" sz="2400" spc="-5" noProof="0" dirty="0">
                <a:latin typeface="Calibri"/>
                <a:cs typeface="Calibri"/>
              </a:rPr>
              <a:t> </a:t>
            </a:r>
            <a:r>
              <a:rPr lang="pt-BR" sz="2400" spc="-10" noProof="0" dirty="0">
                <a:latin typeface="Calibri"/>
                <a:cs typeface="Calibri"/>
              </a:rPr>
              <a:t>aplicação</a:t>
            </a:r>
            <a:r>
              <a:rPr lang="pt-BR" sz="2400" spc="-5" noProof="0" dirty="0">
                <a:latin typeface="Calibri"/>
                <a:cs typeface="Calibri"/>
              </a:rPr>
              <a:t> inicial </a:t>
            </a:r>
            <a:r>
              <a:rPr lang="pt-BR" sz="2400" noProof="0" dirty="0">
                <a:latin typeface="Calibri"/>
                <a:cs typeface="Calibri"/>
              </a:rPr>
              <a:t>planejada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Calibri"/>
              <a:buChar char="-"/>
            </a:pPr>
            <a:endParaRPr lang="pt-BR" sz="2350" noProof="0" dirty="0">
              <a:latin typeface="Calibri"/>
              <a:cs typeface="Calibri"/>
            </a:endParaRPr>
          </a:p>
          <a:p>
            <a:pPr marL="333375" indent="-286385">
              <a:lnSpc>
                <a:spcPct val="100000"/>
              </a:lnSpc>
              <a:spcBef>
                <a:spcPts val="5"/>
              </a:spcBef>
              <a:buChar char="-"/>
              <a:tabLst>
                <a:tab pos="333375" algn="l"/>
                <a:tab pos="334010" algn="l"/>
              </a:tabLst>
            </a:pPr>
            <a:r>
              <a:rPr lang="pt-BR" sz="2400" spc="-15" noProof="0" dirty="0">
                <a:latin typeface="Calibri"/>
                <a:cs typeface="Calibri"/>
              </a:rPr>
              <a:t>Aproveitar</a:t>
            </a:r>
            <a:r>
              <a:rPr lang="pt-BR" sz="2400" spc="-1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os</a:t>
            </a:r>
            <a:r>
              <a:rPr lang="pt-BR" sz="2400" spc="-15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dados</a:t>
            </a:r>
            <a:r>
              <a:rPr lang="pt-BR" sz="2400" spc="-15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ao</a:t>
            </a:r>
            <a:r>
              <a:rPr lang="pt-BR" sz="2400" spc="-10" noProof="0" dirty="0">
                <a:latin typeface="Calibri"/>
                <a:cs typeface="Calibri"/>
              </a:rPr>
              <a:t> máximo!</a:t>
            </a:r>
            <a:endParaRPr lang="pt-BR" sz="2400" noProof="0" dirty="0">
              <a:latin typeface="Calibri"/>
              <a:cs typeface="Calibri"/>
            </a:endParaRPr>
          </a:p>
        </p:txBody>
      </p:sp>
      <p:sp>
        <p:nvSpPr>
          <p:cNvPr id="4" name="object 16">
            <a:extLst>
              <a:ext uri="{FF2B5EF4-FFF2-40B4-BE49-F238E27FC236}">
                <a16:creationId xmlns:a16="http://schemas.microsoft.com/office/drawing/2014/main" id="{0AFACDB8-A68D-2242-8E0F-573DD249B20F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7437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Microssatélites </a:t>
            </a:r>
            <a:endParaRPr lang="pt-BR" sz="2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29573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087CA8E8-508C-2A4D-948F-B0AA2F43CEF6}"/>
              </a:ext>
            </a:extLst>
          </p:cNvPr>
          <p:cNvSpPr txBox="1"/>
          <p:nvPr/>
        </p:nvSpPr>
        <p:spPr>
          <a:xfrm>
            <a:off x="674293" y="711934"/>
            <a:ext cx="743775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905"/>
              </a:spcBef>
            </a:pPr>
            <a:r>
              <a:rPr lang="pt-BR" sz="2400" b="1" spc="-20" noProof="0" dirty="0">
                <a:latin typeface="Calibri"/>
                <a:cs typeface="Calibri"/>
              </a:rPr>
              <a:t>Workflow</a:t>
            </a:r>
            <a:endParaRPr lang="pt-BR" sz="2400" noProof="0" dirty="0">
              <a:latin typeface="Calibri"/>
              <a:cs typeface="Calibri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547C62E-3EC3-5D46-8E22-B4B653D3A497}"/>
              </a:ext>
            </a:extLst>
          </p:cNvPr>
          <p:cNvSpPr txBox="1"/>
          <p:nvPr/>
        </p:nvSpPr>
        <p:spPr>
          <a:xfrm>
            <a:off x="395536" y="1556793"/>
            <a:ext cx="2016760" cy="462280"/>
          </a:xfrm>
          <a:prstGeom prst="rect">
            <a:avLst/>
          </a:prstGeom>
          <a:solidFill>
            <a:srgbClr val="D99694"/>
          </a:solidFill>
        </p:spPr>
        <p:txBody>
          <a:bodyPr vert="horz" wrap="square" lIns="0" tIns="2413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90"/>
              </a:spcBef>
            </a:pPr>
            <a:r>
              <a:rPr lang="pt-BR" sz="2400" spc="-5" noProof="0" dirty="0">
                <a:latin typeface="Calibri"/>
                <a:cs typeface="Calibri"/>
              </a:rPr>
              <a:t>Dados</a:t>
            </a:r>
            <a:r>
              <a:rPr lang="pt-BR" sz="2400" spc="-35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de</a:t>
            </a:r>
            <a:r>
              <a:rPr lang="pt-BR" sz="2400" spc="-30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NGS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3817C508-ADDC-EA4F-8446-C8BB62E3433C}"/>
              </a:ext>
            </a:extLst>
          </p:cNvPr>
          <p:cNvSpPr txBox="1"/>
          <p:nvPr/>
        </p:nvSpPr>
        <p:spPr>
          <a:xfrm>
            <a:off x="5110623" y="1332715"/>
            <a:ext cx="2664460" cy="1200785"/>
          </a:xfrm>
          <a:prstGeom prst="rect">
            <a:avLst/>
          </a:prstGeom>
          <a:solidFill>
            <a:srgbClr val="D99694"/>
          </a:solidFill>
        </p:spPr>
        <p:txBody>
          <a:bodyPr vert="horz" wrap="square" lIns="0" tIns="24130" rIns="0" bIns="0" rtlCol="0">
            <a:spAutoFit/>
          </a:bodyPr>
          <a:lstStyle/>
          <a:p>
            <a:pPr marL="90805" marR="417195">
              <a:lnSpc>
                <a:spcPct val="100099"/>
              </a:lnSpc>
              <a:spcBef>
                <a:spcPts val="190"/>
              </a:spcBef>
            </a:pPr>
            <a:r>
              <a:rPr lang="pt-BR" sz="2400" spc="-15" noProof="0" dirty="0">
                <a:latin typeface="Calibri"/>
                <a:cs typeface="Calibri"/>
              </a:rPr>
              <a:t>Montagem </a:t>
            </a:r>
            <a:r>
              <a:rPr lang="pt-BR" sz="2400" noProof="0" dirty="0">
                <a:latin typeface="Calibri"/>
                <a:cs typeface="Calibri"/>
              </a:rPr>
              <a:t>em </a:t>
            </a:r>
            <a:r>
              <a:rPr lang="pt-BR" sz="2400" spc="5" noProof="0" dirty="0">
                <a:latin typeface="Calibri"/>
                <a:cs typeface="Calibri"/>
              </a:rPr>
              <a:t> </a:t>
            </a:r>
            <a:r>
              <a:rPr lang="pt-BR" sz="2400" spc="-10" noProof="0" dirty="0" err="1">
                <a:latin typeface="Calibri"/>
                <a:cs typeface="Calibri"/>
              </a:rPr>
              <a:t>contigs</a:t>
            </a:r>
            <a:r>
              <a:rPr lang="pt-BR" sz="2400" spc="-10" noProof="0" dirty="0">
                <a:latin typeface="Calibri"/>
                <a:cs typeface="Calibri"/>
              </a:rPr>
              <a:t>,</a:t>
            </a:r>
            <a:r>
              <a:rPr lang="pt-BR" sz="2400" spc="-95" noProof="0" dirty="0">
                <a:latin typeface="Calibri"/>
                <a:cs typeface="Calibri"/>
              </a:rPr>
              <a:t> </a:t>
            </a:r>
            <a:r>
              <a:rPr lang="pt-BR" sz="2400" spc="-10" noProof="0" dirty="0">
                <a:latin typeface="Calibri"/>
                <a:cs typeface="Calibri"/>
              </a:rPr>
              <a:t>matrizes, </a:t>
            </a:r>
            <a:r>
              <a:rPr lang="pt-BR" sz="2400" spc="-525" noProof="0" dirty="0">
                <a:latin typeface="Calibri"/>
                <a:cs typeface="Calibri"/>
              </a:rPr>
              <a:t> </a:t>
            </a:r>
            <a:r>
              <a:rPr lang="pt-BR" sz="2400" spc="-15" noProof="0" dirty="0" err="1">
                <a:latin typeface="Calibri"/>
                <a:cs typeface="Calibri"/>
              </a:rPr>
              <a:t>etc</a:t>
            </a:r>
            <a:endParaRPr lang="pt-BR" sz="2400" noProof="0" dirty="0">
              <a:latin typeface="Calibri"/>
              <a:cs typeface="Calibri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D9D7ACB0-51E6-F94F-A4E8-2EFA2A284813}"/>
              </a:ext>
            </a:extLst>
          </p:cNvPr>
          <p:cNvSpPr txBox="1"/>
          <p:nvPr/>
        </p:nvSpPr>
        <p:spPr>
          <a:xfrm>
            <a:off x="7516494" y="3719380"/>
            <a:ext cx="2664460" cy="1200785"/>
          </a:xfrm>
          <a:prstGeom prst="rect">
            <a:avLst/>
          </a:prstGeom>
          <a:solidFill>
            <a:srgbClr val="D99694"/>
          </a:solidFill>
        </p:spPr>
        <p:txBody>
          <a:bodyPr vert="horz" wrap="square" lIns="0" tIns="24130" rIns="0" bIns="0" rtlCol="0">
            <a:spAutoFit/>
          </a:bodyPr>
          <a:lstStyle/>
          <a:p>
            <a:pPr marL="91440" marR="205740">
              <a:lnSpc>
                <a:spcPct val="100099"/>
              </a:lnSpc>
              <a:spcBef>
                <a:spcPts val="190"/>
              </a:spcBef>
            </a:pPr>
            <a:r>
              <a:rPr lang="pt-BR" sz="2400" spc="-5" noProof="0" dirty="0">
                <a:latin typeface="Calibri"/>
                <a:cs typeface="Calibri"/>
              </a:rPr>
              <a:t>Uso </a:t>
            </a:r>
            <a:r>
              <a:rPr lang="pt-BR" sz="2400" noProof="0" dirty="0">
                <a:latin typeface="Calibri"/>
                <a:cs typeface="Calibri"/>
              </a:rPr>
              <a:t>de </a:t>
            </a:r>
            <a:r>
              <a:rPr lang="pt-BR" sz="2400" spc="-15" noProof="0" dirty="0">
                <a:latin typeface="Calibri"/>
                <a:cs typeface="Calibri"/>
              </a:rPr>
              <a:t>programas </a:t>
            </a:r>
            <a:r>
              <a:rPr lang="pt-BR" sz="2400" spc="-10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que </a:t>
            </a:r>
            <a:r>
              <a:rPr lang="pt-BR" sz="2400" spc="-10" noProof="0" dirty="0">
                <a:latin typeface="Calibri"/>
                <a:cs typeface="Calibri"/>
              </a:rPr>
              <a:t>identificam </a:t>
            </a:r>
            <a:r>
              <a:rPr lang="pt-BR" sz="2400" spc="-5" noProof="0" dirty="0">
                <a:latin typeface="Calibri"/>
                <a:cs typeface="Calibri"/>
              </a:rPr>
              <a:t> possíveis</a:t>
            </a:r>
            <a:r>
              <a:rPr lang="pt-BR" sz="2400" spc="-60" noProof="0" dirty="0">
                <a:latin typeface="Calibri"/>
                <a:cs typeface="Calibri"/>
              </a:rPr>
              <a:t> </a:t>
            </a:r>
            <a:r>
              <a:rPr lang="pt-BR" sz="2400" spc="-15" noProof="0" dirty="0" err="1">
                <a:latin typeface="Calibri"/>
                <a:cs typeface="Calibri"/>
              </a:rPr>
              <a:t>microsats</a:t>
            </a:r>
            <a:endParaRPr lang="pt-BR" sz="2400" noProof="0" dirty="0">
              <a:latin typeface="Calibri"/>
              <a:cs typeface="Calibri"/>
            </a:endParaRP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4961CA50-1E92-DA4F-A838-0763F6FC4206}"/>
              </a:ext>
            </a:extLst>
          </p:cNvPr>
          <p:cNvSpPr txBox="1"/>
          <p:nvPr/>
        </p:nvSpPr>
        <p:spPr>
          <a:xfrm>
            <a:off x="2698720" y="5301208"/>
            <a:ext cx="2664460" cy="831215"/>
          </a:xfrm>
          <a:prstGeom prst="rect">
            <a:avLst/>
          </a:prstGeom>
          <a:solidFill>
            <a:srgbClr val="D99694"/>
          </a:solidFill>
        </p:spPr>
        <p:txBody>
          <a:bodyPr vert="horz" wrap="square" lIns="0" tIns="21590" rIns="0" bIns="0" rtlCol="0">
            <a:spAutoFit/>
          </a:bodyPr>
          <a:lstStyle/>
          <a:p>
            <a:pPr marL="90805" marR="193675">
              <a:lnSpc>
                <a:spcPct val="100699"/>
              </a:lnSpc>
              <a:spcBef>
                <a:spcPts val="170"/>
              </a:spcBef>
            </a:pPr>
            <a:r>
              <a:rPr lang="pt-BR" sz="2400" spc="-10" noProof="0" dirty="0">
                <a:latin typeface="Calibri"/>
                <a:cs typeface="Calibri"/>
              </a:rPr>
              <a:t>Desenvolvimento</a:t>
            </a:r>
            <a:r>
              <a:rPr lang="pt-BR" sz="2400" spc="-95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e </a:t>
            </a:r>
            <a:r>
              <a:rPr lang="pt-BR" sz="2400" spc="-525" noProof="0" dirty="0">
                <a:latin typeface="Calibri"/>
                <a:cs typeface="Calibri"/>
              </a:rPr>
              <a:t> </a:t>
            </a:r>
            <a:r>
              <a:rPr lang="pt-BR" sz="2400" spc="-20" noProof="0" dirty="0">
                <a:latin typeface="Calibri"/>
                <a:cs typeface="Calibri"/>
              </a:rPr>
              <a:t>teste</a:t>
            </a:r>
            <a:r>
              <a:rPr lang="pt-BR" sz="2400" spc="-10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de</a:t>
            </a:r>
            <a:r>
              <a:rPr lang="pt-BR" sz="2400" spc="-10" noProof="0" dirty="0">
                <a:latin typeface="Calibri"/>
                <a:cs typeface="Calibri"/>
              </a:rPr>
              <a:t> primers</a:t>
            </a:r>
            <a:endParaRPr lang="pt-BR" sz="2400" noProof="0" dirty="0">
              <a:latin typeface="Calibri"/>
              <a:cs typeface="Calibri"/>
            </a:endParaRP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34E0ABDA-2488-5448-9E8C-A5FCF9E842E0}"/>
              </a:ext>
            </a:extLst>
          </p:cNvPr>
          <p:cNvSpPr/>
          <p:nvPr/>
        </p:nvSpPr>
        <p:spPr>
          <a:xfrm rot="16200000">
            <a:off x="3519143" y="1309905"/>
            <a:ext cx="484632" cy="978408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59F0E0E8-349E-6C48-9F2D-65201FB70593}"/>
              </a:ext>
            </a:extLst>
          </p:cNvPr>
          <p:cNvSpPr/>
          <p:nvPr/>
        </p:nvSpPr>
        <p:spPr>
          <a:xfrm rot="18796822">
            <a:off x="7010499" y="2637237"/>
            <a:ext cx="484632" cy="978408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2692AEE1-42F4-484D-AF0A-57AB0ADBE328}"/>
              </a:ext>
            </a:extLst>
          </p:cNvPr>
          <p:cNvSpPr/>
          <p:nvPr/>
        </p:nvSpPr>
        <p:spPr>
          <a:xfrm rot="3805368">
            <a:off x="6280459" y="4497979"/>
            <a:ext cx="484632" cy="1491484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BC4E8B-06E0-324D-A18F-F1389498DB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37" b="24801"/>
          <a:stretch/>
        </p:blipFill>
        <p:spPr>
          <a:xfrm>
            <a:off x="544137" y="2944477"/>
            <a:ext cx="3486813" cy="194575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2" name="object 16">
            <a:extLst>
              <a:ext uri="{FF2B5EF4-FFF2-40B4-BE49-F238E27FC236}">
                <a16:creationId xmlns:a16="http://schemas.microsoft.com/office/drawing/2014/main" id="{903F0052-DE7D-7441-A77A-E35C6029E0A5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7437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Microssatélites </a:t>
            </a:r>
            <a:endParaRPr lang="pt-BR" sz="2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66534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D4AA0CB-5338-DC4E-9D8B-B1039700E20E}"/>
              </a:ext>
            </a:extLst>
          </p:cNvPr>
          <p:cNvSpPr txBox="1"/>
          <p:nvPr/>
        </p:nvSpPr>
        <p:spPr>
          <a:xfrm>
            <a:off x="114236" y="632562"/>
            <a:ext cx="1269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b="1" spc="-20" noProof="0" dirty="0">
                <a:latin typeface="Calibri"/>
                <a:cs typeface="Calibri"/>
              </a:rPr>
              <a:t>Workflow</a:t>
            </a:r>
            <a:endParaRPr lang="pt-BR" sz="2400" noProof="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FF71966-1F83-504D-87F7-F2E9DCBB7CD7}"/>
              </a:ext>
            </a:extLst>
          </p:cNvPr>
          <p:cNvSpPr txBox="1"/>
          <p:nvPr/>
        </p:nvSpPr>
        <p:spPr>
          <a:xfrm>
            <a:off x="1048807" y="3368209"/>
            <a:ext cx="2403934" cy="45525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2413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90"/>
              </a:spcBef>
            </a:pPr>
            <a:r>
              <a:rPr lang="pt-BR" sz="2800" b="1" spc="-5" noProof="0" dirty="0">
                <a:latin typeface="Calibri"/>
                <a:cs typeface="Calibri"/>
              </a:rPr>
              <a:t>Dados</a:t>
            </a:r>
            <a:r>
              <a:rPr lang="pt-BR" sz="2800" b="1" spc="-35" noProof="0" dirty="0">
                <a:latin typeface="Calibri"/>
                <a:cs typeface="Calibri"/>
              </a:rPr>
              <a:t> </a:t>
            </a:r>
            <a:r>
              <a:rPr lang="pt-BR" sz="2800" b="1" noProof="0" dirty="0">
                <a:latin typeface="Calibri"/>
                <a:cs typeface="Calibri"/>
              </a:rPr>
              <a:t>de</a:t>
            </a:r>
            <a:r>
              <a:rPr lang="pt-BR" sz="2800" b="1" spc="-30" noProof="0" dirty="0">
                <a:latin typeface="Calibri"/>
                <a:cs typeface="Calibri"/>
              </a:rPr>
              <a:t> </a:t>
            </a:r>
            <a:r>
              <a:rPr lang="pt-BR" sz="2800" b="1" noProof="0" dirty="0">
                <a:latin typeface="Calibri"/>
                <a:cs typeface="Calibri"/>
              </a:rPr>
              <a:t>NGS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0EEF82E4-C517-1F4F-9239-C7E2A2D44C57}"/>
              </a:ext>
            </a:extLst>
          </p:cNvPr>
          <p:cNvSpPr txBox="1"/>
          <p:nvPr/>
        </p:nvSpPr>
        <p:spPr>
          <a:xfrm>
            <a:off x="5284479" y="720534"/>
            <a:ext cx="4248785" cy="19011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0" tIns="28575" rIns="0" bIns="0" rtlCol="0">
            <a:spAutoFit/>
          </a:bodyPr>
          <a:lstStyle/>
          <a:p>
            <a:pPr marL="90805">
              <a:spcBef>
                <a:spcPts val="225"/>
              </a:spcBef>
            </a:pPr>
            <a:r>
              <a:rPr lang="pt-BR" sz="2400" b="1" spc="-5" noProof="0" dirty="0">
                <a:latin typeface="Calibri"/>
                <a:cs typeface="Calibri"/>
              </a:rPr>
              <a:t>Genome</a:t>
            </a:r>
            <a:r>
              <a:rPr lang="pt-BR" sz="2400" b="1" spc="-10" noProof="0" dirty="0">
                <a:latin typeface="Calibri"/>
                <a:cs typeface="Calibri"/>
              </a:rPr>
              <a:t> </a:t>
            </a:r>
            <a:r>
              <a:rPr lang="pt-BR" sz="2400" b="1" spc="-5" noProof="0" dirty="0" err="1">
                <a:latin typeface="Calibri"/>
                <a:cs typeface="Calibri"/>
              </a:rPr>
              <a:t>skimming</a:t>
            </a:r>
            <a:r>
              <a:rPr lang="pt-BR" sz="2400" b="1" spc="-5" noProof="0" dirty="0">
                <a:latin typeface="Calibri"/>
                <a:cs typeface="Calibri"/>
              </a:rPr>
              <a:t>: </a:t>
            </a:r>
            <a:r>
              <a:rPr lang="pt-BR" sz="2400" spc="-10" noProof="0" dirty="0">
                <a:latin typeface="Calibri"/>
                <a:cs typeface="Calibri"/>
              </a:rPr>
              <a:t>grande</a:t>
            </a:r>
            <a:r>
              <a:rPr lang="pt-BR" sz="2400" spc="-5" noProof="0" dirty="0">
                <a:latin typeface="Calibri"/>
                <a:cs typeface="Calibri"/>
              </a:rPr>
              <a:t> quantidade</a:t>
            </a:r>
            <a:r>
              <a:rPr lang="pt-BR" sz="2400" spc="-5" noProof="0" dirty="0">
                <a:cs typeface="Calibri"/>
              </a:rPr>
              <a:t> de dados,</a:t>
            </a:r>
            <a:r>
              <a:rPr lang="pt-BR" sz="2400" spc="-10" noProof="0" dirty="0">
                <a:cs typeface="Calibri"/>
              </a:rPr>
              <a:t> </a:t>
            </a:r>
            <a:r>
              <a:rPr lang="pt-BR" sz="2400" spc="-5" noProof="0" dirty="0">
                <a:cs typeface="Calibri"/>
              </a:rPr>
              <a:t>possível</a:t>
            </a:r>
            <a:r>
              <a:rPr lang="pt-BR" sz="2400" noProof="0" dirty="0">
                <a:cs typeface="Calibri"/>
              </a:rPr>
              <a:t> </a:t>
            </a:r>
            <a:r>
              <a:rPr lang="pt-BR" sz="2400" spc="-5" noProof="0" dirty="0">
                <a:cs typeface="Calibri"/>
              </a:rPr>
              <a:t>super </a:t>
            </a:r>
            <a:r>
              <a:rPr lang="pt-BR" sz="2400" spc="-10" noProof="0" dirty="0">
                <a:cs typeface="Calibri"/>
              </a:rPr>
              <a:t>representação </a:t>
            </a:r>
            <a:r>
              <a:rPr lang="pt-BR" sz="2400" spc="-5" noProof="0" dirty="0">
                <a:cs typeface="Calibri"/>
              </a:rPr>
              <a:t>de</a:t>
            </a:r>
            <a:r>
              <a:rPr lang="pt-BR" sz="2400" spc="-10" noProof="0" dirty="0">
                <a:cs typeface="Calibri"/>
              </a:rPr>
              <a:t> </a:t>
            </a:r>
            <a:r>
              <a:rPr lang="pt-BR" sz="2400" spc="-5" noProof="0" dirty="0" err="1">
                <a:cs typeface="Calibri"/>
              </a:rPr>
              <a:t>cpDNA</a:t>
            </a:r>
            <a:r>
              <a:rPr lang="pt-BR" sz="2400" spc="-5" noProof="0" dirty="0">
                <a:cs typeface="Calibri"/>
              </a:rPr>
              <a:t> </a:t>
            </a:r>
            <a:r>
              <a:rPr lang="pt-BR" sz="2400" noProof="0" dirty="0">
                <a:cs typeface="Calibri"/>
              </a:rPr>
              <a:t>e</a:t>
            </a:r>
            <a:r>
              <a:rPr lang="pt-BR" sz="2400" spc="-10" noProof="0" dirty="0">
                <a:cs typeface="Calibri"/>
              </a:rPr>
              <a:t> </a:t>
            </a:r>
            <a:r>
              <a:rPr lang="pt-BR" sz="2400" spc="-5" noProof="0" dirty="0" err="1">
                <a:cs typeface="Calibri"/>
              </a:rPr>
              <a:t>mtDNA</a:t>
            </a:r>
            <a:r>
              <a:rPr lang="pt-BR" sz="2400" spc="-5" noProof="0" dirty="0">
                <a:cs typeface="Calibri"/>
              </a:rPr>
              <a:t>,</a:t>
            </a:r>
            <a:r>
              <a:rPr lang="pt-BR" sz="2400" spc="-10" noProof="0" dirty="0">
                <a:cs typeface="Calibri"/>
              </a:rPr>
              <a:t> </a:t>
            </a:r>
            <a:r>
              <a:rPr lang="pt-BR" sz="2400" spc="-5" noProof="0" dirty="0">
                <a:cs typeface="Calibri"/>
              </a:rPr>
              <a:t>regiões anônimas</a:t>
            </a:r>
            <a:endParaRPr lang="pt-BR" sz="2400" noProof="0" dirty="0"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225"/>
              </a:spcBef>
            </a:pPr>
            <a:endParaRPr lang="pt-BR" sz="2400" noProof="0" dirty="0">
              <a:latin typeface="Calibri"/>
              <a:cs typeface="Calibri"/>
            </a:endParaRPr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F7DED37C-789B-DB4A-9480-6ABFC06D55DF}"/>
              </a:ext>
            </a:extLst>
          </p:cNvPr>
          <p:cNvSpPr txBox="1"/>
          <p:nvPr/>
        </p:nvSpPr>
        <p:spPr>
          <a:xfrm>
            <a:off x="5284478" y="2930765"/>
            <a:ext cx="4248785" cy="14901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pt-BR" sz="2400" b="1" spc="-40" noProof="0" dirty="0">
                <a:latin typeface="Calibri"/>
                <a:cs typeface="Calibri"/>
              </a:rPr>
              <a:t>Target</a:t>
            </a:r>
            <a:r>
              <a:rPr lang="pt-BR" sz="2400" b="1" noProof="0" dirty="0">
                <a:latin typeface="Calibri"/>
                <a:cs typeface="Calibri"/>
              </a:rPr>
              <a:t> </a:t>
            </a:r>
            <a:r>
              <a:rPr lang="pt-BR" sz="2400" b="1" spc="-10" noProof="0" dirty="0">
                <a:latin typeface="Calibri"/>
                <a:cs typeface="Calibri"/>
              </a:rPr>
              <a:t>capture:</a:t>
            </a:r>
            <a:r>
              <a:rPr lang="pt-BR" sz="2400" b="1" noProof="0" dirty="0">
                <a:latin typeface="Calibri"/>
                <a:cs typeface="Calibri"/>
              </a:rPr>
              <a:t> </a:t>
            </a:r>
            <a:r>
              <a:rPr lang="pt-BR" sz="2400" spc="-10" noProof="0" dirty="0">
                <a:latin typeface="Calibri"/>
                <a:cs typeface="Calibri"/>
              </a:rPr>
              <a:t>localização </a:t>
            </a:r>
            <a:r>
              <a:rPr lang="pt-BR" sz="2400" spc="-5" noProof="0" dirty="0">
                <a:latin typeface="Calibri"/>
                <a:cs typeface="Calibri"/>
              </a:rPr>
              <a:t>dos </a:t>
            </a:r>
            <a:r>
              <a:rPr lang="pt-BR" sz="2400" noProof="0" dirty="0">
                <a:latin typeface="Calibri"/>
                <a:cs typeface="Calibri"/>
              </a:rPr>
              <a:t> </a:t>
            </a:r>
            <a:r>
              <a:rPr lang="pt-BR" sz="2400" spc="-5" noProof="0" dirty="0" err="1">
                <a:latin typeface="Calibri"/>
                <a:cs typeface="Calibri"/>
              </a:rPr>
              <a:t>microsats</a:t>
            </a:r>
            <a:r>
              <a:rPr lang="pt-BR" sz="2400" spc="-5" noProof="0" dirty="0">
                <a:latin typeface="Calibri"/>
                <a:cs typeface="Calibri"/>
              </a:rPr>
              <a:t>, possivelmente </a:t>
            </a:r>
            <a:r>
              <a:rPr lang="pt-BR" sz="2400" noProof="0" dirty="0">
                <a:latin typeface="Calibri"/>
                <a:cs typeface="Calibri"/>
              </a:rPr>
              <a:t>em </a:t>
            </a:r>
            <a:r>
              <a:rPr lang="pt-BR" sz="2400" spc="-5" noProof="0" dirty="0">
                <a:latin typeface="Calibri"/>
                <a:cs typeface="Calibri"/>
              </a:rPr>
              <a:t>regiões </a:t>
            </a:r>
            <a:r>
              <a:rPr lang="pt-BR" sz="2400" spc="-445" noProof="0" dirty="0">
                <a:latin typeface="Calibri"/>
                <a:cs typeface="Calibri"/>
              </a:rPr>
              <a:t> </a:t>
            </a:r>
            <a:r>
              <a:rPr lang="pt-BR" sz="2400" spc="-10" noProof="0" dirty="0">
                <a:latin typeface="Calibri"/>
                <a:cs typeface="Calibri"/>
              </a:rPr>
              <a:t>codificantes,</a:t>
            </a:r>
            <a:r>
              <a:rPr lang="pt-BR" sz="2400" spc="-5" noProof="0" dirty="0">
                <a:latin typeface="Calibri"/>
                <a:cs typeface="Calibri"/>
              </a:rPr>
              <a:t> menos</a:t>
            </a:r>
            <a:r>
              <a:rPr lang="pt-BR" sz="2400" noProof="0" dirty="0">
                <a:latin typeface="Calibri"/>
                <a:cs typeface="Calibri"/>
              </a:rPr>
              <a:t> </a:t>
            </a:r>
            <a:r>
              <a:rPr lang="pt-BR" sz="2400" spc="-15" noProof="0" dirty="0">
                <a:latin typeface="Calibri"/>
                <a:cs typeface="Calibri"/>
              </a:rPr>
              <a:t>variação</a:t>
            </a:r>
            <a:endParaRPr lang="pt-BR" sz="2400" noProof="0" dirty="0">
              <a:latin typeface="Calibri"/>
              <a:cs typeface="Calibri"/>
            </a:endParaRPr>
          </a:p>
        </p:txBody>
      </p:sp>
      <p:sp>
        <p:nvSpPr>
          <p:cNvPr id="10" name="object 14">
            <a:extLst>
              <a:ext uri="{FF2B5EF4-FFF2-40B4-BE49-F238E27FC236}">
                <a16:creationId xmlns:a16="http://schemas.microsoft.com/office/drawing/2014/main" id="{40247A89-9B7C-D644-8B5D-C4A8A63E0E3E}"/>
              </a:ext>
            </a:extLst>
          </p:cNvPr>
          <p:cNvSpPr txBox="1"/>
          <p:nvPr/>
        </p:nvSpPr>
        <p:spPr>
          <a:xfrm>
            <a:off x="5284477" y="4703870"/>
            <a:ext cx="4248785" cy="18755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0" tIns="28575" rIns="0" bIns="0" rtlCol="0">
            <a:spAutoFit/>
          </a:bodyPr>
          <a:lstStyle/>
          <a:p>
            <a:pPr marL="91440" marR="149225">
              <a:lnSpc>
                <a:spcPct val="100000"/>
              </a:lnSpc>
              <a:spcBef>
                <a:spcPts val="225"/>
              </a:spcBef>
            </a:pPr>
            <a:r>
              <a:rPr lang="pt-BR" sz="2400" b="1" spc="-5" noProof="0" dirty="0">
                <a:latin typeface="Calibri"/>
                <a:cs typeface="Calibri"/>
              </a:rPr>
              <a:t>Enriquecimento</a:t>
            </a:r>
            <a:r>
              <a:rPr lang="pt-BR" sz="2400" b="1" spc="-15" noProof="0" dirty="0">
                <a:latin typeface="Calibri"/>
                <a:cs typeface="Calibri"/>
              </a:rPr>
              <a:t> para</a:t>
            </a:r>
            <a:r>
              <a:rPr lang="pt-BR" sz="2400" b="1" noProof="0" dirty="0">
                <a:latin typeface="Calibri"/>
                <a:cs typeface="Calibri"/>
              </a:rPr>
              <a:t> </a:t>
            </a:r>
            <a:r>
              <a:rPr lang="pt-BR" sz="2400" b="1" noProof="0" dirty="0" err="1">
                <a:latin typeface="Calibri"/>
                <a:cs typeface="Calibri"/>
              </a:rPr>
              <a:t>SSRs</a:t>
            </a:r>
            <a:r>
              <a:rPr lang="pt-BR" sz="2400" b="1" noProof="0" dirty="0">
                <a:latin typeface="Calibri"/>
                <a:cs typeface="Calibri"/>
              </a:rPr>
              <a:t>:</a:t>
            </a:r>
            <a:r>
              <a:rPr lang="pt-BR" sz="2400" b="1" spc="-5" noProof="0" dirty="0">
                <a:latin typeface="Calibri"/>
                <a:cs typeface="Calibri"/>
              </a:rPr>
              <a:t> </a:t>
            </a:r>
            <a:r>
              <a:rPr lang="pt-BR" sz="2400" spc="-10" noProof="0" dirty="0">
                <a:latin typeface="Calibri"/>
                <a:cs typeface="Calibri"/>
              </a:rPr>
              <a:t>grande</a:t>
            </a:r>
            <a:r>
              <a:rPr lang="pt-BR" sz="2400" spc="-5" noProof="0" dirty="0">
                <a:latin typeface="Calibri"/>
                <a:cs typeface="Calibri"/>
              </a:rPr>
              <a:t> </a:t>
            </a:r>
            <a:r>
              <a:rPr lang="pt-BR" sz="2400" spc="-10" noProof="0" dirty="0">
                <a:latin typeface="Calibri"/>
                <a:cs typeface="Calibri"/>
              </a:rPr>
              <a:t>número</a:t>
            </a:r>
            <a:r>
              <a:rPr lang="pt-BR" sz="2400" spc="-15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de</a:t>
            </a:r>
            <a:r>
              <a:rPr lang="pt-BR" sz="240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possíveis </a:t>
            </a:r>
            <a:r>
              <a:rPr lang="pt-BR" sz="2400" noProof="0" dirty="0">
                <a:latin typeface="Calibri"/>
                <a:cs typeface="Calibri"/>
              </a:rPr>
              <a:t>sítios, </a:t>
            </a:r>
            <a:r>
              <a:rPr lang="pt-BR" sz="2400" spc="-15" noProof="0" dirty="0">
                <a:latin typeface="Calibri"/>
                <a:cs typeface="Calibri"/>
              </a:rPr>
              <a:t>provavelmente</a:t>
            </a:r>
            <a:r>
              <a:rPr lang="pt-BR" sz="2400" spc="-10" noProof="0" dirty="0">
                <a:latin typeface="Calibri"/>
                <a:cs typeface="Calibri"/>
              </a:rPr>
              <a:t> variáveis, </a:t>
            </a:r>
            <a:r>
              <a:rPr lang="pt-BR" sz="2400" spc="-5" noProof="0" dirty="0">
                <a:latin typeface="Calibri"/>
                <a:cs typeface="Calibri"/>
              </a:rPr>
              <a:t>regiões</a:t>
            </a:r>
            <a:r>
              <a:rPr lang="pt-BR" sz="240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anônimas,</a:t>
            </a:r>
            <a:r>
              <a:rPr lang="pt-BR" sz="2400" spc="-15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podem</a:t>
            </a:r>
            <a:r>
              <a:rPr lang="pt-BR" sz="2400" spc="-10" noProof="0" dirty="0">
                <a:latin typeface="Calibri"/>
                <a:cs typeface="Calibri"/>
              </a:rPr>
              <a:t> </a:t>
            </a:r>
            <a:r>
              <a:rPr lang="pt-BR" sz="2400" spc="-5" noProof="0" dirty="0">
                <a:latin typeface="Calibri"/>
                <a:cs typeface="Calibri"/>
              </a:rPr>
              <a:t>não</a:t>
            </a:r>
            <a:r>
              <a:rPr lang="pt-BR" sz="2400" spc="-20" noProof="0" dirty="0">
                <a:latin typeface="Calibri"/>
                <a:cs typeface="Calibri"/>
              </a:rPr>
              <a:t> </a:t>
            </a:r>
            <a:r>
              <a:rPr lang="pt-BR" sz="2400" noProof="0" dirty="0">
                <a:latin typeface="Calibri"/>
                <a:cs typeface="Calibri"/>
              </a:rPr>
              <a:t>ser</a:t>
            </a:r>
            <a:r>
              <a:rPr lang="pt-BR" sz="2400" spc="-10" noProof="0" dirty="0">
                <a:latin typeface="Calibri"/>
                <a:cs typeface="Calibri"/>
              </a:rPr>
              <a:t> transferíveis</a:t>
            </a:r>
            <a:endParaRPr lang="pt-BR" sz="2400" noProof="0" dirty="0">
              <a:latin typeface="Calibri"/>
              <a:cs typeface="Calibri"/>
            </a:endParaRP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89C90FF3-8650-564E-B161-BFDAC5A5BECF}"/>
              </a:ext>
            </a:extLst>
          </p:cNvPr>
          <p:cNvSpPr/>
          <p:nvPr/>
        </p:nvSpPr>
        <p:spPr>
          <a:xfrm>
            <a:off x="3924886" y="720534"/>
            <a:ext cx="1195754" cy="5750604"/>
          </a:xfrm>
          <a:prstGeom prst="leftBrac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0C5A3D15-BA8E-BD41-B84F-7D810231BD17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7437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Microssatélites </a:t>
            </a:r>
            <a:endParaRPr lang="pt-BR" sz="2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91922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BB88C64-0851-A542-A44D-2F380F610E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865" y="519772"/>
            <a:ext cx="8682822" cy="4311788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B43DDF1B-4A47-CC4E-B8A7-02AB5CC691DE}"/>
              </a:ext>
            </a:extLst>
          </p:cNvPr>
          <p:cNvSpPr txBox="1"/>
          <p:nvPr/>
        </p:nvSpPr>
        <p:spPr>
          <a:xfrm>
            <a:off x="78739" y="4935599"/>
            <a:ext cx="11133212" cy="18978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pt-BR" sz="2800" spc="-10" noProof="0" dirty="0">
                <a:latin typeface="Calibri"/>
                <a:cs typeface="Calibri"/>
              </a:rPr>
              <a:t>In</a:t>
            </a:r>
            <a:r>
              <a:rPr lang="pt-BR" sz="2800" noProof="0" dirty="0">
                <a:latin typeface="Calibri"/>
                <a:cs typeface="Calibri"/>
              </a:rPr>
              <a:t>úmeros programas…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pt-BR" sz="2800" spc="-10" noProof="0" dirty="0">
                <a:latin typeface="Calibri"/>
                <a:cs typeface="Calibri"/>
              </a:rPr>
              <a:t>Exemplos:</a:t>
            </a:r>
            <a:r>
              <a:rPr lang="pt-BR" sz="2800" spc="5" noProof="0" dirty="0">
                <a:latin typeface="Calibri"/>
                <a:cs typeface="Calibri"/>
              </a:rPr>
              <a:t> </a:t>
            </a:r>
            <a:r>
              <a:rPr lang="pt-BR" sz="2800" spc="-5" noProof="0" dirty="0">
                <a:latin typeface="Calibri"/>
                <a:cs typeface="Calibri"/>
              </a:rPr>
              <a:t>Phobos,</a:t>
            </a:r>
            <a:r>
              <a:rPr lang="pt-BR" sz="2800" spc="5" noProof="0" dirty="0">
                <a:latin typeface="Calibri"/>
                <a:cs typeface="Calibri"/>
              </a:rPr>
              <a:t> </a:t>
            </a:r>
            <a:r>
              <a:rPr lang="pt-BR" sz="2800" spc="-20" noProof="0" dirty="0" err="1">
                <a:latin typeface="Calibri"/>
                <a:cs typeface="Calibri"/>
              </a:rPr>
              <a:t>msatcommander</a:t>
            </a:r>
            <a:r>
              <a:rPr lang="pt-BR" sz="2800" spc="-20" noProof="0" dirty="0">
                <a:latin typeface="Calibri"/>
                <a:cs typeface="Calibri"/>
              </a:rPr>
              <a:t>,</a:t>
            </a:r>
            <a:r>
              <a:rPr lang="pt-BR" sz="2800" spc="10" noProof="0" dirty="0">
                <a:latin typeface="Calibri"/>
                <a:cs typeface="Calibri"/>
              </a:rPr>
              <a:t> </a:t>
            </a:r>
            <a:r>
              <a:rPr lang="pt-BR" sz="2800" spc="-5" noProof="0" dirty="0">
                <a:latin typeface="Calibri"/>
                <a:cs typeface="Calibri"/>
              </a:rPr>
              <a:t>PRISM,</a:t>
            </a:r>
            <a:r>
              <a:rPr lang="pt-BR" sz="2800" spc="5" noProof="0" dirty="0">
                <a:latin typeface="Calibri"/>
                <a:cs typeface="Calibri"/>
              </a:rPr>
              <a:t> </a:t>
            </a:r>
            <a:r>
              <a:rPr lang="pt-BR" sz="2800" spc="-60" noProof="0" dirty="0" err="1">
                <a:latin typeface="Calibri"/>
                <a:cs typeface="Calibri"/>
              </a:rPr>
              <a:t>iMSAT</a:t>
            </a:r>
            <a:r>
              <a:rPr lang="pt-BR" sz="2800" spc="-60" noProof="0" dirty="0">
                <a:latin typeface="Calibri"/>
                <a:cs typeface="Calibri"/>
              </a:rPr>
              <a:t>,</a:t>
            </a:r>
            <a:r>
              <a:rPr lang="pt-BR" sz="2800" spc="10" noProof="0" dirty="0">
                <a:latin typeface="Calibri"/>
                <a:cs typeface="Calibri"/>
              </a:rPr>
              <a:t> </a:t>
            </a:r>
            <a:r>
              <a:rPr lang="pt-BR" sz="2800" spc="-10" noProof="0" dirty="0" err="1">
                <a:latin typeface="Calibri"/>
                <a:cs typeface="Calibri"/>
              </a:rPr>
              <a:t>etc</a:t>
            </a:r>
            <a:r>
              <a:rPr lang="pt-BR" sz="2800" spc="-10" noProof="0" dirty="0">
                <a:latin typeface="Calibri"/>
                <a:cs typeface="Calibri"/>
              </a:rPr>
              <a:t>,</a:t>
            </a:r>
            <a:r>
              <a:rPr lang="pt-BR" sz="2800" spc="5" noProof="0" dirty="0">
                <a:latin typeface="Calibri"/>
                <a:cs typeface="Calibri"/>
              </a:rPr>
              <a:t> </a:t>
            </a:r>
            <a:r>
              <a:rPr lang="pt-BR" sz="2800" spc="-10" noProof="0" dirty="0" err="1">
                <a:latin typeface="Calibri"/>
                <a:cs typeface="Calibri"/>
              </a:rPr>
              <a:t>etc</a:t>
            </a:r>
            <a:r>
              <a:rPr lang="pt-BR" sz="2800" spc="-10" noProof="0" dirty="0">
                <a:latin typeface="Calibri"/>
                <a:cs typeface="Calibri"/>
              </a:rPr>
              <a:t>,</a:t>
            </a:r>
            <a:r>
              <a:rPr lang="pt-BR" sz="2800" spc="5" noProof="0" dirty="0">
                <a:latin typeface="Calibri"/>
                <a:cs typeface="Calibri"/>
              </a:rPr>
              <a:t> </a:t>
            </a:r>
            <a:r>
              <a:rPr lang="pt-BR" sz="2800" spc="-10" noProof="0" dirty="0" err="1">
                <a:latin typeface="Calibri"/>
                <a:cs typeface="Calibri"/>
              </a:rPr>
              <a:t>etc</a:t>
            </a:r>
            <a:r>
              <a:rPr lang="pt-BR" sz="2800" spc="-10" noProof="0" dirty="0">
                <a:latin typeface="Calibri"/>
                <a:cs typeface="Calibri"/>
              </a:rPr>
              <a:t> </a:t>
            </a:r>
            <a:r>
              <a:rPr lang="pt-BR" sz="2800" spc="-390" noProof="0" dirty="0">
                <a:latin typeface="Calibri"/>
                <a:cs typeface="Calibri"/>
              </a:rPr>
              <a:t> </a:t>
            </a:r>
            <a:r>
              <a:rPr lang="pt-BR" sz="2800" spc="-10" noProof="0" dirty="0">
                <a:latin typeface="Calibri"/>
                <a:cs typeface="Calibri"/>
              </a:rPr>
              <a:t>Desenvolvimento</a:t>
            </a:r>
            <a:r>
              <a:rPr lang="pt-BR" sz="2800" noProof="0" dirty="0">
                <a:latin typeface="Calibri"/>
                <a:cs typeface="Calibri"/>
              </a:rPr>
              <a:t> de</a:t>
            </a:r>
            <a:r>
              <a:rPr lang="pt-BR" sz="2800" spc="10" noProof="0" dirty="0">
                <a:latin typeface="Calibri"/>
                <a:cs typeface="Calibri"/>
              </a:rPr>
              <a:t> </a:t>
            </a:r>
            <a:r>
              <a:rPr lang="pt-BR" sz="2800" spc="-5" noProof="0" dirty="0">
                <a:latin typeface="Calibri"/>
                <a:cs typeface="Calibri"/>
              </a:rPr>
              <a:t>primer:</a:t>
            </a:r>
            <a:r>
              <a:rPr lang="pt-BR" sz="2800" spc="10" noProof="0" dirty="0">
                <a:latin typeface="Calibri"/>
                <a:cs typeface="Calibri"/>
              </a:rPr>
              <a:t> </a:t>
            </a:r>
            <a:r>
              <a:rPr lang="pt-BR" sz="2800" spc="-5" noProof="0" dirty="0">
                <a:latin typeface="Calibri"/>
                <a:cs typeface="Calibri"/>
              </a:rPr>
              <a:t>Primer3</a:t>
            </a:r>
            <a:endParaRPr lang="pt-BR" sz="2800" noProof="0" dirty="0">
              <a:latin typeface="Calibri"/>
              <a:cs typeface="Calibri"/>
            </a:endParaRPr>
          </a:p>
        </p:txBody>
      </p:sp>
      <p:sp>
        <p:nvSpPr>
          <p:cNvPr id="5" name="object 16">
            <a:extLst>
              <a:ext uri="{FF2B5EF4-FFF2-40B4-BE49-F238E27FC236}">
                <a16:creationId xmlns:a16="http://schemas.microsoft.com/office/drawing/2014/main" id="{324413A1-5958-EC4C-AF2B-8BC1957E8B5F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7437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Microssatélites </a:t>
            </a:r>
            <a:endParaRPr lang="pt-BR" sz="2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04707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2EAC496A-ED71-4F46-B62B-9D652896A9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897" y="4765314"/>
            <a:ext cx="2459112" cy="644854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4D721B38-B3F8-7840-A0ED-E710327F82A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5449" y="2269226"/>
            <a:ext cx="3117348" cy="796999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C516E042-D687-A248-BB47-6B316940D76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666" y="3284983"/>
            <a:ext cx="4031401" cy="129719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9B6E75DA-C06E-1541-8FBA-EC1AEE4D8D3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22823" y="4123261"/>
            <a:ext cx="2896321" cy="1297194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CDFC0A6A-81B0-4D44-8278-F49BBBE1F3D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6000" y="1196019"/>
            <a:ext cx="3110915" cy="791505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2415EF7A-078D-5945-972E-B03A3A27018D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739" y="1460276"/>
            <a:ext cx="4177681" cy="981532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417F3B98-B3F1-4E40-9B49-E52F9B16D89F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04453" y="550083"/>
            <a:ext cx="4326915" cy="881408"/>
          </a:xfrm>
          <a:prstGeom prst="rect">
            <a:avLst/>
          </a:prstGeom>
        </p:spPr>
      </p:pic>
      <p:pic>
        <p:nvPicPr>
          <p:cNvPr id="10" name="object 10">
            <a:extLst>
              <a:ext uri="{FF2B5EF4-FFF2-40B4-BE49-F238E27FC236}">
                <a16:creationId xmlns:a16="http://schemas.microsoft.com/office/drawing/2014/main" id="{897A186B-3884-4549-AB45-EEF025B9A800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51938" y="438284"/>
            <a:ext cx="2781062" cy="797540"/>
          </a:xfrm>
          <a:prstGeom prst="rect">
            <a:avLst/>
          </a:prstGeom>
        </p:spPr>
      </p:pic>
      <p:pic>
        <p:nvPicPr>
          <p:cNvPr id="11" name="object 11">
            <a:extLst>
              <a:ext uri="{FF2B5EF4-FFF2-40B4-BE49-F238E27FC236}">
                <a16:creationId xmlns:a16="http://schemas.microsoft.com/office/drawing/2014/main" id="{D19D7E84-B042-5346-8CF1-A85CE244F389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516494" y="2060848"/>
            <a:ext cx="4026768" cy="1501162"/>
          </a:xfrm>
          <a:prstGeom prst="rect">
            <a:avLst/>
          </a:prstGeom>
        </p:spPr>
      </p:pic>
      <p:pic>
        <p:nvPicPr>
          <p:cNvPr id="12" name="object 12">
            <a:extLst>
              <a:ext uri="{FF2B5EF4-FFF2-40B4-BE49-F238E27FC236}">
                <a16:creationId xmlns:a16="http://schemas.microsoft.com/office/drawing/2014/main" id="{3A4B33B1-A0AC-9A4C-91ED-9627512EE73C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787935" y="3868039"/>
            <a:ext cx="3438282" cy="1350754"/>
          </a:xfrm>
          <a:prstGeom prst="rect">
            <a:avLst/>
          </a:prstGeom>
        </p:spPr>
      </p:pic>
      <p:pic>
        <p:nvPicPr>
          <p:cNvPr id="13" name="object 13">
            <a:extLst>
              <a:ext uri="{FF2B5EF4-FFF2-40B4-BE49-F238E27FC236}">
                <a16:creationId xmlns:a16="http://schemas.microsoft.com/office/drawing/2014/main" id="{7260084F-1F0C-EC40-A872-87B3A096A4A3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54368" y="5520367"/>
            <a:ext cx="4313521" cy="1032970"/>
          </a:xfrm>
          <a:prstGeom prst="rect">
            <a:avLst/>
          </a:prstGeom>
        </p:spPr>
      </p:pic>
      <p:pic>
        <p:nvPicPr>
          <p:cNvPr id="14" name="object 14">
            <a:extLst>
              <a:ext uri="{FF2B5EF4-FFF2-40B4-BE49-F238E27FC236}">
                <a16:creationId xmlns:a16="http://schemas.microsoft.com/office/drawing/2014/main" id="{881B1F08-6793-1140-B42D-B7EFFDE78C7F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64563" y="5520367"/>
            <a:ext cx="3746375" cy="1134719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9594693B-CFAD-BF4B-AD67-FE2850CD8EE6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0179" y="2489385"/>
            <a:ext cx="3117348" cy="795598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5A208527-0320-B742-8275-A1AAAF535042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7437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Microssatélites </a:t>
            </a:r>
            <a:endParaRPr lang="pt-BR" sz="2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88783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B66200-8011-5443-8C47-6E29587BC5D7}"/>
              </a:ext>
            </a:extLst>
          </p:cNvPr>
          <p:cNvSpPr txBox="1">
            <a:spLocks/>
          </p:cNvSpPr>
          <p:nvPr/>
        </p:nvSpPr>
        <p:spPr>
          <a:xfrm>
            <a:off x="159456" y="154080"/>
            <a:ext cx="9133242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NGS e </a:t>
            </a:r>
            <a:r>
              <a:rPr lang="pt-BR" sz="3400" spc="-5" noProof="0" dirty="0" err="1">
                <a:solidFill>
                  <a:srgbClr val="000000"/>
                </a:solidFill>
                <a:latin typeface="Arial"/>
                <a:cs typeface="Arial"/>
              </a:rPr>
              <a:t>filogeografia</a:t>
            </a: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/genética de populações</a:t>
            </a:r>
            <a:endParaRPr lang="pt-BR" sz="34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2F66A51F-5B6C-AF4E-AC3E-71DBED590488}"/>
              </a:ext>
            </a:extLst>
          </p:cNvPr>
          <p:cNvGrpSpPr/>
          <p:nvPr/>
        </p:nvGrpSpPr>
        <p:grpSpPr>
          <a:xfrm>
            <a:off x="10859770" y="0"/>
            <a:ext cx="1332230" cy="6858000"/>
            <a:chOff x="7812359" y="1"/>
            <a:chExt cx="1332230" cy="685800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6250ED0-3245-EC44-B8D6-717785E8D66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2359" y="1"/>
              <a:ext cx="1331640" cy="3645023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44E5D13-DE98-A845-BF0A-BAEE5A446E2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359" y="3645023"/>
              <a:ext cx="1316969" cy="1872208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EB96E7F-AA97-5A47-908C-4233FF29E6D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2359" y="5499392"/>
              <a:ext cx="1331639" cy="1358607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EEC35CD-E8A5-994F-A317-A90460B97302}"/>
              </a:ext>
            </a:extLst>
          </p:cNvPr>
          <p:cNvSpPr txBox="1"/>
          <p:nvPr/>
        </p:nvSpPr>
        <p:spPr>
          <a:xfrm>
            <a:off x="516368" y="1222346"/>
            <a:ext cx="9133242" cy="3418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>
                <a:solidFill>
                  <a:schemeClr val="bg2">
                    <a:lumMod val="75000"/>
                  </a:schemeClr>
                </a:solidFill>
              </a:rPr>
              <a:t>Obtenção de marcadores (microssatélites)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/>
              <a:t>Uso de marcadores obtidos com target capture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>
                <a:solidFill>
                  <a:schemeClr val="bg2">
                    <a:lumMod val="75000"/>
                  </a:schemeClr>
                </a:solidFill>
              </a:rPr>
              <a:t>Obtenção de </a:t>
            </a:r>
            <a:r>
              <a:rPr lang="pt-BR" sz="2800" noProof="0" dirty="0" err="1">
                <a:solidFill>
                  <a:schemeClr val="bg2">
                    <a:lumMod val="75000"/>
                  </a:schemeClr>
                </a:solidFill>
              </a:rPr>
              <a:t>SNPs</a:t>
            </a:r>
            <a:endParaRPr lang="pt-BR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endParaRPr lang="pt-BR" sz="2800" noProof="0" dirty="0"/>
          </a:p>
        </p:txBody>
      </p:sp>
    </p:spTree>
    <p:extLst>
      <p:ext uri="{BB962C8B-B14F-4D97-AF65-F5344CB8AC3E}">
        <p14:creationId xmlns:p14="http://schemas.microsoft.com/office/powerpoint/2010/main" val="28601387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F593BB-2D6C-6648-843C-4BDC75EA881C}"/>
              </a:ext>
            </a:extLst>
          </p:cNvPr>
          <p:cNvSpPr txBox="1"/>
          <p:nvPr/>
        </p:nvSpPr>
        <p:spPr>
          <a:xfrm>
            <a:off x="357858" y="984738"/>
            <a:ext cx="11476283" cy="36822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sz="2400" noProof="0" dirty="0"/>
              <a:t>Kits de sondas já disponíveis, elimina o processo de identificação de marcadores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sz="2400" noProof="0" dirty="0"/>
              <a:t>Muitos dos kits tem um enfoque amplo (todas as angiospermas, uma família inteira, </a:t>
            </a:r>
            <a:r>
              <a:rPr lang="pt-BR" sz="2400" noProof="0" dirty="0" err="1"/>
              <a:t>etc</a:t>
            </a:r>
            <a:r>
              <a:rPr lang="pt-BR" sz="2400" noProof="0" dirty="0"/>
              <a:t>)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sz="2400" noProof="0" dirty="0"/>
              <a:t>Marcadores conservados: podem ter pouca variação no nível individual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sz="2400" noProof="0" dirty="0"/>
              <a:t>Usar NGS no nível de vários indivíduos por população torna o custo total muito alto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sz="2400" noProof="0" dirty="0"/>
              <a:t>Maior cuidado na preparação dos dados: distinção de alelos, </a:t>
            </a:r>
            <a:r>
              <a:rPr lang="pt-BR" sz="2400" noProof="0" dirty="0" err="1"/>
              <a:t>etc</a:t>
            </a:r>
            <a:endParaRPr lang="pt-BR" sz="2400" noProof="0" dirty="0"/>
          </a:p>
        </p:txBody>
      </p:sp>
    </p:spTree>
    <p:extLst>
      <p:ext uri="{BB962C8B-B14F-4D97-AF65-F5344CB8AC3E}">
        <p14:creationId xmlns:p14="http://schemas.microsoft.com/office/powerpoint/2010/main" val="7217042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47E68-9C28-6941-B445-E6EEBB13A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42" y="1624818"/>
            <a:ext cx="8421889" cy="52331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7CFCA5-E3A5-B945-B9CF-AAB2DF890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18"/>
            <a:ext cx="7810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792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B66200-8011-5443-8C47-6E29587BC5D7}"/>
              </a:ext>
            </a:extLst>
          </p:cNvPr>
          <p:cNvSpPr txBox="1">
            <a:spLocks/>
          </p:cNvSpPr>
          <p:nvPr/>
        </p:nvSpPr>
        <p:spPr>
          <a:xfrm>
            <a:off x="159456" y="154080"/>
            <a:ext cx="9133242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NGS e </a:t>
            </a:r>
            <a:r>
              <a:rPr lang="pt-BR" sz="3400" spc="-5" noProof="0" dirty="0" err="1">
                <a:solidFill>
                  <a:srgbClr val="000000"/>
                </a:solidFill>
                <a:latin typeface="Arial"/>
                <a:cs typeface="Arial"/>
              </a:rPr>
              <a:t>filogeografia</a:t>
            </a:r>
            <a:r>
              <a:rPr lang="pt-BR" sz="3400" spc="-5" noProof="0" dirty="0">
                <a:solidFill>
                  <a:srgbClr val="000000"/>
                </a:solidFill>
                <a:latin typeface="Arial"/>
                <a:cs typeface="Arial"/>
              </a:rPr>
              <a:t>/genética de populações</a:t>
            </a:r>
            <a:endParaRPr lang="pt-BR" sz="34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2F66A51F-5B6C-AF4E-AC3E-71DBED590488}"/>
              </a:ext>
            </a:extLst>
          </p:cNvPr>
          <p:cNvGrpSpPr/>
          <p:nvPr/>
        </p:nvGrpSpPr>
        <p:grpSpPr>
          <a:xfrm>
            <a:off x="10859770" y="0"/>
            <a:ext cx="1332230" cy="6858000"/>
            <a:chOff x="7812359" y="1"/>
            <a:chExt cx="1332230" cy="685800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6250ED0-3245-EC44-B8D6-717785E8D66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2359" y="1"/>
              <a:ext cx="1331640" cy="3645023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44E5D13-DE98-A845-BF0A-BAEE5A446E2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359" y="3645023"/>
              <a:ext cx="1316969" cy="1872208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EB96E7F-AA97-5A47-908C-4233FF29E6D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2359" y="5499392"/>
              <a:ext cx="1331639" cy="1358607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EEC35CD-E8A5-994F-A317-A90460B97302}"/>
              </a:ext>
            </a:extLst>
          </p:cNvPr>
          <p:cNvSpPr txBox="1"/>
          <p:nvPr/>
        </p:nvSpPr>
        <p:spPr>
          <a:xfrm>
            <a:off x="516368" y="1222346"/>
            <a:ext cx="9133242" cy="2556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/>
              <a:t>Obtenção de marcadores (microssatélites)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/>
              <a:t>Uso de marcadores obtidos com target capture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pt-BR" sz="2800" noProof="0" dirty="0">
                <a:solidFill>
                  <a:srgbClr val="FF0000"/>
                </a:solidFill>
              </a:rPr>
              <a:t>Obtenção de </a:t>
            </a:r>
            <a:r>
              <a:rPr lang="pt-BR" sz="2800" noProof="0" dirty="0" err="1">
                <a:solidFill>
                  <a:srgbClr val="FF0000"/>
                </a:solidFill>
              </a:rPr>
              <a:t>SNPs</a:t>
            </a:r>
            <a:r>
              <a:rPr lang="pt-BR" sz="2800" noProof="0" dirty="0">
                <a:solidFill>
                  <a:srgbClr val="FF0000"/>
                </a:solidFill>
              </a:rPr>
              <a:t>: próxima aula</a:t>
            </a:r>
          </a:p>
        </p:txBody>
      </p:sp>
    </p:spTree>
    <p:extLst>
      <p:ext uri="{BB962C8B-B14F-4D97-AF65-F5344CB8AC3E}">
        <p14:creationId xmlns:p14="http://schemas.microsoft.com/office/powerpoint/2010/main" val="6278339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EB57CB5-8DD6-584B-9C4B-29DBCA5E6E87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5556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Filogenia</a:t>
            </a:r>
            <a:r>
              <a:rPr lang="pt-BR" sz="2400" spc="-3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filogeografia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pt-BR" sz="2400" spc="-25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spc="-5" noProof="0" dirty="0" err="1">
                <a:solidFill>
                  <a:srgbClr val="000000"/>
                </a:solidFill>
                <a:latin typeface="Arial"/>
                <a:cs typeface="Arial"/>
              </a:rPr>
              <a:t>third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generation</a:t>
            </a:r>
            <a:endParaRPr lang="pt-BR" sz="2400" noProof="0" dirty="0">
              <a:latin typeface="Arial"/>
              <a:cs typeface="Arial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90F2E99-5A23-194D-95FB-18A2041BD075}"/>
              </a:ext>
            </a:extLst>
          </p:cNvPr>
          <p:cNvGrpSpPr/>
          <p:nvPr/>
        </p:nvGrpSpPr>
        <p:grpSpPr>
          <a:xfrm>
            <a:off x="2249424" y="53979"/>
            <a:ext cx="9047480" cy="6813550"/>
            <a:chOff x="0" y="0"/>
            <a:chExt cx="9047480" cy="681355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64C2AD9-CB2B-8649-9E86-D3FCC582DCF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4087" y="0"/>
              <a:ext cx="3682869" cy="3445470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F5367931-199F-C341-A117-781A7F7E799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65284"/>
              <a:ext cx="7308303" cy="3648091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6EAE2F6-D482-424A-B160-56B38EF51D3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11831"/>
              <a:ext cx="5769528" cy="16471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66888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2926AE8-3775-244A-B2AD-57B8DA131F9D}"/>
              </a:ext>
            </a:extLst>
          </p:cNvPr>
          <p:cNvGrpSpPr/>
          <p:nvPr/>
        </p:nvGrpSpPr>
        <p:grpSpPr>
          <a:xfrm>
            <a:off x="0" y="620688"/>
            <a:ext cx="8763000" cy="6057900"/>
            <a:chOff x="0" y="620688"/>
            <a:chExt cx="8763000" cy="60579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2393400-FB00-E847-9CD8-07D11B95EF7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0688"/>
              <a:ext cx="8763000" cy="1790700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D3E8DBE-C3C3-FB4D-A8B4-66925758972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7871" y="2411387"/>
              <a:ext cx="8166100" cy="4267200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4B275985-31CA-DE47-98FE-93DB04E659F4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5556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Filogenia</a:t>
            </a:r>
            <a:r>
              <a:rPr lang="pt-BR" sz="2400" spc="-3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filogeografia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pt-BR" sz="2400" spc="-25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spc="-5" noProof="0" dirty="0" err="1">
                <a:solidFill>
                  <a:srgbClr val="000000"/>
                </a:solidFill>
                <a:latin typeface="Arial"/>
                <a:cs typeface="Arial"/>
              </a:rPr>
              <a:t>third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generation</a:t>
            </a:r>
            <a:endParaRPr lang="pt-BR" sz="2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73178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4D0DACB-E692-A740-89EA-2460CF562C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23286"/>
            <a:ext cx="9144000" cy="4029995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28D771FF-CAC8-2B45-B0FC-91A2D13EC21A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5556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Filogenia</a:t>
            </a:r>
            <a:r>
              <a:rPr lang="pt-BR" sz="2400" spc="-3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filogeografia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pt-BR" sz="2400" spc="-25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spc="-5" noProof="0" dirty="0" err="1">
                <a:solidFill>
                  <a:srgbClr val="000000"/>
                </a:solidFill>
                <a:latin typeface="Arial"/>
                <a:cs typeface="Arial"/>
              </a:rPr>
              <a:t>third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generation</a:t>
            </a:r>
            <a:endParaRPr lang="pt-BR" sz="2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84720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97FB575-FFB8-974C-B21C-25CF03C64F4A}"/>
              </a:ext>
            </a:extLst>
          </p:cNvPr>
          <p:cNvGrpSpPr/>
          <p:nvPr/>
        </p:nvGrpSpPr>
        <p:grpSpPr>
          <a:xfrm>
            <a:off x="134112" y="668044"/>
            <a:ext cx="8698230" cy="6052185"/>
            <a:chOff x="134112" y="668044"/>
            <a:chExt cx="8698230" cy="605218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36B7FE7-124B-5748-8CA1-E52A276ABD3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5935" y="2736580"/>
              <a:ext cx="4836209" cy="3983208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D2CDC0F-F4F3-F840-BC6F-1D483264B6F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112" y="668044"/>
              <a:ext cx="5013952" cy="2068536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7B5B2228-C8ED-9D44-A8E5-6059362912A5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5556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Filogenia</a:t>
            </a:r>
            <a:r>
              <a:rPr lang="pt-BR" sz="2400" spc="-3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filogeografia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pt-BR" sz="2400" spc="-25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spc="-5" noProof="0" dirty="0" err="1">
                <a:solidFill>
                  <a:srgbClr val="000000"/>
                </a:solidFill>
                <a:latin typeface="Arial"/>
                <a:cs typeface="Arial"/>
              </a:rPr>
              <a:t>third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generation</a:t>
            </a:r>
            <a:endParaRPr lang="pt-BR" sz="2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9213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EDE2239-79A5-484C-8EBB-7DE33768F2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5679" y="24574"/>
            <a:ext cx="5527222" cy="639633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846784AD-B503-504C-877E-6F26E62A98EA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5556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Filogenia</a:t>
            </a:r>
            <a:r>
              <a:rPr lang="pt-BR" sz="2400" spc="-3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filogeografia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pt-BR" sz="2400" spc="-25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spc="-5" noProof="0" dirty="0" err="1">
                <a:solidFill>
                  <a:srgbClr val="000000"/>
                </a:solidFill>
                <a:latin typeface="Arial"/>
                <a:cs typeface="Arial"/>
              </a:rPr>
              <a:t>third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generation</a:t>
            </a:r>
            <a:endParaRPr lang="pt-BR" sz="2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07588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77B3D16-8451-1145-AFB5-119D6E1CAAFC}"/>
              </a:ext>
            </a:extLst>
          </p:cNvPr>
          <p:cNvGrpSpPr/>
          <p:nvPr/>
        </p:nvGrpSpPr>
        <p:grpSpPr>
          <a:xfrm>
            <a:off x="0" y="531094"/>
            <a:ext cx="8971280" cy="6311900"/>
            <a:chOff x="0" y="531094"/>
            <a:chExt cx="8971280" cy="63119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1AF0143-392C-BF4E-8980-898241E5813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4007" y="3508825"/>
              <a:ext cx="4327251" cy="3333656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3E2E1F2-7C66-C54B-A30F-1D743C2405B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80024"/>
              <a:ext cx="7556500" cy="1828800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632E23C-7FA3-CC42-BFDE-422820DD5B9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606" y="4206065"/>
              <a:ext cx="4558173" cy="19349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4F47118-F327-4344-B58D-5255FE18EA8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09" y="531094"/>
              <a:ext cx="8839200" cy="1079500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7E54ED5D-66B6-AF46-BD21-A09FFD1410AB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5556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Filogenia</a:t>
            </a:r>
            <a:r>
              <a:rPr lang="pt-BR" sz="2400" spc="-3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filogeografia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pt-BR" sz="2400" spc="-25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spc="-5" noProof="0" dirty="0" err="1">
                <a:solidFill>
                  <a:srgbClr val="000000"/>
                </a:solidFill>
                <a:latin typeface="Arial"/>
                <a:cs typeface="Arial"/>
              </a:rPr>
              <a:t>third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generation</a:t>
            </a:r>
            <a:endParaRPr lang="pt-BR" sz="2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93190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2F4ED90-FC50-284B-8DCA-B05C0AE0695E}"/>
              </a:ext>
            </a:extLst>
          </p:cNvPr>
          <p:cNvGrpSpPr/>
          <p:nvPr/>
        </p:nvGrpSpPr>
        <p:grpSpPr>
          <a:xfrm>
            <a:off x="33464" y="459891"/>
            <a:ext cx="8862695" cy="6398260"/>
            <a:chOff x="33464" y="459891"/>
            <a:chExt cx="8862695" cy="639826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6A67ED8-8877-934A-9CBF-C9C677C8E19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1493" y="3589853"/>
              <a:ext cx="3664483" cy="3268146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188FA8E-311A-6946-AE4B-01BD7F734D2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684" y="2347081"/>
              <a:ext cx="6239818" cy="1874005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D15CCD0-24A9-5D46-8811-BF611D7EEC9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464" y="459891"/>
              <a:ext cx="5198028" cy="1815184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4506404-27C1-2C47-A715-09D632190215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5556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Filogenia</a:t>
            </a:r>
            <a:r>
              <a:rPr lang="pt-BR" sz="2400" spc="-3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filogeografia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pt-BR" sz="2400" spc="-25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spc="-5" noProof="0" dirty="0" err="1">
                <a:solidFill>
                  <a:srgbClr val="000000"/>
                </a:solidFill>
                <a:latin typeface="Arial"/>
                <a:cs typeface="Arial"/>
              </a:rPr>
              <a:t>third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generation</a:t>
            </a:r>
            <a:endParaRPr lang="pt-BR" sz="2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66925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A0F2831-C614-E34D-8108-DB5059257C04}"/>
              </a:ext>
            </a:extLst>
          </p:cNvPr>
          <p:cNvGrpSpPr/>
          <p:nvPr/>
        </p:nvGrpSpPr>
        <p:grpSpPr>
          <a:xfrm>
            <a:off x="0" y="599123"/>
            <a:ext cx="9144000" cy="6214745"/>
            <a:chOff x="0" y="599123"/>
            <a:chExt cx="9144000" cy="621474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31C5B02-4BC2-2F42-B682-054D3B16468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9080" y="3714576"/>
              <a:ext cx="3964919" cy="3098800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E3101F8-9161-284F-B33B-4C7F4CA4C80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48523"/>
              <a:ext cx="5179080" cy="2791120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7FB4C0A-E9D8-3840-91DD-7DA39F62D49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443" y="599123"/>
              <a:ext cx="9125556" cy="1411941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F7E0986-3B1D-734B-8E26-5A33B497895C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5556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Filogenia</a:t>
            </a:r>
            <a:r>
              <a:rPr lang="pt-BR" sz="2400" spc="-3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filogeografia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pt-BR" sz="2400" spc="-25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spc="-5" noProof="0" dirty="0" err="1">
                <a:solidFill>
                  <a:srgbClr val="000000"/>
                </a:solidFill>
                <a:latin typeface="Arial"/>
                <a:cs typeface="Arial"/>
              </a:rPr>
              <a:t>third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generation</a:t>
            </a:r>
            <a:endParaRPr lang="pt-BR" sz="2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21153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F9AA4D-1E9E-B248-9EDE-AB4F1CC364F9}"/>
              </a:ext>
            </a:extLst>
          </p:cNvPr>
          <p:cNvGrpSpPr/>
          <p:nvPr/>
        </p:nvGrpSpPr>
        <p:grpSpPr>
          <a:xfrm>
            <a:off x="33144" y="461665"/>
            <a:ext cx="9042400" cy="6396355"/>
            <a:chOff x="33144" y="461665"/>
            <a:chExt cx="9042400" cy="639635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F8CFE0D-BE64-3C45-9ACB-B3B156F771F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75" y="2074564"/>
              <a:ext cx="5504503" cy="4783434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3F6147-283A-F54C-B514-31527384E2D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44" y="461665"/>
              <a:ext cx="9042400" cy="1612900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428B0FA9-0028-874F-BCDE-3CCFC1A1EAF4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5556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Filogenia</a:t>
            </a:r>
            <a:r>
              <a:rPr lang="pt-BR" sz="2400" spc="-3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filogeografia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pt-BR" sz="2400" spc="-25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spc="-5" noProof="0" dirty="0" err="1">
                <a:solidFill>
                  <a:srgbClr val="000000"/>
                </a:solidFill>
                <a:latin typeface="Arial"/>
                <a:cs typeface="Arial"/>
              </a:rPr>
              <a:t>third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generation</a:t>
            </a:r>
            <a:endParaRPr lang="pt-BR" sz="2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18254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B3C5C76-94CF-5541-8CB7-CF123B8A20F2}"/>
              </a:ext>
            </a:extLst>
          </p:cNvPr>
          <p:cNvGrpSpPr/>
          <p:nvPr/>
        </p:nvGrpSpPr>
        <p:grpSpPr>
          <a:xfrm>
            <a:off x="0" y="461665"/>
            <a:ext cx="8763000" cy="6396355"/>
            <a:chOff x="0" y="461665"/>
            <a:chExt cx="8763000" cy="639635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D38E7E9-81F3-B44B-9489-E891EB01CE5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61665"/>
              <a:ext cx="8763000" cy="1612900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5043A56-35AE-8E46-9C4F-8D741A8B74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2414" y="2326989"/>
              <a:ext cx="4520585" cy="4278584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25B2002-0E1D-3B43-BBB3-922828F7161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074565"/>
              <a:ext cx="4007742" cy="4783434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C89B499-6ED6-1B4D-ACD3-F9F4AAC4669D}"/>
              </a:ext>
            </a:extLst>
          </p:cNvPr>
          <p:cNvSpPr txBox="1">
            <a:spLocks/>
          </p:cNvSpPr>
          <p:nvPr/>
        </p:nvSpPr>
        <p:spPr>
          <a:xfrm>
            <a:off x="78739" y="24574"/>
            <a:ext cx="5556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Filogenia</a:t>
            </a:r>
            <a:r>
              <a:rPr lang="pt-BR" sz="2400" spc="-3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filogeografia</a:t>
            </a:r>
            <a:r>
              <a:rPr lang="pt-BR" sz="2400" noProof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pt-BR" sz="2400" spc="-25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spc="-5" noProof="0" dirty="0" err="1">
                <a:solidFill>
                  <a:srgbClr val="000000"/>
                </a:solidFill>
                <a:latin typeface="Arial"/>
                <a:cs typeface="Arial"/>
              </a:rPr>
              <a:t>third</a:t>
            </a:r>
            <a:r>
              <a:rPr lang="pt-BR" sz="2400" spc="-20" noProof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  <a:cs typeface="Arial"/>
              </a:rPr>
              <a:t>generation</a:t>
            </a:r>
            <a:endParaRPr lang="pt-BR" sz="2400" noProof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0581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3249</TotalTime>
  <Words>1381</Words>
  <Application>Microsoft Office PowerPoint</Application>
  <PresentationFormat>Widescreen</PresentationFormat>
  <Paragraphs>277</Paragraphs>
  <Slides>65</Slides>
  <Notes>0</Notes>
  <HiddenSlides>11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9" baseType="lpstr">
      <vt:lpstr>Arial</vt:lpstr>
      <vt:lpstr>Calibri</vt:lpstr>
      <vt:lpstr>Calibri Light</vt:lpstr>
      <vt:lpstr>Office Theme</vt:lpstr>
      <vt:lpstr>Métodos para obter marcadores filogenômicos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Carolina Siniscalchi</dc:creator>
  <cp:lastModifiedBy>reviewer</cp:lastModifiedBy>
  <cp:revision>37</cp:revision>
  <dcterms:created xsi:type="dcterms:W3CDTF">2021-05-14T15:10:23Z</dcterms:created>
  <dcterms:modified xsi:type="dcterms:W3CDTF">2026-10-21T00:45:29Z</dcterms:modified>
</cp:coreProperties>
</file>