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359" r:id="rId2"/>
    <p:sldId id="362" r:id="rId3"/>
    <p:sldId id="363" r:id="rId4"/>
    <p:sldId id="364" r:id="rId5"/>
    <p:sldId id="258" r:id="rId6"/>
    <p:sldId id="260" r:id="rId7"/>
    <p:sldId id="261" r:id="rId8"/>
    <p:sldId id="262" r:id="rId9"/>
    <p:sldId id="263" r:id="rId10"/>
    <p:sldId id="264" r:id="rId11"/>
    <p:sldId id="259" r:id="rId12"/>
    <p:sldId id="274" r:id="rId13"/>
    <p:sldId id="360" r:id="rId14"/>
    <p:sldId id="361" r:id="rId15"/>
    <p:sldId id="275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76" r:id="rId24"/>
    <p:sldId id="284" r:id="rId25"/>
    <p:sldId id="285" r:id="rId26"/>
    <p:sldId id="374" r:id="rId27"/>
    <p:sldId id="307" r:id="rId28"/>
    <p:sldId id="308" r:id="rId29"/>
    <p:sldId id="313" r:id="rId30"/>
    <p:sldId id="314" r:id="rId31"/>
    <p:sldId id="315" r:id="rId32"/>
    <p:sldId id="316" r:id="rId33"/>
    <p:sldId id="317" r:id="rId34"/>
    <p:sldId id="377" r:id="rId35"/>
    <p:sldId id="318" r:id="rId36"/>
    <p:sldId id="319" r:id="rId37"/>
    <p:sldId id="37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5"/>
    <p:restoredTop sz="94712"/>
  </p:normalViewPr>
  <p:slideViewPr>
    <p:cSldViewPr snapToGrid="0" snapToObjects="1" showGuides="1">
      <p:cViewPr varScale="1">
        <p:scale>
          <a:sx n="91" d="100"/>
          <a:sy n="91" d="100"/>
        </p:scale>
        <p:origin x="120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8075B-E6C3-AC46-A3F2-9B6467F4006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ADD1B-47F1-8E48-9766-652BAFD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0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958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627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275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207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051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527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2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738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341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3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769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349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514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915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63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96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270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051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818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577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844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87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448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56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589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881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0729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157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8039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572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130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3C2AD-E41E-3F43-A396-F213241B499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92326-6376-2242-802D-58A466044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8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5.png"/><Relationship Id="rId4" Type="http://schemas.openxmlformats.org/officeDocument/2006/relationships/hyperlink" Target="https://www.youtube.com/watch?v=fCd6B5HRaZ8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6.png"/><Relationship Id="rId4" Type="http://schemas.openxmlformats.org/officeDocument/2006/relationships/hyperlink" Target="https://www.youtube.com/watch?v=v8p4ph2MAvI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genengnews.com/Media/images/Article/U_USERSRob06_15_10_June15PhotosSteinNextGenSequencingFotolia_13691276_M4318212825.jpg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0" y="4607614"/>
            <a:ext cx="9144000" cy="6094194"/>
          </a:xfrm>
          <a:prstGeom prst="rect">
            <a:avLst/>
          </a:prstGeom>
        </p:spPr>
      </p:pic>
      <p:grpSp>
        <p:nvGrpSpPr>
          <p:cNvPr id="11" name="Groupe 10"/>
          <p:cNvGrpSpPr/>
          <p:nvPr/>
        </p:nvGrpSpPr>
        <p:grpSpPr>
          <a:xfrm>
            <a:off x="-36512" y="-73912"/>
            <a:ext cx="9199946" cy="2494800"/>
            <a:chOff x="-36512" y="-27385"/>
            <a:chExt cx="9199946" cy="2494800"/>
          </a:xfrm>
        </p:grpSpPr>
        <p:pic>
          <p:nvPicPr>
            <p:cNvPr id="3080" name="Picture 8" descr="http://graphics8.nytimes.com/images/2009/02/09/science/10tree-600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-36512" y="-27384"/>
              <a:ext cx="6830302" cy="2492896"/>
            </a:xfrm>
            <a:prstGeom prst="rect">
              <a:avLst/>
            </a:prstGeom>
            <a:noFill/>
          </p:spPr>
        </p:pic>
        <p:pic>
          <p:nvPicPr>
            <p:cNvPr id="9" name="Image 8" descr="phylogeography.jpe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3788" y="-27385"/>
              <a:ext cx="2369646" cy="2494800"/>
            </a:xfrm>
            <a:prstGeom prst="rect">
              <a:avLst/>
            </a:prstGeom>
          </p:spPr>
        </p:pic>
      </p:grpSp>
      <p:sp>
        <p:nvSpPr>
          <p:cNvPr id="13" name="Titre 1"/>
          <p:cNvSpPr txBox="1">
            <a:spLocks/>
          </p:cNvSpPr>
          <p:nvPr/>
        </p:nvSpPr>
        <p:spPr>
          <a:xfrm>
            <a:off x="-36512" y="3356993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Carolina Siniscalchi</a:t>
            </a:r>
          </a:p>
          <a:p>
            <a:pPr lvl="0" algn="ctr">
              <a:spcBef>
                <a:spcPct val="0"/>
              </a:spcBef>
              <a:defRPr/>
            </a:pPr>
            <a:r>
              <a:rPr lang="pt-BR" b="1" dirty="0">
                <a:latin typeface="Arial" pitchFamily="34" charset="0"/>
                <a:cs typeface="Arial" pitchFamily="34" charset="0"/>
              </a:rPr>
              <a:t>Outubro 2026</a:t>
            </a:r>
            <a:endParaRPr lang="fr-FR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9DF3129-FD4D-BE43-BFC4-FD1F123EF569}"/>
              </a:ext>
            </a:extLst>
          </p:cNvPr>
          <p:cNvSpPr txBox="1">
            <a:spLocks/>
          </p:cNvSpPr>
          <p:nvPr/>
        </p:nvSpPr>
        <p:spPr>
          <a:xfrm>
            <a:off x="19434" y="2309241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latin typeface="+mn-lt"/>
              </a:rPr>
              <a:t>Filogenômica: Conceitos metodológicos e análises bioinformáticas</a:t>
            </a:r>
            <a:endParaRPr lang="fr-FR" sz="3400" b="1" dirty="0"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668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22" y="30201"/>
            <a:ext cx="547752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Nova </a:t>
            </a:r>
            <a:r>
              <a:rPr lang="en-US" sz="6600" b="1" dirty="0" err="1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Geração</a:t>
            </a:r>
            <a:r>
              <a:rPr lang="en-US" sz="66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?</a:t>
            </a:r>
          </a:p>
        </p:txBody>
      </p:sp>
      <p:pic>
        <p:nvPicPr>
          <p:cNvPr id="3" name="Picture 2" descr="http://www.premaslifescience.com/all_images/partner_img/logo_illumi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719" y="1456822"/>
            <a:ext cx="2964379" cy="832331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771" y="5322133"/>
            <a:ext cx="1778000" cy="139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-23019" y="3751759"/>
            <a:ext cx="5342636" cy="11481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49" y="5322133"/>
            <a:ext cx="4025900" cy="1200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348" y="2504585"/>
            <a:ext cx="4300538" cy="7391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617" y="3568180"/>
            <a:ext cx="3657600" cy="14295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-146420"/>
            <a:ext cx="25527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6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393" y="171927"/>
            <a:ext cx="369767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2ª </a:t>
            </a:r>
            <a:r>
              <a:rPr lang="en-US" sz="6000" b="1" dirty="0" err="1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Geração</a:t>
            </a:r>
            <a:endParaRPr lang="en-US" sz="6000" b="1" dirty="0">
              <a:ln w="22225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pic>
        <p:nvPicPr>
          <p:cNvPr id="3" name="Picture 2" descr="http://www.premaslifescience.com/all_images/partner_img/logo_illumi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39" y="1218866"/>
            <a:ext cx="2964379" cy="832331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585" y="2221682"/>
            <a:ext cx="1778000" cy="139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56460" y="4051311"/>
            <a:ext cx="4032250" cy="866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60" y="5343019"/>
            <a:ext cx="4025900" cy="1200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207" y="1780664"/>
            <a:ext cx="4300538" cy="7391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676" y="4340687"/>
            <a:ext cx="3657600" cy="1429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82636" y="203203"/>
            <a:ext cx="369767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3ª </a:t>
            </a:r>
            <a:r>
              <a:rPr lang="en-US" sz="6000" b="1" dirty="0" err="1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Geração</a:t>
            </a:r>
            <a:endParaRPr lang="en-US" sz="6000" b="1" dirty="0">
              <a:ln w="22225">
                <a:solidFill>
                  <a:schemeClr val="accent5">
                    <a:lumMod val="40000"/>
                    <a:lumOff val="60000"/>
                  </a:schemeClr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10" name="&quot;Not Allowed&quot; Symbol 9">
            <a:extLst>
              <a:ext uri="{FF2B5EF4-FFF2-40B4-BE49-F238E27FC236}">
                <a16:creationId xmlns:a16="http://schemas.microsoft.com/office/drawing/2014/main" id="{0D167B3F-CE28-16F4-9E67-EAFFB606BACC}"/>
              </a:ext>
            </a:extLst>
          </p:cNvPr>
          <p:cNvSpPr/>
          <p:nvPr/>
        </p:nvSpPr>
        <p:spPr>
          <a:xfrm>
            <a:off x="1429178" y="2253933"/>
            <a:ext cx="1732407" cy="1619443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436EC-F455-3B25-CFA9-E94939A815EE}"/>
              </a:ext>
            </a:extLst>
          </p:cNvPr>
          <p:cNvSpPr txBox="1"/>
          <p:nvPr/>
        </p:nvSpPr>
        <p:spPr>
          <a:xfrm>
            <a:off x="1847930" y="3659322"/>
            <a:ext cx="87060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C00000"/>
                </a:solidFill>
              </a:rPr>
              <a:t>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478D91-6F5B-1A80-C7D0-EB8AA57583E0}"/>
              </a:ext>
            </a:extLst>
          </p:cNvPr>
          <p:cNvSpPr txBox="1"/>
          <p:nvPr/>
        </p:nvSpPr>
        <p:spPr>
          <a:xfrm>
            <a:off x="2069456" y="5055443"/>
            <a:ext cx="87060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C00000"/>
                </a:solidFill>
              </a:rPr>
              <a:t>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79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410" y="211170"/>
            <a:ext cx="369767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0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2ª Geração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7733" y="211170"/>
            <a:ext cx="369767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000" b="1" dirty="0">
                <a:ln w="22225">
                  <a:solidFill>
                    <a:schemeClr val="accent5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rgbClr val="7030A0"/>
                </a:solidFill>
              </a:rPr>
              <a:t>3ª Geração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8" y="1785938"/>
            <a:ext cx="40535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DNA fragmentado</a:t>
            </a:r>
          </a:p>
          <a:p>
            <a:endParaRPr lang="pt-BR" sz="2800" dirty="0"/>
          </a:p>
          <a:p>
            <a:r>
              <a:rPr lang="pt-BR" sz="2800" dirty="0"/>
              <a:t>Fragmentos (</a:t>
            </a:r>
            <a:r>
              <a:rPr lang="pt-BR" sz="2800" i="1" dirty="0" err="1"/>
              <a:t>reads</a:t>
            </a:r>
            <a:r>
              <a:rPr lang="pt-BR" sz="2800" dirty="0"/>
              <a:t>) curtos são sequenciados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9801" y="1785938"/>
            <a:ext cx="40535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DNA não fragmentado </a:t>
            </a:r>
          </a:p>
          <a:p>
            <a:endParaRPr lang="pt-BR" sz="2800" dirty="0"/>
          </a:p>
          <a:p>
            <a:r>
              <a:rPr lang="pt-BR" sz="2800" dirty="0"/>
              <a:t>Fragmentos (</a:t>
            </a:r>
            <a:r>
              <a:rPr lang="pt-BR" sz="2800" i="1" dirty="0" err="1"/>
              <a:t>reads</a:t>
            </a:r>
            <a:r>
              <a:rPr lang="pt-BR" sz="2800" dirty="0"/>
              <a:t>) longos ou toda a molécula de DNA</a:t>
            </a:r>
          </a:p>
        </p:txBody>
      </p:sp>
    </p:spTree>
    <p:extLst>
      <p:ext uri="{BB962C8B-B14F-4D97-AF65-F5344CB8AC3E}">
        <p14:creationId xmlns:p14="http://schemas.microsoft.com/office/powerpoint/2010/main" val="173140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1080120" y="2564904"/>
            <a:ext cx="7524328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800" dirty="0">
                <a:latin typeface="Arial" pitchFamily="34" charset="0"/>
                <a:ea typeface="+mj-ea"/>
                <a:cs typeface="Arial" pitchFamily="34" charset="0"/>
              </a:rPr>
              <a:t>1) Segunda Geração</a:t>
            </a: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Generalidades</a:t>
            </a: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pt-BR" sz="2800" i="0" u="none" strike="sng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Roche 454 FLX System</a:t>
            </a:r>
            <a:endParaRPr lang="pt-BR" sz="2800" strike="sngStrike" dirty="0">
              <a:latin typeface="Arial" pitchFamily="34" charset="0"/>
              <a:ea typeface="+mj-ea"/>
              <a:cs typeface="Arial" pitchFamily="34" charset="0"/>
            </a:endParaRP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pt-BR" sz="2800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Illumina</a:t>
            </a: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800" strike="sngStrike" dirty="0">
                <a:latin typeface="Arial" pitchFamily="34" charset="0"/>
                <a:cs typeface="Arial" pitchFamily="34" charset="0"/>
              </a:rPr>
              <a:t>Applied </a:t>
            </a:r>
            <a:r>
              <a:rPr lang="pt-BR" sz="2800" strike="sngStrike" dirty="0" err="1">
                <a:latin typeface="Arial" pitchFamily="34" charset="0"/>
                <a:cs typeface="Arial" pitchFamily="34" charset="0"/>
              </a:rPr>
              <a:t>Biosystems</a:t>
            </a:r>
            <a:r>
              <a:rPr lang="pt-BR" sz="2800" strike="sngStrike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800" strike="sngStrike" dirty="0" err="1">
                <a:latin typeface="Arial" pitchFamily="34" charset="0"/>
                <a:cs typeface="Arial" pitchFamily="34" charset="0"/>
              </a:rPr>
              <a:t>SOLiD</a:t>
            </a:r>
            <a:endParaRPr lang="pt-BR" sz="2800" strike="sngStrike" dirty="0">
              <a:latin typeface="Arial" pitchFamily="34" charset="0"/>
              <a:cs typeface="Arial" pitchFamily="34" charset="0"/>
            </a:endParaRP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800" strike="sngStrike" dirty="0" err="1">
                <a:latin typeface="Arial" pitchFamily="34" charset="0"/>
                <a:cs typeface="Arial" pitchFamily="34" charset="0"/>
              </a:rPr>
              <a:t>IonTorrent</a:t>
            </a:r>
            <a:endParaRPr lang="pt-BR" sz="2800" strike="sngStrike" dirty="0">
              <a:latin typeface="Arial" pitchFamily="34" charset="0"/>
              <a:cs typeface="Arial" pitchFamily="34" charset="0"/>
            </a:endParaRP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2) Terceira Geração</a:t>
            </a: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r>
              <a:rPr lang="pt-BR" sz="28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Pacific </a:t>
            </a:r>
            <a:r>
              <a:rPr lang="pt-BR" sz="28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Biosciences</a:t>
            </a:r>
            <a:endParaRPr lang="pt-BR" sz="28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r>
              <a:rPr lang="pt-BR" sz="28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Oxford </a:t>
            </a:r>
            <a:r>
              <a:rPr lang="pt-BR" sz="2800" dirty="0" err="1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Nanopore</a:t>
            </a:r>
            <a:endParaRPr lang="pt-BR" sz="28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endParaRPr lang="pt-BR" sz="28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indent="-514350" algn="ctr"/>
            <a:endParaRPr lang="pt-BR" sz="2800" dirty="0"/>
          </a:p>
          <a:p>
            <a:pPr marL="514350" indent="-514350"/>
            <a:endParaRPr lang="fr-FR" sz="2800" dirty="0"/>
          </a:p>
          <a:p>
            <a:pPr marL="514350" indent="-514350" algn="ctr">
              <a:spcBef>
                <a:spcPct val="0"/>
              </a:spcBef>
            </a:pPr>
            <a:endParaRPr lang="pt-BR" sz="2800" dirty="0"/>
          </a:p>
          <a:p>
            <a:pPr marL="457200" indent="-457200" algn="ctr">
              <a:spcBef>
                <a:spcPct val="0"/>
              </a:spcBef>
            </a:pPr>
            <a:br>
              <a:rPr lang="pt-BR" sz="25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>
                <a:latin typeface="Arial" pitchFamily="34" charset="0"/>
                <a:cs typeface="Arial" pitchFamily="34" charset="0"/>
              </a:rPr>
              <a:t>As diferentes plataformas de NGS </a:t>
            </a:r>
          </a:p>
        </p:txBody>
      </p:sp>
    </p:spTree>
    <p:extLst>
      <p:ext uri="{BB962C8B-B14F-4D97-AF65-F5344CB8AC3E}">
        <p14:creationId xmlns:p14="http://schemas.microsoft.com/office/powerpoint/2010/main" val="103745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10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geração: generalidades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-36512" y="278092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Os três princípios básicos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1) Sequenciamento em paralelo em grande quantidade (milhões de reações)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500" dirty="0">
                <a:latin typeface="Arial" pitchFamily="34" charset="0"/>
                <a:ea typeface="+mj-ea"/>
                <a:cs typeface="Arial" pitchFamily="34" charset="0"/>
              </a:rPr>
              <a:t>2)  Sequenciamento através de separação espacial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5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5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500" dirty="0">
                <a:latin typeface="Arial" pitchFamily="34" charset="0"/>
                <a:ea typeface="+mj-ea"/>
                <a:cs typeface="Arial" pitchFamily="34" charset="0"/>
              </a:rPr>
              <a:t>3) Amplificação da amostra de DNA de forma clonal</a:t>
            </a: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97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10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Segunda geração : generalidades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88" y="1357313"/>
            <a:ext cx="896302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687616" y="1052736"/>
            <a:ext cx="3456384" cy="141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619672" y="4797152"/>
            <a:ext cx="230425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Sequenciamento em paralelo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139952" y="4797152"/>
            <a:ext cx="280831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Alinhamento = montagem = assembling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804248" y="4797152"/>
            <a:ext cx="230425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Sequência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5496" y="4797152"/>
            <a:ext cx="136815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DNA 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genômico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971600" y="2060848"/>
            <a:ext cx="1224136" cy="11521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3203848" y="1988840"/>
            <a:ext cx="1080120" cy="13681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>
            <a:off x="4283968" y="1988840"/>
            <a:ext cx="576064" cy="11521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251520" y="1484784"/>
            <a:ext cx="136815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Fragmento de DNA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275856" y="1412776"/>
            <a:ext cx="201622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Read 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(= fragmento)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868144" y="1412776"/>
            <a:ext cx="201622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Genoma de referência</a:t>
            </a:r>
          </a:p>
        </p:txBody>
      </p:sp>
      <p:cxnSp>
        <p:nvCxnSpPr>
          <p:cNvPr id="25" name="Connecteur droit avec flèche 24"/>
          <p:cNvCxnSpPr/>
          <p:nvPr/>
        </p:nvCxnSpPr>
        <p:spPr>
          <a:xfrm flipH="1">
            <a:off x="6444208" y="1988840"/>
            <a:ext cx="432048" cy="23042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82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10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Segunda geração : generalidades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87616" y="1052736"/>
            <a:ext cx="3456384" cy="141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0" y="476672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As diferentes etapas</a:t>
            </a: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1) </a:t>
            </a:r>
            <a:r>
              <a:rPr lang="pt-BR" sz="2500" dirty="0">
                <a:latin typeface="Arial" pitchFamily="34" charset="0"/>
                <a:ea typeface="+mj-ea"/>
                <a:cs typeface="Arial" pitchFamily="34" charset="0"/>
              </a:rPr>
              <a:t>Preparação de biblioteca: fragmentar, adicionar adaptadores e quantificar</a:t>
            </a: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98306" name="Picture 2" descr="http://covarisinc.com/wp-content/uploads/2012/04/m220-graph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72816"/>
            <a:ext cx="4036811" cy="2664296"/>
          </a:xfrm>
          <a:prstGeom prst="rect">
            <a:avLst/>
          </a:prstGeom>
          <a:noFill/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4493771"/>
            <a:ext cx="4392488" cy="2364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 descr="http://www.actavetscand.com/content/figures/1751-0147-52-25-1-l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1772816"/>
            <a:ext cx="3923928" cy="27042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695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10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Segunda geração : generalidades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87616" y="1052736"/>
            <a:ext cx="3456384" cy="141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0" y="476672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As diferentes etapas</a:t>
            </a: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2) </a:t>
            </a:r>
            <a:r>
              <a:rPr lang="pt-BR" sz="2500" dirty="0">
                <a:latin typeface="Arial" pitchFamily="34" charset="0"/>
                <a:ea typeface="+mj-ea"/>
                <a:cs typeface="Arial" pitchFamily="34" charset="0"/>
              </a:rPr>
              <a:t>Separação espacial dos fragmentos da biblioteca e amplificação clonal (PCR </a:t>
            </a:r>
            <a:r>
              <a:rPr lang="pt-BR" sz="2500" i="1" dirty="0">
                <a:latin typeface="Arial" pitchFamily="34" charset="0"/>
                <a:ea typeface="+mj-ea"/>
                <a:cs typeface="Arial" pitchFamily="34" charset="0"/>
              </a:rPr>
              <a:t>in vitro</a:t>
            </a:r>
            <a:r>
              <a:rPr lang="pt-BR" sz="2500" dirty="0">
                <a:latin typeface="Arial" pitchFamily="34" charset="0"/>
                <a:ea typeface="+mj-ea"/>
                <a:cs typeface="Arial" pitchFamily="34" charset="0"/>
              </a:rPr>
              <a:t>)</a:t>
            </a: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15714" name="Picture 2" descr="http://www.eurofinsgenomics.eu/media/111999/faq8.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879709"/>
            <a:ext cx="5184576" cy="1601458"/>
          </a:xfrm>
          <a:prstGeom prst="rect">
            <a:avLst/>
          </a:prstGeom>
          <a:noFill/>
        </p:spPr>
      </p:pic>
      <p:pic>
        <p:nvPicPr>
          <p:cNvPr id="115716" name="Picture 4" descr="http://www.dkfz.de/gpcf/uploads/pics/Illumina_cluster_generation_0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23406" y="1844824"/>
            <a:ext cx="6420594" cy="28642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64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10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Segunda geração : generalidades</a:t>
            </a:r>
            <a:endParaRPr lang="pt-BR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87616" y="1052736"/>
            <a:ext cx="3456384" cy="141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As diferentes etapas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r>
              <a:rPr lang="pt-BR" sz="2500">
                <a:latin typeface="Arial" pitchFamily="34" charset="0"/>
                <a:ea typeface="+mj-ea"/>
                <a:cs typeface="Arial" pitchFamily="34" charset="0"/>
              </a:rPr>
              <a:t>3</a:t>
            </a:r>
            <a: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) </a:t>
            </a:r>
            <a:r>
              <a:rPr lang="pt-BR" sz="2500">
                <a:latin typeface="Arial" pitchFamily="34" charset="0"/>
                <a:cs typeface="Arial" pitchFamily="34" charset="0"/>
              </a:rPr>
              <a:t>Sequenciamento em paralelo em quantidade enorme (milhões de reações)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17764" name="Picture 4" descr="http://www.genengnews.com/Media/images/Article/UGENWebsitepictures2010GEN08_Apr1510GlaserNextGenSequencing454_Workflow2_2col10921488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16224" y="1844824"/>
            <a:ext cx="4032448" cy="5344338"/>
          </a:xfrm>
          <a:prstGeom prst="rect">
            <a:avLst/>
          </a:prstGeom>
          <a:noFill/>
        </p:spPr>
      </p:pic>
      <p:pic>
        <p:nvPicPr>
          <p:cNvPr id="117766" name="Picture 6" descr="http://tucf-genomics.tufts.edu/images/illumina-large.gif?137823729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3483705"/>
            <a:ext cx="4752528" cy="3374295"/>
          </a:xfrm>
          <a:prstGeom prst="rect">
            <a:avLst/>
          </a:prstGeom>
          <a:noFill/>
        </p:spPr>
      </p:pic>
      <p:pic>
        <p:nvPicPr>
          <p:cNvPr id="117762" name="Picture 2" descr="http://www.giga.ulg.ac.be/upload/docs/image/jpeg/2009-04/illumina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1916832"/>
            <a:ext cx="2592288" cy="17470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4451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1073"/>
              </p:ext>
            </p:extLst>
          </p:nvPr>
        </p:nvGraphicFramePr>
        <p:xfrm>
          <a:off x="503549" y="628666"/>
          <a:ext cx="8136903" cy="5560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67">
                <a:tc>
                  <a:txBody>
                    <a:bodyPr/>
                    <a:lstStyle/>
                    <a:p>
                      <a:pPr algn="ctr"/>
                      <a:endParaRPr lang="fr-FR" sz="2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>
                          <a:latin typeface="Arial" pitchFamily="34" charset="0"/>
                          <a:cs typeface="Arial" pitchFamily="34" charset="0"/>
                        </a:rPr>
                        <a:t>Sanger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dirty="0">
                          <a:latin typeface="Arial" pitchFamily="34" charset="0"/>
                          <a:cs typeface="Arial" pitchFamily="34" charset="0"/>
                        </a:rPr>
                        <a:t>NGS (2ª</a:t>
                      </a:r>
                      <a:r>
                        <a:rPr lang="fr-FR" sz="2100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fr-FR" sz="2100" baseline="0" dirty="0" err="1">
                          <a:latin typeface="Arial" pitchFamily="34" charset="0"/>
                          <a:cs typeface="Arial" pitchFamily="34" charset="0"/>
                        </a:rPr>
                        <a:t>geração</a:t>
                      </a:r>
                      <a:r>
                        <a:rPr lang="fr-FR" sz="2100" baseline="0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fr-FR" sz="2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Amostra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Produto de PCR / clones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Biblioteca de DNA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N° de amostras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96-384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1-384 /</a:t>
                      </a:r>
                      <a:r>
                        <a:rPr lang="fr-FR" baseline="0" dirty="0"/>
                        <a:t> </a:t>
                      </a:r>
                      <a:r>
                        <a:rPr lang="fr-FR" baseline="0" dirty="0" err="1"/>
                        <a:t>canaleta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Preparação da amostra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PCR/</a:t>
                      </a:r>
                      <a:r>
                        <a:rPr lang="fr-FR" dirty="0" err="1"/>
                        <a:t>clonagem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purificação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Bibliotecas</a:t>
                      </a:r>
                      <a:r>
                        <a:rPr lang="fr-FR" dirty="0"/>
                        <a:t> e </a:t>
                      </a:r>
                      <a:r>
                        <a:rPr lang="fr-FR" dirty="0" err="1"/>
                        <a:t>quantificação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Etapas da preparação do sequenciamento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aseline="0"/>
                        <a:t>1 dia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3-4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Suporte para aquisição dos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Gel / capilar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Lâmina</a:t>
                      </a:r>
                      <a:r>
                        <a:rPr lang="fr-FR" dirty="0"/>
                        <a:t> / chip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 fragmento / amostra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Milhões de fragmentos / amostra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 dirty="0" err="1"/>
                        <a:t>Tamanho</a:t>
                      </a:r>
                      <a:r>
                        <a:rPr lang="fr-FR" dirty="0"/>
                        <a:t> do </a:t>
                      </a:r>
                      <a:r>
                        <a:rPr lang="fr-FR" dirty="0" err="1"/>
                        <a:t>fragmento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300-1000 pb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(35-)</a:t>
                      </a:r>
                      <a:r>
                        <a:rPr lang="fr-FR" baseline="0" dirty="0"/>
                        <a:t> 100-450 </a:t>
                      </a:r>
                      <a:r>
                        <a:rPr lang="fr-FR" baseline="0" dirty="0" err="1"/>
                        <a:t>pb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r>
                        <a:rPr lang="fr-FR"/>
                        <a:t>Análise dos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Nenhuma a fácil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Mais complexa (</a:t>
                      </a:r>
                      <a:r>
                        <a:rPr lang="fr-FR" dirty="0" err="1"/>
                        <a:t>bioinformática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59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Illumina HiSeq 20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-171400"/>
            <a:ext cx="3672408" cy="401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-36512" y="278092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2780928"/>
            <a:ext cx="896448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Desenvolvimento iniciado ~1990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Aquisição e combinação de diversas tecnologias sendo desenvolvidas em diversas universidades</a:t>
            </a:r>
          </a:p>
          <a:p>
            <a:pPr marL="1212850" indent="5715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bead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array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(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Tuffts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University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1212850" indent="5715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sequencing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by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synthesis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(Cambridge) -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Solexa</a:t>
            </a: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69900" indent="242888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Sequenciamento do primeiro genoma em 2005 (bacteriófago)</a:t>
            </a:r>
          </a:p>
          <a:p>
            <a:pPr marL="469900" indent="242888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Lançamento comercial em 2006</a:t>
            </a:r>
          </a:p>
          <a:p>
            <a:pPr marL="469900" indent="242888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9026" name="Picture 2" descr="http://www.premaslifescience.com/all_images/partner_img/logo_illumin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1052736"/>
            <a:ext cx="4410075" cy="1238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486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Illumina HiSeq 20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-171400"/>
            <a:ext cx="3672408" cy="401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-36512" y="2795216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2909520"/>
            <a:ext cx="8964488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Baseado na </a:t>
            </a:r>
            <a:r>
              <a:rPr lang="pt-BR" sz="2000" i="1" dirty="0" err="1">
                <a:latin typeface="Arial" pitchFamily="34" charset="0"/>
                <a:cs typeface="Arial" pitchFamily="34" charset="0"/>
              </a:rPr>
              <a:t>Cyclic</a:t>
            </a:r>
            <a:r>
              <a:rPr lang="pt-BR" sz="2000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i="1" dirty="0" err="1">
                <a:latin typeface="Arial" pitchFamily="34" charset="0"/>
                <a:cs typeface="Arial" pitchFamily="34" charset="0"/>
              </a:rPr>
              <a:t>Reversible</a:t>
            </a:r>
            <a:r>
              <a:rPr lang="pt-BR" sz="2000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i="1" dirty="0" err="1">
                <a:latin typeface="Arial" pitchFamily="34" charset="0"/>
                <a:cs typeface="Arial" pitchFamily="34" charset="0"/>
              </a:rPr>
              <a:t>Termination</a:t>
            </a:r>
            <a:r>
              <a:rPr lang="pt-BR" sz="2000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(CRT)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Tamanho dos </a:t>
            </a:r>
            <a:r>
              <a:rPr lang="pt-BR" sz="20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entre 36 a 300 bases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Produção de até 1.8 bilhão de </a:t>
            </a:r>
            <a:r>
              <a:rPr lang="pt-BR" sz="20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por corrida (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benchtop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) ou até 70 bilhões de 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production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scale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Capacidade máxima por corrida de 1500 GB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Acurácia de base: &gt;85% bases com QV&gt;30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Acurácia de consenso maior que 99,99% (cobertura 3x)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9026" name="Picture 2" descr="http://www.premaslifescience.com/all_images/partner_img/logo_illumin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1052736"/>
            <a:ext cx="4410075" cy="1238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9954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-36512" y="2795216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36512" y="966905"/>
            <a:ext cx="9059068" cy="4698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latin typeface="Arial" pitchFamily="34" charset="0"/>
                <a:cs typeface="Arial" pitchFamily="34" charset="0"/>
              </a:rPr>
              <a:t>2007: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Genome</a:t>
            </a:r>
            <a:r>
              <a:rPr lang="pt-BR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Analyzer</a:t>
            </a:r>
            <a:endParaRPr lang="pt-BR" dirty="0">
              <a:latin typeface="Arial" pitchFamily="34" charset="0"/>
              <a:cs typeface="Arial" pitchFamily="34" charset="0"/>
            </a:endParaRPr>
          </a:p>
          <a:p>
            <a:pPr marL="698500" lvl="0" indent="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novas versões em 2008 e 2009 (de 1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gb</a:t>
            </a:r>
            <a:r>
              <a:rPr lang="pt-BR" dirty="0">
                <a:latin typeface="Arial" pitchFamily="34" charset="0"/>
                <a:cs typeface="Arial" pitchFamily="34" charset="0"/>
              </a:rPr>
              <a:t> a 95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gb</a:t>
            </a:r>
            <a:r>
              <a:rPr lang="pt-BR" dirty="0">
                <a:latin typeface="Arial" pitchFamily="34" charset="0"/>
                <a:cs typeface="Arial" pitchFamily="34" charset="0"/>
              </a:rPr>
              <a:t> por corrida)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2010: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HiSeq</a:t>
            </a:r>
            <a:r>
              <a:rPr lang="pt-BR" dirty="0">
                <a:latin typeface="Arial" pitchFamily="34" charset="0"/>
                <a:cs typeface="Arial" pitchFamily="34" charset="0"/>
              </a:rPr>
              <a:t> 2000 (US$ 10,000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genome</a:t>
            </a:r>
            <a:r>
              <a:rPr lang="pt-BR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2011: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MiSeq</a:t>
            </a:r>
            <a:r>
              <a:rPr lang="pt-BR" dirty="0">
                <a:latin typeface="Arial" pitchFamily="34" charset="0"/>
                <a:cs typeface="Arial" pitchFamily="34" charset="0"/>
              </a:rPr>
              <a:t> (pequenos genomas,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dirty="0">
                <a:latin typeface="Arial" pitchFamily="34" charset="0"/>
                <a:cs typeface="Arial" pitchFamily="34" charset="0"/>
              </a:rPr>
              <a:t> de 300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2012: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HiSeq</a:t>
            </a:r>
            <a:r>
              <a:rPr lang="pt-BR" dirty="0">
                <a:latin typeface="Arial" pitchFamily="34" charset="0"/>
                <a:cs typeface="Arial" pitchFamily="34" charset="0"/>
              </a:rPr>
              <a:t> 2500 (até 1 Tb por corrida /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read</a:t>
            </a:r>
            <a:r>
              <a:rPr lang="pt-BR" dirty="0">
                <a:latin typeface="Arial" pitchFamily="34" charset="0"/>
                <a:cs typeface="Arial" pitchFamily="34" charset="0"/>
              </a:rPr>
              <a:t> de 250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2013: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MiSeqDx</a:t>
            </a:r>
            <a:r>
              <a:rPr lang="pt-BR" dirty="0">
                <a:latin typeface="Arial" pitchFamily="34" charset="0"/>
                <a:cs typeface="Arial" pitchFamily="34" charset="0"/>
              </a:rPr>
              <a:t> (aprovado pela FDA para diagnóstico clínico)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2014: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HiSeq</a:t>
            </a:r>
            <a:r>
              <a:rPr lang="pt-BR" dirty="0">
                <a:latin typeface="Arial" pitchFamily="34" charset="0"/>
                <a:cs typeface="Arial" pitchFamily="34" charset="0"/>
              </a:rPr>
              <a:t> X: US$ 1,000 Genome</a:t>
            </a:r>
          </a:p>
          <a:p>
            <a:pPr marL="298450" lvl="0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2015: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HiSeq</a:t>
            </a:r>
            <a:r>
              <a:rPr lang="pt-BR" dirty="0">
                <a:latin typeface="Arial" pitchFamily="34" charset="0"/>
                <a:cs typeface="Arial" pitchFamily="34" charset="0"/>
              </a:rPr>
              <a:t> 3000/4000 (1,5 Tb por corrida)</a:t>
            </a:r>
          </a:p>
          <a:p>
            <a:pPr marL="298450" lvl="2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2016/2017: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MiniSeq</a:t>
            </a:r>
            <a:r>
              <a:rPr lang="pt-BR" dirty="0">
                <a:latin typeface="Arial" pitchFamily="34" charset="0"/>
                <a:cs typeface="Arial" pitchFamily="34" charset="0"/>
              </a:rPr>
              <a:t>/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iSeq</a:t>
            </a:r>
            <a:r>
              <a:rPr lang="pt-BR" dirty="0">
                <a:latin typeface="Arial" pitchFamily="34" charset="0"/>
                <a:cs typeface="Arial" pitchFamily="34" charset="0"/>
              </a:rPr>
              <a:t>: sistemas menores</a:t>
            </a:r>
          </a:p>
          <a:p>
            <a:pPr marL="298450" lvl="2" indent="-1143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2017: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NovaSeq</a:t>
            </a:r>
            <a:r>
              <a:rPr lang="pt-BR" dirty="0">
                <a:latin typeface="Arial" pitchFamily="34" charset="0"/>
                <a:cs typeface="Arial" pitchFamily="34" charset="0"/>
              </a:rPr>
              <a:t> (6 Tb por corrida / </a:t>
            </a:r>
          </a:p>
          <a:p>
            <a:pPr marL="184150" lvl="2">
              <a:lnSpc>
                <a:spcPct val="150000"/>
              </a:lnSpc>
              <a:spcBef>
                <a:spcPct val="0"/>
              </a:spcBef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        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$ 100 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genome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???)</a:t>
            </a:r>
          </a:p>
        </p:txBody>
      </p:sp>
      <p:pic>
        <p:nvPicPr>
          <p:cNvPr id="129026" name="Picture 2" descr="http://www.premaslifescience.com/all_images/partner_img/logo_illumin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3690" y="134574"/>
            <a:ext cx="2964379" cy="832331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D1F398-029A-643A-AC92-2D248345B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468" y="4667423"/>
            <a:ext cx="3657601" cy="208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0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764704"/>
            <a:ext cx="8543203" cy="565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529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0" y="1052736"/>
            <a:ext cx="136815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Fragmento de DNA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6"/>
            <a:ext cx="6053193" cy="649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itre 1"/>
          <p:cNvSpPr txBox="1">
            <a:spLocks/>
          </p:cNvSpPr>
          <p:nvPr/>
        </p:nvSpPr>
        <p:spPr>
          <a:xfrm>
            <a:off x="2268760" y="404664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Diferentes etapas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137920" y="1418873"/>
            <a:ext cx="266429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Fragmento de DNA afixados na lâmina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192180" y="3552981"/>
            <a:ext cx="25557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latin typeface="Arial" pitchFamily="34" charset="0"/>
                <a:cs typeface="Arial" pitchFamily="34" charset="0"/>
              </a:rPr>
              <a:t>PCR em fase sólida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868144" y="5391753"/>
            <a:ext cx="320384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" pitchFamily="34" charset="0"/>
                <a:cs typeface="Arial" pitchFamily="34" charset="0"/>
              </a:rPr>
              <a:t>Sequenciamento com Cyclic Reversible Terminators</a:t>
            </a:r>
          </a:p>
        </p:txBody>
      </p:sp>
      <p:sp>
        <p:nvSpPr>
          <p:cNvPr id="23" name="Parenthèse fermante 22"/>
          <p:cNvSpPr/>
          <p:nvPr/>
        </p:nvSpPr>
        <p:spPr>
          <a:xfrm>
            <a:off x="5580112" y="980728"/>
            <a:ext cx="432048" cy="1584176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Parenthèse fermante 24"/>
          <p:cNvSpPr/>
          <p:nvPr/>
        </p:nvSpPr>
        <p:spPr>
          <a:xfrm>
            <a:off x="5580112" y="2636912"/>
            <a:ext cx="432048" cy="2232248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Parenthèse fermante 26"/>
          <p:cNvSpPr/>
          <p:nvPr/>
        </p:nvSpPr>
        <p:spPr>
          <a:xfrm>
            <a:off x="5580112" y="5013176"/>
            <a:ext cx="432048" cy="1772816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80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80528" y="2996952"/>
            <a:ext cx="9481969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Preparação da biblioteca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-36512" y="2556193"/>
            <a:ext cx="27718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Reparação das extremidades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024336" y="2564904"/>
            <a:ext cx="277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Fosforilação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192688" y="2636912"/>
            <a:ext cx="277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Adição ‘A’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2987824" y="3882534"/>
            <a:ext cx="2771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Ligação dos adaptadores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40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Lâmina (</a:t>
            </a:r>
            <a:r>
              <a:rPr kumimoji="0" lang="pt-BR" sz="2800" b="1" i="1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flow cell</a:t>
            </a:r>
            <a:r>
              <a:rPr kumimoji="0" lang="pt-BR" sz="2800" b="1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)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307" y="1124744"/>
            <a:ext cx="7299061" cy="5484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4427984" y="1268761"/>
            <a:ext cx="11521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latin typeface="Arial" pitchFamily="34" charset="0"/>
                <a:cs typeface="Arial" pitchFamily="34" charset="0"/>
              </a:rPr>
              <a:t>8 canaletas</a:t>
            </a:r>
          </a:p>
        </p:txBody>
      </p:sp>
      <p:pic>
        <p:nvPicPr>
          <p:cNvPr id="141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55193" y="0"/>
            <a:ext cx="1888807" cy="148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ZoneTexte 11"/>
          <p:cNvSpPr txBox="1"/>
          <p:nvPr/>
        </p:nvSpPr>
        <p:spPr>
          <a:xfrm>
            <a:off x="5148064" y="6084585"/>
            <a:ext cx="158417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150 milhões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927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PCR em fase sólida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268760"/>
            <a:ext cx="669607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858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PCR em fase sólida: formação de cluster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340768"/>
            <a:ext cx="8039185" cy="483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 rot="16200000">
            <a:off x="96761" y="2719664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Extensão em 3’</a:t>
            </a:r>
          </a:p>
        </p:txBody>
      </p:sp>
      <p:sp>
        <p:nvSpPr>
          <p:cNvPr id="7" name="ZoneTexte 6"/>
          <p:cNvSpPr txBox="1"/>
          <p:nvPr/>
        </p:nvSpPr>
        <p:spPr>
          <a:xfrm rot="16200000">
            <a:off x="496542" y="2809927"/>
            <a:ext cx="27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Denaturação</a:t>
            </a:r>
          </a:p>
        </p:txBody>
      </p:sp>
      <p:sp>
        <p:nvSpPr>
          <p:cNvPr id="8" name="ZoneTexte 7"/>
          <p:cNvSpPr txBox="1"/>
          <p:nvPr/>
        </p:nvSpPr>
        <p:spPr>
          <a:xfrm rot="16200000">
            <a:off x="1248889" y="2647655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Formação da ponte</a:t>
            </a:r>
          </a:p>
        </p:txBody>
      </p:sp>
      <p:sp>
        <p:nvSpPr>
          <p:cNvPr id="10" name="ZoneTexte 9"/>
          <p:cNvSpPr txBox="1"/>
          <p:nvPr/>
        </p:nvSpPr>
        <p:spPr>
          <a:xfrm rot="18080247">
            <a:off x="2117308" y="2872064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Extensão em 3’</a:t>
            </a:r>
          </a:p>
        </p:txBody>
      </p:sp>
      <p:sp>
        <p:nvSpPr>
          <p:cNvPr id="11" name="ZoneTexte 10"/>
          <p:cNvSpPr txBox="1"/>
          <p:nvPr/>
        </p:nvSpPr>
        <p:spPr>
          <a:xfrm rot="19252114">
            <a:off x="3228362" y="1601379"/>
            <a:ext cx="27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Denaturação</a:t>
            </a:r>
          </a:p>
        </p:txBody>
      </p:sp>
      <p:sp>
        <p:nvSpPr>
          <p:cNvPr id="12" name="ZoneTexte 11"/>
          <p:cNvSpPr txBox="1"/>
          <p:nvPr/>
        </p:nvSpPr>
        <p:spPr>
          <a:xfrm rot="19131103">
            <a:off x="3669849" y="1805673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Formação da ponte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580112" y="6093296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Clivagem das fitas reversas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02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PCR em fase sólida: formação de cluster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336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196752"/>
            <a:ext cx="6693958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6084168" y="1556792"/>
            <a:ext cx="2664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Somente fitas moldes</a:t>
            </a:r>
          </a:p>
          <a:p>
            <a:pPr algn="ctr"/>
            <a:endParaRPr lang="fr-FR" sz="1600" b="1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ca. 1000 moleculas /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623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PCR em fase sólida: formação de cluster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3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8" y="1052736"/>
            <a:ext cx="7743825" cy="585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3851920" y="1340768"/>
            <a:ext cx="295232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8 canaletas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331640" y="2730406"/>
            <a:ext cx="56250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Cada canaleta tem 3 colunas de poços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707904" y="4458598"/>
            <a:ext cx="345638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Cada coluna tem 100 poços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99592" y="4530606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Poço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491880" y="6054387"/>
            <a:ext cx="230425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20 000 - 30 000 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clusters em cada poço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508104" y="5013176"/>
            <a:ext cx="3096344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500" b="1">
                <a:latin typeface="Arial" pitchFamily="34" charset="0"/>
                <a:cs typeface="Arial" pitchFamily="34" charset="0"/>
              </a:rPr>
              <a:t>Ca. 48.000.000.000 fragmentos sequenciados de uma só vez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13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225590"/>
            <a:ext cx="8352928" cy="4632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Cyclic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reversible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termination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(CRT)</a:t>
            </a: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39552" y="1700808"/>
            <a:ext cx="0" cy="10081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1052736"/>
            <a:ext cx="136815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Fragmento de DNA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55576" y="1866310"/>
            <a:ext cx="10081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Primer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 flipH="1">
            <a:off x="827584" y="2276872"/>
            <a:ext cx="360040" cy="12325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H="1">
            <a:off x="1547664" y="1772816"/>
            <a:ext cx="1296144" cy="20966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1331640" y="1434262"/>
            <a:ext cx="4176464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dNTP + fluorocromo + grupo protetor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2123728" y="5589240"/>
            <a:ext cx="10801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Ligase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adiciona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1 dNTP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563888" y="5589240"/>
            <a:ext cx="10801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Captura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do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sinal 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5076056" y="5589240"/>
            <a:ext cx="10801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Retirada do grupo protetor 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6732240" y="2309971"/>
            <a:ext cx="108012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Adição</a:t>
            </a:r>
          </a:p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1 dNTP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87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52736"/>
            <a:ext cx="909637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Sequenciamento com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Cyclic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Reversible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Terminator</a:t>
            </a: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Sequenciamento com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Cyclic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Reversible</a:t>
            </a:r>
            <a:r>
              <a:rPr kumimoji="0" lang="pt-BR" sz="2800" b="1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pt-BR" sz="2800" b="1" i="0" u="none" strike="noStrike" kern="1200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Terminator</a:t>
            </a:r>
            <a:br>
              <a:rPr kumimoji="0" lang="pt-BR" sz="2500" i="0" u="none" strike="noStrike" kern="1200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 dirty="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65" y="1871663"/>
            <a:ext cx="9086051" cy="3645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4020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Segunda geração :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960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5888" y="557213"/>
            <a:ext cx="318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Revisão Illumina</a:t>
            </a:r>
            <a:endParaRPr lang="en-US" dirty="0"/>
          </a:p>
        </p:txBody>
      </p:sp>
      <p:pic>
        <p:nvPicPr>
          <p:cNvPr id="3" name="Illumina Sequencing by Synthesi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8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3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1080120" y="2564904"/>
            <a:ext cx="7524328" cy="453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8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+mj-ea"/>
                <a:cs typeface="Arial" pitchFamily="34" charset="0"/>
              </a:rPr>
              <a:t>1) Segunda Geração</a:t>
            </a:r>
            <a:endParaRPr kumimoji="0" lang="pt-BR" sz="2800" i="0" u="none" strike="noStrike" kern="1200" spc="0" normalizeH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Generalidades</a:t>
            </a: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pt-BR" sz="2800" i="0" u="none" strike="noStrike" kern="1200" spc="0" normalizeH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Illumina</a:t>
            </a:r>
            <a:r>
              <a:rPr kumimoji="0" lang="pt-BR" sz="2800" i="0" u="none" strike="noStrike" kern="1200" spc="0" normalizeH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</a:p>
          <a:p>
            <a:pPr marL="1371600" lvl="2" indent="-457200">
              <a:spcBef>
                <a:spcPct val="0"/>
              </a:spcBef>
              <a:buFont typeface="Arial" pitchFamily="34" charset="0"/>
              <a:buChar char="•"/>
              <a:defRPr/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2) Terceira Geração</a:t>
            </a: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Pacific </a:t>
            </a:r>
            <a:r>
              <a:rPr lang="pt-BR" sz="2800" dirty="0" err="1">
                <a:latin typeface="Arial" pitchFamily="34" charset="0"/>
                <a:cs typeface="Arial" pitchFamily="34" charset="0"/>
              </a:rPr>
              <a:t>Biosciences</a:t>
            </a: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Oxford </a:t>
            </a:r>
            <a:r>
              <a:rPr lang="pt-BR" sz="2800" dirty="0" err="1">
                <a:latin typeface="Arial" pitchFamily="34" charset="0"/>
                <a:cs typeface="Arial" pitchFamily="34" charset="0"/>
              </a:rPr>
              <a:t>Nanopore</a:t>
            </a: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1428750" lvl="2" indent="-514350">
              <a:spcBef>
                <a:spcPct val="0"/>
              </a:spcBef>
              <a:buFont typeface="Arial" pitchFamily="34" charset="0"/>
              <a:buChar char="•"/>
            </a:pPr>
            <a:endParaRPr lang="pt-BR" sz="2800" dirty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endParaRPr lang="pt-BR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ct val="0"/>
              </a:spcBef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800" dirty="0"/>
          </a:p>
          <a:p>
            <a:pPr marL="514350" indent="-514350" algn="ctr"/>
            <a:endParaRPr lang="pt-BR" sz="2800" dirty="0"/>
          </a:p>
          <a:p>
            <a:pPr marL="514350" indent="-514350"/>
            <a:endParaRPr lang="fr-FR" sz="2800" dirty="0"/>
          </a:p>
          <a:p>
            <a:pPr marL="514350" indent="-514350" algn="ctr">
              <a:spcBef>
                <a:spcPct val="0"/>
              </a:spcBef>
            </a:pPr>
            <a:endParaRPr lang="pt-BR" sz="2800" dirty="0"/>
          </a:p>
          <a:p>
            <a:pPr marL="457200" indent="-457200" algn="ctr">
              <a:spcBef>
                <a:spcPct val="0"/>
              </a:spcBef>
            </a:pPr>
            <a:br>
              <a:rPr lang="pt-BR" sz="2500" cap="all" dirty="0"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8431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>
                <a:latin typeface="Arial" pitchFamily="34" charset="0"/>
                <a:cs typeface="Arial" pitchFamily="34" charset="0"/>
              </a:rPr>
              <a:t>As diferentes plataformas de NGS </a:t>
            </a:r>
          </a:p>
        </p:txBody>
      </p:sp>
    </p:spTree>
    <p:extLst>
      <p:ext uri="{BB962C8B-B14F-4D97-AF65-F5344CB8AC3E}">
        <p14:creationId xmlns:p14="http://schemas.microsoft.com/office/powerpoint/2010/main" val="421359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72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Terceira geração: generalidades</a:t>
            </a:r>
          </a:p>
        </p:txBody>
      </p:sp>
      <p:sp>
        <p:nvSpPr>
          <p:cNvPr id="9" name="Espaço Reservado para Conteúdo 4"/>
          <p:cNvSpPr>
            <a:spLocks noGrp="1"/>
          </p:cNvSpPr>
          <p:nvPr>
            <p:ph sz="quarter" idx="1"/>
          </p:nvPr>
        </p:nvSpPr>
        <p:spPr>
          <a:xfrm>
            <a:off x="457200" y="1795608"/>
            <a:ext cx="8363272" cy="4873752"/>
          </a:xfrm>
        </p:spPr>
        <p:txBody>
          <a:bodyPr>
            <a:normAutofit/>
          </a:bodyPr>
          <a:lstStyle/>
          <a:p>
            <a:r>
              <a:rPr lang="pt-BR" sz="2300" dirty="0">
                <a:latin typeface="Arial" pitchFamily="34" charset="0"/>
                <a:cs typeface="Arial" pitchFamily="34" charset="0"/>
              </a:rPr>
              <a:t>Sequenciamento de 1 molécula de DNA</a:t>
            </a:r>
          </a:p>
          <a:p>
            <a:endParaRPr lang="pt-BR" sz="2300" dirty="0">
              <a:latin typeface="Arial" pitchFamily="34" charset="0"/>
              <a:cs typeface="Arial" pitchFamily="34" charset="0"/>
            </a:endParaRPr>
          </a:p>
          <a:p>
            <a:endParaRPr lang="pt-BR" sz="2300" dirty="0">
              <a:latin typeface="Arial" pitchFamily="34" charset="0"/>
              <a:cs typeface="Arial" pitchFamily="34" charset="0"/>
            </a:endParaRPr>
          </a:p>
          <a:p>
            <a:r>
              <a:rPr lang="pt-BR" sz="2300" dirty="0">
                <a:latin typeface="Arial" pitchFamily="34" charset="0"/>
                <a:cs typeface="Arial" pitchFamily="34" charset="0"/>
              </a:rPr>
              <a:t>Monitoramento da polimerase em tempo-real</a:t>
            </a:r>
          </a:p>
          <a:p>
            <a:pPr lvl="1"/>
            <a:r>
              <a:rPr lang="pt-BR" sz="2300" dirty="0">
                <a:latin typeface="Arial" pitchFamily="34" charset="0"/>
                <a:cs typeface="Arial" pitchFamily="34" charset="0"/>
              </a:rPr>
              <a:t>Leitura pela emissão de fluorescência dos nucleotídeos durante polimerização do DNA</a:t>
            </a:r>
          </a:p>
          <a:p>
            <a:pPr lvl="1"/>
            <a:endParaRPr lang="pt-BR" sz="2300" dirty="0">
              <a:latin typeface="Arial" pitchFamily="34" charset="0"/>
              <a:cs typeface="Arial" pitchFamily="34" charset="0"/>
            </a:endParaRPr>
          </a:p>
          <a:p>
            <a:r>
              <a:rPr lang="pt-BR" sz="2300" dirty="0">
                <a:latin typeface="Arial" pitchFamily="34" charset="0"/>
                <a:cs typeface="Arial" pitchFamily="34" charset="0"/>
              </a:rPr>
              <a:t>Química semelhante ao processo de replicação do DNA que ocorre nas células</a:t>
            </a:r>
          </a:p>
          <a:p>
            <a:endParaRPr lang="pt-BR" sz="2300" dirty="0">
              <a:latin typeface="Arial" pitchFamily="34" charset="0"/>
              <a:cs typeface="Arial" pitchFamily="34" charset="0"/>
            </a:endParaRPr>
          </a:p>
          <a:p>
            <a:r>
              <a:rPr lang="pt-BR" sz="2300" dirty="0">
                <a:latin typeface="Arial" pitchFamily="34" charset="0"/>
                <a:cs typeface="Arial" pitchFamily="34" charset="0"/>
              </a:rPr>
              <a:t>Sequenciamento de moléculas mais longas (&gt;1000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pb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3876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50" name="Picture 6" descr="http://www.finfacts.ie/artman/uploads/3/Next-big-thing-pacific-biosciences-march1020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458661"/>
            <a:ext cx="5266556" cy="2970339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54564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Terceira geração : Pacific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Biosciences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85346" name="Picture 2" descr="http://discovermagazine.com/~/media/import/images/f/3/e/microscop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08520" y="3356992"/>
            <a:ext cx="9252520" cy="4103939"/>
          </a:xfrm>
          <a:prstGeom prst="rect">
            <a:avLst/>
          </a:prstGeom>
          <a:noFill/>
        </p:spPr>
      </p:pic>
      <p:pic>
        <p:nvPicPr>
          <p:cNvPr id="185348" name="Picture 4" descr="http://mms.businesswire.com/bwapps/mediaserver/ViewMedia?mgid=217494&amp;vid=5&amp;download=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458661"/>
            <a:ext cx="6000600" cy="3659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9231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682" name="Picture 2" descr="http://www.pacificbiosciences.com/img/272x272/final/x1y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5351371"/>
            <a:ext cx="1512168" cy="150662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0"/>
            <a:ext cx="54564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Terceira geração : Pacific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Biosciences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08720"/>
            <a:ext cx="8892480" cy="4273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Comercializado em 2011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Tecnologia SMRT (Single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Molecule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Real Time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sequencing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Leitura até 30 000 bases (média 2,5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kb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96 células SMRT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- Acurácia de base:~99%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Custo por base: US$ 0,0000004 (10.000 vezes menos)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Tempo para gerar 100 MB: 25 min (5.000 vezes menos)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224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884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Pacific Biosciences RS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0" y="692697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2800" b="1">
                <a:latin typeface="Arial" pitchFamily="34" charset="0"/>
                <a:ea typeface="+mj-ea"/>
                <a:cs typeface="Arial" pitchFamily="34" charset="0"/>
              </a:rPr>
              <a:t>SMRT e Zero-mode waveguide (ZMW)</a:t>
            </a: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343994"/>
            <a:ext cx="3800475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196752"/>
            <a:ext cx="4201157" cy="367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07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02535" y="1213867"/>
            <a:ext cx="24098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ZoneTexte 16"/>
          <p:cNvSpPr txBox="1"/>
          <p:nvPr/>
        </p:nvSpPr>
        <p:spPr>
          <a:xfrm>
            <a:off x="0" y="5435932"/>
            <a:ext cx="48600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 polimerase e 1 molecula de DNA / célula</a:t>
            </a:r>
          </a:p>
        </p:txBody>
      </p:sp>
    </p:spTree>
    <p:extLst>
      <p:ext uri="{BB962C8B-B14F-4D97-AF65-F5344CB8AC3E}">
        <p14:creationId xmlns:p14="http://schemas.microsoft.com/office/powerpoint/2010/main" val="1998842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884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Pacific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Biosciences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RS</a:t>
            </a:r>
          </a:p>
        </p:txBody>
      </p:sp>
      <p:pic>
        <p:nvPicPr>
          <p:cNvPr id="2017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213" y="1866900"/>
            <a:ext cx="879157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4899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27384"/>
            <a:ext cx="8135938" cy="568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716984"/>
            <a:ext cx="914400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4982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791" y="633046"/>
            <a:ext cx="80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PacBio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84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Pacific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Biosciences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RS</a:t>
            </a:r>
          </a:p>
        </p:txBody>
      </p:sp>
      <p:pic>
        <p:nvPicPr>
          <p:cNvPr id="4" name="Single Molecule Real Time Sequencing - Pacific Bioscience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6042" y="1410286"/>
            <a:ext cx="8571915" cy="482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0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23" y="3476976"/>
            <a:ext cx="4158397" cy="3334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097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Oxford Nanopore</a:t>
            </a:r>
          </a:p>
        </p:txBody>
      </p:sp>
      <p:pic>
        <p:nvPicPr>
          <p:cNvPr id="203782" name="Picture 6" descr="http://www.nanotech-now.com/news_images/3155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692696"/>
            <a:ext cx="5083756" cy="864096"/>
          </a:xfrm>
          <a:prstGeom prst="rect">
            <a:avLst/>
          </a:prstGeom>
          <a:noFill/>
        </p:spPr>
      </p:pic>
      <p:pic>
        <p:nvPicPr>
          <p:cNvPr id="203784" name="Picture 8" descr="http://www.biorigami.com/wp-content/uploads/2012/02/Nanopore_New_Images-26_copy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6609" y="920331"/>
            <a:ext cx="4091850" cy="2750386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421" y="1983544"/>
            <a:ext cx="3662563" cy="252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552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97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Oxford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Nanopore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8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5" y="466724"/>
            <a:ext cx="6313314" cy="6385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3707904" y="1700808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DNA dupla fita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115616" y="299695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Proteína abrindo a dupla fita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971600" y="4149080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Nanoporo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508104" y="2564904"/>
            <a:ext cx="345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Fluxo de íons no nanoporo cria uma corrente modificada de maneira característica dependendo da base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220072" y="5250686"/>
            <a:ext cx="30243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Adaptador imobiliza </a:t>
            </a:r>
            <a:r>
              <a:rPr lang="fr-FR" sz="1600" b="1" dirty="0">
                <a:latin typeface="Arial" pitchFamily="34" charset="0"/>
                <a:cs typeface="Arial" pitchFamily="34" charset="0"/>
              </a:rPr>
              <a:t>a molécula em tempo suficiente para a base ser identificada</a:t>
            </a:r>
          </a:p>
        </p:txBody>
      </p:sp>
    </p:spTree>
    <p:extLst>
      <p:ext uri="{BB962C8B-B14F-4D97-AF65-F5344CB8AC3E}">
        <p14:creationId xmlns:p14="http://schemas.microsoft.com/office/powerpoint/2010/main" val="1774127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quencing DNA (or RNA) _ Real-time, Ultra Long-Reads, Scalable Technology from Oxford Nanopor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97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Terceira geração : Oxford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Nanopore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8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5966</TotalTime>
  <Words>1047</Words>
  <Application>Microsoft Office PowerPoint</Application>
  <PresentationFormat>On-screen Show (4:3)</PresentationFormat>
  <Paragraphs>296</Paragraphs>
  <Slides>37</Slides>
  <Notes>31</Notes>
  <HiddenSlides>3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SEQUENCIAMENTO DE NOVA GERAÇÃO DE DNA APLICADO À SISTEMÁTICA</dc:title>
  <dc:creator>Carolina Siniscalchi</dc:creator>
  <cp:lastModifiedBy>reviewer</cp:lastModifiedBy>
  <cp:revision>39</cp:revision>
  <dcterms:created xsi:type="dcterms:W3CDTF">2018-08-07T01:24:21Z</dcterms:created>
  <dcterms:modified xsi:type="dcterms:W3CDTF">2026-10-18T22:19:41Z</dcterms:modified>
</cp:coreProperties>
</file>